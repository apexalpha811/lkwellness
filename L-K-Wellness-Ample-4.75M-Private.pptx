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image" Target="../media/image-14-6.jpeg"/><Relationship Id="rId7" Type="http://schemas.openxmlformats.org/officeDocument/2006/relationships/image" Target="../media/image-14-7.jpeg"/><Relationship Id="rId8" Type="http://schemas.openxmlformats.org/officeDocument/2006/relationships/image" Target="../media/image-14-8.jpe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4655 Admiralty Way, Suite 210   ·   Marina del Rey, California   ·   4,925 SF programmed   ·   $4.75M all equity</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lkwellnessmdr@gmail.com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today who wants to optimize their health must book with a plastic surgeon or med spa for injectables, a recovery studio for contrast therapies, and either a concierge doctor or a primary care provider for labs and hormone analysis. Separate intakes and appointments, all billed and paid for separately. Some clinics have combined a few of these modalities. Most of them are not somewhere you would choose to spend a Saturday morning.</a:t>
            </a:r>
            <a:endParaRPr lang="en-US" sz="1050" dirty="0"/>
          </a:p>
        </p:txBody>
      </p:sp>
      <p:sp>
        <p:nvSpPr>
          <p:cNvPr id="6" name="Shape 4"/>
          <p:cNvSpPr/>
          <p:nvPr/>
        </p:nvSpPr>
        <p:spPr>
          <a:xfrm>
            <a:off x="502920" y="1874520"/>
            <a:ext cx="2615184" cy="1600200"/>
          </a:xfrm>
          <a:prstGeom prst="rect">
            <a:avLst/>
          </a:prstGeom>
          <a:solidFill>
            <a:srgbClr val="1C1C1E"/>
          </a:solidFill>
          <a:ln w="9525">
            <a:solidFill>
              <a:srgbClr val="271F13"/>
            </a:solidFill>
            <a:prstDash val="solid"/>
          </a:ln>
        </p:spPr>
      </p:sp>
      <p:sp>
        <p:nvSpPr>
          <p:cNvPr id="7" name="Text 5"/>
          <p:cNvSpPr/>
          <p:nvPr/>
        </p:nvSpPr>
        <p:spPr>
          <a:xfrm>
            <a:off x="649224"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patient is the coordinator, navigating providers for care that should sit in one place.</a:t>
            </a:r>
            <a:endParaRPr lang="en-US" sz="800" dirty="0"/>
          </a:p>
        </p:txBody>
      </p:sp>
      <p:sp>
        <p:nvSpPr>
          <p:cNvPr id="9" name="Shape 7"/>
          <p:cNvSpPr/>
          <p:nvPr/>
        </p:nvSpPr>
        <p:spPr>
          <a:xfrm>
            <a:off x="3264408" y="1874520"/>
            <a:ext cx="2615184" cy="1600200"/>
          </a:xfrm>
          <a:prstGeom prst="rect">
            <a:avLst/>
          </a:prstGeom>
          <a:solidFill>
            <a:srgbClr val="1C1C1E"/>
          </a:solidFill>
          <a:ln w="9525">
            <a:solidFill>
              <a:srgbClr val="271F13"/>
            </a:solidFill>
            <a:prstDash val="solid"/>
          </a:ln>
        </p:spPr>
      </p:sp>
      <p:sp>
        <p:nvSpPr>
          <p:cNvPr id="10" name="Text 8"/>
          <p:cNvSpPr/>
          <p:nvPr/>
        </p:nvSpPr>
        <p:spPr>
          <a:xfrm>
            <a:off x="3410712"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LK menu that require a physician, nurse practitioner or nurse. A recovery studio without a physician can offer 6.</a:t>
            </a:r>
            <a:endParaRPr lang="en-US" sz="800" dirty="0"/>
          </a:p>
        </p:txBody>
      </p:sp>
      <p:sp>
        <p:nvSpPr>
          <p:cNvPr id="12" name="Shape 10"/>
          <p:cNvSpPr/>
          <p:nvPr/>
        </p:nvSpPr>
        <p:spPr>
          <a:xfrm>
            <a:off x="6025896" y="1874520"/>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325880"/>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A licensing threshold separates the two businesses.</a:t>
            </a:r>
            <a:endParaRPr lang="en-US" sz="900" dirty="0"/>
          </a:p>
        </p:txBody>
      </p:sp>
      <p:sp>
        <p:nvSpPr>
          <p:cNvPr id="9" name="Shape 7"/>
          <p:cNvSpPr/>
          <p:nvPr/>
        </p:nvSpPr>
        <p:spPr>
          <a:xfrm>
            <a:off x="4645152" y="1572768"/>
            <a:ext cx="3995928" cy="1325880"/>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Soho Friends is a published annual tier where members buy event invitations, but no club access. Soho has proven members want medical services in the club. IV drips have been offered in London since 2022. Their Venice House opens summer 2027 with a contrast suite, cryotherapy and cold plunges. What all the California Soho House locations lack is physician led medicine.</a:t>
            </a:r>
            <a:endParaRPr lang="en-US" sz="900" dirty="0"/>
          </a:p>
        </p:txBody>
      </p:sp>
      <p:sp>
        <p:nvSpPr>
          <p:cNvPr id="12" name="Shape 10"/>
          <p:cNvSpPr/>
          <p:nvPr/>
        </p:nvSpPr>
        <p:spPr>
          <a:xfrm>
            <a:off x="502920" y="3063240"/>
            <a:ext cx="8138160" cy="1481328"/>
          </a:xfrm>
          <a:prstGeom prst="rect">
            <a:avLst/>
          </a:prstGeom>
          <a:solidFill>
            <a:srgbClr val="1C1C1E"/>
          </a:solidFill>
          <a:ln w="9525">
            <a:solidFill>
              <a:srgbClr val="B08D57"/>
            </a:solidFill>
            <a:prstDash val="solid"/>
          </a:ln>
        </p:spPr>
      </p:sp>
      <p:sp>
        <p:nvSpPr>
          <p:cNvPr id="13" name="Text 11"/>
          <p:cNvSpPr/>
          <p:nvPr/>
        </p:nvSpPr>
        <p:spPr>
          <a:xfrm>
            <a:off x="685800" y="3182112"/>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01568"/>
            <a:ext cx="7772400" cy="457200"/>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LK was built the other way around.</a:t>
            </a:r>
            <a:endParaRPr lang="en-US" sz="1700" dirty="0"/>
          </a:p>
        </p:txBody>
      </p:sp>
      <p:sp>
        <p:nvSpPr>
          <p:cNvPr id="15" name="Text 13"/>
          <p:cNvSpPr/>
          <p:nvPr/>
        </p:nvSpPr>
        <p:spPr>
          <a:xfrm>
            <a:off x="685800" y="3895344"/>
            <a:ext cx="777240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The others are built around recovery and added medicine where they could. Sweathouz can’t cross the licensing line. Remedy Place and Soho House reach across it with IV drips and outside partner affiliations. A licensed medical clinic first, with the club built on top. Diagnostics, treatment rooms, an infusion suite and a physician-led team, in place before the first member walks in. They sell visits. We run stress-free care.</a:t>
            </a:r>
            <a:endParaRPr lang="en-US" sz="9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2002536"/>
            <a:ext cx="5833872" cy="448056"/>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48456"/>
            <a:ext cx="7845552" cy="841248"/>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YOU WANT TO FEEL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After years running a medical practice and working on its billing side, we know medicine is organized around procedures and codes. We have watched patients try to make sense of menus written for insurers, not for them. People come in tired, sore, run down, or ready for a change. So we organized everything around five simple goals: Restore, Renew, Recover, Reset and Reconnect.</a:t>
            </a:r>
            <a:endParaRPr lang="en-US" sz="1050" dirty="0"/>
          </a:p>
        </p:txBody>
      </p:sp>
      <p:sp>
        <p:nvSpPr>
          <p:cNvPr id="6" name="Shape 4"/>
          <p:cNvSpPr/>
          <p:nvPr/>
        </p:nvSpPr>
        <p:spPr>
          <a:xfrm>
            <a:off x="502920" y="1691640"/>
            <a:ext cx="1525219" cy="2651760"/>
          </a:xfrm>
          <a:prstGeom prst="rect">
            <a:avLst/>
          </a:prstGeom>
          <a:solidFill>
            <a:srgbClr val="1C1C1E"/>
          </a:solidFill>
          <a:ln w="9525">
            <a:solidFill>
              <a:srgbClr val="271F13"/>
            </a:solidFill>
            <a:prstDash val="solid"/>
          </a:ln>
        </p:spPr>
      </p:sp>
      <p:sp>
        <p:nvSpPr>
          <p:cNvPr id="7" name="Text 5"/>
          <p:cNvSpPr/>
          <p:nvPr/>
        </p:nvSpPr>
        <p:spPr>
          <a:xfrm>
            <a:off x="64922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1691640"/>
            <a:ext cx="1525219" cy="2651760"/>
          </a:xfrm>
          <a:prstGeom prst="rect">
            <a:avLst/>
          </a:prstGeom>
          <a:solidFill>
            <a:srgbClr val="1C1C1E"/>
          </a:solidFill>
          <a:ln w="9525">
            <a:solidFill>
              <a:srgbClr val="271F13"/>
            </a:solidFill>
            <a:prstDash val="solid"/>
          </a:ln>
        </p:spPr>
      </p:sp>
      <p:sp>
        <p:nvSpPr>
          <p:cNvPr id="11" name="Text 9"/>
          <p:cNvSpPr/>
          <p:nvPr/>
        </p:nvSpPr>
        <p:spPr>
          <a:xfrm>
            <a:off x="2302459"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1691640"/>
            <a:ext cx="1525219" cy="2651760"/>
          </a:xfrm>
          <a:prstGeom prst="rect">
            <a:avLst/>
          </a:prstGeom>
          <a:solidFill>
            <a:srgbClr val="1C1C1E"/>
          </a:solidFill>
          <a:ln w="9525">
            <a:solidFill>
              <a:srgbClr val="271F13"/>
            </a:solidFill>
            <a:prstDash val="solid"/>
          </a:ln>
        </p:spPr>
      </p:sp>
      <p:sp>
        <p:nvSpPr>
          <p:cNvPr id="15" name="Text 13"/>
          <p:cNvSpPr/>
          <p:nvPr/>
        </p:nvSpPr>
        <p:spPr>
          <a:xfrm>
            <a:off x="395569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1691640"/>
            <a:ext cx="1525219" cy="2651760"/>
          </a:xfrm>
          <a:prstGeom prst="rect">
            <a:avLst/>
          </a:prstGeom>
          <a:solidFill>
            <a:srgbClr val="1C1C1E"/>
          </a:solidFill>
          <a:ln w="9525">
            <a:solidFill>
              <a:srgbClr val="271F13"/>
            </a:solidFill>
            <a:prstDash val="solid"/>
          </a:ln>
        </p:spPr>
      </p:sp>
      <p:sp>
        <p:nvSpPr>
          <p:cNvPr id="19" name="Text 17"/>
          <p:cNvSpPr/>
          <p:nvPr/>
        </p:nvSpPr>
        <p:spPr>
          <a:xfrm>
            <a:off x="5608930"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1691640"/>
            <a:ext cx="1525219" cy="2651760"/>
          </a:xfrm>
          <a:prstGeom prst="rect">
            <a:avLst/>
          </a:prstGeom>
          <a:solidFill>
            <a:srgbClr val="1C1C1E"/>
          </a:solidFill>
          <a:ln w="9525">
            <a:solidFill>
              <a:srgbClr val="271F13"/>
            </a:solidFill>
            <a:prstDash val="solid"/>
          </a:ln>
        </p:spPr>
      </p:sp>
      <p:sp>
        <p:nvSpPr>
          <p:cNvPr id="23" name="Text 21"/>
          <p:cNvSpPr/>
          <p:nvPr/>
        </p:nvSpPr>
        <p:spPr>
          <a:xfrm>
            <a:off x="7262165"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is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FOUNDING MEMBERS DE-RISK IT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Our first founding members will have joined and paid before we open. That turns the opening months from a projection into real revenue, and it shows us real demand from day one.</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4655 ADMIRALTY WAY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clinic and the club take the second floor of the curved glass building at the head of the basin, with a private terrace over the water.</a:t>
            </a:r>
            <a:endParaRPr lang="en-US" sz="1050" dirty="0"/>
          </a:p>
        </p:txBody>
      </p:sp>
      <p:pic>
        <p:nvPicPr>
          <p:cNvPr id="6" name="Image 0" descr="preencoded.png">    </p:cNvPr>
          <p:cNvPicPr>
            <a:picLocks noChangeAspect="1"/>
          </p:cNvPicPr>
          <p:nvPr/>
        </p:nvPicPr>
        <p:blipFill>
          <a:blip r:embed="rId1"/>
          <a:srcRect l="0" r="0" t="0" b="0"/>
          <a:stretch/>
        </p:blipFill>
        <p:spPr>
          <a:xfrm>
            <a:off x="502920" y="1737360"/>
            <a:ext cx="4663440" cy="2623185"/>
          </a:xfrm>
          <a:prstGeom prst="rect">
            <a:avLst/>
          </a:prstGeom>
        </p:spPr>
      </p:pic>
      <p:sp>
        <p:nvSpPr>
          <p:cNvPr id="7" name="Shape 4"/>
          <p:cNvSpPr/>
          <p:nvPr/>
        </p:nvSpPr>
        <p:spPr>
          <a:xfrm>
            <a:off x="502920" y="1737360"/>
            <a:ext cx="4663440" cy="2623185"/>
          </a:xfrm>
          <a:prstGeom prst="rect">
            <a:avLst/>
          </a:prstGeom>
          <a:solidFill>
            <a:srgbClr val="0D0D0D">
              <a:alpha val="0"/>
            </a:srgbClr>
          </a:solidFill>
          <a:ln w="9525">
            <a:solidFill>
              <a:srgbClr val="271F13"/>
            </a:solidFill>
            <a:prstDash val="solid"/>
          </a:ln>
        </p:spPr>
      </p:sp>
      <p:sp>
        <p:nvSpPr>
          <p:cNvPr id="8" name="Text 5"/>
          <p:cNvSpPr/>
          <p:nvPr/>
        </p:nvSpPr>
        <p:spPr>
          <a:xfrm>
            <a:off x="502920" y="4378833"/>
            <a:ext cx="466344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4655 Admiralty Way, on the main channel</a:t>
            </a:r>
            <a:endParaRPr lang="en-US" sz="750" dirty="0"/>
          </a:p>
        </p:txBody>
      </p:sp>
      <p:sp>
        <p:nvSpPr>
          <p:cNvPr id="9" name="Shape 6"/>
          <p:cNvSpPr/>
          <p:nvPr/>
        </p:nvSpPr>
        <p:spPr>
          <a:xfrm>
            <a:off x="5367528" y="1737360"/>
            <a:ext cx="3273552" cy="822960"/>
          </a:xfrm>
          <a:prstGeom prst="rect">
            <a:avLst/>
          </a:prstGeom>
          <a:solidFill>
            <a:srgbClr val="1C1C1E"/>
          </a:solidFill>
          <a:ln w="9525">
            <a:solidFill>
              <a:srgbClr val="271F13"/>
            </a:solidFill>
            <a:prstDash val="solid"/>
          </a:ln>
        </p:spPr>
      </p:sp>
      <p:sp>
        <p:nvSpPr>
          <p:cNvPr id="10" name="Text 7"/>
          <p:cNvSpPr/>
          <p:nvPr/>
        </p:nvSpPr>
        <p:spPr>
          <a:xfrm>
            <a:off x="5513832" y="1865376"/>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Suite 210</a:t>
            </a:r>
            <a:endParaRPr lang="en-US" sz="1700" dirty="0"/>
          </a:p>
        </p:txBody>
      </p:sp>
      <p:sp>
        <p:nvSpPr>
          <p:cNvPr id="11" name="Text 8"/>
          <p:cNvSpPr/>
          <p:nvPr/>
        </p:nvSpPr>
        <p:spPr>
          <a:xfrm>
            <a:off x="5513832" y="2176272"/>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9"/>
          <p:cNvSpPr/>
          <p:nvPr/>
        </p:nvSpPr>
        <p:spPr>
          <a:xfrm>
            <a:off x="5367528" y="2688336"/>
            <a:ext cx="3273552" cy="822960"/>
          </a:xfrm>
          <a:prstGeom prst="rect">
            <a:avLst/>
          </a:prstGeom>
          <a:solidFill>
            <a:srgbClr val="1C1C1E"/>
          </a:solidFill>
          <a:ln w="9525">
            <a:solidFill>
              <a:srgbClr val="271F13"/>
            </a:solidFill>
            <a:prstDash val="solid"/>
          </a:ln>
        </p:spPr>
      </p:sp>
      <p:sp>
        <p:nvSpPr>
          <p:cNvPr id="13" name="Text 10"/>
          <p:cNvSpPr/>
          <p:nvPr/>
        </p:nvSpPr>
        <p:spPr>
          <a:xfrm>
            <a:off x="5513832" y="2816352"/>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4,925 SF</a:t>
            </a:r>
            <a:endParaRPr lang="en-US" sz="1700" dirty="0"/>
          </a:p>
        </p:txBody>
      </p:sp>
      <p:sp>
        <p:nvSpPr>
          <p:cNvPr id="14" name="Text 11"/>
          <p:cNvSpPr/>
          <p:nvPr/>
        </p:nvSpPr>
        <p:spPr>
          <a:xfrm>
            <a:off x="5513832" y="3127248"/>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15" name="Shape 12"/>
          <p:cNvSpPr/>
          <p:nvPr/>
        </p:nvSpPr>
        <p:spPr>
          <a:xfrm>
            <a:off x="5367528" y="3639312"/>
            <a:ext cx="3273552" cy="822960"/>
          </a:xfrm>
          <a:prstGeom prst="rect">
            <a:avLst/>
          </a:prstGeom>
          <a:solidFill>
            <a:srgbClr val="1C1C1E"/>
          </a:solidFill>
          <a:ln w="9525">
            <a:solidFill>
              <a:srgbClr val="271F13"/>
            </a:solidFill>
            <a:prstDash val="solid"/>
          </a:ln>
        </p:spPr>
      </p:sp>
      <p:sp>
        <p:nvSpPr>
          <p:cNvPr id="16" name="Text 13"/>
          <p:cNvSpPr/>
          <p:nvPr/>
        </p:nvSpPr>
        <p:spPr>
          <a:xfrm>
            <a:off x="5513832" y="3767328"/>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Private terrace</a:t>
            </a:r>
            <a:endParaRPr lang="en-US" sz="1700" dirty="0"/>
          </a:p>
        </p:txBody>
      </p:sp>
      <p:sp>
        <p:nvSpPr>
          <p:cNvPr id="17" name="Text 14"/>
          <p:cNvSpPr/>
          <p:nvPr/>
        </p:nvSpPr>
        <p:spPr>
          <a:xfrm>
            <a:off x="5513832" y="4078224"/>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 demised to the suite</a:t>
            </a:r>
            <a:endParaRPr lang="en-US" sz="800" dirty="0"/>
          </a:p>
        </p:txBody>
      </p:sp>
      <p:sp>
        <p:nvSpPr>
          <p:cNvPr id="18" name="Text 1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9" name="Text 1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SPACE TODAY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suite as it stands today is a raw shell behind floor-to-ceiling waterfront glass. Everything in the buildout line of the use of funds is what turns this into the facility.</a:t>
            </a:r>
            <a:endParaRPr lang="en-US" sz="1050" dirty="0"/>
          </a:p>
        </p:txBody>
      </p:sp>
      <p:pic>
        <p:nvPicPr>
          <p:cNvPr id="6" name="Image 0" descr="preencoded.png">    </p:cNvPr>
          <p:cNvPicPr>
            <a:picLocks noChangeAspect="1"/>
          </p:cNvPicPr>
          <p:nvPr/>
        </p:nvPicPr>
        <p:blipFill>
          <a:blip r:embed="rId1"/>
          <a:srcRect l="0" r="0" t="0" b="0"/>
          <a:stretch/>
        </p:blipFill>
        <p:spPr>
          <a:xfrm>
            <a:off x="502920" y="1783080"/>
            <a:ext cx="4846320" cy="2606040"/>
          </a:xfrm>
          <a:prstGeom prst="rect">
            <a:avLst/>
          </a:prstGeom>
        </p:spPr>
      </p:pic>
      <p:sp>
        <p:nvSpPr>
          <p:cNvPr id="7" name="Shape 4"/>
          <p:cNvSpPr/>
          <p:nvPr/>
        </p:nvSpPr>
        <p:spPr>
          <a:xfrm>
            <a:off x="502920" y="1783080"/>
            <a:ext cx="4846320" cy="2606040"/>
          </a:xfrm>
          <a:prstGeom prst="rect">
            <a:avLst/>
          </a:prstGeom>
          <a:solidFill>
            <a:srgbClr val="0D0D0D">
              <a:alpha val="0"/>
            </a:srgbClr>
          </a:solidFill>
          <a:ln w="9525">
            <a:solidFill>
              <a:srgbClr val="271F13"/>
            </a:solidFill>
            <a:prstDash val="solid"/>
          </a:ln>
        </p:spPr>
      </p:sp>
      <p:sp>
        <p:nvSpPr>
          <p:cNvPr id="8" name="Text 5"/>
          <p:cNvSpPr/>
          <p:nvPr/>
        </p:nvSpPr>
        <p:spPr>
          <a:xfrm>
            <a:off x="502920" y="4407408"/>
            <a:ext cx="484632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Suite 210 today, before buildout</a:t>
            </a:r>
            <a:endParaRPr lang="en-US" sz="750" dirty="0"/>
          </a:p>
        </p:txBody>
      </p:sp>
      <p:pic>
        <p:nvPicPr>
          <p:cNvPr id="9" name="Image 1" descr="preencoded.png">    </p:cNvPr>
          <p:cNvPicPr>
            <a:picLocks noChangeAspect="1"/>
          </p:cNvPicPr>
          <p:nvPr/>
        </p:nvPicPr>
        <p:blipFill>
          <a:blip r:embed="rId2"/>
          <a:srcRect l="0" r="0" t="0" b="0"/>
          <a:stretch/>
        </p:blipFill>
        <p:spPr>
          <a:xfrm>
            <a:off x="5550408" y="1783080"/>
            <a:ext cx="3090672" cy="1143000"/>
          </a:xfrm>
          <a:prstGeom prst="rect">
            <a:avLst/>
          </a:prstGeom>
        </p:spPr>
      </p:pic>
      <p:sp>
        <p:nvSpPr>
          <p:cNvPr id="10" name="Shape 6"/>
          <p:cNvSpPr/>
          <p:nvPr/>
        </p:nvSpPr>
        <p:spPr>
          <a:xfrm>
            <a:off x="5550408" y="1783080"/>
            <a:ext cx="3090672" cy="1143000"/>
          </a:xfrm>
          <a:prstGeom prst="rect">
            <a:avLst/>
          </a:prstGeom>
          <a:solidFill>
            <a:srgbClr val="0D0D0D">
              <a:alpha val="0"/>
            </a:srgbClr>
          </a:solidFill>
          <a:ln w="9525">
            <a:solidFill>
              <a:srgbClr val="271F13"/>
            </a:solidFill>
            <a:prstDash val="solid"/>
          </a:ln>
        </p:spPr>
      </p:sp>
      <p:sp>
        <p:nvSpPr>
          <p:cNvPr id="11" name="Text 7"/>
          <p:cNvSpPr/>
          <p:nvPr/>
        </p:nvSpPr>
        <p:spPr>
          <a:xfrm>
            <a:off x="5550408" y="294436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The suite’s terrace, over the marina</a:t>
            </a:r>
            <a:endParaRPr lang="en-US" sz="750" dirty="0"/>
          </a:p>
        </p:txBody>
      </p:sp>
      <p:pic>
        <p:nvPicPr>
          <p:cNvPr id="12" name="Image 2" descr="preencoded.png">    </p:cNvPr>
          <p:cNvPicPr>
            <a:picLocks noChangeAspect="1"/>
          </p:cNvPicPr>
          <p:nvPr/>
        </p:nvPicPr>
        <p:blipFill>
          <a:blip r:embed="rId3"/>
          <a:srcRect l="0" r="0" t="0" b="0"/>
          <a:stretch/>
        </p:blipFill>
        <p:spPr>
          <a:xfrm>
            <a:off x="5550408" y="3246120"/>
            <a:ext cx="3090672" cy="1143000"/>
          </a:xfrm>
          <a:prstGeom prst="rect">
            <a:avLst/>
          </a:prstGeom>
        </p:spPr>
      </p:pic>
      <p:sp>
        <p:nvSpPr>
          <p:cNvPr id="13" name="Shape 8"/>
          <p:cNvSpPr/>
          <p:nvPr/>
        </p:nvSpPr>
        <p:spPr>
          <a:xfrm>
            <a:off x="5550408" y="3246120"/>
            <a:ext cx="3090672" cy="1143000"/>
          </a:xfrm>
          <a:prstGeom prst="rect">
            <a:avLst/>
          </a:prstGeom>
          <a:solidFill>
            <a:srgbClr val="0D0D0D">
              <a:alpha val="0"/>
            </a:srgbClr>
          </a:solidFill>
          <a:ln w="9525">
            <a:solidFill>
              <a:srgbClr val="271F13"/>
            </a:solidFill>
            <a:prstDash val="solid"/>
          </a:ln>
        </p:spPr>
      </p:sp>
      <p:sp>
        <p:nvSpPr>
          <p:cNvPr id="14" name="Text 9"/>
          <p:cNvSpPr/>
          <p:nvPr/>
        </p:nvSpPr>
        <p:spPr>
          <a:xfrm>
            <a:off x="5550408" y="440740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Marina del Rey</a:t>
            </a:r>
            <a:endParaRPr lang="en-US" sz="750" dirty="0"/>
          </a:p>
        </p:txBody>
      </p:sp>
      <p:sp>
        <p:nvSpPr>
          <p:cNvPr id="15"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6"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MARINA DEL REY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Suite 210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Private terrace</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and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 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higher per-SF buildout than a dry medspa, which is why the lean case trims the contrast suite before it trims treatment rooms. The wet block, 800 SF: two saunas, two cold plunges and steam on a single plumbing wall, sharing that wall with the locker room. It is the first question we ask about any space.</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1952244" cy="1098137"/>
          </a:xfrm>
          <a:prstGeom prst="rect">
            <a:avLst/>
          </a:prstGeom>
        </p:spPr>
      </p:pic>
      <p:sp>
        <p:nvSpPr>
          <p:cNvPr id="6" name="Shape 3"/>
          <p:cNvSpPr/>
          <p:nvPr/>
        </p:nvSpPr>
        <p:spPr>
          <a:xfrm>
            <a:off x="502920" y="1188720"/>
            <a:ext cx="1952244" cy="1098137"/>
          </a:xfrm>
          <a:prstGeom prst="rect">
            <a:avLst/>
          </a:prstGeom>
          <a:solidFill>
            <a:srgbClr val="0D0D0D">
              <a:alpha val="0"/>
            </a:srgbClr>
          </a:solidFill>
          <a:ln w="9525">
            <a:solidFill>
              <a:srgbClr val="271F13"/>
            </a:solidFill>
            <a:prstDash val="solid"/>
          </a:ln>
        </p:spPr>
      </p:sp>
      <p:sp>
        <p:nvSpPr>
          <p:cNvPr id="7" name="Text 4"/>
          <p:cNvSpPr/>
          <p:nvPr/>
        </p:nvSpPr>
        <p:spPr>
          <a:xfrm>
            <a:off x="502920" y="2305145"/>
            <a:ext cx="1952244"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8" name="Image 1" descr="preencoded.png">    </p:cNvPr>
          <p:cNvPicPr>
            <a:picLocks noChangeAspect="1"/>
          </p:cNvPicPr>
          <p:nvPr/>
        </p:nvPicPr>
        <p:blipFill>
          <a:blip r:embed="rId2"/>
          <a:srcRect l="0" r="0" t="0" b="0"/>
          <a:stretch/>
        </p:blipFill>
        <p:spPr>
          <a:xfrm>
            <a:off x="2564892" y="1188720"/>
            <a:ext cx="1952244" cy="1098137"/>
          </a:xfrm>
          <a:prstGeom prst="rect">
            <a:avLst/>
          </a:prstGeom>
        </p:spPr>
      </p:pic>
      <p:sp>
        <p:nvSpPr>
          <p:cNvPr id="9" name="Shape 5"/>
          <p:cNvSpPr/>
          <p:nvPr/>
        </p:nvSpPr>
        <p:spPr>
          <a:xfrm>
            <a:off x="2564892" y="1188720"/>
            <a:ext cx="1952244" cy="1098137"/>
          </a:xfrm>
          <a:prstGeom prst="rect">
            <a:avLst/>
          </a:prstGeom>
          <a:solidFill>
            <a:srgbClr val="0D0D0D">
              <a:alpha val="0"/>
            </a:srgbClr>
          </a:solidFill>
          <a:ln w="9525">
            <a:solidFill>
              <a:srgbClr val="271F13"/>
            </a:solidFill>
            <a:prstDash val="solid"/>
          </a:ln>
        </p:spPr>
      </p:sp>
      <p:sp>
        <p:nvSpPr>
          <p:cNvPr id="10" name="Text 6"/>
          <p:cNvSpPr/>
          <p:nvPr/>
        </p:nvSpPr>
        <p:spPr>
          <a:xfrm>
            <a:off x="2564892" y="2305145"/>
            <a:ext cx="1952244"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1" name="Image 2" descr="preencoded.png">    </p:cNvPr>
          <p:cNvPicPr>
            <a:picLocks noChangeAspect="1"/>
          </p:cNvPicPr>
          <p:nvPr/>
        </p:nvPicPr>
        <p:blipFill>
          <a:blip r:embed="rId3"/>
          <a:srcRect l="0" r="0" t="0" b="0"/>
          <a:stretch/>
        </p:blipFill>
        <p:spPr>
          <a:xfrm>
            <a:off x="4626864" y="1188720"/>
            <a:ext cx="1952244" cy="1098137"/>
          </a:xfrm>
          <a:prstGeom prst="rect">
            <a:avLst/>
          </a:prstGeom>
        </p:spPr>
      </p:pic>
      <p:sp>
        <p:nvSpPr>
          <p:cNvPr id="12" name="Shape 7"/>
          <p:cNvSpPr/>
          <p:nvPr/>
        </p:nvSpPr>
        <p:spPr>
          <a:xfrm>
            <a:off x="4626864" y="1188720"/>
            <a:ext cx="1952244" cy="1098137"/>
          </a:xfrm>
          <a:prstGeom prst="rect">
            <a:avLst/>
          </a:prstGeom>
          <a:solidFill>
            <a:srgbClr val="0D0D0D">
              <a:alpha val="0"/>
            </a:srgbClr>
          </a:solidFill>
          <a:ln w="9525">
            <a:solidFill>
              <a:srgbClr val="271F13"/>
            </a:solidFill>
            <a:prstDash val="solid"/>
          </a:ln>
        </p:spPr>
      </p:sp>
      <p:sp>
        <p:nvSpPr>
          <p:cNvPr id="13" name="Text 8"/>
          <p:cNvSpPr/>
          <p:nvPr/>
        </p:nvSpPr>
        <p:spPr>
          <a:xfrm>
            <a:off x="4626864" y="2305145"/>
            <a:ext cx="1952244"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pic>
        <p:nvPicPr>
          <p:cNvPr id="14" name="Image 3" descr="preencoded.png">    </p:cNvPr>
          <p:cNvPicPr>
            <a:picLocks noChangeAspect="1"/>
          </p:cNvPicPr>
          <p:nvPr/>
        </p:nvPicPr>
        <p:blipFill>
          <a:blip r:embed="rId4"/>
          <a:srcRect l="0" r="0" t="0" b="0"/>
          <a:stretch/>
        </p:blipFill>
        <p:spPr>
          <a:xfrm>
            <a:off x="6688836" y="1188720"/>
            <a:ext cx="1952244" cy="1098137"/>
          </a:xfrm>
          <a:prstGeom prst="rect">
            <a:avLst/>
          </a:prstGeom>
        </p:spPr>
      </p:pic>
      <p:sp>
        <p:nvSpPr>
          <p:cNvPr id="15" name="Shape 9"/>
          <p:cNvSpPr/>
          <p:nvPr/>
        </p:nvSpPr>
        <p:spPr>
          <a:xfrm>
            <a:off x="6688836" y="1188720"/>
            <a:ext cx="1952244" cy="1098137"/>
          </a:xfrm>
          <a:prstGeom prst="rect">
            <a:avLst/>
          </a:prstGeom>
          <a:solidFill>
            <a:srgbClr val="0D0D0D">
              <a:alpha val="0"/>
            </a:srgbClr>
          </a:solidFill>
          <a:ln w="9525">
            <a:solidFill>
              <a:srgbClr val="271F13"/>
            </a:solidFill>
            <a:prstDash val="solid"/>
          </a:ln>
        </p:spPr>
      </p:sp>
      <p:sp>
        <p:nvSpPr>
          <p:cNvPr id="16" name="Text 10"/>
          <p:cNvSpPr/>
          <p:nvPr/>
        </p:nvSpPr>
        <p:spPr>
          <a:xfrm>
            <a:off x="6688836" y="2305145"/>
            <a:ext cx="1952244"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17" name="Image 4" descr="preencoded.png">    </p:cNvPr>
          <p:cNvPicPr>
            <a:picLocks noChangeAspect="1"/>
          </p:cNvPicPr>
          <p:nvPr/>
        </p:nvPicPr>
        <p:blipFill>
          <a:blip r:embed="rId5"/>
          <a:srcRect l="0" r="0" t="0" b="0"/>
          <a:stretch/>
        </p:blipFill>
        <p:spPr>
          <a:xfrm>
            <a:off x="502920" y="2561177"/>
            <a:ext cx="1952244" cy="1098137"/>
          </a:xfrm>
          <a:prstGeom prst="rect">
            <a:avLst/>
          </a:prstGeom>
        </p:spPr>
      </p:pic>
      <p:sp>
        <p:nvSpPr>
          <p:cNvPr id="18" name="Shape 11"/>
          <p:cNvSpPr/>
          <p:nvPr/>
        </p:nvSpPr>
        <p:spPr>
          <a:xfrm>
            <a:off x="502920" y="2561177"/>
            <a:ext cx="1952244" cy="1098137"/>
          </a:xfrm>
          <a:prstGeom prst="rect">
            <a:avLst/>
          </a:prstGeom>
          <a:solidFill>
            <a:srgbClr val="0D0D0D">
              <a:alpha val="0"/>
            </a:srgbClr>
          </a:solidFill>
          <a:ln w="9525">
            <a:solidFill>
              <a:srgbClr val="271F13"/>
            </a:solidFill>
            <a:prstDash val="solid"/>
          </a:ln>
        </p:spPr>
      </p:sp>
      <p:sp>
        <p:nvSpPr>
          <p:cNvPr id="19" name="Text 12"/>
          <p:cNvSpPr/>
          <p:nvPr/>
        </p:nvSpPr>
        <p:spPr>
          <a:xfrm>
            <a:off x="502920" y="3677602"/>
            <a:ext cx="1952244"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20" name="Image 5" descr="preencoded.png">    </p:cNvPr>
          <p:cNvPicPr>
            <a:picLocks noChangeAspect="1"/>
          </p:cNvPicPr>
          <p:nvPr/>
        </p:nvPicPr>
        <p:blipFill>
          <a:blip r:embed="rId6"/>
          <a:srcRect l="0" r="0" t="0" b="0"/>
          <a:stretch/>
        </p:blipFill>
        <p:spPr>
          <a:xfrm>
            <a:off x="2564892" y="2561177"/>
            <a:ext cx="1952244" cy="1098137"/>
          </a:xfrm>
          <a:prstGeom prst="rect">
            <a:avLst/>
          </a:prstGeom>
        </p:spPr>
      </p:pic>
      <p:sp>
        <p:nvSpPr>
          <p:cNvPr id="21" name="Shape 13"/>
          <p:cNvSpPr/>
          <p:nvPr/>
        </p:nvSpPr>
        <p:spPr>
          <a:xfrm>
            <a:off x="2564892" y="2561177"/>
            <a:ext cx="1952244" cy="1098137"/>
          </a:xfrm>
          <a:prstGeom prst="rect">
            <a:avLst/>
          </a:prstGeom>
          <a:solidFill>
            <a:srgbClr val="0D0D0D">
              <a:alpha val="0"/>
            </a:srgbClr>
          </a:solidFill>
          <a:ln w="9525">
            <a:solidFill>
              <a:srgbClr val="271F13"/>
            </a:solidFill>
            <a:prstDash val="solid"/>
          </a:ln>
        </p:spPr>
      </p:sp>
      <p:sp>
        <p:nvSpPr>
          <p:cNvPr id="22" name="Text 14"/>
          <p:cNvSpPr/>
          <p:nvPr/>
        </p:nvSpPr>
        <p:spPr>
          <a:xfrm>
            <a:off x="2564892" y="3677602"/>
            <a:ext cx="1952244"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23" name="Image 6" descr="preencoded.png">    </p:cNvPr>
          <p:cNvPicPr>
            <a:picLocks noChangeAspect="1"/>
          </p:cNvPicPr>
          <p:nvPr/>
        </p:nvPicPr>
        <p:blipFill>
          <a:blip r:embed="rId7"/>
          <a:srcRect l="0" r="0" t="0" b="0"/>
          <a:stretch/>
        </p:blipFill>
        <p:spPr>
          <a:xfrm>
            <a:off x="4626864" y="2561177"/>
            <a:ext cx="1952244" cy="1098137"/>
          </a:xfrm>
          <a:prstGeom prst="rect">
            <a:avLst/>
          </a:prstGeom>
        </p:spPr>
      </p:pic>
      <p:sp>
        <p:nvSpPr>
          <p:cNvPr id="24" name="Shape 15"/>
          <p:cNvSpPr/>
          <p:nvPr/>
        </p:nvSpPr>
        <p:spPr>
          <a:xfrm>
            <a:off x="4626864" y="2561177"/>
            <a:ext cx="1952244" cy="1098137"/>
          </a:xfrm>
          <a:prstGeom prst="rect">
            <a:avLst/>
          </a:prstGeom>
          <a:solidFill>
            <a:srgbClr val="0D0D0D">
              <a:alpha val="0"/>
            </a:srgbClr>
          </a:solidFill>
          <a:ln w="9525">
            <a:solidFill>
              <a:srgbClr val="271F13"/>
            </a:solidFill>
            <a:prstDash val="solid"/>
          </a:ln>
        </p:spPr>
      </p:sp>
      <p:sp>
        <p:nvSpPr>
          <p:cNvPr id="25" name="Text 16"/>
          <p:cNvSpPr/>
          <p:nvPr/>
        </p:nvSpPr>
        <p:spPr>
          <a:xfrm>
            <a:off x="4626864" y="3677602"/>
            <a:ext cx="1952244"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26" name="Image 7" descr="preencoded.png">    </p:cNvPr>
          <p:cNvPicPr>
            <a:picLocks noChangeAspect="1"/>
          </p:cNvPicPr>
          <p:nvPr/>
        </p:nvPicPr>
        <p:blipFill>
          <a:blip r:embed="rId8"/>
          <a:srcRect l="0" r="0" t="0" b="0"/>
          <a:stretch/>
        </p:blipFill>
        <p:spPr>
          <a:xfrm>
            <a:off x="6688836" y="2561177"/>
            <a:ext cx="1952244" cy="1098137"/>
          </a:xfrm>
          <a:prstGeom prst="rect">
            <a:avLst/>
          </a:prstGeom>
        </p:spPr>
      </p:pic>
      <p:sp>
        <p:nvSpPr>
          <p:cNvPr id="27" name="Shape 17"/>
          <p:cNvSpPr/>
          <p:nvPr/>
        </p:nvSpPr>
        <p:spPr>
          <a:xfrm>
            <a:off x="6688836" y="2561177"/>
            <a:ext cx="1952244" cy="1098137"/>
          </a:xfrm>
          <a:prstGeom prst="rect">
            <a:avLst/>
          </a:prstGeom>
          <a:solidFill>
            <a:srgbClr val="0D0D0D">
              <a:alpha val="0"/>
            </a:srgbClr>
          </a:solidFill>
          <a:ln w="9525">
            <a:solidFill>
              <a:srgbClr val="271F13"/>
            </a:solidFill>
            <a:prstDash val="solid"/>
          </a:ln>
        </p:spPr>
      </p:sp>
      <p:sp>
        <p:nvSpPr>
          <p:cNvPr id="28" name="Text 18"/>
          <p:cNvSpPr/>
          <p:nvPr/>
        </p:nvSpPr>
        <p:spPr>
          <a:xfrm>
            <a:off x="6688836" y="3677602"/>
            <a:ext cx="1952244"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9" name="Text 1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30" name="Text 2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WE SELL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Capacity is counted hour by hour for each station, not assumed. Even at stabilization, every station has room to spare.</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practical capacity on 2 beds, leaving 201 sessions of headroom.</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facility sits in Marina del Rey, two miles west of Playa Vista and inside the same Westside corridor. Playa Vista is the master-planned innovation district on the old Hughes Aircraft site that became the center of gravity for the Westside, with the Google, YouTube and Meta campuses within a walk of one another. LAX is four miles south and the studios fifteen minutes north.</a:t>
            </a:r>
            <a:endParaRPr lang="en-US" sz="1050" dirty="0"/>
          </a:p>
        </p:txBody>
      </p:sp>
      <p:sp>
        <p:nvSpPr>
          <p:cNvPr id="6" name="Shape 4"/>
          <p:cNvSpPr/>
          <p:nvPr/>
        </p:nvSpPr>
        <p:spPr>
          <a:xfrm>
            <a:off x="502920" y="1783080"/>
            <a:ext cx="2615184" cy="155448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1783080"/>
            <a:ext cx="2615184" cy="155448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1783080"/>
            <a:ext cx="2615184" cy="155448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2,224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$507,121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$360,318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à la carte revenue. Members draw down a credit bank against services that would otherwise be paid at list price, so redemption is netted out first.</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À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MONTHLY, AT STABILIZATION</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All of it is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5176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2862072"/>
          <a:ext cx="8138160" cy="914400"/>
        </p:xfrm>
        <a:graphic>
          <a:graphicData uri="http://schemas.openxmlformats.org/drawingml/2006/table">
            <a:tbl>
              <a:tblPr/>
              <a:tblGrid>
                <a:gridCol w="4937760"/>
                <a:gridCol w="1600200"/>
                <a:gridCol w="1600200"/>
              </a:tblGrid>
              <a:tr h="15087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0"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21"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Ownership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modeled 36 months is $4,589,439, including the $540,000 of founding-member prepayments collected during construction. No internal rate of return is projected. The paths to value and the published multiples are two pages on.</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This round funds Marina del Rey. Pro-rata rights cover what comes after.</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Marina del Rey exists today. Pro-rata rights are a mechanism, not a pipeline.</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higher multiples than single-location assets, so the value of building a second and third location is realized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Marina del Rey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and actual results will differ. Market and demographic figures carry their sources, and anything we could not source was cut rather than estimated. Statements about other operators describe our understanding at the date of this brief, are drawn from public information and may change without notice. Nothing here has been audited or reviewed by an independent accountant.</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clinician leaves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club, recovery floor and infusion suite run on staff that are easier to hire than injectors and prescribers. A gap narrows the services offered without closing LK. As a licensed, equipped clinic, we can credential a replacement quickly, and clinical pay includes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is slower than modeled and cash runs short.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With no loans assumed, there is no monthly payment to miss and no lender involved. Founding memberships will be sold during construction. The reserve is sized to cover a slower ramp, and the low case still reaches positive operating income at stabilization.</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 variance line in the buildout. The saunas, plunges and showers are the least predictable cost in the build. A reduced-scope plan is ready as a fallback, and the reserve gives room to absorb overruns without a second raise.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One building, two layers, and a license most of this category cannot legally obtain.</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lkwellnessmdr@gmail.com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itemize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78308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200253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09"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45"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81"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17"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amortized)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Of that, $18,760 is circuit consumables at $8 a visit across 2,345 monthly visits, carried on its own line in the P&amp;L.</a:t>
            </a:r>
            <a:endParaRPr lang="en-US" sz="10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914400"/>
                <a:gridCol w="5486400"/>
              </a:tblGrid>
              <a:tr h="23774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Recovery</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80–82%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PRP</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60–72%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Draw kits, separation tubes and centrifuge consumables, needles and sharps, topical anesthetic. Cost per case is close to fixed, so the margin spread across the six lines is a pricing decision rather than a cost 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Regenerative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56–78%</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65–75%</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Diagnostics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65–77%</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IF RENT IS WRONG, WHAT HAPPENS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Rent is the largest single assumption in the model and the easiest to check. Everything else is held constant.</a:t>
            </a:r>
            <a:endParaRPr lang="en-US" sz="10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$5.50  (modeled)</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$27,088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$224,801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$2,697,611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$29,550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$222,338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$2,668,061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56.2%</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$32,013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$219,876</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$2,638,511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55.5%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$7.00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$34,475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$217,413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$2,608,961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54.9%</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611880"/>
            <a:ext cx="8138160" cy="640080"/>
          </a:xfrm>
          <a:prstGeom prst="rect">
            <a:avLst/>
          </a:prstGeom>
          <a:noFill/>
          <a:ln/>
        </p:spPr>
        <p:txBody>
          <a:bodyPr wrap="square" rtlCol="0" anchor="t"/>
          <a:lstStyle/>
          <a:p>
            <a:pPr indent="0" marL="0">
              <a:lnSpc>
                <a:spcPct val="120000"/>
              </a:lnSpc>
              <a:buNone/>
            </a:pPr>
            <a:r>
              <a:rPr lang="en-US" sz="900" dirty="0">
                <a:solidFill>
                  <a:srgbClr val="6B6965"/>
                </a:solidFill>
                <a:latin typeface="Jost" pitchFamily="34" charset="0"/>
                <a:ea typeface="Jost" pitchFamily="34" charset="-122"/>
                <a:cs typeface="Jost" pitchFamily="34" charset="-120"/>
              </a:rPr>
              <a:t>Yield is stabilized operating income against the equity raised, before tax and before any distribution. The modeled rate is the more aggressive of the figures shown; a broker letter or signed lease would replace this assumption with a fact.</a:t>
            </a:r>
            <a:endParaRPr lang="en-US" sz="90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ITEMIZED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itemized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a:t>
            </a:r>
            <a:endParaRPr lang="en-US" sz="800" dirty="0"/>
          </a:p>
        </p:txBody>
      </p:sp>
      <p:sp>
        <p:nvSpPr>
          <p:cNvPr id="9" name="Text 7"/>
          <p:cNvSpPr/>
          <p:nvPr/>
        </p:nvSpPr>
        <p:spPr>
          <a:xfrm>
            <a:off x="502920" y="2264054"/>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428646"/>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80720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2971800"/>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47106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63565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modeled as offsetting construction-period burn.</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 SUBJECT TO DEFINITIVE DOCUMENTS</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2026-10-13T01:02:15Z</dcterms:created>
  <dcterms:modified xsi:type="dcterms:W3CDTF">2026-10-13T01:02:15Z</dcterms:modified>
</cp:coreProperties>
</file>