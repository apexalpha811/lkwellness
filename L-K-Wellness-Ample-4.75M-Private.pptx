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Lst>
  <p:notesMasterIdLst>
    <p:notesMasterId r:id="rId44"/>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notesMaster" Target="notesMasters/notesMaster1.xml"/><Relationship Id="rId45" Type="http://schemas.openxmlformats.org/officeDocument/2006/relationships/presProps" Target="presProps.xml"/><Relationship Id="rId46" Type="http://schemas.openxmlformats.org/officeDocument/2006/relationships/viewProps" Target="viewProps.xml"/><Relationship Id="rId47" Type="http://schemas.openxmlformats.org/officeDocument/2006/relationships/theme" Target="theme/theme1.xml"/><Relationship Id="rId4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eg"/><Relationship Id="rId2" Type="http://schemas.openxmlformats.org/officeDocument/2006/relationships/image" Target="../media/image-1-2.png"/><Relationship Id="rId3" Type="http://schemas.openxmlformats.org/officeDocument/2006/relationships/slideLayout" Target="../slideLayouts/slideLayout1.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jpeg"/><Relationship Id="rId2" Type="http://schemas.openxmlformats.org/officeDocument/2006/relationships/image" Target="../media/image-13-2.jpeg"/><Relationship Id="rId3" Type="http://schemas.openxmlformats.org/officeDocument/2006/relationships/image" Target="../media/image-13-3.jpeg"/><Relationship Id="rId4" Type="http://schemas.openxmlformats.org/officeDocument/2006/relationships/image" Target="../media/image-13-4.jpeg"/><Relationship Id="rId5" Type="http://schemas.openxmlformats.org/officeDocument/2006/relationships/image" Target="../media/image-13-5.jpeg"/><Relationship Id="rId6" Type="http://schemas.openxmlformats.org/officeDocument/2006/relationships/slideLayout" Target="../slideLayouts/slideLayout1.xml"/><Relationship Id="rId7"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jpeg"/><Relationship Id="rId2" Type="http://schemas.openxmlformats.org/officeDocument/2006/relationships/image" Target="../media/image-14-2.jpeg"/><Relationship Id="rId3" Type="http://schemas.openxmlformats.org/officeDocument/2006/relationships/image" Target="../media/image-14-3.jpeg"/><Relationship Id="rId4" Type="http://schemas.openxmlformats.org/officeDocument/2006/relationships/image" Target="../media/image-14-4.jpeg"/><Relationship Id="rId5" Type="http://schemas.openxmlformats.org/officeDocument/2006/relationships/image" Target="../media/image-14-5.jpeg"/><Relationship Id="rId6" Type="http://schemas.openxmlformats.org/officeDocument/2006/relationships/slideLayout" Target="../slideLayouts/slideLayout1.xml"/><Relationship Id="rId7"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1.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00000"/>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rcRect l="0" r="0" t="0" b="0"/>
          <a:stretch/>
        </p:blipFill>
        <p:spPr>
          <a:xfrm>
            <a:off x="0" y="0"/>
            <a:ext cx="9144000" cy="5143500"/>
          </a:xfrm>
          <a:prstGeom prst="rect">
            <a:avLst/>
          </a:prstGeom>
        </p:spPr>
      </p:pic>
      <p:sp>
        <p:nvSpPr>
          <p:cNvPr id="3" name="Shape 0"/>
          <p:cNvSpPr/>
          <p:nvPr/>
        </p:nvSpPr>
        <p:spPr>
          <a:xfrm>
            <a:off x="0" y="0"/>
            <a:ext cx="9144000" cy="5143500"/>
          </a:xfrm>
          <a:prstGeom prst="rect">
            <a:avLst/>
          </a:prstGeom>
          <a:solidFill>
            <a:srgbClr val="0D0D0D">
              <a:alpha val="55000"/>
            </a:srgbClr>
          </a:solidFill>
          <a:ln w="12700">
            <a:solidFill>
              <a:srgbClr val="0D0D0D">
                <a:alpha val="0"/>
              </a:srgbClr>
            </a:solidFill>
            <a:prstDash val="solid"/>
          </a:ln>
        </p:spPr>
      </p:sp>
      <p:pic>
        <p:nvPicPr>
          <p:cNvPr id="4" name="Image 1" descr="preencoded.png">    </p:cNvPr>
          <p:cNvPicPr>
            <a:picLocks noChangeAspect="1"/>
          </p:cNvPicPr>
          <p:nvPr/>
        </p:nvPicPr>
        <p:blipFill>
          <a:blip r:embed="rId2"/>
          <a:stretch>
            <a:fillRect/>
          </a:stretch>
        </p:blipFill>
        <p:spPr>
          <a:xfrm>
            <a:off x="502920" y="640080"/>
            <a:ext cx="1188720" cy="855878"/>
          </a:xfrm>
          <a:prstGeom prst="rect">
            <a:avLst/>
          </a:prstGeom>
        </p:spPr>
      </p:pic>
      <p:sp>
        <p:nvSpPr>
          <p:cNvPr id="5" name="Text 1"/>
          <p:cNvSpPr/>
          <p:nvPr/>
        </p:nvSpPr>
        <p:spPr>
          <a:xfrm>
            <a:off x="502920" y="1874520"/>
            <a:ext cx="8138160" cy="685800"/>
          </a:xfrm>
          <a:prstGeom prst="rect">
            <a:avLst/>
          </a:prstGeom>
          <a:noFill/>
          <a:ln/>
        </p:spPr>
        <p:txBody>
          <a:bodyPr wrap="square" rtlCol="0" anchor="t"/>
          <a:lstStyle/>
          <a:p>
            <a:pPr indent="0" marL="0">
              <a:buNone/>
            </a:pPr>
            <a:r>
              <a:rPr lang="en-US" sz="4400" spc="900" kern="0" dirty="0">
                <a:solidFill>
                  <a:srgbClr val="EDE7DE"/>
                </a:solidFill>
                <a:latin typeface="Cormorant Garamond" pitchFamily="34" charset="0"/>
                <a:ea typeface="Cormorant Garamond" pitchFamily="34" charset="-122"/>
                <a:cs typeface="Cormorant Garamond" pitchFamily="34" charset="-120"/>
              </a:rPr>
              <a:t>L&amp;K WELLNESS</a:t>
            </a:r>
            <a:endParaRPr lang="en-US" sz="4400" dirty="0"/>
          </a:p>
        </p:txBody>
      </p:sp>
      <p:sp>
        <p:nvSpPr>
          <p:cNvPr id="6" name="Shape 2"/>
          <p:cNvSpPr/>
          <p:nvPr/>
        </p:nvSpPr>
        <p:spPr>
          <a:xfrm>
            <a:off x="502920" y="2651760"/>
            <a:ext cx="566928" cy="12802"/>
          </a:xfrm>
          <a:prstGeom prst="rect">
            <a:avLst/>
          </a:prstGeom>
          <a:solidFill>
            <a:srgbClr val="B08D57"/>
          </a:solidFill>
          <a:ln w="12700">
            <a:solidFill>
              <a:srgbClr val="B08D57"/>
            </a:solidFill>
            <a:prstDash val="solid"/>
          </a:ln>
        </p:spPr>
      </p:sp>
      <p:sp>
        <p:nvSpPr>
          <p:cNvPr id="7" name="Text 3"/>
          <p:cNvSpPr/>
          <p:nvPr/>
        </p:nvSpPr>
        <p:spPr>
          <a:xfrm>
            <a:off x="502920" y="2761488"/>
            <a:ext cx="8138160" cy="365760"/>
          </a:xfrm>
          <a:prstGeom prst="rect">
            <a:avLst/>
          </a:prstGeom>
          <a:noFill/>
          <a:ln/>
        </p:spPr>
        <p:txBody>
          <a:bodyPr wrap="square" rtlCol="0" anchor="t"/>
          <a:lstStyle/>
          <a:p>
            <a:pPr indent="0" marL="0">
              <a:buNone/>
            </a:pPr>
            <a:r>
              <a:rPr lang="en-US" sz="1500" dirty="0">
                <a:solidFill>
                  <a:srgbClr val="EDE7DE"/>
                </a:solidFill>
                <a:latin typeface="Jost" pitchFamily="34" charset="0"/>
                <a:ea typeface="Jost" pitchFamily="34" charset="-122"/>
                <a:cs typeface="Jost" pitchFamily="34" charset="-120"/>
              </a:rPr>
              <a:t>A recovery club with a licensed clinic inside it.</a:t>
            </a:r>
            <a:endParaRPr lang="en-US" sz="1500" dirty="0"/>
          </a:p>
        </p:txBody>
      </p:sp>
      <p:sp>
        <p:nvSpPr>
          <p:cNvPr id="8" name="Text 4"/>
          <p:cNvSpPr/>
          <p:nvPr/>
        </p:nvSpPr>
        <p:spPr>
          <a:xfrm>
            <a:off x="502920" y="3200400"/>
            <a:ext cx="8138160" cy="274320"/>
          </a:xfrm>
          <a:prstGeom prst="rect">
            <a:avLst/>
          </a:prstGeom>
          <a:noFill/>
          <a:ln/>
        </p:spPr>
        <p:txBody>
          <a:bodyPr wrap="square" rtlCol="0" anchor="ctr"/>
          <a:lstStyle/>
          <a:p>
            <a:pPr indent="0" marL="0">
              <a:buNone/>
            </a:pPr>
            <a:r>
              <a:rPr lang="en-US" sz="1000" dirty="0">
                <a:solidFill>
                  <a:srgbClr val="C9BCA9"/>
                </a:solidFill>
                <a:latin typeface="Jost" pitchFamily="34" charset="0"/>
                <a:ea typeface="Jost" pitchFamily="34" charset="-122"/>
                <a:cs typeface="Jost" pitchFamily="34" charset="-120"/>
              </a:rPr>
              <a:t>Playa Vista, California   ·   4,925 SF programmed   ·   $4.75M all-equity project   ·   30% starting stake</a:t>
            </a:r>
            <a:endParaRPr lang="en-US" sz="1000" dirty="0"/>
          </a:p>
        </p:txBody>
      </p:sp>
      <p:sp>
        <p:nvSpPr>
          <p:cNvPr id="9" name="Text 5"/>
          <p:cNvSpPr/>
          <p:nvPr/>
        </p:nvSpPr>
        <p:spPr>
          <a:xfrm>
            <a:off x="502920" y="3511296"/>
            <a:ext cx="8138160" cy="274320"/>
          </a:xfrm>
          <a:prstGeom prst="rect">
            <a:avLst/>
          </a:prstGeom>
          <a:noFill/>
          <a:ln/>
        </p:spPr>
        <p:txBody>
          <a:bodyPr wrap="square" rtlCol="0" anchor="ctr"/>
          <a:lstStyle/>
          <a:p>
            <a:pPr indent="0" marL="0">
              <a:buNone/>
            </a:pPr>
            <a:r>
              <a:rPr lang="en-US" sz="1000" dirty="0">
                <a:solidFill>
                  <a:srgbClr val="B08D57"/>
                </a:solidFill>
                <a:latin typeface="Jost" pitchFamily="34" charset="0"/>
                <a:ea typeface="Jost" pitchFamily="34" charset="-122"/>
                <a:cs typeface="Jost" pitchFamily="34" charset="-120"/>
              </a:rPr>
              <a:t>Laura@culvercitysurgical.com</a:t>
            </a:r>
            <a:endParaRPr lang="en-US" sz="1000" dirty="0"/>
          </a:p>
        </p:txBody>
      </p:sp>
      <p:sp>
        <p:nvSpPr>
          <p:cNvPr id="10" name="Text 6"/>
          <p:cNvSpPr/>
          <p:nvPr/>
        </p:nvSpPr>
        <p:spPr>
          <a:xfrm>
            <a:off x="502920" y="4645152"/>
            <a:ext cx="8138160" cy="274320"/>
          </a:xfrm>
          <a:prstGeom prst="rect">
            <a:avLst/>
          </a:prstGeom>
          <a:noFill/>
          <a:ln/>
        </p:spPr>
        <p:txBody>
          <a:bodyPr wrap="square" rtlCol="0" anchor="ctr"/>
          <a:lstStyle/>
          <a:p>
            <a:pPr indent="0" marL="0">
              <a:buNone/>
            </a:pPr>
            <a:r>
              <a:rPr lang="en-US" sz="750" spc="200" kern="0" dirty="0">
                <a:solidFill>
                  <a:srgbClr val="C9BCA9"/>
                </a:solidFill>
                <a:latin typeface="Jost" pitchFamily="34" charset="0"/>
                <a:ea typeface="Jost" pitchFamily="34" charset="-122"/>
                <a:cs typeface="Jost" pitchFamily="34" charset="-120"/>
              </a:rPr>
              <a:t>CONFIDENTIAL  ·  PRIVATE INVESTMENT BRIEF  ·  FOR QUALIFIED RECIPIENTS ONLY</a:t>
            </a:r>
            <a:endParaRPr lang="en-US" sz="7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1371600"/>
            <a:ext cx="8138160" cy="201168"/>
          </a:xfrm>
          <a:prstGeom prst="rect">
            <a:avLst/>
          </a:prstGeom>
          <a:noFill/>
          <a:ln/>
        </p:spPr>
        <p:txBody>
          <a:bodyPr wrap="square" rtlCol="0" anchor="ctr"/>
          <a:lstStyle/>
          <a:p>
            <a:pPr indent="0" marL="0">
              <a:buNone/>
            </a:pPr>
            <a:r>
              <a:rPr lang="en-US" sz="900" spc="300" kern="0" dirty="0">
                <a:solidFill>
                  <a:srgbClr val="B08D57"/>
                </a:solidFill>
                <a:latin typeface="Jost" pitchFamily="34" charset="0"/>
                <a:ea typeface="Jost" pitchFamily="34" charset="-122"/>
                <a:cs typeface="Jost" pitchFamily="34" charset="-120"/>
              </a:rPr>
              <a:t>POSITIONING</a:t>
            </a:r>
            <a:endParaRPr lang="en-US" sz="900" dirty="0"/>
          </a:p>
        </p:txBody>
      </p:sp>
      <p:sp>
        <p:nvSpPr>
          <p:cNvPr id="3" name="Shape 1"/>
          <p:cNvSpPr/>
          <p:nvPr/>
        </p:nvSpPr>
        <p:spPr>
          <a:xfrm>
            <a:off x="502920" y="1618488"/>
            <a:ext cx="566928" cy="12802"/>
          </a:xfrm>
          <a:prstGeom prst="rect">
            <a:avLst/>
          </a:prstGeom>
          <a:solidFill>
            <a:srgbClr val="B08D57"/>
          </a:solidFill>
          <a:ln w="12700">
            <a:solidFill>
              <a:srgbClr val="B08D57"/>
            </a:solidFill>
            <a:prstDash val="solid"/>
          </a:ln>
        </p:spPr>
      </p:sp>
      <p:sp>
        <p:nvSpPr>
          <p:cNvPr id="4" name="Text 2"/>
          <p:cNvSpPr/>
          <p:nvPr/>
        </p:nvSpPr>
        <p:spPr>
          <a:xfrm>
            <a:off x="502920" y="1810512"/>
            <a:ext cx="8138160" cy="1737360"/>
          </a:xfrm>
          <a:prstGeom prst="rect">
            <a:avLst/>
          </a:prstGeom>
          <a:noFill/>
          <a:ln/>
        </p:spPr>
        <p:txBody>
          <a:bodyPr wrap="square" rtlCol="0" anchor="t"/>
          <a:lstStyle/>
          <a:p>
            <a:pPr indent="0" marL="0">
              <a:lnSpc>
                <a:spcPct val="112000"/>
              </a:lnSpc>
              <a:buNone/>
            </a:pPr>
            <a:r>
              <a:rPr lang="en-US" sz="3000" dirty="0">
                <a:solidFill>
                  <a:srgbClr val="EDE7DE"/>
                </a:solidFill>
                <a:latin typeface="Cormorant Garamond" pitchFamily="34" charset="0"/>
                <a:ea typeface="Cormorant Garamond" pitchFamily="34" charset="-122"/>
                <a:cs typeface="Cormorant Garamond" pitchFamily="34" charset="-120"/>
              </a:rPr>
              <a:t>Self-care is already social. Very few rooms are built to hold it, and fewer still are licensed to treat you in one.</a:t>
            </a:r>
            <a:endParaRPr lang="en-US" sz="3000" dirty="0"/>
          </a:p>
        </p:txBody>
      </p:sp>
      <p:sp>
        <p:nvSpPr>
          <p:cNvPr id="5" name="Text 3"/>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B6965"/>
                </a:solidFill>
                <a:latin typeface="Jost" pitchFamily="34" charset="0"/>
                <a:ea typeface="Jost" pitchFamily="34" charset="-122"/>
                <a:cs typeface="Jost" pitchFamily="34" charset="-120"/>
              </a:rPr>
              <a:t>L&amp;K WELLNESS  ·  PRIVATE INVESTMENT BRIEF  ·  CONFIDENTIAL</a:t>
            </a:r>
            <a:endParaRPr lang="en-US" sz="700" dirty="0"/>
          </a:p>
        </p:txBody>
      </p:sp>
      <p:sp>
        <p:nvSpPr>
          <p:cNvPr id="6" name="Text 4"/>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B6965"/>
                </a:solidFill>
                <a:latin typeface="Jost" pitchFamily="34" charset="0"/>
                <a:ea typeface="Jost" pitchFamily="34" charset="-122"/>
                <a:cs typeface="Jost" pitchFamily="34" charset="-120"/>
              </a:rPr>
              <a:t>2</a:t>
            </a:r>
            <a:endParaRPr lang="en-US" sz="7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B08D57"/>
                </a:solidFill>
                <a:latin typeface="Jost" pitchFamily="34" charset="0"/>
                <a:ea typeface="Jost" pitchFamily="34" charset="-122"/>
                <a:cs typeface="Jost" pitchFamily="34" charset="-120"/>
              </a:rPr>
              <a:t>THE PROBLEM</a:t>
            </a:r>
            <a:endParaRPr lang="en-US" sz="900" dirty="0"/>
          </a:p>
        </p:txBody>
      </p:sp>
      <p:sp>
        <p:nvSpPr>
          <p:cNvPr id="3" name="Shape 1"/>
          <p:cNvSpPr/>
          <p:nvPr/>
        </p:nvSpPr>
        <p:spPr>
          <a:xfrm>
            <a:off x="502920" y="557784"/>
            <a:ext cx="566928" cy="12802"/>
          </a:xfrm>
          <a:prstGeom prst="rect">
            <a:avLst/>
          </a:prstGeom>
          <a:solidFill>
            <a:srgbClr val="B08D57"/>
          </a:solidFill>
          <a:ln w="12700">
            <a:solidFill>
              <a:srgbClr val="B08D57"/>
            </a:solidFill>
            <a:prstDash val="solid"/>
          </a:ln>
        </p:spPr>
      </p:sp>
      <p:sp>
        <p:nvSpPr>
          <p:cNvPr id="4" name="Text 2"/>
          <p:cNvSpPr/>
          <p:nvPr/>
        </p:nvSpPr>
        <p:spPr>
          <a:xfrm>
            <a:off x="502920" y="621792"/>
            <a:ext cx="8138160" cy="548640"/>
          </a:xfrm>
          <a:prstGeom prst="rect">
            <a:avLst/>
          </a:prstGeom>
          <a:noFill/>
          <a:ln/>
        </p:spPr>
        <p:txBody>
          <a:bodyPr wrap="square" rtlCol="0" anchor="t"/>
          <a:lstStyle/>
          <a:p>
            <a:pPr indent="0" marL="0">
              <a:buNone/>
            </a:pPr>
            <a:r>
              <a:rPr lang="en-US" sz="2600" spc="400" kern="0" dirty="0">
                <a:solidFill>
                  <a:srgbClr val="EDE7DE"/>
                </a:solidFill>
                <a:latin typeface="Cormorant Garamond" pitchFamily="34" charset="0"/>
                <a:ea typeface="Cormorant Garamond" pitchFamily="34" charset="-122"/>
                <a:cs typeface="Cormorant Garamond" pitchFamily="34" charset="-120"/>
              </a:rPr>
              <a:t>THE WESTSIDE IS FRAGMENTED</a:t>
            </a:r>
            <a:endParaRPr lang="en-US" sz="2600" dirty="0"/>
          </a:p>
        </p:txBody>
      </p:sp>
      <p:sp>
        <p:nvSpPr>
          <p:cNvPr id="5" name="Text 3"/>
          <p:cNvSpPr/>
          <p:nvPr/>
        </p:nvSpPr>
        <p:spPr>
          <a:xfrm>
            <a:off x="502920" y="1115568"/>
            <a:ext cx="7487107" cy="457200"/>
          </a:xfrm>
          <a:prstGeom prst="rect">
            <a:avLst/>
          </a:prstGeom>
          <a:noFill/>
          <a:ln/>
        </p:spPr>
        <p:txBody>
          <a:bodyPr wrap="square" rtlCol="0" anchor="t"/>
          <a:lstStyle/>
          <a:p>
            <a:pPr indent="0" marL="0">
              <a:lnSpc>
                <a:spcPct val="120000"/>
              </a:lnSpc>
              <a:buNone/>
            </a:pPr>
            <a:r>
              <a:rPr lang="en-US" sz="1050" dirty="0">
                <a:solidFill>
                  <a:srgbClr val="C9BCA9"/>
                </a:solidFill>
                <a:latin typeface="Jost" pitchFamily="34" charset="0"/>
                <a:ea typeface="Jost" pitchFamily="34" charset="-122"/>
                <a:cs typeface="Jost" pitchFamily="34" charset="-120"/>
              </a:rPr>
              <a:t>A patient optimizing their health today visits a medspa for injectables, a recovery studio for cold plunge, a longevity clinic for labs, and a concierge doctor for hormones. Four intakes, four records, four bills. Not one of them is somewhere you would choose to spend a Saturday morning.</a:t>
            </a:r>
            <a:endParaRPr lang="en-US" sz="1050" dirty="0"/>
          </a:p>
        </p:txBody>
      </p:sp>
      <p:sp>
        <p:nvSpPr>
          <p:cNvPr id="6" name="Shape 4"/>
          <p:cNvSpPr/>
          <p:nvPr/>
        </p:nvSpPr>
        <p:spPr>
          <a:xfrm>
            <a:off x="502920" y="1874520"/>
            <a:ext cx="2615184" cy="1600200"/>
          </a:xfrm>
          <a:prstGeom prst="rect">
            <a:avLst/>
          </a:prstGeom>
          <a:solidFill>
            <a:srgbClr val="1C1C1E"/>
          </a:solidFill>
          <a:ln w="9525">
            <a:solidFill>
              <a:srgbClr val="271F13"/>
            </a:solidFill>
            <a:prstDash val="solid"/>
          </a:ln>
        </p:spPr>
      </p:sp>
      <p:sp>
        <p:nvSpPr>
          <p:cNvPr id="7" name="Text 5"/>
          <p:cNvSpPr/>
          <p:nvPr/>
        </p:nvSpPr>
        <p:spPr>
          <a:xfrm>
            <a:off x="649224" y="2002536"/>
            <a:ext cx="2322576" cy="329184"/>
          </a:xfrm>
          <a:prstGeom prst="rect">
            <a:avLst/>
          </a:prstGeom>
          <a:noFill/>
          <a:ln/>
        </p:spPr>
        <p:txBody>
          <a:bodyPr wrap="square" rtlCol="0" anchor="t"/>
          <a:lstStyle/>
          <a:p>
            <a:pPr indent="0" marL="0">
              <a:buNone/>
            </a:pPr>
            <a:r>
              <a:rPr lang="en-US" sz="2000" dirty="0">
                <a:solidFill>
                  <a:srgbClr val="B08D57"/>
                </a:solidFill>
                <a:latin typeface="Cormorant Garamond" pitchFamily="34" charset="0"/>
                <a:ea typeface="Cormorant Garamond" pitchFamily="34" charset="-122"/>
                <a:cs typeface="Cormorant Garamond" pitchFamily="34" charset="-120"/>
              </a:rPr>
              <a:t>4+</a:t>
            </a:r>
            <a:endParaRPr lang="en-US" sz="2000" dirty="0"/>
          </a:p>
        </p:txBody>
      </p:sp>
      <p:sp>
        <p:nvSpPr>
          <p:cNvPr id="8" name="Text 6"/>
          <p:cNvSpPr/>
          <p:nvPr/>
        </p:nvSpPr>
        <p:spPr>
          <a:xfrm>
            <a:off x="649224" y="2350008"/>
            <a:ext cx="2322576" cy="1014984"/>
          </a:xfrm>
          <a:prstGeom prst="rect">
            <a:avLst/>
          </a:prstGeom>
          <a:noFill/>
          <a:ln/>
        </p:spPr>
        <p:txBody>
          <a:bodyPr wrap="square" rtlCol="0" anchor="t"/>
          <a:lstStyle/>
          <a:p>
            <a:pPr indent="0" marL="0">
              <a:lnSpc>
                <a:spcPct val="120000"/>
              </a:lnSpc>
              <a:buNone/>
            </a:pPr>
            <a:r>
              <a:rPr lang="en-US" sz="800" dirty="0">
                <a:solidFill>
                  <a:srgbClr val="C9BCA9"/>
                </a:solidFill>
                <a:latin typeface="Jost" pitchFamily="34" charset="0"/>
                <a:ea typeface="Jost" pitchFamily="34" charset="-122"/>
                <a:cs typeface="Jost" pitchFamily="34" charset="-120"/>
              </a:rPr>
              <a:t>Separate providers a patient coordinates for care that belongs in one building.</a:t>
            </a:r>
            <a:endParaRPr lang="en-US" sz="800" dirty="0"/>
          </a:p>
        </p:txBody>
      </p:sp>
      <p:sp>
        <p:nvSpPr>
          <p:cNvPr id="9" name="Shape 7"/>
          <p:cNvSpPr/>
          <p:nvPr/>
        </p:nvSpPr>
        <p:spPr>
          <a:xfrm>
            <a:off x="3264408" y="1874520"/>
            <a:ext cx="2615184" cy="1600200"/>
          </a:xfrm>
          <a:prstGeom prst="rect">
            <a:avLst/>
          </a:prstGeom>
          <a:solidFill>
            <a:srgbClr val="1C1C1E"/>
          </a:solidFill>
          <a:ln w="9525">
            <a:solidFill>
              <a:srgbClr val="271F13"/>
            </a:solidFill>
            <a:prstDash val="solid"/>
          </a:ln>
        </p:spPr>
      </p:sp>
      <p:sp>
        <p:nvSpPr>
          <p:cNvPr id="10" name="Text 8"/>
          <p:cNvSpPr/>
          <p:nvPr/>
        </p:nvSpPr>
        <p:spPr>
          <a:xfrm>
            <a:off x="3410712" y="2002536"/>
            <a:ext cx="2322576" cy="329184"/>
          </a:xfrm>
          <a:prstGeom prst="rect">
            <a:avLst/>
          </a:prstGeom>
          <a:noFill/>
          <a:ln/>
        </p:spPr>
        <p:txBody>
          <a:bodyPr wrap="square" rtlCol="0" anchor="t"/>
          <a:lstStyle/>
          <a:p>
            <a:pPr indent="0" marL="0">
              <a:buNone/>
            </a:pPr>
            <a:r>
              <a:rPr lang="en-US" sz="2000" dirty="0">
                <a:solidFill>
                  <a:srgbClr val="B08D57"/>
                </a:solidFill>
                <a:latin typeface="Cormorant Garamond" pitchFamily="34" charset="0"/>
                <a:ea typeface="Cormorant Garamond" pitchFamily="34" charset="-122"/>
                <a:cs typeface="Cormorant Garamond" pitchFamily="34" charset="-120"/>
              </a:rPr>
              <a:t>24 of 30</a:t>
            </a:r>
            <a:endParaRPr lang="en-US" sz="2000" dirty="0"/>
          </a:p>
        </p:txBody>
      </p:sp>
      <p:sp>
        <p:nvSpPr>
          <p:cNvPr id="11" name="Text 9"/>
          <p:cNvSpPr/>
          <p:nvPr/>
        </p:nvSpPr>
        <p:spPr>
          <a:xfrm>
            <a:off x="3410712" y="2350008"/>
            <a:ext cx="2322576" cy="1014984"/>
          </a:xfrm>
          <a:prstGeom prst="rect">
            <a:avLst/>
          </a:prstGeom>
          <a:noFill/>
          <a:ln/>
        </p:spPr>
        <p:txBody>
          <a:bodyPr wrap="square" rtlCol="0" anchor="t"/>
          <a:lstStyle/>
          <a:p>
            <a:pPr indent="0" marL="0">
              <a:lnSpc>
                <a:spcPct val="120000"/>
              </a:lnSpc>
              <a:buNone/>
            </a:pPr>
            <a:r>
              <a:rPr lang="en-US" sz="800" dirty="0">
                <a:solidFill>
                  <a:srgbClr val="C9BCA9"/>
                </a:solidFill>
                <a:latin typeface="Jost" pitchFamily="34" charset="0"/>
                <a:ea typeface="Jost" pitchFamily="34" charset="-122"/>
                <a:cs typeface="Jost" pitchFamily="34" charset="-120"/>
              </a:rPr>
              <a:t>Services on the L&amp;K menu that require a physician, nurse practitioner or nurse. A recovery studio without a physician can offer 6.</a:t>
            </a:r>
            <a:endParaRPr lang="en-US" sz="800" dirty="0"/>
          </a:p>
        </p:txBody>
      </p:sp>
      <p:sp>
        <p:nvSpPr>
          <p:cNvPr id="12" name="Shape 10"/>
          <p:cNvSpPr/>
          <p:nvPr/>
        </p:nvSpPr>
        <p:spPr>
          <a:xfrm>
            <a:off x="6025896" y="1874520"/>
            <a:ext cx="2615184" cy="1600200"/>
          </a:xfrm>
          <a:prstGeom prst="rect">
            <a:avLst/>
          </a:prstGeom>
          <a:solidFill>
            <a:srgbClr val="1C1C1E"/>
          </a:solidFill>
          <a:ln w="9525">
            <a:solidFill>
              <a:srgbClr val="271F13"/>
            </a:solidFill>
            <a:prstDash val="solid"/>
          </a:ln>
        </p:spPr>
      </p:sp>
      <p:sp>
        <p:nvSpPr>
          <p:cNvPr id="13" name="Text 11"/>
          <p:cNvSpPr/>
          <p:nvPr/>
        </p:nvSpPr>
        <p:spPr>
          <a:xfrm>
            <a:off x="6172200" y="2002536"/>
            <a:ext cx="2322576" cy="329184"/>
          </a:xfrm>
          <a:prstGeom prst="rect">
            <a:avLst/>
          </a:prstGeom>
          <a:noFill/>
          <a:ln/>
        </p:spPr>
        <p:txBody>
          <a:bodyPr wrap="square" rtlCol="0" anchor="t"/>
          <a:lstStyle/>
          <a:p>
            <a:pPr indent="0" marL="0">
              <a:buNone/>
            </a:pPr>
            <a:r>
              <a:rPr lang="en-US" sz="2000" dirty="0">
                <a:solidFill>
                  <a:srgbClr val="B08D57"/>
                </a:solidFill>
                <a:latin typeface="Cormorant Garamond" pitchFamily="34" charset="0"/>
                <a:ea typeface="Cormorant Garamond" pitchFamily="34" charset="-122"/>
                <a:cs typeface="Cormorant Garamond" pitchFamily="34" charset="-120"/>
              </a:rPr>
              <a:t>10,488</a:t>
            </a:r>
            <a:endParaRPr lang="en-US" sz="2000" dirty="0"/>
          </a:p>
        </p:txBody>
      </p:sp>
      <p:sp>
        <p:nvSpPr>
          <p:cNvPr id="14" name="Text 12"/>
          <p:cNvSpPr/>
          <p:nvPr/>
        </p:nvSpPr>
        <p:spPr>
          <a:xfrm>
            <a:off x="6172200" y="2350008"/>
            <a:ext cx="2322576" cy="1014984"/>
          </a:xfrm>
          <a:prstGeom prst="rect">
            <a:avLst/>
          </a:prstGeom>
          <a:noFill/>
          <a:ln/>
        </p:spPr>
        <p:txBody>
          <a:bodyPr wrap="square" rtlCol="0" anchor="t"/>
          <a:lstStyle/>
          <a:p>
            <a:pPr indent="0" marL="0">
              <a:lnSpc>
                <a:spcPct val="120000"/>
              </a:lnSpc>
              <a:buNone/>
            </a:pPr>
            <a:r>
              <a:rPr lang="en-US" sz="800" dirty="0">
                <a:solidFill>
                  <a:srgbClr val="C9BCA9"/>
                </a:solidFill>
                <a:latin typeface="Jost" pitchFamily="34" charset="0"/>
                <a:ea typeface="Jost" pitchFamily="34" charset="-122"/>
                <a:cs typeface="Jost" pitchFamily="34" charset="-120"/>
              </a:rPr>
              <a:t>US medical spas as of 2023, up from 8,899 the year before. The category is commoditizing on treatment alone.</a:t>
            </a:r>
            <a:endParaRPr lang="en-US" sz="800" dirty="0"/>
          </a:p>
        </p:txBody>
      </p:sp>
      <p:sp>
        <p:nvSpPr>
          <p:cNvPr id="15" name="Text 13"/>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B6965"/>
                </a:solidFill>
                <a:latin typeface="Jost" pitchFamily="34" charset="0"/>
                <a:ea typeface="Jost" pitchFamily="34" charset="-122"/>
                <a:cs typeface="Jost" pitchFamily="34" charset="-120"/>
              </a:rPr>
              <a:t>L&amp;K WELLNESS  ·  PRIVATE INVESTMENT BRIEF  ·  CONFIDENTIAL</a:t>
            </a:r>
            <a:endParaRPr lang="en-US" sz="700" dirty="0"/>
          </a:p>
        </p:txBody>
      </p:sp>
      <p:sp>
        <p:nvSpPr>
          <p:cNvPr id="16" name="Text 14"/>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B6965"/>
                </a:solidFill>
                <a:latin typeface="Jost" pitchFamily="34" charset="0"/>
                <a:ea typeface="Jost" pitchFamily="34" charset="-122"/>
                <a:cs typeface="Jost" pitchFamily="34" charset="-120"/>
              </a:rPr>
              <a:t>3</a:t>
            </a:r>
            <a:endParaRPr lang="en-US" sz="7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B08D57"/>
                </a:solidFill>
                <a:latin typeface="Jost" pitchFamily="34" charset="0"/>
                <a:ea typeface="Jost" pitchFamily="34" charset="-122"/>
                <a:cs typeface="Jost" pitchFamily="34" charset="-120"/>
              </a:rPr>
              <a:t>THE INSIGHT</a:t>
            </a:r>
            <a:endParaRPr lang="en-US" sz="900" dirty="0"/>
          </a:p>
        </p:txBody>
      </p:sp>
      <p:sp>
        <p:nvSpPr>
          <p:cNvPr id="3" name="Shape 1"/>
          <p:cNvSpPr/>
          <p:nvPr/>
        </p:nvSpPr>
        <p:spPr>
          <a:xfrm>
            <a:off x="502920" y="557784"/>
            <a:ext cx="566928" cy="12802"/>
          </a:xfrm>
          <a:prstGeom prst="rect">
            <a:avLst/>
          </a:prstGeom>
          <a:solidFill>
            <a:srgbClr val="B08D57"/>
          </a:solidFill>
          <a:ln w="12700">
            <a:solidFill>
              <a:srgbClr val="B08D57"/>
            </a:solidFill>
            <a:prstDash val="solid"/>
          </a:ln>
        </p:spPr>
      </p:sp>
      <p:sp>
        <p:nvSpPr>
          <p:cNvPr id="4" name="Text 2"/>
          <p:cNvSpPr/>
          <p:nvPr/>
        </p:nvSpPr>
        <p:spPr>
          <a:xfrm>
            <a:off x="502920" y="621792"/>
            <a:ext cx="8138160" cy="548640"/>
          </a:xfrm>
          <a:prstGeom prst="rect">
            <a:avLst/>
          </a:prstGeom>
          <a:noFill/>
          <a:ln/>
        </p:spPr>
        <p:txBody>
          <a:bodyPr wrap="square" rtlCol="0" anchor="t"/>
          <a:lstStyle/>
          <a:p>
            <a:pPr indent="0" marL="0">
              <a:buNone/>
            </a:pPr>
            <a:r>
              <a:rPr lang="en-US" sz="2600" spc="400" kern="0" dirty="0">
                <a:solidFill>
                  <a:srgbClr val="EDE7DE"/>
                </a:solidFill>
                <a:latin typeface="Cormorant Garamond" pitchFamily="34" charset="0"/>
                <a:ea typeface="Cormorant Garamond" pitchFamily="34" charset="-122"/>
                <a:cs typeface="Cormorant Garamond" pitchFamily="34" charset="-120"/>
              </a:rPr>
              <a:t>OTHERS PROVED THE FORMAT</a:t>
            </a:r>
            <a:endParaRPr lang="en-US" sz="2600" dirty="0"/>
          </a:p>
        </p:txBody>
      </p:sp>
      <p:sp>
        <p:nvSpPr>
          <p:cNvPr id="5" name="Text 3"/>
          <p:cNvSpPr/>
          <p:nvPr/>
        </p:nvSpPr>
        <p:spPr>
          <a:xfrm>
            <a:off x="502920" y="1115568"/>
            <a:ext cx="7487107" cy="457200"/>
          </a:xfrm>
          <a:prstGeom prst="rect">
            <a:avLst/>
          </a:prstGeom>
          <a:noFill/>
          <a:ln/>
        </p:spPr>
        <p:txBody>
          <a:bodyPr wrap="square" rtlCol="0" anchor="t"/>
          <a:lstStyle/>
          <a:p>
            <a:pPr indent="0" marL="0">
              <a:lnSpc>
                <a:spcPct val="120000"/>
              </a:lnSpc>
              <a:buNone/>
            </a:pPr>
            <a:r>
              <a:rPr lang="en-US" sz="1050" dirty="0">
                <a:solidFill>
                  <a:srgbClr val="C9BCA9"/>
                </a:solidFill>
                <a:latin typeface="Jost" pitchFamily="34" charset="0"/>
                <a:ea typeface="Jost" pitchFamily="34" charset="-122"/>
                <a:cs typeface="Jost" pitchFamily="34" charset="-120"/>
              </a:rPr>
              <a:t>Only a licensed facility can deliver it.</a:t>
            </a:r>
            <a:endParaRPr lang="en-US" sz="1050" dirty="0"/>
          </a:p>
        </p:txBody>
      </p:sp>
      <p:sp>
        <p:nvSpPr>
          <p:cNvPr id="6" name="Shape 4"/>
          <p:cNvSpPr/>
          <p:nvPr/>
        </p:nvSpPr>
        <p:spPr>
          <a:xfrm>
            <a:off x="502920" y="1572768"/>
            <a:ext cx="3995928" cy="1325880"/>
          </a:xfrm>
          <a:prstGeom prst="rect">
            <a:avLst/>
          </a:prstGeom>
          <a:solidFill>
            <a:srgbClr val="1C1C1E"/>
          </a:solidFill>
          <a:ln w="9525">
            <a:solidFill>
              <a:srgbClr val="271F13"/>
            </a:solidFill>
            <a:prstDash val="solid"/>
          </a:ln>
        </p:spPr>
      </p:sp>
      <p:sp>
        <p:nvSpPr>
          <p:cNvPr id="7" name="Text 5"/>
          <p:cNvSpPr/>
          <p:nvPr/>
        </p:nvSpPr>
        <p:spPr>
          <a:xfrm>
            <a:off x="649224" y="1700784"/>
            <a:ext cx="3703320" cy="292608"/>
          </a:xfrm>
          <a:prstGeom prst="rect">
            <a:avLst/>
          </a:prstGeom>
          <a:noFill/>
          <a:ln/>
        </p:spPr>
        <p:txBody>
          <a:bodyPr wrap="square" rtlCol="0" anchor="t"/>
          <a:lstStyle/>
          <a:p>
            <a:pPr indent="0" marL="0">
              <a:lnSpc>
                <a:spcPct val="110000"/>
              </a:lnSpc>
              <a:buNone/>
            </a:pPr>
            <a:r>
              <a:rPr lang="en-US" sz="1300" dirty="0">
                <a:solidFill>
                  <a:srgbClr val="EDE7DE"/>
                </a:solidFill>
                <a:latin typeface="Jost" pitchFamily="34" charset="0"/>
                <a:ea typeface="Jost" pitchFamily="34" charset="-122"/>
                <a:cs typeface="Jost" pitchFamily="34" charset="-120"/>
              </a:rPr>
              <a:t>SWEATHOUZ</a:t>
            </a:r>
            <a:endParaRPr lang="en-US" sz="1300" dirty="0"/>
          </a:p>
        </p:txBody>
      </p:sp>
      <p:sp>
        <p:nvSpPr>
          <p:cNvPr id="8" name="Text 6"/>
          <p:cNvSpPr/>
          <p:nvPr/>
        </p:nvSpPr>
        <p:spPr>
          <a:xfrm>
            <a:off x="649224" y="2029968"/>
            <a:ext cx="3703320" cy="758952"/>
          </a:xfrm>
          <a:prstGeom prst="rect">
            <a:avLst/>
          </a:prstGeom>
          <a:noFill/>
          <a:ln/>
        </p:spPr>
        <p:txBody>
          <a:bodyPr wrap="square" rtlCol="0" anchor="t"/>
          <a:lstStyle/>
          <a:p>
            <a:pPr indent="0" marL="0">
              <a:lnSpc>
                <a:spcPct val="120000"/>
              </a:lnSpc>
              <a:buNone/>
            </a:pPr>
            <a:r>
              <a:rPr lang="en-US" sz="900" dirty="0">
                <a:solidFill>
                  <a:srgbClr val="C9BCA9"/>
                </a:solidFill>
                <a:latin typeface="Jost" pitchFamily="34" charset="0"/>
                <a:ea typeface="Jost" pitchFamily="34" charset="-122"/>
                <a:cs typeface="Jost" pitchFamily="34" charset="-120"/>
              </a:rPr>
              <a:t>Where a non-medical operator stops. No physician on site means no PRP, no IV therapy, no neuromodulators, no filler, no laser. Not features they skipped: the other side of a licensing threshold.</a:t>
            </a:r>
            <a:endParaRPr lang="en-US" sz="900" dirty="0"/>
          </a:p>
        </p:txBody>
      </p:sp>
      <p:sp>
        <p:nvSpPr>
          <p:cNvPr id="9" name="Shape 7"/>
          <p:cNvSpPr/>
          <p:nvPr/>
        </p:nvSpPr>
        <p:spPr>
          <a:xfrm>
            <a:off x="4645152" y="1572768"/>
            <a:ext cx="3995928" cy="1325880"/>
          </a:xfrm>
          <a:prstGeom prst="rect">
            <a:avLst/>
          </a:prstGeom>
          <a:solidFill>
            <a:srgbClr val="1C1C1E"/>
          </a:solidFill>
          <a:ln w="9525">
            <a:solidFill>
              <a:srgbClr val="271F13"/>
            </a:solidFill>
            <a:prstDash val="solid"/>
          </a:ln>
        </p:spPr>
      </p:sp>
      <p:sp>
        <p:nvSpPr>
          <p:cNvPr id="10" name="Text 8"/>
          <p:cNvSpPr/>
          <p:nvPr/>
        </p:nvSpPr>
        <p:spPr>
          <a:xfrm>
            <a:off x="4791456" y="1700784"/>
            <a:ext cx="3703320" cy="292608"/>
          </a:xfrm>
          <a:prstGeom prst="rect">
            <a:avLst/>
          </a:prstGeom>
          <a:noFill/>
          <a:ln/>
        </p:spPr>
        <p:txBody>
          <a:bodyPr wrap="square" rtlCol="0" anchor="t"/>
          <a:lstStyle/>
          <a:p>
            <a:pPr indent="0" marL="0">
              <a:lnSpc>
                <a:spcPct val="110000"/>
              </a:lnSpc>
              <a:buNone/>
            </a:pPr>
            <a:r>
              <a:rPr lang="en-US" sz="1300" dirty="0">
                <a:solidFill>
                  <a:srgbClr val="EDE7DE"/>
                </a:solidFill>
                <a:latin typeface="Jost" pitchFamily="34" charset="0"/>
                <a:ea typeface="Jost" pitchFamily="34" charset="-122"/>
                <a:cs typeface="Jost" pitchFamily="34" charset="-120"/>
              </a:rPr>
              <a:t>Soho House</a:t>
            </a:r>
            <a:endParaRPr lang="en-US" sz="1300" dirty="0"/>
          </a:p>
        </p:txBody>
      </p:sp>
      <p:sp>
        <p:nvSpPr>
          <p:cNvPr id="11" name="Text 9"/>
          <p:cNvSpPr/>
          <p:nvPr/>
        </p:nvSpPr>
        <p:spPr>
          <a:xfrm>
            <a:off x="4791456" y="2029968"/>
            <a:ext cx="3703320" cy="758952"/>
          </a:xfrm>
          <a:prstGeom prst="rect">
            <a:avLst/>
          </a:prstGeom>
          <a:noFill/>
          <a:ln/>
        </p:spPr>
        <p:txBody>
          <a:bodyPr wrap="square" rtlCol="0" anchor="t"/>
          <a:lstStyle/>
          <a:p>
            <a:pPr indent="0" marL="0">
              <a:lnSpc>
                <a:spcPct val="120000"/>
              </a:lnSpc>
              <a:buNone/>
            </a:pPr>
            <a:r>
              <a:rPr lang="en-US" sz="900" dirty="0">
                <a:solidFill>
                  <a:srgbClr val="C9BCA9"/>
                </a:solidFill>
                <a:latin typeface="Jost" pitchFamily="34" charset="0"/>
                <a:ea typeface="Jost" pitchFamily="34" charset="-122"/>
                <a:cs typeface="Jost" pitchFamily="34" charset="-120"/>
              </a:rPr>
              <a:t>Where the ladder was proven. Soho Friends is a published annual tier buying discounts and event invitations but no club access. What they lack is medicine.</a:t>
            </a:r>
            <a:endParaRPr lang="en-US" sz="900" dirty="0"/>
          </a:p>
        </p:txBody>
      </p:sp>
      <p:sp>
        <p:nvSpPr>
          <p:cNvPr id="12" name="Shape 10"/>
          <p:cNvSpPr/>
          <p:nvPr/>
        </p:nvSpPr>
        <p:spPr>
          <a:xfrm>
            <a:off x="502920" y="3063240"/>
            <a:ext cx="8138160" cy="1481328"/>
          </a:xfrm>
          <a:prstGeom prst="rect">
            <a:avLst/>
          </a:prstGeom>
          <a:solidFill>
            <a:srgbClr val="1C1C1E"/>
          </a:solidFill>
          <a:ln w="9525">
            <a:solidFill>
              <a:srgbClr val="B08D57"/>
            </a:solidFill>
            <a:prstDash val="solid"/>
          </a:ln>
        </p:spPr>
      </p:sp>
      <p:sp>
        <p:nvSpPr>
          <p:cNvPr id="13" name="Text 11"/>
          <p:cNvSpPr/>
          <p:nvPr/>
        </p:nvSpPr>
        <p:spPr>
          <a:xfrm>
            <a:off x="685800" y="3182112"/>
            <a:ext cx="7772400" cy="182880"/>
          </a:xfrm>
          <a:prstGeom prst="rect">
            <a:avLst/>
          </a:prstGeom>
          <a:noFill/>
          <a:ln/>
        </p:spPr>
        <p:txBody>
          <a:bodyPr wrap="square" rtlCol="0" anchor="ctr"/>
          <a:lstStyle/>
          <a:p>
            <a:pPr indent="0" marL="0">
              <a:buNone/>
            </a:pPr>
            <a:r>
              <a:rPr lang="en-US" sz="750" spc="200" kern="0" dirty="0">
                <a:solidFill>
                  <a:srgbClr val="B08D57"/>
                </a:solidFill>
                <a:latin typeface="Jost" pitchFamily="34" charset="0"/>
                <a:ea typeface="Jost" pitchFamily="34" charset="-122"/>
                <a:cs typeface="Jost" pitchFamily="34" charset="-120"/>
              </a:rPr>
              <a:t>THE DIFFERENCE</a:t>
            </a:r>
            <a:endParaRPr lang="en-US" sz="750" dirty="0"/>
          </a:p>
        </p:txBody>
      </p:sp>
      <p:sp>
        <p:nvSpPr>
          <p:cNvPr id="14" name="Text 12"/>
          <p:cNvSpPr/>
          <p:nvPr/>
        </p:nvSpPr>
        <p:spPr>
          <a:xfrm>
            <a:off x="685800" y="3401568"/>
            <a:ext cx="7772400" cy="457200"/>
          </a:xfrm>
          <a:prstGeom prst="rect">
            <a:avLst/>
          </a:prstGeom>
          <a:noFill/>
          <a:ln/>
        </p:spPr>
        <p:txBody>
          <a:bodyPr wrap="square" rtlCol="0" anchor="t"/>
          <a:lstStyle/>
          <a:p>
            <a:pPr indent="0" marL="0">
              <a:buNone/>
            </a:pPr>
            <a:r>
              <a:rPr lang="en-US" sz="1700" dirty="0">
                <a:solidFill>
                  <a:srgbClr val="EDE7DE"/>
                </a:solidFill>
                <a:latin typeface="Cormorant Garamond" pitchFamily="34" charset="0"/>
                <a:ea typeface="Cormorant Garamond" pitchFamily="34" charset="-122"/>
                <a:cs typeface="Cormorant Garamond" pitchFamily="34" charset="-120"/>
              </a:rPr>
              <a:t>L&amp;K is not a practice built around a doctor. It is the facility a doctor needs.</a:t>
            </a:r>
            <a:endParaRPr lang="en-US" sz="1700" dirty="0"/>
          </a:p>
        </p:txBody>
      </p:sp>
      <p:sp>
        <p:nvSpPr>
          <p:cNvPr id="15" name="Text 13"/>
          <p:cNvSpPr/>
          <p:nvPr/>
        </p:nvSpPr>
        <p:spPr>
          <a:xfrm>
            <a:off x="685800" y="3895344"/>
            <a:ext cx="7772400" cy="548640"/>
          </a:xfrm>
          <a:prstGeom prst="rect">
            <a:avLst/>
          </a:prstGeom>
          <a:noFill/>
          <a:ln/>
        </p:spPr>
        <p:txBody>
          <a:bodyPr wrap="square" rtlCol="0" anchor="t"/>
          <a:lstStyle/>
          <a:p>
            <a:pPr indent="0" marL="0">
              <a:lnSpc>
                <a:spcPct val="120000"/>
              </a:lnSpc>
              <a:buNone/>
            </a:pPr>
            <a:r>
              <a:rPr lang="en-US" sz="950" dirty="0">
                <a:solidFill>
                  <a:srgbClr val="C9BCA9"/>
                </a:solidFill>
                <a:latin typeface="Jost" pitchFamily="34" charset="0"/>
                <a:ea typeface="Jost" pitchFamily="34" charset="-122"/>
                <a:cs typeface="Jost" pitchFamily="34" charset="-120"/>
              </a:rPr>
              <a:t>The rooms, the diagnostics, the infusion suite, the staff and the accreditation, already standing. Physicians practice here, and investors own the building they practice in.</a:t>
            </a:r>
            <a:endParaRPr lang="en-US" sz="950" dirty="0"/>
          </a:p>
        </p:txBody>
      </p:sp>
      <p:sp>
        <p:nvSpPr>
          <p:cNvPr id="16" name="Text 14"/>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B6965"/>
                </a:solidFill>
                <a:latin typeface="Jost" pitchFamily="34" charset="0"/>
                <a:ea typeface="Jost" pitchFamily="34" charset="-122"/>
                <a:cs typeface="Jost" pitchFamily="34" charset="-120"/>
              </a:rPr>
              <a:t>L&amp;K WELLNESS  ·  PRIVATE INVESTMENT BRIEF  ·  CONFIDENTIAL</a:t>
            </a:r>
            <a:endParaRPr lang="en-US" sz="700" dirty="0"/>
          </a:p>
        </p:txBody>
      </p:sp>
      <p:sp>
        <p:nvSpPr>
          <p:cNvPr id="17" name="Text 15"/>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B6965"/>
                </a:solidFill>
                <a:latin typeface="Jost" pitchFamily="34" charset="0"/>
                <a:ea typeface="Jost" pitchFamily="34" charset="-122"/>
                <a:cs typeface="Jost" pitchFamily="34" charset="-120"/>
              </a:rPr>
              <a:t>4</a:t>
            </a:r>
            <a:endParaRPr lang="en-US" sz="7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B08D57"/>
                </a:solidFill>
                <a:latin typeface="Jost" pitchFamily="34" charset="0"/>
                <a:ea typeface="Jost" pitchFamily="34" charset="-122"/>
                <a:cs typeface="Jost" pitchFamily="34" charset="-120"/>
              </a:rPr>
              <a:t>THE MODEL</a:t>
            </a:r>
            <a:endParaRPr lang="en-US" sz="900" dirty="0"/>
          </a:p>
        </p:txBody>
      </p:sp>
      <p:sp>
        <p:nvSpPr>
          <p:cNvPr id="3" name="Shape 1"/>
          <p:cNvSpPr/>
          <p:nvPr/>
        </p:nvSpPr>
        <p:spPr>
          <a:xfrm>
            <a:off x="502920" y="557784"/>
            <a:ext cx="566928" cy="12802"/>
          </a:xfrm>
          <a:prstGeom prst="rect">
            <a:avLst/>
          </a:prstGeom>
          <a:solidFill>
            <a:srgbClr val="B08D57"/>
          </a:solidFill>
          <a:ln w="12700">
            <a:solidFill>
              <a:srgbClr val="B08D57"/>
            </a:solidFill>
            <a:prstDash val="solid"/>
          </a:ln>
        </p:spPr>
      </p:sp>
      <p:sp>
        <p:nvSpPr>
          <p:cNvPr id="4" name="Text 2"/>
          <p:cNvSpPr/>
          <p:nvPr/>
        </p:nvSpPr>
        <p:spPr>
          <a:xfrm>
            <a:off x="502920" y="621792"/>
            <a:ext cx="8138160" cy="548640"/>
          </a:xfrm>
          <a:prstGeom prst="rect">
            <a:avLst/>
          </a:prstGeom>
          <a:noFill/>
          <a:ln/>
        </p:spPr>
        <p:txBody>
          <a:bodyPr wrap="square" rtlCol="0" anchor="t"/>
          <a:lstStyle/>
          <a:p>
            <a:pPr indent="0" marL="0">
              <a:buNone/>
            </a:pPr>
            <a:r>
              <a:rPr lang="en-US" sz="2600" spc="400" kern="0" dirty="0">
                <a:solidFill>
                  <a:srgbClr val="EDE7DE"/>
                </a:solidFill>
                <a:latin typeface="Cormorant Garamond" pitchFamily="34" charset="0"/>
                <a:ea typeface="Cormorant Garamond" pitchFamily="34" charset="-122"/>
                <a:cs typeface="Cormorant Garamond" pitchFamily="34" charset="-120"/>
              </a:rPr>
              <a:t>TWO LAYERS, DIFFERENT DOORS</a:t>
            </a:r>
            <a:endParaRPr lang="en-US" sz="2600" dirty="0"/>
          </a:p>
        </p:txBody>
      </p:sp>
      <p:sp>
        <p:nvSpPr>
          <p:cNvPr id="5" name="Shape 3"/>
          <p:cNvSpPr/>
          <p:nvPr/>
        </p:nvSpPr>
        <p:spPr>
          <a:xfrm>
            <a:off x="1508760" y="1325880"/>
            <a:ext cx="6126480" cy="1234440"/>
          </a:xfrm>
          <a:prstGeom prst="rect">
            <a:avLst/>
          </a:prstGeom>
          <a:solidFill>
            <a:srgbClr val="1C1C1E"/>
          </a:solidFill>
          <a:ln w="9525">
            <a:solidFill>
              <a:srgbClr val="271F13"/>
            </a:solidFill>
            <a:prstDash val="solid"/>
          </a:ln>
        </p:spPr>
      </p:sp>
      <p:sp>
        <p:nvSpPr>
          <p:cNvPr id="6" name="Text 4"/>
          <p:cNvSpPr/>
          <p:nvPr/>
        </p:nvSpPr>
        <p:spPr>
          <a:xfrm>
            <a:off x="1655064" y="1453896"/>
            <a:ext cx="5833872" cy="182880"/>
          </a:xfrm>
          <a:prstGeom prst="rect">
            <a:avLst/>
          </a:prstGeom>
          <a:noFill/>
          <a:ln/>
        </p:spPr>
        <p:txBody>
          <a:bodyPr wrap="square" rtlCol="0" anchor="ctr"/>
          <a:lstStyle/>
          <a:p>
            <a:pPr indent="0" marL="0">
              <a:buNone/>
            </a:pPr>
            <a:r>
              <a:rPr lang="en-US" sz="750" spc="200" kern="0" dirty="0">
                <a:solidFill>
                  <a:srgbClr val="B08D57"/>
                </a:solidFill>
                <a:latin typeface="Jost" pitchFamily="34" charset="0"/>
                <a:ea typeface="Jost" pitchFamily="34" charset="-122"/>
                <a:cs typeface="Jost" pitchFamily="34" charset="-120"/>
              </a:rPr>
              <a:t>MEMBERS ONLY  ·  CAPPED</a:t>
            </a:r>
            <a:endParaRPr lang="en-US" sz="750" dirty="0"/>
          </a:p>
        </p:txBody>
      </p:sp>
      <p:sp>
        <p:nvSpPr>
          <p:cNvPr id="7" name="Text 5"/>
          <p:cNvSpPr/>
          <p:nvPr/>
        </p:nvSpPr>
        <p:spPr>
          <a:xfrm>
            <a:off x="1655064" y="1673352"/>
            <a:ext cx="5833872" cy="292608"/>
          </a:xfrm>
          <a:prstGeom prst="rect">
            <a:avLst/>
          </a:prstGeom>
          <a:noFill/>
          <a:ln/>
        </p:spPr>
        <p:txBody>
          <a:bodyPr wrap="square" rtlCol="0" anchor="t"/>
          <a:lstStyle/>
          <a:p>
            <a:pPr indent="0" marL="0">
              <a:lnSpc>
                <a:spcPct val="110000"/>
              </a:lnSpc>
              <a:buNone/>
            </a:pPr>
            <a:r>
              <a:rPr lang="en-US" sz="1500" dirty="0">
                <a:solidFill>
                  <a:srgbClr val="EDE7DE"/>
                </a:solidFill>
                <a:latin typeface="Jost" pitchFamily="34" charset="0"/>
                <a:ea typeface="Jost" pitchFamily="34" charset="-122"/>
                <a:cs typeface="Jost" pitchFamily="34" charset="-120"/>
              </a:rPr>
              <a:t>The Club</a:t>
            </a:r>
            <a:endParaRPr lang="en-US" sz="1500" dirty="0"/>
          </a:p>
        </p:txBody>
      </p:sp>
      <p:sp>
        <p:nvSpPr>
          <p:cNvPr id="8" name="Text 6"/>
          <p:cNvSpPr/>
          <p:nvPr/>
        </p:nvSpPr>
        <p:spPr>
          <a:xfrm>
            <a:off x="1655064" y="2002536"/>
            <a:ext cx="5833872" cy="448056"/>
          </a:xfrm>
          <a:prstGeom prst="rect">
            <a:avLst/>
          </a:prstGeom>
          <a:noFill/>
          <a:ln/>
        </p:spPr>
        <p:txBody>
          <a:bodyPr wrap="square" rtlCol="0" anchor="t"/>
          <a:lstStyle/>
          <a:p>
            <a:pPr indent="0" marL="0">
              <a:lnSpc>
                <a:spcPct val="120000"/>
              </a:lnSpc>
              <a:buNone/>
            </a:pPr>
            <a:r>
              <a:rPr lang="en-US" sz="950" dirty="0">
                <a:solidFill>
                  <a:srgbClr val="C9BCA9"/>
                </a:solidFill>
                <a:latin typeface="Jost" pitchFamily="34" charset="0"/>
                <a:ea typeface="Jost" pitchFamily="34" charset="-122"/>
                <a:cs typeface="Jost" pitchFamily="34" charset="-120"/>
              </a:rPr>
              <a:t>Contrast suite  ·  Sauna and cold plunge ritual  ·  The Lounge  ·  Member events  ·  Guest passes  ·  Priority booking  ·  Private buyouts</a:t>
            </a:r>
            <a:endParaRPr lang="en-US" sz="950" dirty="0"/>
          </a:p>
        </p:txBody>
      </p:sp>
      <p:sp>
        <p:nvSpPr>
          <p:cNvPr id="9" name="Text 7"/>
          <p:cNvSpPr/>
          <p:nvPr/>
        </p:nvSpPr>
        <p:spPr>
          <a:xfrm>
            <a:off x="502920" y="2651760"/>
            <a:ext cx="8138160" cy="219456"/>
          </a:xfrm>
          <a:prstGeom prst="rect">
            <a:avLst/>
          </a:prstGeom>
          <a:noFill/>
          <a:ln/>
        </p:spPr>
        <p:txBody>
          <a:bodyPr wrap="square" rtlCol="0" anchor="ctr"/>
          <a:lstStyle/>
          <a:p>
            <a:pPr algn="ctr" indent="0" marL="0">
              <a:buNone/>
            </a:pPr>
            <a:r>
              <a:rPr lang="en-US" sz="800" spc="200" kern="0" dirty="0">
                <a:solidFill>
                  <a:srgbClr val="B08D57"/>
                </a:solidFill>
                <a:latin typeface="Jost" pitchFamily="34" charset="0"/>
                <a:ea typeface="Jost" pitchFamily="34" charset="-122"/>
                <a:cs typeface="Jost" pitchFamily="34" charset="-120"/>
              </a:rPr>
              <a:t>MEMBERSHIP SITS ON TOP. IT NEVER SITS IN FRONT.</a:t>
            </a:r>
            <a:endParaRPr lang="en-US" sz="800" dirty="0"/>
          </a:p>
        </p:txBody>
      </p:sp>
      <p:sp>
        <p:nvSpPr>
          <p:cNvPr id="10" name="Shape 8"/>
          <p:cNvSpPr/>
          <p:nvPr/>
        </p:nvSpPr>
        <p:spPr>
          <a:xfrm>
            <a:off x="502920" y="2971800"/>
            <a:ext cx="8138160" cy="1627632"/>
          </a:xfrm>
          <a:prstGeom prst="rect">
            <a:avLst/>
          </a:prstGeom>
          <a:solidFill>
            <a:srgbClr val="1C1C1E"/>
          </a:solidFill>
          <a:ln w="9525">
            <a:solidFill>
              <a:srgbClr val="271F13"/>
            </a:solidFill>
            <a:prstDash val="solid"/>
          </a:ln>
        </p:spPr>
      </p:sp>
      <p:sp>
        <p:nvSpPr>
          <p:cNvPr id="11" name="Text 9"/>
          <p:cNvSpPr/>
          <p:nvPr/>
        </p:nvSpPr>
        <p:spPr>
          <a:xfrm>
            <a:off x="649224" y="3099816"/>
            <a:ext cx="7845552" cy="182880"/>
          </a:xfrm>
          <a:prstGeom prst="rect">
            <a:avLst/>
          </a:prstGeom>
          <a:noFill/>
          <a:ln/>
        </p:spPr>
        <p:txBody>
          <a:bodyPr wrap="square" rtlCol="0" anchor="ctr"/>
          <a:lstStyle/>
          <a:p>
            <a:pPr indent="0" marL="0">
              <a:buNone/>
            </a:pPr>
            <a:r>
              <a:rPr lang="en-US" sz="750" spc="200" kern="0" dirty="0">
                <a:solidFill>
                  <a:srgbClr val="B08D57"/>
                </a:solidFill>
                <a:latin typeface="Jost" pitchFamily="34" charset="0"/>
                <a:ea typeface="Jost" pitchFamily="34" charset="-122"/>
                <a:cs typeface="Jost" pitchFamily="34" charset="-120"/>
              </a:rPr>
              <a:t>OPEN TO EVERYONE  ·  NO MEMBERSHIP REQUIRED</a:t>
            </a:r>
            <a:endParaRPr lang="en-US" sz="750" dirty="0"/>
          </a:p>
        </p:txBody>
      </p:sp>
      <p:sp>
        <p:nvSpPr>
          <p:cNvPr id="12" name="Text 10"/>
          <p:cNvSpPr/>
          <p:nvPr/>
        </p:nvSpPr>
        <p:spPr>
          <a:xfrm>
            <a:off x="649224" y="3319272"/>
            <a:ext cx="7845552" cy="292608"/>
          </a:xfrm>
          <a:prstGeom prst="rect">
            <a:avLst/>
          </a:prstGeom>
          <a:noFill/>
          <a:ln/>
        </p:spPr>
        <p:txBody>
          <a:bodyPr wrap="square" rtlCol="0" anchor="t"/>
          <a:lstStyle/>
          <a:p>
            <a:pPr indent="0" marL="0">
              <a:lnSpc>
                <a:spcPct val="110000"/>
              </a:lnSpc>
              <a:buNone/>
            </a:pPr>
            <a:r>
              <a:rPr lang="en-US" sz="1500" dirty="0">
                <a:solidFill>
                  <a:srgbClr val="EDE7DE"/>
                </a:solidFill>
                <a:latin typeface="Jost" pitchFamily="34" charset="0"/>
                <a:ea typeface="Jost" pitchFamily="34" charset="-122"/>
                <a:cs typeface="Jost" pitchFamily="34" charset="-120"/>
              </a:rPr>
              <a:t>The Clinic</a:t>
            </a:r>
            <a:endParaRPr lang="en-US" sz="1500" dirty="0"/>
          </a:p>
        </p:txBody>
      </p:sp>
      <p:sp>
        <p:nvSpPr>
          <p:cNvPr id="13" name="Text 11"/>
          <p:cNvSpPr/>
          <p:nvPr/>
        </p:nvSpPr>
        <p:spPr>
          <a:xfrm>
            <a:off x="649224" y="3648456"/>
            <a:ext cx="7845552" cy="841248"/>
          </a:xfrm>
          <a:prstGeom prst="rect">
            <a:avLst/>
          </a:prstGeom>
          <a:noFill/>
          <a:ln/>
        </p:spPr>
        <p:txBody>
          <a:bodyPr wrap="square" rtlCol="0" anchor="t"/>
          <a:lstStyle/>
          <a:p>
            <a:pPr indent="0" marL="0">
              <a:lnSpc>
                <a:spcPct val="120000"/>
              </a:lnSpc>
              <a:buNone/>
            </a:pPr>
            <a:r>
              <a:rPr lang="en-US" sz="850" dirty="0">
                <a:solidFill>
                  <a:srgbClr val="C9BCA9"/>
                </a:solidFill>
                <a:latin typeface="Jost" pitchFamily="34" charset="0"/>
                <a:ea typeface="Jost" pitchFamily="34" charset="-122"/>
                <a:cs typeface="Jost" pitchFamily="34" charset="-120"/>
              </a:rPr>
              <a:t>Aescape Robotic Massage  ·  Ammortal Chamber  ·  Red Light Therapy  ·  Hyperbaric Oxygen  ·  Compression Therapy  ·  PRP: Hair &amp; Scalp  ·  PRP: Face &amp; Aesthetic  ·  PRP: Scar &amp; Skin Repair  ·  PRP: Soft Tissue  ·  PRP: Joint &amp; Cartilage  ·  PRP: Post-procedure  ·  Basic Hydration  ·  Myers Cocktail  ·  Recovery / Hangover  ·  Immunity / High-Dose C  ·  Beauty / Glutathione  ·  Athletic Performance  ·  NAD+ 100mg  ·  NAD+ 250mg  ·  NAD+ 500mg  ·  IM Shot: B12 / Lipo  ·  Therapeutic medications  ·  Botox (15-unit minimum)  ·  Filler (0.5 ml)  ·  RF Microneedling  ·  Laser Platform  ·  Advanced Biometrics  ·  DNA Analysis  ·  DUTCH Plus Test  ·  DEXA Scan</a:t>
            </a:r>
            <a:endParaRPr lang="en-US" sz="850" dirty="0"/>
          </a:p>
        </p:txBody>
      </p:sp>
      <p:sp>
        <p:nvSpPr>
          <p:cNvPr id="14" name="Text 12"/>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B6965"/>
                </a:solidFill>
                <a:latin typeface="Jost" pitchFamily="34" charset="0"/>
                <a:ea typeface="Jost" pitchFamily="34" charset="-122"/>
                <a:cs typeface="Jost" pitchFamily="34" charset="-120"/>
              </a:rPr>
              <a:t>L&amp;K WELLNESS  ·  PRIVATE INVESTMENT BRIEF  ·  CONFIDENTIAL</a:t>
            </a:r>
            <a:endParaRPr lang="en-US" sz="700" dirty="0"/>
          </a:p>
        </p:txBody>
      </p:sp>
      <p:sp>
        <p:nvSpPr>
          <p:cNvPr id="15" name="Text 13"/>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B6965"/>
                </a:solidFill>
                <a:latin typeface="Jost" pitchFamily="34" charset="0"/>
                <a:ea typeface="Jost" pitchFamily="34" charset="-122"/>
                <a:cs typeface="Jost" pitchFamily="34" charset="-120"/>
              </a:rPr>
              <a:t>5</a:t>
            </a:r>
            <a:endParaRPr lang="en-US" sz="7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B08D57"/>
                </a:solidFill>
                <a:latin typeface="Jost" pitchFamily="34" charset="0"/>
                <a:ea typeface="Jost" pitchFamily="34" charset="-122"/>
                <a:cs typeface="Jost" pitchFamily="34" charset="-120"/>
              </a:rPr>
              <a:t>THE OFFERING</a:t>
            </a:r>
            <a:endParaRPr lang="en-US" sz="900" dirty="0"/>
          </a:p>
        </p:txBody>
      </p:sp>
      <p:sp>
        <p:nvSpPr>
          <p:cNvPr id="3" name="Shape 1"/>
          <p:cNvSpPr/>
          <p:nvPr/>
        </p:nvSpPr>
        <p:spPr>
          <a:xfrm>
            <a:off x="502920" y="557784"/>
            <a:ext cx="566928" cy="12802"/>
          </a:xfrm>
          <a:prstGeom prst="rect">
            <a:avLst/>
          </a:prstGeom>
          <a:solidFill>
            <a:srgbClr val="B08D57"/>
          </a:solidFill>
          <a:ln w="12700">
            <a:solidFill>
              <a:srgbClr val="B08D57"/>
            </a:solidFill>
            <a:prstDash val="solid"/>
          </a:ln>
        </p:spPr>
      </p:sp>
      <p:sp>
        <p:nvSpPr>
          <p:cNvPr id="4" name="Text 2"/>
          <p:cNvSpPr/>
          <p:nvPr/>
        </p:nvSpPr>
        <p:spPr>
          <a:xfrm>
            <a:off x="502920" y="621792"/>
            <a:ext cx="8138160" cy="548640"/>
          </a:xfrm>
          <a:prstGeom prst="rect">
            <a:avLst/>
          </a:prstGeom>
          <a:noFill/>
          <a:ln/>
        </p:spPr>
        <p:txBody>
          <a:bodyPr wrap="square" rtlCol="0" anchor="t"/>
          <a:lstStyle/>
          <a:p>
            <a:pPr indent="0" marL="0">
              <a:buNone/>
            </a:pPr>
            <a:r>
              <a:rPr lang="en-US" sz="2600" spc="400" kern="0" dirty="0">
                <a:solidFill>
                  <a:srgbClr val="EDE7DE"/>
                </a:solidFill>
                <a:latin typeface="Cormorant Garamond" pitchFamily="34" charset="0"/>
                <a:ea typeface="Cormorant Garamond" pitchFamily="34" charset="-122"/>
                <a:cs typeface="Cormorant Garamond" pitchFamily="34" charset="-120"/>
              </a:rPr>
              <a:t>FIVE VERBS, NOT A BILLING MENU</a:t>
            </a:r>
            <a:endParaRPr lang="en-US" sz="2600" dirty="0"/>
          </a:p>
        </p:txBody>
      </p:sp>
      <p:sp>
        <p:nvSpPr>
          <p:cNvPr id="5" name="Text 3"/>
          <p:cNvSpPr/>
          <p:nvPr/>
        </p:nvSpPr>
        <p:spPr>
          <a:xfrm>
            <a:off x="502920" y="1115568"/>
            <a:ext cx="7487107" cy="457200"/>
          </a:xfrm>
          <a:prstGeom prst="rect">
            <a:avLst/>
          </a:prstGeom>
          <a:noFill/>
          <a:ln/>
        </p:spPr>
        <p:txBody>
          <a:bodyPr wrap="square" rtlCol="0" anchor="t"/>
          <a:lstStyle/>
          <a:p>
            <a:pPr indent="0" marL="0">
              <a:lnSpc>
                <a:spcPct val="120000"/>
              </a:lnSpc>
              <a:buNone/>
            </a:pPr>
            <a:r>
              <a:rPr lang="en-US" sz="1050" dirty="0">
                <a:solidFill>
                  <a:srgbClr val="C9BCA9"/>
                </a:solidFill>
                <a:latin typeface="Jost" pitchFamily="34" charset="0"/>
                <a:ea typeface="Jost" pitchFamily="34" charset="-122"/>
                <a:cs typeface="Jost" pitchFamily="34" charset="-120"/>
              </a:rPr>
              <a:t>The information architecture borrows from how a health club organizes itself rather than how a clinic does. Patients do not shop by billing code; they arrive wanting to feel a specific way.</a:t>
            </a:r>
            <a:endParaRPr lang="en-US" sz="1050" dirty="0"/>
          </a:p>
        </p:txBody>
      </p:sp>
      <p:sp>
        <p:nvSpPr>
          <p:cNvPr id="6" name="Shape 4"/>
          <p:cNvSpPr/>
          <p:nvPr/>
        </p:nvSpPr>
        <p:spPr>
          <a:xfrm>
            <a:off x="502920" y="1691640"/>
            <a:ext cx="1525219" cy="2651760"/>
          </a:xfrm>
          <a:prstGeom prst="rect">
            <a:avLst/>
          </a:prstGeom>
          <a:solidFill>
            <a:srgbClr val="1C1C1E"/>
          </a:solidFill>
          <a:ln w="9525">
            <a:solidFill>
              <a:srgbClr val="271F13"/>
            </a:solidFill>
            <a:prstDash val="solid"/>
          </a:ln>
        </p:spPr>
      </p:sp>
      <p:sp>
        <p:nvSpPr>
          <p:cNvPr id="7" name="Text 5"/>
          <p:cNvSpPr/>
          <p:nvPr/>
        </p:nvSpPr>
        <p:spPr>
          <a:xfrm>
            <a:off x="649224" y="1819656"/>
            <a:ext cx="1232611" cy="182880"/>
          </a:xfrm>
          <a:prstGeom prst="rect">
            <a:avLst/>
          </a:prstGeom>
          <a:noFill/>
          <a:ln/>
        </p:spPr>
        <p:txBody>
          <a:bodyPr wrap="square" rtlCol="0" anchor="ctr"/>
          <a:lstStyle/>
          <a:p>
            <a:pPr indent="0" marL="0">
              <a:buNone/>
            </a:pPr>
            <a:r>
              <a:rPr lang="en-US" sz="750" spc="200" kern="0" dirty="0">
                <a:solidFill>
                  <a:srgbClr val="B08D57"/>
                </a:solidFill>
                <a:latin typeface="Jost" pitchFamily="34" charset="0"/>
                <a:ea typeface="Jost" pitchFamily="34" charset="-122"/>
                <a:cs typeface="Jost" pitchFamily="34" charset="-120"/>
              </a:rPr>
              <a:t>RESTORE</a:t>
            </a:r>
            <a:endParaRPr lang="en-US" sz="750" dirty="0"/>
          </a:p>
        </p:txBody>
      </p:sp>
      <p:sp>
        <p:nvSpPr>
          <p:cNvPr id="8" name="Text 6"/>
          <p:cNvSpPr/>
          <p:nvPr/>
        </p:nvSpPr>
        <p:spPr>
          <a:xfrm>
            <a:off x="649224" y="2039112"/>
            <a:ext cx="1232611" cy="237744"/>
          </a:xfrm>
          <a:prstGeom prst="rect">
            <a:avLst/>
          </a:prstGeom>
          <a:noFill/>
          <a:ln/>
        </p:spPr>
        <p:txBody>
          <a:bodyPr wrap="square" rtlCol="0" anchor="t"/>
          <a:lstStyle/>
          <a:p>
            <a:pPr indent="0" marL="0">
              <a:lnSpc>
                <a:spcPct val="110000"/>
              </a:lnSpc>
              <a:buNone/>
            </a:pPr>
            <a:r>
              <a:rPr lang="en-US" sz="1100" dirty="0">
                <a:solidFill>
                  <a:srgbClr val="EDE7DE"/>
                </a:solidFill>
                <a:latin typeface="Jost" pitchFamily="34" charset="0"/>
                <a:ea typeface="Jost" pitchFamily="34" charset="-122"/>
                <a:cs typeface="Jost" pitchFamily="34" charset="-120"/>
              </a:rPr>
              <a:t>Regenerative</a:t>
            </a:r>
            <a:endParaRPr lang="en-US" sz="1100" dirty="0"/>
          </a:p>
        </p:txBody>
      </p:sp>
      <p:sp>
        <p:nvSpPr>
          <p:cNvPr id="9" name="Text 7"/>
          <p:cNvSpPr/>
          <p:nvPr/>
        </p:nvSpPr>
        <p:spPr>
          <a:xfrm>
            <a:off x="649224" y="2313432"/>
            <a:ext cx="1232611" cy="1920240"/>
          </a:xfrm>
          <a:prstGeom prst="rect">
            <a:avLst/>
          </a:prstGeom>
          <a:noFill/>
          <a:ln/>
        </p:spPr>
        <p:txBody>
          <a:bodyPr wrap="square" rtlCol="0" anchor="t"/>
          <a:lstStyle/>
          <a:p>
            <a:pPr indent="0" marL="0">
              <a:lnSpc>
                <a:spcPct val="120000"/>
              </a:lnSpc>
              <a:buNone/>
            </a:pPr>
            <a:r>
              <a:rPr lang="en-US" sz="850" dirty="0">
                <a:solidFill>
                  <a:srgbClr val="C9BCA9"/>
                </a:solidFill>
                <a:latin typeface="Jost" pitchFamily="34" charset="0"/>
                <a:ea typeface="Jost" pitchFamily="34" charset="-122"/>
                <a:cs typeface="Jost" pitchFamily="34" charset="-120"/>
              </a:rPr>
              <a:t>Six PRP protocols, therapeutic medications, a ten-drip infusion menu and NAD+ by dose.</a:t>
            </a:r>
            <a:endParaRPr lang="en-US" sz="850" dirty="0"/>
          </a:p>
        </p:txBody>
      </p:sp>
      <p:sp>
        <p:nvSpPr>
          <p:cNvPr id="10" name="Shape 8"/>
          <p:cNvSpPr/>
          <p:nvPr/>
        </p:nvSpPr>
        <p:spPr>
          <a:xfrm>
            <a:off x="2156155" y="1691640"/>
            <a:ext cx="1525219" cy="2651760"/>
          </a:xfrm>
          <a:prstGeom prst="rect">
            <a:avLst/>
          </a:prstGeom>
          <a:solidFill>
            <a:srgbClr val="1C1C1E"/>
          </a:solidFill>
          <a:ln w="9525">
            <a:solidFill>
              <a:srgbClr val="271F13"/>
            </a:solidFill>
            <a:prstDash val="solid"/>
          </a:ln>
        </p:spPr>
      </p:sp>
      <p:sp>
        <p:nvSpPr>
          <p:cNvPr id="11" name="Text 9"/>
          <p:cNvSpPr/>
          <p:nvPr/>
        </p:nvSpPr>
        <p:spPr>
          <a:xfrm>
            <a:off x="2302459" y="1819656"/>
            <a:ext cx="1232611" cy="182880"/>
          </a:xfrm>
          <a:prstGeom prst="rect">
            <a:avLst/>
          </a:prstGeom>
          <a:noFill/>
          <a:ln/>
        </p:spPr>
        <p:txBody>
          <a:bodyPr wrap="square" rtlCol="0" anchor="ctr"/>
          <a:lstStyle/>
          <a:p>
            <a:pPr indent="0" marL="0">
              <a:buNone/>
            </a:pPr>
            <a:r>
              <a:rPr lang="en-US" sz="750" spc="200" kern="0" dirty="0">
                <a:solidFill>
                  <a:srgbClr val="B08D57"/>
                </a:solidFill>
                <a:latin typeface="Jost" pitchFamily="34" charset="0"/>
                <a:ea typeface="Jost" pitchFamily="34" charset="-122"/>
                <a:cs typeface="Jost" pitchFamily="34" charset="-120"/>
              </a:rPr>
              <a:t>RENEW</a:t>
            </a:r>
            <a:endParaRPr lang="en-US" sz="750" dirty="0"/>
          </a:p>
        </p:txBody>
      </p:sp>
      <p:sp>
        <p:nvSpPr>
          <p:cNvPr id="12" name="Text 10"/>
          <p:cNvSpPr/>
          <p:nvPr/>
        </p:nvSpPr>
        <p:spPr>
          <a:xfrm>
            <a:off x="2302459" y="2039112"/>
            <a:ext cx="1232611" cy="237744"/>
          </a:xfrm>
          <a:prstGeom prst="rect">
            <a:avLst/>
          </a:prstGeom>
          <a:noFill/>
          <a:ln/>
        </p:spPr>
        <p:txBody>
          <a:bodyPr wrap="square" rtlCol="0" anchor="t"/>
          <a:lstStyle/>
          <a:p>
            <a:pPr indent="0" marL="0">
              <a:lnSpc>
                <a:spcPct val="110000"/>
              </a:lnSpc>
              <a:buNone/>
            </a:pPr>
            <a:r>
              <a:rPr lang="en-US" sz="1100" dirty="0">
                <a:solidFill>
                  <a:srgbClr val="EDE7DE"/>
                </a:solidFill>
                <a:latin typeface="Jost" pitchFamily="34" charset="0"/>
                <a:ea typeface="Jost" pitchFamily="34" charset="-122"/>
                <a:cs typeface="Jost" pitchFamily="34" charset="-120"/>
              </a:rPr>
              <a:t>Aesthetics</a:t>
            </a:r>
            <a:endParaRPr lang="en-US" sz="1100" dirty="0"/>
          </a:p>
        </p:txBody>
      </p:sp>
      <p:sp>
        <p:nvSpPr>
          <p:cNvPr id="13" name="Text 11"/>
          <p:cNvSpPr/>
          <p:nvPr/>
        </p:nvSpPr>
        <p:spPr>
          <a:xfrm>
            <a:off x="2302459" y="2313432"/>
            <a:ext cx="1232611" cy="1920240"/>
          </a:xfrm>
          <a:prstGeom prst="rect">
            <a:avLst/>
          </a:prstGeom>
          <a:noFill/>
          <a:ln/>
        </p:spPr>
        <p:txBody>
          <a:bodyPr wrap="square" rtlCol="0" anchor="t"/>
          <a:lstStyle/>
          <a:p>
            <a:pPr indent="0" marL="0">
              <a:lnSpc>
                <a:spcPct val="120000"/>
              </a:lnSpc>
              <a:buNone/>
            </a:pPr>
            <a:r>
              <a:rPr lang="en-US" sz="850" dirty="0">
                <a:solidFill>
                  <a:srgbClr val="C9BCA9"/>
                </a:solidFill>
                <a:latin typeface="Jost" pitchFamily="34" charset="0"/>
                <a:ea typeface="Jost" pitchFamily="34" charset="-122"/>
                <a:cs typeface="Jost" pitchFamily="34" charset="-120"/>
              </a:rPr>
              <a:t>Neuromodulators and filler, RF microneedling, laser resurfacing.</a:t>
            </a:r>
            <a:endParaRPr lang="en-US" sz="850" dirty="0"/>
          </a:p>
        </p:txBody>
      </p:sp>
      <p:sp>
        <p:nvSpPr>
          <p:cNvPr id="14" name="Shape 12"/>
          <p:cNvSpPr/>
          <p:nvPr/>
        </p:nvSpPr>
        <p:spPr>
          <a:xfrm>
            <a:off x="3809390" y="1691640"/>
            <a:ext cx="1525219" cy="2651760"/>
          </a:xfrm>
          <a:prstGeom prst="rect">
            <a:avLst/>
          </a:prstGeom>
          <a:solidFill>
            <a:srgbClr val="1C1C1E"/>
          </a:solidFill>
          <a:ln w="9525">
            <a:solidFill>
              <a:srgbClr val="271F13"/>
            </a:solidFill>
            <a:prstDash val="solid"/>
          </a:ln>
        </p:spPr>
      </p:sp>
      <p:sp>
        <p:nvSpPr>
          <p:cNvPr id="15" name="Text 13"/>
          <p:cNvSpPr/>
          <p:nvPr/>
        </p:nvSpPr>
        <p:spPr>
          <a:xfrm>
            <a:off x="3955694" y="1819656"/>
            <a:ext cx="1232611" cy="182880"/>
          </a:xfrm>
          <a:prstGeom prst="rect">
            <a:avLst/>
          </a:prstGeom>
          <a:noFill/>
          <a:ln/>
        </p:spPr>
        <p:txBody>
          <a:bodyPr wrap="square" rtlCol="0" anchor="ctr"/>
          <a:lstStyle/>
          <a:p>
            <a:pPr indent="0" marL="0">
              <a:buNone/>
            </a:pPr>
            <a:r>
              <a:rPr lang="en-US" sz="750" spc="200" kern="0" dirty="0">
                <a:solidFill>
                  <a:srgbClr val="B08D57"/>
                </a:solidFill>
                <a:latin typeface="Jost" pitchFamily="34" charset="0"/>
                <a:ea typeface="Jost" pitchFamily="34" charset="-122"/>
                <a:cs typeface="Jost" pitchFamily="34" charset="-120"/>
              </a:rPr>
              <a:t>RECOVER</a:t>
            </a:r>
            <a:endParaRPr lang="en-US" sz="750" dirty="0"/>
          </a:p>
        </p:txBody>
      </p:sp>
      <p:sp>
        <p:nvSpPr>
          <p:cNvPr id="16" name="Text 14"/>
          <p:cNvSpPr/>
          <p:nvPr/>
        </p:nvSpPr>
        <p:spPr>
          <a:xfrm>
            <a:off x="3955694" y="2039112"/>
            <a:ext cx="1232611" cy="237744"/>
          </a:xfrm>
          <a:prstGeom prst="rect">
            <a:avLst/>
          </a:prstGeom>
          <a:noFill/>
          <a:ln/>
        </p:spPr>
        <p:txBody>
          <a:bodyPr wrap="square" rtlCol="0" anchor="t"/>
          <a:lstStyle/>
          <a:p>
            <a:pPr indent="0" marL="0">
              <a:lnSpc>
                <a:spcPct val="110000"/>
              </a:lnSpc>
              <a:buNone/>
            </a:pPr>
            <a:r>
              <a:rPr lang="en-US" sz="1100" dirty="0">
                <a:solidFill>
                  <a:srgbClr val="EDE7DE"/>
                </a:solidFill>
                <a:latin typeface="Jost" pitchFamily="34" charset="0"/>
                <a:ea typeface="Jost" pitchFamily="34" charset="-122"/>
                <a:cs typeface="Jost" pitchFamily="34" charset="-120"/>
              </a:rPr>
              <a:t>Recovery</a:t>
            </a:r>
            <a:endParaRPr lang="en-US" sz="1100" dirty="0"/>
          </a:p>
        </p:txBody>
      </p:sp>
      <p:sp>
        <p:nvSpPr>
          <p:cNvPr id="17" name="Text 15"/>
          <p:cNvSpPr/>
          <p:nvPr/>
        </p:nvSpPr>
        <p:spPr>
          <a:xfrm>
            <a:off x="3955694" y="2313432"/>
            <a:ext cx="1232611" cy="1920240"/>
          </a:xfrm>
          <a:prstGeom prst="rect">
            <a:avLst/>
          </a:prstGeom>
          <a:noFill/>
          <a:ln/>
        </p:spPr>
        <p:txBody>
          <a:bodyPr wrap="square" rtlCol="0" anchor="t"/>
          <a:lstStyle/>
          <a:p>
            <a:pPr indent="0" marL="0">
              <a:lnSpc>
                <a:spcPct val="120000"/>
              </a:lnSpc>
              <a:buNone/>
            </a:pPr>
            <a:r>
              <a:rPr lang="en-US" sz="850" dirty="0">
                <a:solidFill>
                  <a:srgbClr val="C9BCA9"/>
                </a:solidFill>
                <a:latin typeface="Jost" pitchFamily="34" charset="0"/>
                <a:ea typeface="Jost" pitchFamily="34" charset="-122"/>
                <a:cs typeface="Jost" pitchFamily="34" charset="-120"/>
              </a:rPr>
              <a:t>Hyperbaric oxygen, Ammortal chambers, robotic massage, compression, red light.</a:t>
            </a:r>
            <a:endParaRPr lang="en-US" sz="850" dirty="0"/>
          </a:p>
        </p:txBody>
      </p:sp>
      <p:sp>
        <p:nvSpPr>
          <p:cNvPr id="18" name="Shape 16"/>
          <p:cNvSpPr/>
          <p:nvPr/>
        </p:nvSpPr>
        <p:spPr>
          <a:xfrm>
            <a:off x="5462626" y="1691640"/>
            <a:ext cx="1525219" cy="2651760"/>
          </a:xfrm>
          <a:prstGeom prst="rect">
            <a:avLst/>
          </a:prstGeom>
          <a:solidFill>
            <a:srgbClr val="1C1C1E"/>
          </a:solidFill>
          <a:ln w="9525">
            <a:solidFill>
              <a:srgbClr val="271F13"/>
            </a:solidFill>
            <a:prstDash val="solid"/>
          </a:ln>
        </p:spPr>
      </p:sp>
      <p:sp>
        <p:nvSpPr>
          <p:cNvPr id="19" name="Text 17"/>
          <p:cNvSpPr/>
          <p:nvPr/>
        </p:nvSpPr>
        <p:spPr>
          <a:xfrm>
            <a:off x="5608930" y="1819656"/>
            <a:ext cx="1232611" cy="182880"/>
          </a:xfrm>
          <a:prstGeom prst="rect">
            <a:avLst/>
          </a:prstGeom>
          <a:noFill/>
          <a:ln/>
        </p:spPr>
        <p:txBody>
          <a:bodyPr wrap="square" rtlCol="0" anchor="ctr"/>
          <a:lstStyle/>
          <a:p>
            <a:pPr indent="0" marL="0">
              <a:buNone/>
            </a:pPr>
            <a:r>
              <a:rPr lang="en-US" sz="750" spc="200" kern="0" dirty="0">
                <a:solidFill>
                  <a:srgbClr val="B08D57"/>
                </a:solidFill>
                <a:latin typeface="Jost" pitchFamily="34" charset="0"/>
                <a:ea typeface="Jost" pitchFamily="34" charset="-122"/>
                <a:cs typeface="Jost" pitchFamily="34" charset="-120"/>
              </a:rPr>
              <a:t>RESET</a:t>
            </a:r>
            <a:endParaRPr lang="en-US" sz="750" dirty="0"/>
          </a:p>
        </p:txBody>
      </p:sp>
      <p:sp>
        <p:nvSpPr>
          <p:cNvPr id="20" name="Text 18"/>
          <p:cNvSpPr/>
          <p:nvPr/>
        </p:nvSpPr>
        <p:spPr>
          <a:xfrm>
            <a:off x="5608930" y="2039112"/>
            <a:ext cx="1232611" cy="237744"/>
          </a:xfrm>
          <a:prstGeom prst="rect">
            <a:avLst/>
          </a:prstGeom>
          <a:noFill/>
          <a:ln/>
        </p:spPr>
        <p:txBody>
          <a:bodyPr wrap="square" rtlCol="0" anchor="t"/>
          <a:lstStyle/>
          <a:p>
            <a:pPr indent="0" marL="0">
              <a:lnSpc>
                <a:spcPct val="110000"/>
              </a:lnSpc>
              <a:buNone/>
            </a:pPr>
            <a:r>
              <a:rPr lang="en-US" sz="1100" dirty="0">
                <a:solidFill>
                  <a:srgbClr val="EDE7DE"/>
                </a:solidFill>
                <a:latin typeface="Jost" pitchFamily="34" charset="0"/>
                <a:ea typeface="Jost" pitchFamily="34" charset="-122"/>
                <a:cs typeface="Jost" pitchFamily="34" charset="-120"/>
              </a:rPr>
              <a:t>Diagnostics</a:t>
            </a:r>
            <a:endParaRPr lang="en-US" sz="1100" dirty="0"/>
          </a:p>
        </p:txBody>
      </p:sp>
      <p:sp>
        <p:nvSpPr>
          <p:cNvPr id="21" name="Text 19"/>
          <p:cNvSpPr/>
          <p:nvPr/>
        </p:nvSpPr>
        <p:spPr>
          <a:xfrm>
            <a:off x="5608930" y="2313432"/>
            <a:ext cx="1232611" cy="1920240"/>
          </a:xfrm>
          <a:prstGeom prst="rect">
            <a:avLst/>
          </a:prstGeom>
          <a:noFill/>
          <a:ln/>
        </p:spPr>
        <p:txBody>
          <a:bodyPr wrap="square" rtlCol="0" anchor="t"/>
          <a:lstStyle/>
          <a:p>
            <a:pPr indent="0" marL="0">
              <a:lnSpc>
                <a:spcPct val="120000"/>
              </a:lnSpc>
              <a:buNone/>
            </a:pPr>
            <a:r>
              <a:rPr lang="en-US" sz="850" dirty="0">
                <a:solidFill>
                  <a:srgbClr val="C9BCA9"/>
                </a:solidFill>
                <a:latin typeface="Jost" pitchFamily="34" charset="0"/>
                <a:ea typeface="Jost" pitchFamily="34" charset="-122"/>
                <a:cs typeface="Jost" pitchFamily="34" charset="-120"/>
              </a:rPr>
              <a:t>Advanced biometrics, DEXA, DUTCH, DNA analysis. The baseline everything else is measured against.</a:t>
            </a:r>
            <a:endParaRPr lang="en-US" sz="850" dirty="0"/>
          </a:p>
        </p:txBody>
      </p:sp>
      <p:sp>
        <p:nvSpPr>
          <p:cNvPr id="22" name="Shape 20"/>
          <p:cNvSpPr/>
          <p:nvPr/>
        </p:nvSpPr>
        <p:spPr>
          <a:xfrm>
            <a:off x="7115861" y="1691640"/>
            <a:ext cx="1525219" cy="2651760"/>
          </a:xfrm>
          <a:prstGeom prst="rect">
            <a:avLst/>
          </a:prstGeom>
          <a:solidFill>
            <a:srgbClr val="1C1C1E"/>
          </a:solidFill>
          <a:ln w="9525">
            <a:solidFill>
              <a:srgbClr val="271F13"/>
            </a:solidFill>
            <a:prstDash val="solid"/>
          </a:ln>
        </p:spPr>
      </p:sp>
      <p:sp>
        <p:nvSpPr>
          <p:cNvPr id="23" name="Text 21"/>
          <p:cNvSpPr/>
          <p:nvPr/>
        </p:nvSpPr>
        <p:spPr>
          <a:xfrm>
            <a:off x="7262165" y="1819656"/>
            <a:ext cx="1232611" cy="182880"/>
          </a:xfrm>
          <a:prstGeom prst="rect">
            <a:avLst/>
          </a:prstGeom>
          <a:noFill/>
          <a:ln/>
        </p:spPr>
        <p:txBody>
          <a:bodyPr wrap="square" rtlCol="0" anchor="ctr"/>
          <a:lstStyle/>
          <a:p>
            <a:pPr indent="0" marL="0">
              <a:buNone/>
            </a:pPr>
            <a:r>
              <a:rPr lang="en-US" sz="750" spc="200" kern="0" dirty="0">
                <a:solidFill>
                  <a:srgbClr val="B08D57"/>
                </a:solidFill>
                <a:latin typeface="Jost" pitchFamily="34" charset="0"/>
                <a:ea typeface="Jost" pitchFamily="34" charset="-122"/>
                <a:cs typeface="Jost" pitchFamily="34" charset="-120"/>
              </a:rPr>
              <a:t>RECONNECT</a:t>
            </a:r>
            <a:endParaRPr lang="en-US" sz="750" dirty="0"/>
          </a:p>
        </p:txBody>
      </p:sp>
      <p:sp>
        <p:nvSpPr>
          <p:cNvPr id="24" name="Text 22"/>
          <p:cNvSpPr/>
          <p:nvPr/>
        </p:nvSpPr>
        <p:spPr>
          <a:xfrm>
            <a:off x="7262165" y="2039112"/>
            <a:ext cx="1232611" cy="237744"/>
          </a:xfrm>
          <a:prstGeom prst="rect">
            <a:avLst/>
          </a:prstGeom>
          <a:noFill/>
          <a:ln/>
        </p:spPr>
        <p:txBody>
          <a:bodyPr wrap="square" rtlCol="0" anchor="t"/>
          <a:lstStyle/>
          <a:p>
            <a:pPr indent="0" marL="0">
              <a:lnSpc>
                <a:spcPct val="110000"/>
              </a:lnSpc>
              <a:buNone/>
            </a:pPr>
            <a:r>
              <a:rPr lang="en-US" sz="1100" dirty="0">
                <a:solidFill>
                  <a:srgbClr val="EDE7DE"/>
                </a:solidFill>
                <a:latin typeface="Jost" pitchFamily="34" charset="0"/>
                <a:ea typeface="Jost" pitchFamily="34" charset="-122"/>
                <a:cs typeface="Jost" pitchFamily="34" charset="-120"/>
              </a:rPr>
              <a:t>The Club</a:t>
            </a:r>
            <a:endParaRPr lang="en-US" sz="1100" dirty="0"/>
          </a:p>
        </p:txBody>
      </p:sp>
      <p:sp>
        <p:nvSpPr>
          <p:cNvPr id="25" name="Text 23"/>
          <p:cNvSpPr/>
          <p:nvPr/>
        </p:nvSpPr>
        <p:spPr>
          <a:xfrm>
            <a:off x="7262165" y="2313432"/>
            <a:ext cx="1232611" cy="1920240"/>
          </a:xfrm>
          <a:prstGeom prst="rect">
            <a:avLst/>
          </a:prstGeom>
          <a:noFill/>
          <a:ln/>
        </p:spPr>
        <p:txBody>
          <a:bodyPr wrap="square" rtlCol="0" anchor="t"/>
          <a:lstStyle/>
          <a:p>
            <a:pPr indent="0" marL="0">
              <a:lnSpc>
                <a:spcPct val="120000"/>
              </a:lnSpc>
              <a:buNone/>
            </a:pPr>
            <a:r>
              <a:rPr lang="en-US" sz="850" dirty="0">
                <a:solidFill>
                  <a:srgbClr val="C9BCA9"/>
                </a:solidFill>
                <a:latin typeface="Jost" pitchFamily="34" charset="0"/>
                <a:ea typeface="Jost" pitchFamily="34" charset="-122"/>
                <a:cs typeface="Jost" pitchFamily="34" charset="-120"/>
              </a:rPr>
              <a:t>The contrast suite, the Lounge, member events, and guest privileges. The reason your membership becomes part of your routine, not just your recovery.</a:t>
            </a:r>
            <a:endParaRPr lang="en-US" sz="850" dirty="0"/>
          </a:p>
        </p:txBody>
      </p:sp>
      <p:sp>
        <p:nvSpPr>
          <p:cNvPr id="26" name="Text 24"/>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B6965"/>
                </a:solidFill>
                <a:latin typeface="Jost" pitchFamily="34" charset="0"/>
                <a:ea typeface="Jost" pitchFamily="34" charset="-122"/>
                <a:cs typeface="Jost" pitchFamily="34" charset="-120"/>
              </a:rPr>
              <a:t>L&amp;K WELLNESS  ·  PRIVATE INVESTMENT BRIEF  ·  CONFIDENTIAL</a:t>
            </a:r>
            <a:endParaRPr lang="en-US" sz="700" dirty="0"/>
          </a:p>
        </p:txBody>
      </p:sp>
      <p:sp>
        <p:nvSpPr>
          <p:cNvPr id="27" name="Text 25"/>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B6965"/>
                </a:solidFill>
                <a:latin typeface="Jost" pitchFamily="34" charset="0"/>
                <a:ea typeface="Jost" pitchFamily="34" charset="-122"/>
                <a:cs typeface="Jost" pitchFamily="34" charset="-120"/>
              </a:rPr>
              <a:t>6</a:t>
            </a:r>
            <a:endParaRPr lang="en-US" sz="7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B08D57"/>
                </a:solidFill>
                <a:latin typeface="Jost" pitchFamily="34" charset="0"/>
                <a:ea typeface="Jost" pitchFamily="34" charset="-122"/>
                <a:cs typeface="Jost" pitchFamily="34" charset="-120"/>
              </a:rPr>
              <a:t>MEMBERSHIP ARCHITECTURE</a:t>
            </a:r>
            <a:endParaRPr lang="en-US" sz="900" dirty="0"/>
          </a:p>
        </p:txBody>
      </p:sp>
      <p:sp>
        <p:nvSpPr>
          <p:cNvPr id="3" name="Shape 1"/>
          <p:cNvSpPr/>
          <p:nvPr/>
        </p:nvSpPr>
        <p:spPr>
          <a:xfrm>
            <a:off x="502920" y="557784"/>
            <a:ext cx="566928" cy="12802"/>
          </a:xfrm>
          <a:prstGeom prst="rect">
            <a:avLst/>
          </a:prstGeom>
          <a:solidFill>
            <a:srgbClr val="B08D57"/>
          </a:solidFill>
          <a:ln w="12700">
            <a:solidFill>
              <a:srgbClr val="B08D57"/>
            </a:solidFill>
            <a:prstDash val="solid"/>
          </a:ln>
        </p:spPr>
      </p:sp>
      <p:sp>
        <p:nvSpPr>
          <p:cNvPr id="4" name="Text 2"/>
          <p:cNvSpPr/>
          <p:nvPr/>
        </p:nvSpPr>
        <p:spPr>
          <a:xfrm>
            <a:off x="502920" y="621792"/>
            <a:ext cx="8138160" cy="548640"/>
          </a:xfrm>
          <a:prstGeom prst="rect">
            <a:avLst/>
          </a:prstGeom>
          <a:noFill/>
          <a:ln/>
        </p:spPr>
        <p:txBody>
          <a:bodyPr wrap="square" rtlCol="0" anchor="t"/>
          <a:lstStyle/>
          <a:p>
            <a:pPr indent="0" marL="0">
              <a:buNone/>
            </a:pPr>
            <a:r>
              <a:rPr lang="en-US" sz="2600" spc="400" kern="0" dirty="0">
                <a:solidFill>
                  <a:srgbClr val="EDE7DE"/>
                </a:solidFill>
                <a:latin typeface="Cormorant Garamond" pitchFamily="34" charset="0"/>
                <a:ea typeface="Cormorant Garamond" pitchFamily="34" charset="-122"/>
                <a:cs typeface="Cormorant Garamond" pitchFamily="34" charset="-120"/>
              </a:rPr>
              <a:t>A LADDER, NOT A GATE</a:t>
            </a:r>
            <a:endParaRPr lang="en-US" sz="2600" dirty="0"/>
          </a:p>
        </p:txBody>
      </p:sp>
      <p:sp>
        <p:nvSpPr>
          <p:cNvPr id="5" name="Text 3"/>
          <p:cNvSpPr/>
          <p:nvPr/>
        </p:nvSpPr>
        <p:spPr>
          <a:xfrm>
            <a:off x="502920" y="1115568"/>
            <a:ext cx="7487107" cy="457200"/>
          </a:xfrm>
          <a:prstGeom prst="rect">
            <a:avLst/>
          </a:prstGeom>
          <a:noFill/>
          <a:ln/>
        </p:spPr>
        <p:txBody>
          <a:bodyPr wrap="square" rtlCol="0" anchor="t"/>
          <a:lstStyle/>
          <a:p>
            <a:pPr indent="0" marL="0">
              <a:lnSpc>
                <a:spcPct val="120000"/>
              </a:lnSpc>
              <a:buNone/>
            </a:pPr>
            <a:r>
              <a:rPr lang="en-US" sz="1050" dirty="0">
                <a:solidFill>
                  <a:srgbClr val="C9BCA9"/>
                </a:solidFill>
                <a:latin typeface="Jost" pitchFamily="34" charset="0"/>
                <a:ea typeface="Jost" pitchFamily="34" charset="-122"/>
                <a:cs typeface="Jost" pitchFamily="34" charset="-120"/>
              </a:rPr>
              <a:t>Four tiers, each representing a meaningful step up rather than a repackaging of the last. The accessible annual tier serves as the entry point; the capped monthly tiers drive the core business.</a:t>
            </a:r>
            <a:endParaRPr lang="en-US" sz="1050" dirty="0"/>
          </a:p>
        </p:txBody>
      </p:sp>
      <p:sp>
        <p:nvSpPr>
          <p:cNvPr id="6" name="Shape 4"/>
          <p:cNvSpPr/>
          <p:nvPr/>
        </p:nvSpPr>
        <p:spPr>
          <a:xfrm>
            <a:off x="502920" y="1691640"/>
            <a:ext cx="1924812" cy="2450592"/>
          </a:xfrm>
          <a:prstGeom prst="rect">
            <a:avLst/>
          </a:prstGeom>
          <a:solidFill>
            <a:srgbClr val="1C1C1E"/>
          </a:solidFill>
          <a:ln w="9525">
            <a:solidFill>
              <a:srgbClr val="271F13"/>
            </a:solidFill>
            <a:prstDash val="solid"/>
          </a:ln>
        </p:spPr>
      </p:sp>
      <p:sp>
        <p:nvSpPr>
          <p:cNvPr id="7" name="Text 5"/>
          <p:cNvSpPr/>
          <p:nvPr/>
        </p:nvSpPr>
        <p:spPr>
          <a:xfrm>
            <a:off x="630936" y="1801368"/>
            <a:ext cx="1668780" cy="237744"/>
          </a:xfrm>
          <a:prstGeom prst="rect">
            <a:avLst/>
          </a:prstGeom>
          <a:noFill/>
          <a:ln/>
        </p:spPr>
        <p:txBody>
          <a:bodyPr wrap="square" rtlCol="0" anchor="ctr"/>
          <a:lstStyle/>
          <a:p>
            <a:pPr indent="0" marL="0">
              <a:buNone/>
            </a:pPr>
            <a:r>
              <a:rPr lang="en-US" sz="1100" dirty="0">
                <a:solidFill>
                  <a:srgbClr val="EDE7DE"/>
                </a:solidFill>
                <a:latin typeface="Jost" pitchFamily="34" charset="0"/>
                <a:ea typeface="Jost" pitchFamily="34" charset="-122"/>
                <a:cs typeface="Jost" pitchFamily="34" charset="-120"/>
              </a:rPr>
              <a:t>Day Pass</a:t>
            </a:r>
            <a:endParaRPr lang="en-US" sz="1100" dirty="0"/>
          </a:p>
        </p:txBody>
      </p:sp>
      <p:sp>
        <p:nvSpPr>
          <p:cNvPr id="8" name="Text 6"/>
          <p:cNvSpPr/>
          <p:nvPr/>
        </p:nvSpPr>
        <p:spPr>
          <a:xfrm>
            <a:off x="630936" y="2039112"/>
            <a:ext cx="1668780" cy="365760"/>
          </a:xfrm>
          <a:prstGeom prst="rect">
            <a:avLst/>
          </a:prstGeom>
          <a:noFill/>
          <a:ln/>
        </p:spPr>
        <p:txBody>
          <a:bodyPr wrap="square" rtlCol="0" anchor="t"/>
          <a:lstStyle/>
          <a:p>
            <a:pPr indent="0" marL="0">
              <a:buNone/>
            </a:pPr>
            <a:r>
              <a:rPr lang="en-US" sz="2200" dirty="0">
                <a:solidFill>
                  <a:srgbClr val="B08D57"/>
                </a:solidFill>
                <a:latin typeface="Cormorant Garamond" pitchFamily="34" charset="0"/>
                <a:ea typeface="Cormorant Garamond" pitchFamily="34" charset="-122"/>
                <a:cs typeface="Cormorant Garamond" pitchFamily="34" charset="-120"/>
              </a:rPr>
              <a:t>$75</a:t>
            </a:r>
            <a:endParaRPr lang="en-US" sz="2200" dirty="0"/>
          </a:p>
        </p:txBody>
      </p:sp>
      <p:sp>
        <p:nvSpPr>
          <p:cNvPr id="9" name="Text 7"/>
          <p:cNvSpPr/>
          <p:nvPr/>
        </p:nvSpPr>
        <p:spPr>
          <a:xfrm>
            <a:off x="630936" y="2404872"/>
            <a:ext cx="1668780" cy="164592"/>
          </a:xfrm>
          <a:prstGeom prst="rect">
            <a:avLst/>
          </a:prstGeom>
          <a:noFill/>
          <a:ln/>
        </p:spPr>
        <p:txBody>
          <a:bodyPr wrap="square" rtlCol="0" anchor="ctr"/>
          <a:lstStyle/>
          <a:p>
            <a:pPr indent="0" marL="0">
              <a:buNone/>
            </a:pPr>
            <a:r>
              <a:rPr lang="en-US" sz="700" spc="140" kern="0" dirty="0">
                <a:solidFill>
                  <a:srgbClr val="6B6965"/>
                </a:solidFill>
                <a:latin typeface="Jost" pitchFamily="34" charset="0"/>
                <a:ea typeface="Jost" pitchFamily="34" charset="-122"/>
                <a:cs typeface="Jost" pitchFamily="34" charset="-120"/>
              </a:rPr>
              <a:t>PER VISIT</a:t>
            </a:r>
            <a:endParaRPr lang="en-US" sz="700" dirty="0"/>
          </a:p>
        </p:txBody>
      </p:sp>
      <p:sp>
        <p:nvSpPr>
          <p:cNvPr id="10" name="Text 8"/>
          <p:cNvSpPr/>
          <p:nvPr/>
        </p:nvSpPr>
        <p:spPr>
          <a:xfrm>
            <a:off x="630936" y="2606040"/>
            <a:ext cx="1668780" cy="1188720"/>
          </a:xfrm>
          <a:prstGeom prst="rect">
            <a:avLst/>
          </a:prstGeom>
          <a:noFill/>
          <a:ln/>
        </p:spPr>
        <p:txBody>
          <a:bodyPr wrap="square" rtlCol="0" anchor="t"/>
          <a:lstStyle/>
          <a:p>
            <a:pPr marL="342900" indent="-342900">
              <a:lnSpc>
                <a:spcPct val="112000"/>
              </a:lnSpc>
              <a:buSzPct val="100000"/>
              <a:buChar char="•"/>
            </a:pPr>
            <a:r>
              <a:rPr lang="en-US" sz="750" dirty="0">
                <a:solidFill>
                  <a:srgbClr val="C9BCA9"/>
                </a:solidFill>
                <a:latin typeface="Jost" pitchFamily="34" charset="0"/>
                <a:ea typeface="Jost" pitchFamily="34" charset="-122"/>
                <a:cs typeface="Jost" pitchFamily="34" charset="-120"/>
              </a:rPr>
              <a:t>Single circuit visit</a:t>
            </a:r>
            <a:endParaRPr lang="en-US" sz="750" dirty="0"/>
          </a:p>
          <a:p>
            <a:pPr marL="342900" indent="-342900">
              <a:lnSpc>
                <a:spcPct val="112000"/>
              </a:lnSpc>
              <a:buSzPct val="100000"/>
              <a:buChar char="•"/>
            </a:pPr>
            <a:r>
              <a:rPr lang="en-US" sz="750" dirty="0">
                <a:solidFill>
                  <a:srgbClr val="C9BCA9"/>
                </a:solidFill>
                <a:latin typeface="Jost" pitchFamily="34" charset="0"/>
                <a:ea typeface="Jost" pitchFamily="34" charset="-122"/>
                <a:cs typeface="Jost" pitchFamily="34" charset="-120"/>
              </a:rPr>
              <a:t>Procedures at list price</a:t>
            </a:r>
            <a:endParaRPr lang="en-US" sz="750" dirty="0"/>
          </a:p>
          <a:p>
            <a:pPr marL="342900" indent="-342900">
              <a:lnSpc>
                <a:spcPct val="112000"/>
              </a:lnSpc>
              <a:buSzPct val="100000"/>
              <a:buChar char="•"/>
            </a:pPr>
            <a:r>
              <a:rPr lang="en-US" sz="750" dirty="0">
                <a:solidFill>
                  <a:srgbClr val="C9BCA9"/>
                </a:solidFill>
                <a:latin typeface="Jost" pitchFamily="34" charset="0"/>
                <a:ea typeface="Jost" pitchFamily="34" charset="-122"/>
                <a:cs typeface="Jost" pitchFamily="34" charset="-120"/>
              </a:rPr>
              <a:t>No events or lounge privileges</a:t>
            </a:r>
            <a:endParaRPr lang="en-US" sz="750" dirty="0"/>
          </a:p>
        </p:txBody>
      </p:sp>
      <p:sp>
        <p:nvSpPr>
          <p:cNvPr id="11" name="Text 9"/>
          <p:cNvSpPr/>
          <p:nvPr/>
        </p:nvSpPr>
        <p:spPr>
          <a:xfrm>
            <a:off x="630936" y="3867912"/>
            <a:ext cx="1668780" cy="201168"/>
          </a:xfrm>
          <a:prstGeom prst="rect">
            <a:avLst/>
          </a:prstGeom>
          <a:noFill/>
          <a:ln/>
        </p:spPr>
        <p:txBody>
          <a:bodyPr wrap="square" rtlCol="0" anchor="ctr"/>
          <a:lstStyle/>
          <a:p>
            <a:pPr indent="0" marL="0">
              <a:buNone/>
            </a:pPr>
            <a:r>
              <a:rPr lang="en-US" sz="800" dirty="0">
                <a:solidFill>
                  <a:srgbClr val="EDE7DE"/>
                </a:solidFill>
                <a:latin typeface="Jost" pitchFamily="34" charset="0"/>
                <a:ea typeface="Jost" pitchFamily="34" charset="-122"/>
                <a:cs typeface="Jost" pitchFamily="34" charset="-120"/>
              </a:rPr>
              <a:t>275 visits/mo</a:t>
            </a:r>
            <a:endParaRPr lang="en-US" sz="800" dirty="0"/>
          </a:p>
        </p:txBody>
      </p:sp>
      <p:sp>
        <p:nvSpPr>
          <p:cNvPr id="12" name="Shape 10"/>
          <p:cNvSpPr/>
          <p:nvPr/>
        </p:nvSpPr>
        <p:spPr>
          <a:xfrm>
            <a:off x="2574036" y="1691640"/>
            <a:ext cx="1924812" cy="2450592"/>
          </a:xfrm>
          <a:prstGeom prst="rect">
            <a:avLst/>
          </a:prstGeom>
          <a:solidFill>
            <a:srgbClr val="1C1C1E"/>
          </a:solidFill>
          <a:ln w="9525">
            <a:solidFill>
              <a:srgbClr val="271F13"/>
            </a:solidFill>
            <a:prstDash val="solid"/>
          </a:ln>
        </p:spPr>
      </p:sp>
      <p:sp>
        <p:nvSpPr>
          <p:cNvPr id="13" name="Text 11"/>
          <p:cNvSpPr/>
          <p:nvPr/>
        </p:nvSpPr>
        <p:spPr>
          <a:xfrm>
            <a:off x="2702052" y="1801368"/>
            <a:ext cx="1668780" cy="237744"/>
          </a:xfrm>
          <a:prstGeom prst="rect">
            <a:avLst/>
          </a:prstGeom>
          <a:noFill/>
          <a:ln/>
        </p:spPr>
        <p:txBody>
          <a:bodyPr wrap="square" rtlCol="0" anchor="ctr"/>
          <a:lstStyle/>
          <a:p>
            <a:pPr indent="0" marL="0">
              <a:buNone/>
            </a:pPr>
            <a:r>
              <a:rPr lang="en-US" sz="1100" dirty="0">
                <a:solidFill>
                  <a:srgbClr val="EDE7DE"/>
                </a:solidFill>
                <a:latin typeface="Jost" pitchFamily="34" charset="0"/>
                <a:ea typeface="Jost" pitchFamily="34" charset="-122"/>
                <a:cs typeface="Jost" pitchFamily="34" charset="-120"/>
              </a:rPr>
              <a:t>Friends of L&amp;K</a:t>
            </a:r>
            <a:endParaRPr lang="en-US" sz="1100" dirty="0"/>
          </a:p>
        </p:txBody>
      </p:sp>
      <p:sp>
        <p:nvSpPr>
          <p:cNvPr id="14" name="Text 12"/>
          <p:cNvSpPr/>
          <p:nvPr/>
        </p:nvSpPr>
        <p:spPr>
          <a:xfrm>
            <a:off x="2702052" y="2039112"/>
            <a:ext cx="1668780" cy="365760"/>
          </a:xfrm>
          <a:prstGeom prst="rect">
            <a:avLst/>
          </a:prstGeom>
          <a:noFill/>
          <a:ln/>
        </p:spPr>
        <p:txBody>
          <a:bodyPr wrap="square" rtlCol="0" anchor="t"/>
          <a:lstStyle/>
          <a:p>
            <a:pPr indent="0" marL="0">
              <a:buNone/>
            </a:pPr>
            <a:r>
              <a:rPr lang="en-US" sz="2200" dirty="0">
                <a:solidFill>
                  <a:srgbClr val="B08D57"/>
                </a:solidFill>
                <a:latin typeface="Cormorant Garamond" pitchFamily="34" charset="0"/>
                <a:ea typeface="Cormorant Garamond" pitchFamily="34" charset="-122"/>
                <a:cs typeface="Cormorant Garamond" pitchFamily="34" charset="-120"/>
              </a:rPr>
              <a:t>$300</a:t>
            </a:r>
            <a:endParaRPr lang="en-US" sz="2200" dirty="0"/>
          </a:p>
        </p:txBody>
      </p:sp>
      <p:sp>
        <p:nvSpPr>
          <p:cNvPr id="15" name="Text 13"/>
          <p:cNvSpPr/>
          <p:nvPr/>
        </p:nvSpPr>
        <p:spPr>
          <a:xfrm>
            <a:off x="2702052" y="2404872"/>
            <a:ext cx="1668780" cy="164592"/>
          </a:xfrm>
          <a:prstGeom prst="rect">
            <a:avLst/>
          </a:prstGeom>
          <a:noFill/>
          <a:ln/>
        </p:spPr>
        <p:txBody>
          <a:bodyPr wrap="square" rtlCol="0" anchor="ctr"/>
          <a:lstStyle/>
          <a:p>
            <a:pPr indent="0" marL="0">
              <a:buNone/>
            </a:pPr>
            <a:r>
              <a:rPr lang="en-US" sz="700" spc="140" kern="0" dirty="0">
                <a:solidFill>
                  <a:srgbClr val="6B6965"/>
                </a:solidFill>
                <a:latin typeface="Jost" pitchFamily="34" charset="0"/>
                <a:ea typeface="Jost" pitchFamily="34" charset="-122"/>
                <a:cs typeface="Jost" pitchFamily="34" charset="-120"/>
              </a:rPr>
              <a:t>PER YEAR</a:t>
            </a:r>
            <a:endParaRPr lang="en-US" sz="700" dirty="0"/>
          </a:p>
        </p:txBody>
      </p:sp>
      <p:sp>
        <p:nvSpPr>
          <p:cNvPr id="16" name="Text 14"/>
          <p:cNvSpPr/>
          <p:nvPr/>
        </p:nvSpPr>
        <p:spPr>
          <a:xfrm>
            <a:off x="2702052" y="2606040"/>
            <a:ext cx="1668780" cy="1188720"/>
          </a:xfrm>
          <a:prstGeom prst="rect">
            <a:avLst/>
          </a:prstGeom>
          <a:noFill/>
          <a:ln/>
        </p:spPr>
        <p:txBody>
          <a:bodyPr wrap="square" rtlCol="0" anchor="t"/>
          <a:lstStyle/>
          <a:p>
            <a:pPr marL="342900" indent="-342900">
              <a:lnSpc>
                <a:spcPct val="112000"/>
              </a:lnSpc>
              <a:buSzPct val="100000"/>
              <a:buChar char="•"/>
            </a:pPr>
            <a:r>
              <a:rPr lang="en-US" sz="750" dirty="0">
                <a:solidFill>
                  <a:srgbClr val="C9BCA9"/>
                </a:solidFill>
                <a:latin typeface="Jost" pitchFamily="34" charset="0"/>
                <a:ea typeface="Jost" pitchFamily="34" charset="-122"/>
                <a:cs typeface="Jost" pitchFamily="34" charset="-120"/>
              </a:rPr>
              <a:t>Member pricing on all procedures</a:t>
            </a:r>
            <a:endParaRPr lang="en-US" sz="750" dirty="0"/>
          </a:p>
          <a:p>
            <a:pPr marL="342900" indent="-342900">
              <a:lnSpc>
                <a:spcPct val="112000"/>
              </a:lnSpc>
              <a:buSzPct val="100000"/>
              <a:buChar char="•"/>
            </a:pPr>
            <a:r>
              <a:rPr lang="en-US" sz="750" dirty="0">
                <a:solidFill>
                  <a:srgbClr val="C9BCA9"/>
                </a:solidFill>
                <a:latin typeface="Jost" pitchFamily="34" charset="0"/>
                <a:ea typeface="Jost" pitchFamily="34" charset="-122"/>
                <a:cs typeface="Jost" pitchFamily="34" charset="-120"/>
              </a:rPr>
              <a:t>Priority booking window</a:t>
            </a:r>
            <a:endParaRPr lang="en-US" sz="750" dirty="0"/>
          </a:p>
          <a:p>
            <a:pPr marL="342900" indent="-342900">
              <a:lnSpc>
                <a:spcPct val="112000"/>
              </a:lnSpc>
              <a:buSzPct val="100000"/>
              <a:buChar char="•"/>
            </a:pPr>
            <a:r>
              <a:rPr lang="en-US" sz="750" dirty="0">
                <a:solidFill>
                  <a:srgbClr val="C9BCA9"/>
                </a:solidFill>
                <a:latin typeface="Jost" pitchFamily="34" charset="0"/>
                <a:ea typeface="Jost" pitchFamily="34" charset="-122"/>
                <a:cs typeface="Jost" pitchFamily="34" charset="-120"/>
              </a:rPr>
              <a:t>Invitations to open events</a:t>
            </a:r>
            <a:endParaRPr lang="en-US" sz="750" dirty="0"/>
          </a:p>
          <a:p>
            <a:pPr marL="342900" indent="-342900">
              <a:lnSpc>
                <a:spcPct val="112000"/>
              </a:lnSpc>
              <a:buSzPct val="100000"/>
              <a:buChar char="•"/>
            </a:pPr>
            <a:r>
              <a:rPr lang="en-US" sz="750" dirty="0">
                <a:solidFill>
                  <a:srgbClr val="C9BCA9"/>
                </a:solidFill>
                <a:latin typeface="Jost" pitchFamily="34" charset="0"/>
                <a:ea typeface="Jost" pitchFamily="34" charset="-122"/>
                <a:cs typeface="Jost" pitchFamily="34" charset="-120"/>
              </a:rPr>
              <a:t>No club or circuit access</a:t>
            </a:r>
            <a:endParaRPr lang="en-US" sz="750" dirty="0"/>
          </a:p>
        </p:txBody>
      </p:sp>
      <p:sp>
        <p:nvSpPr>
          <p:cNvPr id="17" name="Text 15"/>
          <p:cNvSpPr/>
          <p:nvPr/>
        </p:nvSpPr>
        <p:spPr>
          <a:xfrm>
            <a:off x="2702052" y="3867912"/>
            <a:ext cx="1668780" cy="201168"/>
          </a:xfrm>
          <a:prstGeom prst="rect">
            <a:avLst/>
          </a:prstGeom>
          <a:noFill/>
          <a:ln/>
        </p:spPr>
        <p:txBody>
          <a:bodyPr wrap="square" rtlCol="0" anchor="ctr"/>
          <a:lstStyle/>
          <a:p>
            <a:pPr indent="0" marL="0">
              <a:buNone/>
            </a:pPr>
            <a:r>
              <a:rPr lang="en-US" sz="800" dirty="0">
                <a:solidFill>
                  <a:srgbClr val="EDE7DE"/>
                </a:solidFill>
                <a:latin typeface="Jost" pitchFamily="34" charset="0"/>
                <a:ea typeface="Jost" pitchFamily="34" charset="-122"/>
                <a:cs typeface="Jost" pitchFamily="34" charset="-120"/>
              </a:rPr>
              <a:t>900 members</a:t>
            </a:r>
            <a:endParaRPr lang="en-US" sz="800" dirty="0"/>
          </a:p>
        </p:txBody>
      </p:sp>
      <p:sp>
        <p:nvSpPr>
          <p:cNvPr id="18" name="Shape 16"/>
          <p:cNvSpPr/>
          <p:nvPr/>
        </p:nvSpPr>
        <p:spPr>
          <a:xfrm>
            <a:off x="4645152" y="1691640"/>
            <a:ext cx="1924812" cy="2450592"/>
          </a:xfrm>
          <a:prstGeom prst="rect">
            <a:avLst/>
          </a:prstGeom>
          <a:solidFill>
            <a:srgbClr val="1C1C1E"/>
          </a:solidFill>
          <a:ln w="9525">
            <a:solidFill>
              <a:srgbClr val="271F13"/>
            </a:solidFill>
            <a:prstDash val="solid"/>
          </a:ln>
        </p:spPr>
      </p:sp>
      <p:sp>
        <p:nvSpPr>
          <p:cNvPr id="19" name="Text 17"/>
          <p:cNvSpPr/>
          <p:nvPr/>
        </p:nvSpPr>
        <p:spPr>
          <a:xfrm>
            <a:off x="4773168" y="1801368"/>
            <a:ext cx="1668780" cy="237744"/>
          </a:xfrm>
          <a:prstGeom prst="rect">
            <a:avLst/>
          </a:prstGeom>
          <a:noFill/>
          <a:ln/>
        </p:spPr>
        <p:txBody>
          <a:bodyPr wrap="square" rtlCol="0" anchor="ctr"/>
          <a:lstStyle/>
          <a:p>
            <a:pPr indent="0" marL="0">
              <a:buNone/>
            </a:pPr>
            <a:r>
              <a:rPr lang="en-US" sz="1100" dirty="0">
                <a:solidFill>
                  <a:srgbClr val="EDE7DE"/>
                </a:solidFill>
                <a:latin typeface="Jost" pitchFamily="34" charset="0"/>
                <a:ea typeface="Jost" pitchFamily="34" charset="-122"/>
                <a:cs typeface="Jost" pitchFamily="34" charset="-120"/>
              </a:rPr>
              <a:t>Resident</a:t>
            </a:r>
            <a:endParaRPr lang="en-US" sz="1100" dirty="0"/>
          </a:p>
        </p:txBody>
      </p:sp>
      <p:sp>
        <p:nvSpPr>
          <p:cNvPr id="20" name="Text 18"/>
          <p:cNvSpPr/>
          <p:nvPr/>
        </p:nvSpPr>
        <p:spPr>
          <a:xfrm>
            <a:off x="4773168" y="2039112"/>
            <a:ext cx="1668780" cy="365760"/>
          </a:xfrm>
          <a:prstGeom prst="rect">
            <a:avLst/>
          </a:prstGeom>
          <a:noFill/>
          <a:ln/>
        </p:spPr>
        <p:txBody>
          <a:bodyPr wrap="square" rtlCol="0" anchor="t"/>
          <a:lstStyle/>
          <a:p>
            <a:pPr indent="0" marL="0">
              <a:buNone/>
            </a:pPr>
            <a:r>
              <a:rPr lang="en-US" sz="2200" dirty="0">
                <a:solidFill>
                  <a:srgbClr val="B08D57"/>
                </a:solidFill>
                <a:latin typeface="Cormorant Garamond" pitchFamily="34" charset="0"/>
                <a:ea typeface="Cormorant Garamond" pitchFamily="34" charset="-122"/>
                <a:cs typeface="Cormorant Garamond" pitchFamily="34" charset="-120"/>
              </a:rPr>
              <a:t>$450</a:t>
            </a:r>
            <a:endParaRPr lang="en-US" sz="2200" dirty="0"/>
          </a:p>
        </p:txBody>
      </p:sp>
      <p:sp>
        <p:nvSpPr>
          <p:cNvPr id="21" name="Text 19"/>
          <p:cNvSpPr/>
          <p:nvPr/>
        </p:nvSpPr>
        <p:spPr>
          <a:xfrm>
            <a:off x="4773168" y="2404872"/>
            <a:ext cx="1668780" cy="164592"/>
          </a:xfrm>
          <a:prstGeom prst="rect">
            <a:avLst/>
          </a:prstGeom>
          <a:noFill/>
          <a:ln/>
        </p:spPr>
        <p:txBody>
          <a:bodyPr wrap="square" rtlCol="0" anchor="ctr"/>
          <a:lstStyle/>
          <a:p>
            <a:pPr indent="0" marL="0">
              <a:buNone/>
            </a:pPr>
            <a:r>
              <a:rPr lang="en-US" sz="700" spc="140" kern="0" dirty="0">
                <a:solidFill>
                  <a:srgbClr val="6B6965"/>
                </a:solidFill>
                <a:latin typeface="Jost" pitchFamily="34" charset="0"/>
                <a:ea typeface="Jost" pitchFamily="34" charset="-122"/>
                <a:cs typeface="Jost" pitchFamily="34" charset="-120"/>
              </a:rPr>
              <a:t>PER MONTH</a:t>
            </a:r>
            <a:endParaRPr lang="en-US" sz="700" dirty="0"/>
          </a:p>
        </p:txBody>
      </p:sp>
      <p:sp>
        <p:nvSpPr>
          <p:cNvPr id="22" name="Text 20"/>
          <p:cNvSpPr/>
          <p:nvPr/>
        </p:nvSpPr>
        <p:spPr>
          <a:xfrm>
            <a:off x="4773168" y="2606040"/>
            <a:ext cx="1668780" cy="1188720"/>
          </a:xfrm>
          <a:prstGeom prst="rect">
            <a:avLst/>
          </a:prstGeom>
          <a:noFill/>
          <a:ln/>
        </p:spPr>
        <p:txBody>
          <a:bodyPr wrap="square" rtlCol="0" anchor="t"/>
          <a:lstStyle/>
          <a:p>
            <a:pPr marL="342900" indent="-342900">
              <a:lnSpc>
                <a:spcPct val="112000"/>
              </a:lnSpc>
              <a:buSzPct val="100000"/>
              <a:buChar char="•"/>
            </a:pPr>
            <a:r>
              <a:rPr lang="en-US" sz="750" dirty="0">
                <a:solidFill>
                  <a:srgbClr val="C9BCA9"/>
                </a:solidFill>
                <a:latin typeface="Jost" pitchFamily="34" charset="0"/>
                <a:ea typeface="Jost" pitchFamily="34" charset="-122"/>
                <a:cs typeface="Jost" pitchFamily="34" charset="-120"/>
              </a:rPr>
              <a:t>Rolling monthly credit bank</a:t>
            </a:r>
            <a:endParaRPr lang="en-US" sz="750" dirty="0"/>
          </a:p>
          <a:p>
            <a:pPr marL="342900" indent="-342900">
              <a:lnSpc>
                <a:spcPct val="112000"/>
              </a:lnSpc>
              <a:buSzPct val="100000"/>
              <a:buChar char="•"/>
            </a:pPr>
            <a:r>
              <a:rPr lang="en-US" sz="750" dirty="0">
                <a:solidFill>
                  <a:srgbClr val="C9BCA9"/>
                </a:solidFill>
                <a:latin typeface="Jost" pitchFamily="34" charset="0"/>
                <a:ea typeface="Jost" pitchFamily="34" charset="-122"/>
                <a:cs typeface="Jost" pitchFamily="34" charset="-120"/>
              </a:rPr>
              <a:t>Unlimited recovery circuit</a:t>
            </a:r>
            <a:endParaRPr lang="en-US" sz="750" dirty="0"/>
          </a:p>
          <a:p>
            <a:pPr marL="342900" indent="-342900">
              <a:lnSpc>
                <a:spcPct val="112000"/>
              </a:lnSpc>
              <a:buSzPct val="100000"/>
              <a:buChar char="•"/>
            </a:pPr>
            <a:r>
              <a:rPr lang="en-US" sz="750" dirty="0">
                <a:solidFill>
                  <a:srgbClr val="C9BCA9"/>
                </a:solidFill>
                <a:latin typeface="Jost" pitchFamily="34" charset="0"/>
                <a:ea typeface="Jost" pitchFamily="34" charset="-122"/>
                <a:cs typeface="Jost" pitchFamily="34" charset="-120"/>
              </a:rPr>
              <a:t>Member pricing on all procedures</a:t>
            </a:r>
            <a:endParaRPr lang="en-US" sz="750" dirty="0"/>
          </a:p>
          <a:p>
            <a:pPr marL="342900" indent="-342900">
              <a:lnSpc>
                <a:spcPct val="112000"/>
              </a:lnSpc>
              <a:buSzPct val="100000"/>
              <a:buChar char="•"/>
            </a:pPr>
            <a:r>
              <a:rPr lang="en-US" sz="750" dirty="0">
                <a:solidFill>
                  <a:srgbClr val="C9BCA9"/>
                </a:solidFill>
                <a:latin typeface="Jost" pitchFamily="34" charset="0"/>
                <a:ea typeface="Jost" pitchFamily="34" charset="-122"/>
                <a:cs typeface="Jost" pitchFamily="34" charset="-120"/>
              </a:rPr>
              <a:t>1 guest pass per month</a:t>
            </a:r>
            <a:endParaRPr lang="en-US" sz="750" dirty="0"/>
          </a:p>
          <a:p>
            <a:pPr marL="342900" indent="-342900">
              <a:lnSpc>
                <a:spcPct val="112000"/>
              </a:lnSpc>
              <a:buSzPct val="100000"/>
              <a:buChar char="•"/>
            </a:pPr>
            <a:r>
              <a:rPr lang="en-US" sz="750" dirty="0">
                <a:solidFill>
                  <a:srgbClr val="C9BCA9"/>
                </a:solidFill>
                <a:latin typeface="Jost" pitchFamily="34" charset="0"/>
                <a:ea typeface="Jost" pitchFamily="34" charset="-122"/>
                <a:cs typeface="Jost" pitchFamily="34" charset="-120"/>
              </a:rPr>
              <a:t>Member events</a:t>
            </a:r>
            <a:endParaRPr lang="en-US" sz="750" dirty="0"/>
          </a:p>
        </p:txBody>
      </p:sp>
      <p:sp>
        <p:nvSpPr>
          <p:cNvPr id="23" name="Text 21"/>
          <p:cNvSpPr/>
          <p:nvPr/>
        </p:nvSpPr>
        <p:spPr>
          <a:xfrm>
            <a:off x="4773168" y="3867912"/>
            <a:ext cx="1668780" cy="201168"/>
          </a:xfrm>
          <a:prstGeom prst="rect">
            <a:avLst/>
          </a:prstGeom>
          <a:noFill/>
          <a:ln/>
        </p:spPr>
        <p:txBody>
          <a:bodyPr wrap="square" rtlCol="0" anchor="ctr"/>
          <a:lstStyle/>
          <a:p>
            <a:pPr indent="0" marL="0">
              <a:buNone/>
            </a:pPr>
            <a:r>
              <a:rPr lang="en-US" sz="800" dirty="0">
                <a:solidFill>
                  <a:srgbClr val="EDE7DE"/>
                </a:solidFill>
                <a:latin typeface="Jost" pitchFamily="34" charset="0"/>
                <a:ea typeface="Jost" pitchFamily="34" charset="-122"/>
                <a:cs typeface="Jost" pitchFamily="34" charset="-120"/>
              </a:rPr>
              <a:t>350 members  ·  capped</a:t>
            </a:r>
            <a:endParaRPr lang="en-US" sz="800" dirty="0"/>
          </a:p>
        </p:txBody>
      </p:sp>
      <p:sp>
        <p:nvSpPr>
          <p:cNvPr id="24" name="Shape 22"/>
          <p:cNvSpPr/>
          <p:nvPr/>
        </p:nvSpPr>
        <p:spPr>
          <a:xfrm>
            <a:off x="6716268" y="1691640"/>
            <a:ext cx="1924812" cy="2450592"/>
          </a:xfrm>
          <a:prstGeom prst="rect">
            <a:avLst/>
          </a:prstGeom>
          <a:solidFill>
            <a:srgbClr val="1C1C1E"/>
          </a:solidFill>
          <a:ln w="9525">
            <a:solidFill>
              <a:srgbClr val="B08D57"/>
            </a:solidFill>
            <a:prstDash val="solid"/>
          </a:ln>
        </p:spPr>
      </p:sp>
      <p:sp>
        <p:nvSpPr>
          <p:cNvPr id="25" name="Text 23"/>
          <p:cNvSpPr/>
          <p:nvPr/>
        </p:nvSpPr>
        <p:spPr>
          <a:xfrm>
            <a:off x="6844284" y="1801368"/>
            <a:ext cx="1668780" cy="237744"/>
          </a:xfrm>
          <a:prstGeom prst="rect">
            <a:avLst/>
          </a:prstGeom>
          <a:noFill/>
          <a:ln/>
        </p:spPr>
        <p:txBody>
          <a:bodyPr wrap="square" rtlCol="0" anchor="ctr"/>
          <a:lstStyle/>
          <a:p>
            <a:pPr indent="0" marL="0">
              <a:buNone/>
            </a:pPr>
            <a:r>
              <a:rPr lang="en-US" sz="1100" dirty="0">
                <a:solidFill>
                  <a:srgbClr val="EDE7DE"/>
                </a:solidFill>
                <a:latin typeface="Jost" pitchFamily="34" charset="0"/>
                <a:ea typeface="Jost" pitchFamily="34" charset="-122"/>
                <a:cs typeface="Jost" pitchFamily="34" charset="-120"/>
              </a:rPr>
              <a:t>Longevity</a:t>
            </a:r>
            <a:endParaRPr lang="en-US" sz="1100" dirty="0"/>
          </a:p>
        </p:txBody>
      </p:sp>
      <p:sp>
        <p:nvSpPr>
          <p:cNvPr id="26" name="Text 24"/>
          <p:cNvSpPr/>
          <p:nvPr/>
        </p:nvSpPr>
        <p:spPr>
          <a:xfrm>
            <a:off x="6844284" y="2039112"/>
            <a:ext cx="1668780" cy="365760"/>
          </a:xfrm>
          <a:prstGeom prst="rect">
            <a:avLst/>
          </a:prstGeom>
          <a:noFill/>
          <a:ln/>
        </p:spPr>
        <p:txBody>
          <a:bodyPr wrap="square" rtlCol="0" anchor="t"/>
          <a:lstStyle/>
          <a:p>
            <a:pPr indent="0" marL="0">
              <a:buNone/>
            </a:pPr>
            <a:r>
              <a:rPr lang="en-US" sz="2200" dirty="0">
                <a:solidFill>
                  <a:srgbClr val="B08D57"/>
                </a:solidFill>
                <a:latin typeface="Cormorant Garamond" pitchFamily="34" charset="0"/>
                <a:ea typeface="Cormorant Garamond" pitchFamily="34" charset="-122"/>
                <a:cs typeface="Cormorant Garamond" pitchFamily="34" charset="-120"/>
              </a:rPr>
              <a:t>$1,250</a:t>
            </a:r>
            <a:endParaRPr lang="en-US" sz="2200" dirty="0"/>
          </a:p>
        </p:txBody>
      </p:sp>
      <p:sp>
        <p:nvSpPr>
          <p:cNvPr id="27" name="Text 25"/>
          <p:cNvSpPr/>
          <p:nvPr/>
        </p:nvSpPr>
        <p:spPr>
          <a:xfrm>
            <a:off x="6844284" y="2404872"/>
            <a:ext cx="1668780" cy="164592"/>
          </a:xfrm>
          <a:prstGeom prst="rect">
            <a:avLst/>
          </a:prstGeom>
          <a:noFill/>
          <a:ln/>
        </p:spPr>
        <p:txBody>
          <a:bodyPr wrap="square" rtlCol="0" anchor="ctr"/>
          <a:lstStyle/>
          <a:p>
            <a:pPr indent="0" marL="0">
              <a:buNone/>
            </a:pPr>
            <a:r>
              <a:rPr lang="en-US" sz="700" spc="140" kern="0" dirty="0">
                <a:solidFill>
                  <a:srgbClr val="6B6965"/>
                </a:solidFill>
                <a:latin typeface="Jost" pitchFamily="34" charset="0"/>
                <a:ea typeface="Jost" pitchFamily="34" charset="-122"/>
                <a:cs typeface="Jost" pitchFamily="34" charset="-120"/>
              </a:rPr>
              <a:t>PER MONTH</a:t>
            </a:r>
            <a:endParaRPr lang="en-US" sz="700" dirty="0"/>
          </a:p>
        </p:txBody>
      </p:sp>
      <p:sp>
        <p:nvSpPr>
          <p:cNvPr id="28" name="Text 26"/>
          <p:cNvSpPr/>
          <p:nvPr/>
        </p:nvSpPr>
        <p:spPr>
          <a:xfrm>
            <a:off x="6844284" y="2606040"/>
            <a:ext cx="1668780" cy="1188720"/>
          </a:xfrm>
          <a:prstGeom prst="rect">
            <a:avLst/>
          </a:prstGeom>
          <a:noFill/>
          <a:ln/>
        </p:spPr>
        <p:txBody>
          <a:bodyPr wrap="square" rtlCol="0" anchor="t"/>
          <a:lstStyle/>
          <a:p>
            <a:pPr marL="342900" indent="-342900">
              <a:lnSpc>
                <a:spcPct val="112000"/>
              </a:lnSpc>
              <a:buSzPct val="100000"/>
              <a:buChar char="•"/>
            </a:pPr>
            <a:r>
              <a:rPr lang="en-US" sz="750" dirty="0">
                <a:solidFill>
                  <a:srgbClr val="C9BCA9"/>
                </a:solidFill>
                <a:latin typeface="Jost" pitchFamily="34" charset="0"/>
                <a:ea typeface="Jost" pitchFamily="34" charset="-122"/>
                <a:cs typeface="Jost" pitchFamily="34" charset="-120"/>
              </a:rPr>
              <a:t>Everything in Resident</a:t>
            </a:r>
            <a:endParaRPr lang="en-US" sz="750" dirty="0"/>
          </a:p>
          <a:p>
            <a:pPr marL="342900" indent="-342900">
              <a:lnSpc>
                <a:spcPct val="112000"/>
              </a:lnSpc>
              <a:buSzPct val="100000"/>
              <a:buChar char="•"/>
            </a:pPr>
            <a:r>
              <a:rPr lang="en-US" sz="750" dirty="0">
                <a:solidFill>
                  <a:srgbClr val="C9BCA9"/>
                </a:solidFill>
                <a:latin typeface="Jost" pitchFamily="34" charset="0"/>
                <a:ea typeface="Jost" pitchFamily="34" charset="-122"/>
                <a:cs typeface="Jost" pitchFamily="34" charset="-120"/>
              </a:rPr>
              <a:t>Quarterly physician consult</a:t>
            </a:r>
            <a:endParaRPr lang="en-US" sz="750" dirty="0"/>
          </a:p>
          <a:p>
            <a:pPr marL="342900" indent="-342900">
              <a:lnSpc>
                <a:spcPct val="112000"/>
              </a:lnSpc>
              <a:buSzPct val="100000"/>
              <a:buChar char="•"/>
            </a:pPr>
            <a:r>
              <a:rPr lang="en-US" sz="750" dirty="0">
                <a:solidFill>
                  <a:srgbClr val="C9BCA9"/>
                </a:solidFill>
                <a:latin typeface="Jost" pitchFamily="34" charset="0"/>
                <a:ea typeface="Jost" pitchFamily="34" charset="-122"/>
                <a:cs typeface="Jost" pitchFamily="34" charset="-120"/>
              </a:rPr>
              <a:t>Annual biomarker panel, DEXA and DUTCH</a:t>
            </a:r>
            <a:endParaRPr lang="en-US" sz="750" dirty="0"/>
          </a:p>
          <a:p>
            <a:pPr marL="342900" indent="-342900">
              <a:lnSpc>
                <a:spcPct val="112000"/>
              </a:lnSpc>
              <a:buSzPct val="100000"/>
              <a:buChar char="•"/>
            </a:pPr>
            <a:r>
              <a:rPr lang="en-US" sz="750" dirty="0">
                <a:solidFill>
                  <a:srgbClr val="C9BCA9"/>
                </a:solidFill>
                <a:latin typeface="Jost" pitchFamily="34" charset="0"/>
                <a:ea typeface="Jost" pitchFamily="34" charset="-122"/>
                <a:cs typeface="Jost" pitchFamily="34" charset="-120"/>
              </a:rPr>
              <a:t>Therapeutic medications included</a:t>
            </a:r>
            <a:endParaRPr lang="en-US" sz="750" dirty="0"/>
          </a:p>
          <a:p>
            <a:pPr marL="342900" indent="-342900">
              <a:lnSpc>
                <a:spcPct val="112000"/>
              </a:lnSpc>
              <a:buSzPct val="100000"/>
              <a:buChar char="•"/>
            </a:pPr>
            <a:r>
              <a:rPr lang="en-US" sz="750" dirty="0">
                <a:solidFill>
                  <a:srgbClr val="C9BCA9"/>
                </a:solidFill>
                <a:latin typeface="Jost" pitchFamily="34" charset="0"/>
                <a:ea typeface="Jost" pitchFamily="34" charset="-122"/>
                <a:cs typeface="Jost" pitchFamily="34" charset="-120"/>
              </a:rPr>
              <a:t>4 guest passes per month</a:t>
            </a:r>
            <a:endParaRPr lang="en-US" sz="750" dirty="0"/>
          </a:p>
          <a:p>
            <a:pPr marL="342900" indent="-342900">
              <a:lnSpc>
                <a:spcPct val="112000"/>
              </a:lnSpc>
              <a:buSzPct val="100000"/>
              <a:buChar char="•"/>
            </a:pPr>
            <a:r>
              <a:rPr lang="en-US" sz="750" dirty="0">
                <a:solidFill>
                  <a:srgbClr val="C9BCA9"/>
                </a:solidFill>
                <a:latin typeface="Jost" pitchFamily="34" charset="0"/>
                <a:ea typeface="Jost" pitchFamily="34" charset="-122"/>
                <a:cs typeface="Jost" pitchFamily="34" charset="-120"/>
              </a:rPr>
              <a:t>Private buyout privileges</a:t>
            </a:r>
            <a:endParaRPr lang="en-US" sz="750" dirty="0"/>
          </a:p>
        </p:txBody>
      </p:sp>
      <p:sp>
        <p:nvSpPr>
          <p:cNvPr id="29" name="Text 27"/>
          <p:cNvSpPr/>
          <p:nvPr/>
        </p:nvSpPr>
        <p:spPr>
          <a:xfrm>
            <a:off x="6844284" y="3867912"/>
            <a:ext cx="1668780" cy="201168"/>
          </a:xfrm>
          <a:prstGeom prst="rect">
            <a:avLst/>
          </a:prstGeom>
          <a:noFill/>
          <a:ln/>
        </p:spPr>
        <p:txBody>
          <a:bodyPr wrap="square" rtlCol="0" anchor="ctr"/>
          <a:lstStyle/>
          <a:p>
            <a:pPr indent="0" marL="0">
              <a:buNone/>
            </a:pPr>
            <a:r>
              <a:rPr lang="en-US" sz="800" dirty="0">
                <a:solidFill>
                  <a:srgbClr val="EDE7DE"/>
                </a:solidFill>
                <a:latin typeface="Jost" pitchFamily="34" charset="0"/>
                <a:ea typeface="Jost" pitchFamily="34" charset="-122"/>
                <a:cs typeface="Jost" pitchFamily="34" charset="-120"/>
              </a:rPr>
              <a:t>40 members  ·  capped</a:t>
            </a:r>
            <a:endParaRPr lang="en-US" sz="800" dirty="0"/>
          </a:p>
        </p:txBody>
      </p:sp>
      <p:sp>
        <p:nvSpPr>
          <p:cNvPr id="30" name="Text 28"/>
          <p:cNvSpPr/>
          <p:nvPr/>
        </p:nvSpPr>
        <p:spPr>
          <a:xfrm>
            <a:off x="502920" y="4224528"/>
            <a:ext cx="8138160" cy="384048"/>
          </a:xfrm>
          <a:prstGeom prst="rect">
            <a:avLst/>
          </a:prstGeom>
          <a:noFill/>
          <a:ln/>
        </p:spPr>
        <p:txBody>
          <a:bodyPr wrap="square" rtlCol="0" anchor="t"/>
          <a:lstStyle/>
          <a:p>
            <a:pPr indent="0" marL="0">
              <a:lnSpc>
                <a:spcPct val="112000"/>
              </a:lnSpc>
              <a:buNone/>
            </a:pPr>
            <a:r>
              <a:rPr lang="en-US" sz="750" dirty="0">
                <a:solidFill>
                  <a:srgbClr val="6B6965"/>
                </a:solidFill>
                <a:latin typeface="Jost" pitchFamily="34" charset="0"/>
                <a:ea typeface="Jost" pitchFamily="34" charset="-122"/>
                <a:cs typeface="Jost" pitchFamily="34" charset="-120"/>
              </a:rPr>
              <a:t>A three-month initial commitment followed by month-to-month billing. Credits roll over while membership remains active and expire upon cancellation. Freezes with seven days’ notice. Tier changes available after the initial commitment.</a:t>
            </a:r>
            <a:endParaRPr lang="en-US" sz="750" dirty="0"/>
          </a:p>
        </p:txBody>
      </p:sp>
      <p:sp>
        <p:nvSpPr>
          <p:cNvPr id="31" name="Text 29"/>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B6965"/>
                </a:solidFill>
                <a:latin typeface="Jost" pitchFamily="34" charset="0"/>
                <a:ea typeface="Jost" pitchFamily="34" charset="-122"/>
                <a:cs typeface="Jost" pitchFamily="34" charset="-120"/>
              </a:rPr>
              <a:t>L&amp;K WELLNESS  ·  PRIVATE INVESTMENT BRIEF  ·  CONFIDENTIAL</a:t>
            </a:r>
            <a:endParaRPr lang="en-US" sz="700" dirty="0"/>
          </a:p>
        </p:txBody>
      </p:sp>
      <p:sp>
        <p:nvSpPr>
          <p:cNvPr id="32" name="Text 30"/>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B6965"/>
                </a:solidFill>
                <a:latin typeface="Jost" pitchFamily="34" charset="0"/>
                <a:ea typeface="Jost" pitchFamily="34" charset="-122"/>
                <a:cs typeface="Jost" pitchFamily="34" charset="-120"/>
              </a:rPr>
              <a:t>7</a:t>
            </a:r>
            <a:endParaRPr lang="en-US" sz="7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B08D57"/>
                </a:solidFill>
                <a:latin typeface="Jost" pitchFamily="34" charset="0"/>
                <a:ea typeface="Jost" pitchFamily="34" charset="-122"/>
                <a:cs typeface="Jost" pitchFamily="34" charset="-120"/>
              </a:rPr>
              <a:t>BEFORE DOORS OPEN</a:t>
            </a:r>
            <a:endParaRPr lang="en-US" sz="900" dirty="0"/>
          </a:p>
        </p:txBody>
      </p:sp>
      <p:sp>
        <p:nvSpPr>
          <p:cNvPr id="3" name="Shape 1"/>
          <p:cNvSpPr/>
          <p:nvPr/>
        </p:nvSpPr>
        <p:spPr>
          <a:xfrm>
            <a:off x="502920" y="557784"/>
            <a:ext cx="566928" cy="12802"/>
          </a:xfrm>
          <a:prstGeom prst="rect">
            <a:avLst/>
          </a:prstGeom>
          <a:solidFill>
            <a:srgbClr val="B08D57"/>
          </a:solidFill>
          <a:ln w="12700">
            <a:solidFill>
              <a:srgbClr val="B08D57"/>
            </a:solidFill>
            <a:prstDash val="solid"/>
          </a:ln>
        </p:spPr>
      </p:sp>
      <p:sp>
        <p:nvSpPr>
          <p:cNvPr id="4" name="Text 2"/>
          <p:cNvSpPr/>
          <p:nvPr/>
        </p:nvSpPr>
        <p:spPr>
          <a:xfrm>
            <a:off x="502920" y="621792"/>
            <a:ext cx="8138160" cy="548640"/>
          </a:xfrm>
          <a:prstGeom prst="rect">
            <a:avLst/>
          </a:prstGeom>
          <a:noFill/>
          <a:ln/>
        </p:spPr>
        <p:txBody>
          <a:bodyPr wrap="square" rtlCol="0" anchor="t"/>
          <a:lstStyle/>
          <a:p>
            <a:pPr indent="0" marL="0">
              <a:buNone/>
            </a:pPr>
            <a:r>
              <a:rPr lang="en-US" sz="2600" spc="400" kern="0" dirty="0">
                <a:solidFill>
                  <a:srgbClr val="EDE7DE"/>
                </a:solidFill>
                <a:latin typeface="Cormorant Garamond" pitchFamily="34" charset="0"/>
                <a:ea typeface="Cormorant Garamond" pitchFamily="34" charset="-122"/>
                <a:cs typeface="Cormorant Garamond" pitchFamily="34" charset="-120"/>
              </a:rPr>
              <a:t>FOUNDERS DE-RISK THE RAMP</a:t>
            </a:r>
            <a:endParaRPr lang="en-US" sz="2600" dirty="0"/>
          </a:p>
        </p:txBody>
      </p:sp>
      <p:sp>
        <p:nvSpPr>
          <p:cNvPr id="5" name="Text 3"/>
          <p:cNvSpPr/>
          <p:nvPr/>
        </p:nvSpPr>
        <p:spPr>
          <a:xfrm>
            <a:off x="502920" y="1115568"/>
            <a:ext cx="7487107" cy="457200"/>
          </a:xfrm>
          <a:prstGeom prst="rect">
            <a:avLst/>
          </a:prstGeom>
          <a:noFill/>
          <a:ln/>
        </p:spPr>
        <p:txBody>
          <a:bodyPr wrap="square" rtlCol="0" anchor="t"/>
          <a:lstStyle/>
          <a:p>
            <a:pPr indent="0" marL="0">
              <a:lnSpc>
                <a:spcPct val="120000"/>
              </a:lnSpc>
              <a:buNone/>
            </a:pPr>
            <a:r>
              <a:rPr lang="en-US" sz="1050" dirty="0">
                <a:solidFill>
                  <a:srgbClr val="C9BCA9"/>
                </a:solidFill>
                <a:latin typeface="Jost" pitchFamily="34" charset="0"/>
                <a:ea typeface="Jost" pitchFamily="34" charset="-122"/>
                <a:cs typeface="Jost" pitchFamily="34" charset="-120"/>
              </a:rPr>
              <a:t>The single strongest item in this brief for an investor: revenue contracted before the business opens.</a:t>
            </a:r>
            <a:endParaRPr lang="en-US" sz="1050" dirty="0"/>
          </a:p>
        </p:txBody>
      </p:sp>
      <p:sp>
        <p:nvSpPr>
          <p:cNvPr id="6" name="Shape 4"/>
          <p:cNvSpPr/>
          <p:nvPr/>
        </p:nvSpPr>
        <p:spPr>
          <a:xfrm>
            <a:off x="502920" y="1691640"/>
            <a:ext cx="2615184" cy="1234440"/>
          </a:xfrm>
          <a:prstGeom prst="rect">
            <a:avLst/>
          </a:prstGeom>
          <a:solidFill>
            <a:srgbClr val="1C1C1E"/>
          </a:solidFill>
          <a:ln w="9525">
            <a:solidFill>
              <a:srgbClr val="271F13"/>
            </a:solidFill>
            <a:prstDash val="solid"/>
          </a:ln>
        </p:spPr>
      </p:sp>
      <p:sp>
        <p:nvSpPr>
          <p:cNvPr id="7" name="Text 5"/>
          <p:cNvSpPr/>
          <p:nvPr/>
        </p:nvSpPr>
        <p:spPr>
          <a:xfrm>
            <a:off x="649224" y="1819656"/>
            <a:ext cx="2322576" cy="329184"/>
          </a:xfrm>
          <a:prstGeom prst="rect">
            <a:avLst/>
          </a:prstGeom>
          <a:noFill/>
          <a:ln/>
        </p:spPr>
        <p:txBody>
          <a:bodyPr wrap="square" rtlCol="0" anchor="t"/>
          <a:lstStyle/>
          <a:p>
            <a:pPr indent="0" marL="0">
              <a:buNone/>
            </a:pPr>
            <a:r>
              <a:rPr lang="en-US" sz="2000" dirty="0">
                <a:solidFill>
                  <a:srgbClr val="B08D57"/>
                </a:solidFill>
                <a:latin typeface="Cormorant Garamond" pitchFamily="34" charset="0"/>
                <a:ea typeface="Cormorant Garamond" pitchFamily="34" charset="-122"/>
                <a:cs typeface="Cormorant Garamond" pitchFamily="34" charset="-120"/>
              </a:rPr>
              <a:t>150</a:t>
            </a:r>
            <a:endParaRPr lang="en-US" sz="2000" dirty="0"/>
          </a:p>
        </p:txBody>
      </p:sp>
      <p:sp>
        <p:nvSpPr>
          <p:cNvPr id="8" name="Text 6"/>
          <p:cNvSpPr/>
          <p:nvPr/>
        </p:nvSpPr>
        <p:spPr>
          <a:xfrm>
            <a:off x="649224" y="2167128"/>
            <a:ext cx="2322576" cy="649224"/>
          </a:xfrm>
          <a:prstGeom prst="rect">
            <a:avLst/>
          </a:prstGeom>
          <a:noFill/>
          <a:ln/>
        </p:spPr>
        <p:txBody>
          <a:bodyPr wrap="square" rtlCol="0" anchor="t"/>
          <a:lstStyle/>
          <a:p>
            <a:pPr indent="0" marL="0">
              <a:lnSpc>
                <a:spcPct val="120000"/>
              </a:lnSpc>
              <a:buNone/>
            </a:pPr>
            <a:r>
              <a:rPr lang="en-US" sz="800" dirty="0">
                <a:solidFill>
                  <a:srgbClr val="C9BCA9"/>
                </a:solidFill>
                <a:latin typeface="Jost" pitchFamily="34" charset="0"/>
                <a:ea typeface="Jost" pitchFamily="34" charset="-122"/>
                <a:cs typeface="Jost" pitchFamily="34" charset="-120"/>
              </a:rPr>
              <a:t>Founding memberships, hard capped and sold during construction.</a:t>
            </a:r>
            <a:endParaRPr lang="en-US" sz="800" dirty="0"/>
          </a:p>
        </p:txBody>
      </p:sp>
      <p:sp>
        <p:nvSpPr>
          <p:cNvPr id="9" name="Shape 7"/>
          <p:cNvSpPr/>
          <p:nvPr/>
        </p:nvSpPr>
        <p:spPr>
          <a:xfrm>
            <a:off x="3264408" y="1691640"/>
            <a:ext cx="2615184" cy="1234440"/>
          </a:xfrm>
          <a:prstGeom prst="rect">
            <a:avLst/>
          </a:prstGeom>
          <a:solidFill>
            <a:srgbClr val="1C1C1E"/>
          </a:solidFill>
          <a:ln w="9525">
            <a:solidFill>
              <a:srgbClr val="271F13"/>
            </a:solidFill>
            <a:prstDash val="solid"/>
          </a:ln>
        </p:spPr>
      </p:sp>
      <p:sp>
        <p:nvSpPr>
          <p:cNvPr id="10" name="Text 8"/>
          <p:cNvSpPr/>
          <p:nvPr/>
        </p:nvSpPr>
        <p:spPr>
          <a:xfrm>
            <a:off x="3410712" y="1819656"/>
            <a:ext cx="2322576" cy="329184"/>
          </a:xfrm>
          <a:prstGeom prst="rect">
            <a:avLst/>
          </a:prstGeom>
          <a:noFill/>
          <a:ln/>
        </p:spPr>
        <p:txBody>
          <a:bodyPr wrap="square" rtlCol="0" anchor="t"/>
          <a:lstStyle/>
          <a:p>
            <a:pPr indent="0" marL="0">
              <a:buNone/>
            </a:pPr>
            <a:r>
              <a:rPr lang="en-US" sz="2000" dirty="0">
                <a:solidFill>
                  <a:srgbClr val="B08D57"/>
                </a:solidFill>
                <a:latin typeface="Cormorant Garamond" pitchFamily="34" charset="0"/>
                <a:ea typeface="Cormorant Garamond" pitchFamily="34" charset="-122"/>
                <a:cs typeface="Cormorant Garamond" pitchFamily="34" charset="-120"/>
              </a:rPr>
              <a:t>$3,600</a:t>
            </a:r>
            <a:endParaRPr lang="en-US" sz="2000" dirty="0"/>
          </a:p>
        </p:txBody>
      </p:sp>
      <p:sp>
        <p:nvSpPr>
          <p:cNvPr id="11" name="Text 9"/>
          <p:cNvSpPr/>
          <p:nvPr/>
        </p:nvSpPr>
        <p:spPr>
          <a:xfrm>
            <a:off x="3410712" y="2167128"/>
            <a:ext cx="2322576" cy="649224"/>
          </a:xfrm>
          <a:prstGeom prst="rect">
            <a:avLst/>
          </a:prstGeom>
          <a:noFill/>
          <a:ln/>
        </p:spPr>
        <p:txBody>
          <a:bodyPr wrap="square" rtlCol="0" anchor="t"/>
          <a:lstStyle/>
          <a:p>
            <a:pPr indent="0" marL="0">
              <a:lnSpc>
                <a:spcPct val="120000"/>
              </a:lnSpc>
              <a:buNone/>
            </a:pPr>
            <a:r>
              <a:rPr lang="en-US" sz="800" dirty="0">
                <a:solidFill>
                  <a:srgbClr val="C9BCA9"/>
                </a:solidFill>
                <a:latin typeface="Jost" pitchFamily="34" charset="0"/>
                <a:ea typeface="Jost" pitchFamily="34" charset="-122"/>
                <a:cs typeface="Jost" pitchFamily="34" charset="-120"/>
              </a:rPr>
              <a:t>Prepaid for the first year, a 33% discount against list.</a:t>
            </a:r>
            <a:endParaRPr lang="en-US" sz="800" dirty="0"/>
          </a:p>
        </p:txBody>
      </p:sp>
      <p:sp>
        <p:nvSpPr>
          <p:cNvPr id="12" name="Shape 10"/>
          <p:cNvSpPr/>
          <p:nvPr/>
        </p:nvSpPr>
        <p:spPr>
          <a:xfrm>
            <a:off x="6025896" y="1691640"/>
            <a:ext cx="2615184" cy="1234440"/>
          </a:xfrm>
          <a:prstGeom prst="rect">
            <a:avLst/>
          </a:prstGeom>
          <a:solidFill>
            <a:srgbClr val="1C1C1E"/>
          </a:solidFill>
          <a:ln w="9525">
            <a:solidFill>
              <a:srgbClr val="271F13"/>
            </a:solidFill>
            <a:prstDash val="solid"/>
          </a:ln>
        </p:spPr>
      </p:sp>
      <p:sp>
        <p:nvSpPr>
          <p:cNvPr id="13" name="Text 11"/>
          <p:cNvSpPr/>
          <p:nvPr/>
        </p:nvSpPr>
        <p:spPr>
          <a:xfrm>
            <a:off x="6172200" y="1819656"/>
            <a:ext cx="2322576" cy="329184"/>
          </a:xfrm>
          <a:prstGeom prst="rect">
            <a:avLst/>
          </a:prstGeom>
          <a:noFill/>
          <a:ln/>
        </p:spPr>
        <p:txBody>
          <a:bodyPr wrap="square" rtlCol="0" anchor="t"/>
          <a:lstStyle/>
          <a:p>
            <a:pPr indent="0" marL="0">
              <a:buNone/>
            </a:pPr>
            <a:r>
              <a:rPr lang="en-US" sz="2000" dirty="0">
                <a:solidFill>
                  <a:srgbClr val="B08D57"/>
                </a:solidFill>
                <a:latin typeface="Cormorant Garamond" pitchFamily="34" charset="0"/>
                <a:ea typeface="Cormorant Garamond" pitchFamily="34" charset="-122"/>
                <a:cs typeface="Cormorant Garamond" pitchFamily="34" charset="-120"/>
              </a:rPr>
              <a:t>$540,000</a:t>
            </a:r>
            <a:endParaRPr lang="en-US" sz="2000" dirty="0"/>
          </a:p>
        </p:txBody>
      </p:sp>
      <p:sp>
        <p:nvSpPr>
          <p:cNvPr id="14" name="Text 12"/>
          <p:cNvSpPr/>
          <p:nvPr/>
        </p:nvSpPr>
        <p:spPr>
          <a:xfrm>
            <a:off x="6172200" y="2167128"/>
            <a:ext cx="2322576" cy="649224"/>
          </a:xfrm>
          <a:prstGeom prst="rect">
            <a:avLst/>
          </a:prstGeom>
          <a:noFill/>
          <a:ln/>
        </p:spPr>
        <p:txBody>
          <a:bodyPr wrap="square" rtlCol="0" anchor="t"/>
          <a:lstStyle/>
          <a:p>
            <a:pPr indent="0" marL="0">
              <a:lnSpc>
                <a:spcPct val="120000"/>
              </a:lnSpc>
              <a:buNone/>
            </a:pPr>
            <a:r>
              <a:rPr lang="en-US" sz="800" dirty="0">
                <a:solidFill>
                  <a:srgbClr val="C9BCA9"/>
                </a:solidFill>
                <a:latin typeface="Jost" pitchFamily="34" charset="0"/>
                <a:ea typeface="Jost" pitchFamily="34" charset="-122"/>
                <a:cs typeface="Jost" pitchFamily="34" charset="-120"/>
              </a:rPr>
              <a:t>Collected before opening, offsetting the construction-period burn.</a:t>
            </a:r>
            <a:endParaRPr lang="en-US" sz="800" dirty="0"/>
          </a:p>
        </p:txBody>
      </p:sp>
      <p:sp>
        <p:nvSpPr>
          <p:cNvPr id="15" name="Text 13"/>
          <p:cNvSpPr/>
          <p:nvPr/>
        </p:nvSpPr>
        <p:spPr>
          <a:xfrm>
            <a:off x="502920" y="3127248"/>
            <a:ext cx="8138160" cy="731520"/>
          </a:xfrm>
          <a:prstGeom prst="rect">
            <a:avLst/>
          </a:prstGeom>
          <a:noFill/>
          <a:ln/>
        </p:spPr>
        <p:txBody>
          <a:bodyPr wrap="square" rtlCol="0" anchor="t"/>
          <a:lstStyle/>
          <a:p>
            <a:pPr indent="0" marL="0">
              <a:lnSpc>
                <a:spcPct val="125000"/>
              </a:lnSpc>
              <a:buNone/>
            </a:pPr>
            <a:r>
              <a:rPr lang="en-US" sz="1050" dirty="0">
                <a:solidFill>
                  <a:srgbClr val="EDE7DE"/>
                </a:solidFill>
                <a:latin typeface="Jost" pitchFamily="34" charset="0"/>
                <a:ea typeface="Jost" pitchFamily="34" charset="-122"/>
                <a:cs typeface="Jost" pitchFamily="34" charset="-120"/>
              </a:rPr>
              <a:t>This converts the opening ramp from a projection into a partially pre-sold book. It is also the cheapest possible market test: if the founding cohort does not sell, that is a signal worth having before the buildout is committed rather than after.</a:t>
            </a:r>
            <a:endParaRPr lang="en-US" sz="1050" dirty="0"/>
          </a:p>
        </p:txBody>
      </p:sp>
      <p:sp>
        <p:nvSpPr>
          <p:cNvPr id="16" name="Text 14"/>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B6965"/>
                </a:solidFill>
                <a:latin typeface="Jost" pitchFamily="34" charset="0"/>
                <a:ea typeface="Jost" pitchFamily="34" charset="-122"/>
                <a:cs typeface="Jost" pitchFamily="34" charset="-120"/>
              </a:rPr>
              <a:t>L&amp;K WELLNESS  ·  PRIVATE INVESTMENT BRIEF  ·  CONFIDENTIAL</a:t>
            </a:r>
            <a:endParaRPr lang="en-US" sz="700" dirty="0"/>
          </a:p>
        </p:txBody>
      </p:sp>
      <p:sp>
        <p:nvSpPr>
          <p:cNvPr id="17" name="Text 15"/>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B6965"/>
                </a:solidFill>
                <a:latin typeface="Jost" pitchFamily="34" charset="0"/>
                <a:ea typeface="Jost" pitchFamily="34" charset="-122"/>
                <a:cs typeface="Jost" pitchFamily="34" charset="-120"/>
              </a:rPr>
              <a:t>8</a:t>
            </a:r>
            <a:endParaRPr lang="en-US" sz="7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B08D57"/>
                </a:solidFill>
                <a:latin typeface="Jost" pitchFamily="34" charset="0"/>
                <a:ea typeface="Jost" pitchFamily="34" charset="-122"/>
                <a:cs typeface="Jost" pitchFamily="34" charset="-120"/>
              </a:rPr>
              <a:t>HOW THE LADDER FILLS</a:t>
            </a:r>
            <a:endParaRPr lang="en-US" sz="900" dirty="0"/>
          </a:p>
        </p:txBody>
      </p:sp>
      <p:sp>
        <p:nvSpPr>
          <p:cNvPr id="3" name="Shape 1"/>
          <p:cNvSpPr/>
          <p:nvPr/>
        </p:nvSpPr>
        <p:spPr>
          <a:xfrm>
            <a:off x="502920" y="557784"/>
            <a:ext cx="566928" cy="12802"/>
          </a:xfrm>
          <a:prstGeom prst="rect">
            <a:avLst/>
          </a:prstGeom>
          <a:solidFill>
            <a:srgbClr val="B08D57"/>
          </a:solidFill>
          <a:ln w="12700">
            <a:solidFill>
              <a:srgbClr val="B08D57"/>
            </a:solidFill>
            <a:prstDash val="solid"/>
          </a:ln>
        </p:spPr>
      </p:sp>
      <p:sp>
        <p:nvSpPr>
          <p:cNvPr id="4" name="Text 2"/>
          <p:cNvSpPr/>
          <p:nvPr/>
        </p:nvSpPr>
        <p:spPr>
          <a:xfrm>
            <a:off x="502920" y="621792"/>
            <a:ext cx="8138160" cy="548640"/>
          </a:xfrm>
          <a:prstGeom prst="rect">
            <a:avLst/>
          </a:prstGeom>
          <a:noFill/>
          <a:ln/>
        </p:spPr>
        <p:txBody>
          <a:bodyPr wrap="square" rtlCol="0" anchor="t"/>
          <a:lstStyle/>
          <a:p>
            <a:pPr indent="0" marL="0">
              <a:buNone/>
            </a:pPr>
            <a:r>
              <a:rPr lang="en-US" sz="2600" spc="400" kern="0" dirty="0">
                <a:solidFill>
                  <a:srgbClr val="EDE7DE"/>
                </a:solidFill>
                <a:latin typeface="Cormorant Garamond" pitchFamily="34" charset="0"/>
                <a:ea typeface="Cormorant Garamond" pitchFamily="34" charset="-122"/>
                <a:cs typeface="Cormorant Garamond" pitchFamily="34" charset="-120"/>
              </a:rPr>
              <a:t>THE CLINIC IS THE FUNNEL</a:t>
            </a:r>
            <a:endParaRPr lang="en-US" sz="2600" dirty="0"/>
          </a:p>
        </p:txBody>
      </p:sp>
      <p:sp>
        <p:nvSpPr>
          <p:cNvPr id="5" name="Text 3"/>
          <p:cNvSpPr/>
          <p:nvPr/>
        </p:nvSpPr>
        <p:spPr>
          <a:xfrm>
            <a:off x="502920" y="1115568"/>
            <a:ext cx="7487107" cy="457200"/>
          </a:xfrm>
          <a:prstGeom prst="rect">
            <a:avLst/>
          </a:prstGeom>
          <a:noFill/>
          <a:ln/>
        </p:spPr>
        <p:txBody>
          <a:bodyPr wrap="square" rtlCol="0" anchor="t"/>
          <a:lstStyle/>
          <a:p>
            <a:pPr indent="0" marL="0">
              <a:lnSpc>
                <a:spcPct val="120000"/>
              </a:lnSpc>
              <a:buNone/>
            </a:pPr>
            <a:r>
              <a:rPr lang="en-US" sz="1050" dirty="0">
                <a:solidFill>
                  <a:srgbClr val="C9BCA9"/>
                </a:solidFill>
                <a:latin typeface="Jost" pitchFamily="34" charset="0"/>
                <a:ea typeface="Jost" pitchFamily="34" charset="-122"/>
                <a:cs typeface="Jost" pitchFamily="34" charset="-120"/>
              </a:rPr>
              <a:t>Because anyone can book a procedure without joining, every non-member treatment is a paid introduction. The conversion path runs in one direction and each step is cheap to take.</a:t>
            </a:r>
            <a:endParaRPr lang="en-US" sz="1050" dirty="0"/>
          </a:p>
        </p:txBody>
      </p:sp>
      <p:sp>
        <p:nvSpPr>
          <p:cNvPr id="6" name="Shape 4"/>
          <p:cNvSpPr/>
          <p:nvPr/>
        </p:nvSpPr>
        <p:spPr>
          <a:xfrm>
            <a:off x="502920" y="1691640"/>
            <a:ext cx="1924812" cy="2011680"/>
          </a:xfrm>
          <a:prstGeom prst="rect">
            <a:avLst/>
          </a:prstGeom>
          <a:solidFill>
            <a:srgbClr val="1C1C1E"/>
          </a:solidFill>
          <a:ln w="9525">
            <a:solidFill>
              <a:srgbClr val="271F13"/>
            </a:solidFill>
            <a:prstDash val="solid"/>
          </a:ln>
        </p:spPr>
      </p:sp>
      <p:sp>
        <p:nvSpPr>
          <p:cNvPr id="7" name="Text 5"/>
          <p:cNvSpPr/>
          <p:nvPr/>
        </p:nvSpPr>
        <p:spPr>
          <a:xfrm>
            <a:off x="649224" y="1819656"/>
            <a:ext cx="1632204" cy="182880"/>
          </a:xfrm>
          <a:prstGeom prst="rect">
            <a:avLst/>
          </a:prstGeom>
          <a:noFill/>
          <a:ln/>
        </p:spPr>
        <p:txBody>
          <a:bodyPr wrap="square" rtlCol="0" anchor="ctr"/>
          <a:lstStyle/>
          <a:p>
            <a:pPr indent="0" marL="0">
              <a:buNone/>
            </a:pPr>
            <a:r>
              <a:rPr lang="en-US" sz="750" spc="200" kern="0" dirty="0">
                <a:solidFill>
                  <a:srgbClr val="B08D57"/>
                </a:solidFill>
                <a:latin typeface="Jost" pitchFamily="34" charset="0"/>
                <a:ea typeface="Jost" pitchFamily="34" charset="-122"/>
                <a:cs typeface="Jost" pitchFamily="34" charset="-120"/>
              </a:rPr>
              <a:t>STEP ONE</a:t>
            </a:r>
            <a:endParaRPr lang="en-US" sz="750" dirty="0"/>
          </a:p>
        </p:txBody>
      </p:sp>
      <p:sp>
        <p:nvSpPr>
          <p:cNvPr id="8" name="Text 6"/>
          <p:cNvSpPr/>
          <p:nvPr/>
        </p:nvSpPr>
        <p:spPr>
          <a:xfrm>
            <a:off x="649224" y="2039112"/>
            <a:ext cx="1632204" cy="457200"/>
          </a:xfrm>
          <a:prstGeom prst="rect">
            <a:avLst/>
          </a:prstGeom>
          <a:noFill/>
          <a:ln/>
        </p:spPr>
        <p:txBody>
          <a:bodyPr wrap="square" rtlCol="0" anchor="t"/>
          <a:lstStyle/>
          <a:p>
            <a:pPr indent="0" marL="0">
              <a:lnSpc>
                <a:spcPct val="110000"/>
              </a:lnSpc>
              <a:buNone/>
            </a:pPr>
            <a:r>
              <a:rPr lang="en-US" sz="1200" dirty="0">
                <a:solidFill>
                  <a:srgbClr val="EDE7DE"/>
                </a:solidFill>
                <a:latin typeface="Jost" pitchFamily="34" charset="0"/>
                <a:ea typeface="Jost" pitchFamily="34" charset="-122"/>
                <a:cs typeface="Jost" pitchFamily="34" charset="-120"/>
              </a:rPr>
              <a:t>Walks in</a:t>
            </a:r>
            <a:endParaRPr lang="en-US" sz="1200" dirty="0"/>
          </a:p>
        </p:txBody>
      </p:sp>
      <p:sp>
        <p:nvSpPr>
          <p:cNvPr id="9" name="Text 7"/>
          <p:cNvSpPr/>
          <p:nvPr/>
        </p:nvSpPr>
        <p:spPr>
          <a:xfrm>
            <a:off x="649224" y="2532888"/>
            <a:ext cx="1632204" cy="1060704"/>
          </a:xfrm>
          <a:prstGeom prst="rect">
            <a:avLst/>
          </a:prstGeom>
          <a:noFill/>
          <a:ln/>
        </p:spPr>
        <p:txBody>
          <a:bodyPr wrap="square" rtlCol="0" anchor="t"/>
          <a:lstStyle/>
          <a:p>
            <a:pPr indent="0" marL="0">
              <a:lnSpc>
                <a:spcPct val="120000"/>
              </a:lnSpc>
              <a:buNone/>
            </a:pPr>
            <a:r>
              <a:rPr lang="en-US" sz="850" dirty="0">
                <a:solidFill>
                  <a:srgbClr val="C9BCA9"/>
                </a:solidFill>
                <a:latin typeface="Jost" pitchFamily="34" charset="0"/>
                <a:ea typeface="Jost" pitchFamily="34" charset="-122"/>
                <a:cs typeface="Jost" pitchFamily="34" charset="-120"/>
              </a:rPr>
              <a:t>Books a procedure or buys a day pass. Pays list price. Owes nothing further.</a:t>
            </a:r>
            <a:endParaRPr lang="en-US" sz="850" dirty="0"/>
          </a:p>
        </p:txBody>
      </p:sp>
      <p:sp>
        <p:nvSpPr>
          <p:cNvPr id="10" name="Shape 8"/>
          <p:cNvSpPr/>
          <p:nvPr/>
        </p:nvSpPr>
        <p:spPr>
          <a:xfrm>
            <a:off x="2574036" y="1691640"/>
            <a:ext cx="1924812" cy="2011680"/>
          </a:xfrm>
          <a:prstGeom prst="rect">
            <a:avLst/>
          </a:prstGeom>
          <a:solidFill>
            <a:srgbClr val="1C1C1E"/>
          </a:solidFill>
          <a:ln w="9525">
            <a:solidFill>
              <a:srgbClr val="271F13"/>
            </a:solidFill>
            <a:prstDash val="solid"/>
          </a:ln>
        </p:spPr>
      </p:sp>
      <p:sp>
        <p:nvSpPr>
          <p:cNvPr id="11" name="Text 9"/>
          <p:cNvSpPr/>
          <p:nvPr/>
        </p:nvSpPr>
        <p:spPr>
          <a:xfrm>
            <a:off x="2720340" y="1819656"/>
            <a:ext cx="1632204" cy="182880"/>
          </a:xfrm>
          <a:prstGeom prst="rect">
            <a:avLst/>
          </a:prstGeom>
          <a:noFill/>
          <a:ln/>
        </p:spPr>
        <p:txBody>
          <a:bodyPr wrap="square" rtlCol="0" anchor="ctr"/>
          <a:lstStyle/>
          <a:p>
            <a:pPr indent="0" marL="0">
              <a:buNone/>
            </a:pPr>
            <a:r>
              <a:rPr lang="en-US" sz="750" spc="200" kern="0" dirty="0">
                <a:solidFill>
                  <a:srgbClr val="B08D57"/>
                </a:solidFill>
                <a:latin typeface="Jost" pitchFamily="34" charset="0"/>
                <a:ea typeface="Jost" pitchFamily="34" charset="-122"/>
                <a:cs typeface="Jost" pitchFamily="34" charset="-120"/>
              </a:rPr>
              <a:t>STEP TWO</a:t>
            </a:r>
            <a:endParaRPr lang="en-US" sz="750" dirty="0"/>
          </a:p>
        </p:txBody>
      </p:sp>
      <p:sp>
        <p:nvSpPr>
          <p:cNvPr id="12" name="Text 10"/>
          <p:cNvSpPr/>
          <p:nvPr/>
        </p:nvSpPr>
        <p:spPr>
          <a:xfrm>
            <a:off x="2720340" y="2039112"/>
            <a:ext cx="1632204" cy="457200"/>
          </a:xfrm>
          <a:prstGeom prst="rect">
            <a:avLst/>
          </a:prstGeom>
          <a:noFill/>
          <a:ln/>
        </p:spPr>
        <p:txBody>
          <a:bodyPr wrap="square" rtlCol="0" anchor="t"/>
          <a:lstStyle/>
          <a:p>
            <a:pPr indent="0" marL="0">
              <a:lnSpc>
                <a:spcPct val="110000"/>
              </a:lnSpc>
              <a:buNone/>
            </a:pPr>
            <a:r>
              <a:rPr lang="en-US" sz="1200" dirty="0">
                <a:solidFill>
                  <a:srgbClr val="EDE7DE"/>
                </a:solidFill>
                <a:latin typeface="Jost" pitchFamily="34" charset="0"/>
                <a:ea typeface="Jost" pitchFamily="34" charset="-122"/>
                <a:cs typeface="Jost" pitchFamily="34" charset="-120"/>
              </a:rPr>
              <a:t>Becomes a Friend</a:t>
            </a:r>
            <a:endParaRPr lang="en-US" sz="1200" dirty="0"/>
          </a:p>
        </p:txBody>
      </p:sp>
      <p:sp>
        <p:nvSpPr>
          <p:cNvPr id="13" name="Text 11"/>
          <p:cNvSpPr/>
          <p:nvPr/>
        </p:nvSpPr>
        <p:spPr>
          <a:xfrm>
            <a:off x="2720340" y="2532888"/>
            <a:ext cx="1632204" cy="1060704"/>
          </a:xfrm>
          <a:prstGeom prst="rect">
            <a:avLst/>
          </a:prstGeom>
          <a:noFill/>
          <a:ln/>
        </p:spPr>
        <p:txBody>
          <a:bodyPr wrap="square" rtlCol="0" anchor="t"/>
          <a:lstStyle/>
          <a:p>
            <a:pPr indent="0" marL="0">
              <a:lnSpc>
                <a:spcPct val="120000"/>
              </a:lnSpc>
              <a:buNone/>
            </a:pPr>
            <a:r>
              <a:rPr lang="en-US" sz="850" dirty="0">
                <a:solidFill>
                  <a:srgbClr val="C9BCA9"/>
                </a:solidFill>
                <a:latin typeface="Jost" pitchFamily="34" charset="0"/>
                <a:ea typeface="Jost" pitchFamily="34" charset="-122"/>
                <a:cs typeface="Jost" pitchFamily="34" charset="-120"/>
              </a:rPr>
              <a:t>$300 a year pays for itself on roughly two procedures. Low friction, high volume, and it captures the database.</a:t>
            </a:r>
            <a:endParaRPr lang="en-US" sz="850" dirty="0"/>
          </a:p>
        </p:txBody>
      </p:sp>
      <p:sp>
        <p:nvSpPr>
          <p:cNvPr id="14" name="Shape 12"/>
          <p:cNvSpPr/>
          <p:nvPr/>
        </p:nvSpPr>
        <p:spPr>
          <a:xfrm>
            <a:off x="4645152" y="1691640"/>
            <a:ext cx="1924812" cy="2011680"/>
          </a:xfrm>
          <a:prstGeom prst="rect">
            <a:avLst/>
          </a:prstGeom>
          <a:solidFill>
            <a:srgbClr val="1C1C1E"/>
          </a:solidFill>
          <a:ln w="9525">
            <a:solidFill>
              <a:srgbClr val="271F13"/>
            </a:solidFill>
            <a:prstDash val="solid"/>
          </a:ln>
        </p:spPr>
      </p:sp>
      <p:sp>
        <p:nvSpPr>
          <p:cNvPr id="15" name="Text 13"/>
          <p:cNvSpPr/>
          <p:nvPr/>
        </p:nvSpPr>
        <p:spPr>
          <a:xfrm>
            <a:off x="4791456" y="1819656"/>
            <a:ext cx="1632204" cy="182880"/>
          </a:xfrm>
          <a:prstGeom prst="rect">
            <a:avLst/>
          </a:prstGeom>
          <a:noFill/>
          <a:ln/>
        </p:spPr>
        <p:txBody>
          <a:bodyPr wrap="square" rtlCol="0" anchor="ctr"/>
          <a:lstStyle/>
          <a:p>
            <a:pPr indent="0" marL="0">
              <a:buNone/>
            </a:pPr>
            <a:r>
              <a:rPr lang="en-US" sz="750" spc="200" kern="0" dirty="0">
                <a:solidFill>
                  <a:srgbClr val="B08D57"/>
                </a:solidFill>
                <a:latin typeface="Jost" pitchFamily="34" charset="0"/>
                <a:ea typeface="Jost" pitchFamily="34" charset="-122"/>
                <a:cs typeface="Jost" pitchFamily="34" charset="-120"/>
              </a:rPr>
              <a:t>STEP THREE</a:t>
            </a:r>
            <a:endParaRPr lang="en-US" sz="750" dirty="0"/>
          </a:p>
        </p:txBody>
      </p:sp>
      <p:sp>
        <p:nvSpPr>
          <p:cNvPr id="16" name="Text 14"/>
          <p:cNvSpPr/>
          <p:nvPr/>
        </p:nvSpPr>
        <p:spPr>
          <a:xfrm>
            <a:off x="4791456" y="2039112"/>
            <a:ext cx="1632204" cy="457200"/>
          </a:xfrm>
          <a:prstGeom prst="rect">
            <a:avLst/>
          </a:prstGeom>
          <a:noFill/>
          <a:ln/>
        </p:spPr>
        <p:txBody>
          <a:bodyPr wrap="square" rtlCol="0" anchor="t"/>
          <a:lstStyle/>
          <a:p>
            <a:pPr indent="0" marL="0">
              <a:lnSpc>
                <a:spcPct val="110000"/>
              </a:lnSpc>
              <a:buNone/>
            </a:pPr>
            <a:r>
              <a:rPr lang="en-US" sz="1200" dirty="0">
                <a:solidFill>
                  <a:srgbClr val="EDE7DE"/>
                </a:solidFill>
                <a:latin typeface="Jost" pitchFamily="34" charset="0"/>
                <a:ea typeface="Jost" pitchFamily="34" charset="-122"/>
                <a:cs typeface="Jost" pitchFamily="34" charset="-120"/>
              </a:rPr>
              <a:t>Becomes a Resident</a:t>
            </a:r>
            <a:endParaRPr lang="en-US" sz="1200" dirty="0"/>
          </a:p>
        </p:txBody>
      </p:sp>
      <p:sp>
        <p:nvSpPr>
          <p:cNvPr id="17" name="Text 15"/>
          <p:cNvSpPr/>
          <p:nvPr/>
        </p:nvSpPr>
        <p:spPr>
          <a:xfrm>
            <a:off x="4791456" y="2532888"/>
            <a:ext cx="1632204" cy="1060704"/>
          </a:xfrm>
          <a:prstGeom prst="rect">
            <a:avLst/>
          </a:prstGeom>
          <a:noFill/>
          <a:ln/>
        </p:spPr>
        <p:txBody>
          <a:bodyPr wrap="square" rtlCol="0" anchor="t"/>
          <a:lstStyle/>
          <a:p>
            <a:pPr indent="0" marL="0">
              <a:lnSpc>
                <a:spcPct val="120000"/>
              </a:lnSpc>
              <a:buNone/>
            </a:pPr>
            <a:r>
              <a:rPr lang="en-US" sz="850" dirty="0">
                <a:solidFill>
                  <a:srgbClr val="C9BCA9"/>
                </a:solidFill>
                <a:latin typeface="Jost" pitchFamily="34" charset="0"/>
                <a:ea typeface="Jost" pitchFamily="34" charset="-122"/>
                <a:cs typeface="Jost" pitchFamily="34" charset="-120"/>
              </a:rPr>
              <a:t>Wants the circuit and the room, not just the treatment. This is where recurring revenue begins.</a:t>
            </a:r>
            <a:endParaRPr lang="en-US" sz="850" dirty="0"/>
          </a:p>
        </p:txBody>
      </p:sp>
      <p:sp>
        <p:nvSpPr>
          <p:cNvPr id="18" name="Shape 16"/>
          <p:cNvSpPr/>
          <p:nvPr/>
        </p:nvSpPr>
        <p:spPr>
          <a:xfrm>
            <a:off x="6716268" y="1691640"/>
            <a:ext cx="1924812" cy="2011680"/>
          </a:xfrm>
          <a:prstGeom prst="rect">
            <a:avLst/>
          </a:prstGeom>
          <a:solidFill>
            <a:srgbClr val="1C1C1E"/>
          </a:solidFill>
          <a:ln w="9525">
            <a:solidFill>
              <a:srgbClr val="271F13"/>
            </a:solidFill>
            <a:prstDash val="solid"/>
          </a:ln>
        </p:spPr>
      </p:sp>
      <p:sp>
        <p:nvSpPr>
          <p:cNvPr id="19" name="Text 17"/>
          <p:cNvSpPr/>
          <p:nvPr/>
        </p:nvSpPr>
        <p:spPr>
          <a:xfrm>
            <a:off x="6862572" y="1819656"/>
            <a:ext cx="1632204" cy="182880"/>
          </a:xfrm>
          <a:prstGeom prst="rect">
            <a:avLst/>
          </a:prstGeom>
          <a:noFill/>
          <a:ln/>
        </p:spPr>
        <p:txBody>
          <a:bodyPr wrap="square" rtlCol="0" anchor="ctr"/>
          <a:lstStyle/>
          <a:p>
            <a:pPr indent="0" marL="0">
              <a:buNone/>
            </a:pPr>
            <a:r>
              <a:rPr lang="en-US" sz="750" spc="200" kern="0" dirty="0">
                <a:solidFill>
                  <a:srgbClr val="B08D57"/>
                </a:solidFill>
                <a:latin typeface="Jost" pitchFamily="34" charset="0"/>
                <a:ea typeface="Jost" pitchFamily="34" charset="-122"/>
                <a:cs typeface="Jost" pitchFamily="34" charset="-120"/>
              </a:rPr>
              <a:t>STEP FOUR</a:t>
            </a:r>
            <a:endParaRPr lang="en-US" sz="750" dirty="0"/>
          </a:p>
        </p:txBody>
      </p:sp>
      <p:sp>
        <p:nvSpPr>
          <p:cNvPr id="20" name="Text 18"/>
          <p:cNvSpPr/>
          <p:nvPr/>
        </p:nvSpPr>
        <p:spPr>
          <a:xfrm>
            <a:off x="6862572" y="2039112"/>
            <a:ext cx="1632204" cy="457200"/>
          </a:xfrm>
          <a:prstGeom prst="rect">
            <a:avLst/>
          </a:prstGeom>
          <a:noFill/>
          <a:ln/>
        </p:spPr>
        <p:txBody>
          <a:bodyPr wrap="square" rtlCol="0" anchor="t"/>
          <a:lstStyle/>
          <a:p>
            <a:pPr indent="0" marL="0">
              <a:lnSpc>
                <a:spcPct val="110000"/>
              </a:lnSpc>
              <a:buNone/>
            </a:pPr>
            <a:r>
              <a:rPr lang="en-US" sz="1200" dirty="0">
                <a:solidFill>
                  <a:srgbClr val="EDE7DE"/>
                </a:solidFill>
                <a:latin typeface="Jost" pitchFamily="34" charset="0"/>
                <a:ea typeface="Jost" pitchFamily="34" charset="-122"/>
                <a:cs typeface="Jost" pitchFamily="34" charset="-120"/>
              </a:rPr>
              <a:t>Becomes Longevity</a:t>
            </a:r>
            <a:endParaRPr lang="en-US" sz="1200" dirty="0"/>
          </a:p>
        </p:txBody>
      </p:sp>
      <p:sp>
        <p:nvSpPr>
          <p:cNvPr id="21" name="Text 19"/>
          <p:cNvSpPr/>
          <p:nvPr/>
        </p:nvSpPr>
        <p:spPr>
          <a:xfrm>
            <a:off x="6862572" y="2532888"/>
            <a:ext cx="1632204" cy="1060704"/>
          </a:xfrm>
          <a:prstGeom prst="rect">
            <a:avLst/>
          </a:prstGeom>
          <a:noFill/>
          <a:ln/>
        </p:spPr>
        <p:txBody>
          <a:bodyPr wrap="square" rtlCol="0" anchor="t"/>
          <a:lstStyle/>
          <a:p>
            <a:pPr indent="0" marL="0">
              <a:lnSpc>
                <a:spcPct val="120000"/>
              </a:lnSpc>
              <a:buNone/>
            </a:pPr>
            <a:r>
              <a:rPr lang="en-US" sz="850" dirty="0">
                <a:solidFill>
                  <a:srgbClr val="C9BCA9"/>
                </a:solidFill>
                <a:latin typeface="Jost" pitchFamily="34" charset="0"/>
                <a:ea typeface="Jost" pitchFamily="34" charset="-122"/>
                <a:cs typeface="Jost" pitchFamily="34" charset="-120"/>
              </a:rPr>
              <a:t>Physician-delivered programming. Hard capped. The highest retention and the highest lifetime value in the building.</a:t>
            </a:r>
            <a:endParaRPr lang="en-US" sz="850" dirty="0"/>
          </a:p>
        </p:txBody>
      </p:sp>
      <p:sp>
        <p:nvSpPr>
          <p:cNvPr id="22" name="Text 20"/>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B6965"/>
                </a:solidFill>
                <a:latin typeface="Jost" pitchFamily="34" charset="0"/>
                <a:ea typeface="Jost" pitchFamily="34" charset="-122"/>
                <a:cs typeface="Jost" pitchFamily="34" charset="-120"/>
              </a:rPr>
              <a:t>L&amp;K WELLNESS  ·  PRIVATE INVESTMENT BRIEF  ·  CONFIDENTIAL</a:t>
            </a:r>
            <a:endParaRPr lang="en-US" sz="700" dirty="0"/>
          </a:p>
        </p:txBody>
      </p:sp>
      <p:sp>
        <p:nvSpPr>
          <p:cNvPr id="23" name="Text 21"/>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B6965"/>
                </a:solidFill>
                <a:latin typeface="Jost" pitchFamily="34" charset="0"/>
                <a:ea typeface="Jost" pitchFamily="34" charset="-122"/>
                <a:cs typeface="Jost" pitchFamily="34" charset="-120"/>
              </a:rPr>
              <a:t>9</a:t>
            </a:r>
            <a:endParaRPr lang="en-US" sz="7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B08D57"/>
                </a:solidFill>
                <a:latin typeface="Jost" pitchFamily="34" charset="0"/>
                <a:ea typeface="Jost" pitchFamily="34" charset="-122"/>
                <a:cs typeface="Jost" pitchFamily="34" charset="-120"/>
              </a:rPr>
              <a:t>THE FACILITY</a:t>
            </a:r>
            <a:endParaRPr lang="en-US" sz="900" dirty="0"/>
          </a:p>
        </p:txBody>
      </p:sp>
      <p:sp>
        <p:nvSpPr>
          <p:cNvPr id="3" name="Shape 1"/>
          <p:cNvSpPr/>
          <p:nvPr/>
        </p:nvSpPr>
        <p:spPr>
          <a:xfrm>
            <a:off x="502920" y="557784"/>
            <a:ext cx="566928" cy="12802"/>
          </a:xfrm>
          <a:prstGeom prst="rect">
            <a:avLst/>
          </a:prstGeom>
          <a:solidFill>
            <a:srgbClr val="B08D57"/>
          </a:solidFill>
          <a:ln w="12700">
            <a:solidFill>
              <a:srgbClr val="B08D57"/>
            </a:solidFill>
            <a:prstDash val="solid"/>
          </a:ln>
        </p:spPr>
      </p:sp>
      <p:sp>
        <p:nvSpPr>
          <p:cNvPr id="4" name="Text 2"/>
          <p:cNvSpPr/>
          <p:nvPr/>
        </p:nvSpPr>
        <p:spPr>
          <a:xfrm>
            <a:off x="502920" y="621792"/>
            <a:ext cx="8138160" cy="548640"/>
          </a:xfrm>
          <a:prstGeom prst="rect">
            <a:avLst/>
          </a:prstGeom>
          <a:noFill/>
          <a:ln/>
        </p:spPr>
        <p:txBody>
          <a:bodyPr wrap="square" rtlCol="0" anchor="t"/>
          <a:lstStyle/>
          <a:p>
            <a:pPr indent="0" marL="0">
              <a:buNone/>
            </a:pPr>
            <a:r>
              <a:rPr lang="en-US" sz="2600" spc="400" kern="0" dirty="0">
                <a:solidFill>
                  <a:srgbClr val="EDE7DE"/>
                </a:solidFill>
                <a:latin typeface="Cormorant Garamond" pitchFamily="34" charset="0"/>
                <a:ea typeface="Cormorant Garamond" pitchFamily="34" charset="-122"/>
                <a:cs typeface="Cormorant Garamond" pitchFamily="34" charset="-120"/>
              </a:rPr>
              <a:t>4,925 SF IN PLAYA VISTA</a:t>
            </a:r>
            <a:endParaRPr lang="en-US" sz="2600" dirty="0"/>
          </a:p>
        </p:txBody>
      </p:sp>
      <p:sp>
        <p:nvSpPr>
          <p:cNvPr id="5" name="Text 3"/>
          <p:cNvSpPr/>
          <p:nvPr/>
        </p:nvSpPr>
        <p:spPr>
          <a:xfrm>
            <a:off x="502920" y="1115568"/>
            <a:ext cx="7487107" cy="457200"/>
          </a:xfrm>
          <a:prstGeom prst="rect">
            <a:avLst/>
          </a:prstGeom>
          <a:noFill/>
          <a:ln/>
        </p:spPr>
        <p:txBody>
          <a:bodyPr wrap="square" rtlCol="0" anchor="t"/>
          <a:lstStyle/>
          <a:p>
            <a:pPr indent="0" marL="0">
              <a:lnSpc>
                <a:spcPct val="120000"/>
              </a:lnSpc>
              <a:buNone/>
            </a:pPr>
            <a:r>
              <a:rPr lang="en-US" sz="1050" dirty="0">
                <a:solidFill>
                  <a:srgbClr val="C9BCA9"/>
                </a:solidFill>
                <a:latin typeface="Jost" pitchFamily="34" charset="0"/>
                <a:ea typeface="Jost" pitchFamily="34" charset="-122"/>
                <a:cs typeface="Jost" pitchFamily="34" charset="-120"/>
              </a:rPr>
              <a:t>Full contrast suite, owned equipment, the facility the brand deserves.</a:t>
            </a:r>
            <a:endParaRPr lang="en-US" sz="1050" dirty="0"/>
          </a:p>
        </p:txBody>
      </p:sp>
      <p:sp>
        <p:nvSpPr>
          <p:cNvPr id="6" name="Shape 4"/>
          <p:cNvSpPr/>
          <p:nvPr/>
        </p:nvSpPr>
        <p:spPr>
          <a:xfrm>
            <a:off x="502920" y="1572768"/>
            <a:ext cx="2615184" cy="841248"/>
          </a:xfrm>
          <a:prstGeom prst="rect">
            <a:avLst/>
          </a:prstGeom>
          <a:solidFill>
            <a:srgbClr val="1C1C1E"/>
          </a:solidFill>
          <a:ln w="9525">
            <a:solidFill>
              <a:srgbClr val="271F13"/>
            </a:solidFill>
            <a:prstDash val="solid"/>
          </a:ln>
        </p:spPr>
      </p:sp>
      <p:sp>
        <p:nvSpPr>
          <p:cNvPr id="7" name="Text 5"/>
          <p:cNvSpPr/>
          <p:nvPr/>
        </p:nvSpPr>
        <p:spPr>
          <a:xfrm>
            <a:off x="649224" y="1700784"/>
            <a:ext cx="2322576" cy="310896"/>
          </a:xfrm>
          <a:prstGeom prst="rect">
            <a:avLst/>
          </a:prstGeom>
          <a:noFill/>
          <a:ln/>
        </p:spPr>
        <p:txBody>
          <a:bodyPr wrap="square" rtlCol="0" anchor="t"/>
          <a:lstStyle/>
          <a:p>
            <a:pPr indent="0" marL="0">
              <a:buNone/>
            </a:pPr>
            <a:r>
              <a:rPr lang="en-US" sz="2000" dirty="0">
                <a:solidFill>
                  <a:srgbClr val="B08D57"/>
                </a:solidFill>
                <a:latin typeface="Cormorant Garamond" pitchFamily="34" charset="0"/>
                <a:ea typeface="Cormorant Garamond" pitchFamily="34" charset="-122"/>
                <a:cs typeface="Cormorant Garamond" pitchFamily="34" charset="-120"/>
              </a:rPr>
              <a:t>4,925 SF</a:t>
            </a:r>
            <a:endParaRPr lang="en-US" sz="2000" dirty="0"/>
          </a:p>
        </p:txBody>
      </p:sp>
      <p:sp>
        <p:nvSpPr>
          <p:cNvPr id="8" name="Text 6"/>
          <p:cNvSpPr/>
          <p:nvPr/>
        </p:nvSpPr>
        <p:spPr>
          <a:xfrm>
            <a:off x="649224" y="2029968"/>
            <a:ext cx="2322576" cy="274320"/>
          </a:xfrm>
          <a:prstGeom prst="rect">
            <a:avLst/>
          </a:prstGeom>
          <a:noFill/>
          <a:ln/>
        </p:spPr>
        <p:txBody>
          <a:bodyPr wrap="square" rtlCol="0" anchor="t"/>
          <a:lstStyle/>
          <a:p>
            <a:pPr indent="0" marL="0">
              <a:lnSpc>
                <a:spcPct val="120000"/>
              </a:lnSpc>
              <a:buNone/>
            </a:pPr>
            <a:r>
              <a:rPr lang="en-US" sz="800" dirty="0">
                <a:solidFill>
                  <a:srgbClr val="C9BCA9"/>
                </a:solidFill>
                <a:latin typeface="Jost" pitchFamily="34" charset="0"/>
                <a:ea typeface="Jost" pitchFamily="34" charset="-122"/>
                <a:cs typeface="Jost" pitchFamily="34" charset="-120"/>
              </a:rPr>
              <a:t>Programmed, measured to wall centreline</a:t>
            </a:r>
            <a:endParaRPr lang="en-US" sz="800" dirty="0"/>
          </a:p>
        </p:txBody>
      </p:sp>
      <p:sp>
        <p:nvSpPr>
          <p:cNvPr id="9" name="Shape 7"/>
          <p:cNvSpPr/>
          <p:nvPr/>
        </p:nvSpPr>
        <p:spPr>
          <a:xfrm>
            <a:off x="3264408" y="1572768"/>
            <a:ext cx="2615184" cy="841248"/>
          </a:xfrm>
          <a:prstGeom prst="rect">
            <a:avLst/>
          </a:prstGeom>
          <a:solidFill>
            <a:srgbClr val="1C1C1E"/>
          </a:solidFill>
          <a:ln w="9525">
            <a:solidFill>
              <a:srgbClr val="271F13"/>
            </a:solidFill>
            <a:prstDash val="solid"/>
          </a:ln>
        </p:spPr>
      </p:sp>
      <p:sp>
        <p:nvSpPr>
          <p:cNvPr id="10" name="Text 8"/>
          <p:cNvSpPr/>
          <p:nvPr/>
        </p:nvSpPr>
        <p:spPr>
          <a:xfrm>
            <a:off x="3410712" y="1700784"/>
            <a:ext cx="2322576" cy="310896"/>
          </a:xfrm>
          <a:prstGeom prst="rect">
            <a:avLst/>
          </a:prstGeom>
          <a:noFill/>
          <a:ln/>
        </p:spPr>
        <p:txBody>
          <a:bodyPr wrap="square" rtlCol="0" anchor="t"/>
          <a:lstStyle/>
          <a:p>
            <a:pPr indent="0" marL="0">
              <a:buNone/>
            </a:pPr>
            <a:r>
              <a:rPr lang="en-US" sz="2000" dirty="0">
                <a:solidFill>
                  <a:srgbClr val="B08D57"/>
                </a:solidFill>
                <a:latin typeface="Cormorant Garamond" pitchFamily="34" charset="0"/>
                <a:ea typeface="Cormorant Garamond" pitchFamily="34" charset="-122"/>
                <a:cs typeface="Cormorant Garamond" pitchFamily="34" charset="-120"/>
              </a:rPr>
              <a:t>4,500 to 5,500</a:t>
            </a:r>
            <a:endParaRPr lang="en-US" sz="2000" dirty="0"/>
          </a:p>
        </p:txBody>
      </p:sp>
      <p:sp>
        <p:nvSpPr>
          <p:cNvPr id="11" name="Text 9"/>
          <p:cNvSpPr/>
          <p:nvPr/>
        </p:nvSpPr>
        <p:spPr>
          <a:xfrm>
            <a:off x="3410712" y="2029968"/>
            <a:ext cx="2322576" cy="274320"/>
          </a:xfrm>
          <a:prstGeom prst="rect">
            <a:avLst/>
          </a:prstGeom>
          <a:noFill/>
          <a:ln/>
        </p:spPr>
        <p:txBody>
          <a:bodyPr wrap="square" rtlCol="0" anchor="t"/>
          <a:lstStyle/>
          <a:p>
            <a:pPr indent="0" marL="0">
              <a:lnSpc>
                <a:spcPct val="120000"/>
              </a:lnSpc>
              <a:buNone/>
            </a:pPr>
            <a:r>
              <a:rPr lang="en-US" sz="800" dirty="0">
                <a:solidFill>
                  <a:srgbClr val="C9BCA9"/>
                </a:solidFill>
                <a:latin typeface="Jost" pitchFamily="34" charset="0"/>
                <a:ea typeface="Jost" pitchFamily="34" charset="-122"/>
                <a:cs typeface="Jost" pitchFamily="34" charset="-120"/>
              </a:rPr>
              <a:t>Workable SF range, contiguous, with storefront frontage</a:t>
            </a:r>
            <a:endParaRPr lang="en-US" sz="800" dirty="0"/>
          </a:p>
        </p:txBody>
      </p:sp>
      <p:sp>
        <p:nvSpPr>
          <p:cNvPr id="12" name="Shape 10"/>
          <p:cNvSpPr/>
          <p:nvPr/>
        </p:nvSpPr>
        <p:spPr>
          <a:xfrm>
            <a:off x="6025896" y="1572768"/>
            <a:ext cx="2615184" cy="841248"/>
          </a:xfrm>
          <a:prstGeom prst="rect">
            <a:avLst/>
          </a:prstGeom>
          <a:solidFill>
            <a:srgbClr val="1C1C1E"/>
          </a:solidFill>
          <a:ln w="9525">
            <a:solidFill>
              <a:srgbClr val="271F13"/>
            </a:solidFill>
            <a:prstDash val="solid"/>
          </a:ln>
        </p:spPr>
      </p:sp>
      <p:sp>
        <p:nvSpPr>
          <p:cNvPr id="13" name="Text 11"/>
          <p:cNvSpPr/>
          <p:nvPr/>
        </p:nvSpPr>
        <p:spPr>
          <a:xfrm>
            <a:off x="6172200" y="1700784"/>
            <a:ext cx="2322576" cy="310896"/>
          </a:xfrm>
          <a:prstGeom prst="rect">
            <a:avLst/>
          </a:prstGeom>
          <a:noFill/>
          <a:ln/>
        </p:spPr>
        <p:txBody>
          <a:bodyPr wrap="square" rtlCol="0" anchor="t"/>
          <a:lstStyle/>
          <a:p>
            <a:pPr indent="0" marL="0">
              <a:buNone/>
            </a:pPr>
            <a:r>
              <a:rPr lang="en-US" sz="2000" dirty="0">
                <a:solidFill>
                  <a:srgbClr val="B08D57"/>
                </a:solidFill>
                <a:latin typeface="Cormorant Garamond" pitchFamily="34" charset="0"/>
                <a:ea typeface="Cormorant Garamond" pitchFamily="34" charset="-122"/>
                <a:cs typeface="Cormorant Garamond" pitchFamily="34" charset="-120"/>
              </a:rPr>
              <a:t>Ground floor</a:t>
            </a:r>
            <a:endParaRPr lang="en-US" sz="2000" dirty="0"/>
          </a:p>
        </p:txBody>
      </p:sp>
      <p:sp>
        <p:nvSpPr>
          <p:cNvPr id="14" name="Text 12"/>
          <p:cNvSpPr/>
          <p:nvPr/>
        </p:nvSpPr>
        <p:spPr>
          <a:xfrm>
            <a:off x="6172200" y="2029968"/>
            <a:ext cx="2322576" cy="274320"/>
          </a:xfrm>
          <a:prstGeom prst="rect">
            <a:avLst/>
          </a:prstGeom>
          <a:noFill/>
          <a:ln/>
        </p:spPr>
        <p:txBody>
          <a:bodyPr wrap="square" rtlCol="0" anchor="t"/>
          <a:lstStyle/>
          <a:p>
            <a:pPr indent="0" marL="0">
              <a:lnSpc>
                <a:spcPct val="120000"/>
              </a:lnSpc>
              <a:buNone/>
            </a:pPr>
            <a:r>
              <a:rPr lang="en-US" sz="800" dirty="0">
                <a:solidFill>
                  <a:srgbClr val="C9BCA9"/>
                </a:solidFill>
                <a:latin typeface="Jost" pitchFamily="34" charset="0"/>
                <a:ea typeface="Jost" pitchFamily="34" charset="-122"/>
                <a:cs typeface="Jost" pitchFamily="34" charset="-120"/>
              </a:rPr>
              <a:t>Strongly preferred. Plunges, a hyperbaric chamber and a densitometer are heavy</a:t>
            </a:r>
            <a:endParaRPr lang="en-US" sz="8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502920" y="2560320"/>
          <a:ext cx="3968496" cy="914400"/>
        </p:xfrm>
        <a:graphic>
          <a:graphicData uri="http://schemas.openxmlformats.org/drawingml/2006/table">
            <a:tbl>
              <a:tblPr/>
              <a:tblGrid>
                <a:gridCol w="3200400"/>
                <a:gridCol w="768096"/>
              </a:tblGrid>
              <a:tr h="187452">
                <a:tc>
                  <a:txBody>
                    <a:bodyPr/>
                    <a:lstStyle/>
                    <a:p>
                      <a:pPr algn="l" indent="0" marL="0">
                        <a:buNone/>
                      </a:pPr>
                      <a:r>
                        <a:rPr lang="en-US" sz="750" spc="140" kern="0" dirty="0">
                          <a:solidFill>
                            <a:srgbClr val="B08D57"/>
                          </a:solidFill>
                          <a:latin typeface="Jost" pitchFamily="34" charset="0"/>
                          <a:ea typeface="Jost" pitchFamily="34" charset="-122"/>
                          <a:cs typeface="Jost" pitchFamily="34" charset="-120"/>
                        </a:rPr>
                        <a:t>SPACE</a:t>
                      </a:r>
                      <a:endParaRPr lang="en-US" sz="750" dirty="0">
                        <a:latin typeface="Jost" charset="0"/>
                        <a:ea typeface="Jost" charset="0"/>
                        <a:cs typeface="Jost" charset="0"/>
                      </a:endParaRPr>
                    </a:p>
                  </a:txBody>
                  <a:tcPr marL="18288" marR="18288" marT="18288" marB="18288" anchor="ctr">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000000"/>
                    </a:solidFill>
                  </a:tcPr>
                </a:tc>
                <a:tc>
                  <a:txBody>
                    <a:bodyPr/>
                    <a:lstStyle/>
                    <a:p>
                      <a:pPr algn="r" indent="0" marL="0">
                        <a:buNone/>
                      </a:pPr>
                      <a:r>
                        <a:rPr lang="en-US" sz="750" spc="140" kern="0" dirty="0">
                          <a:solidFill>
                            <a:srgbClr val="B08D57"/>
                          </a:solidFill>
                          <a:latin typeface="Jost" pitchFamily="34" charset="0"/>
                          <a:ea typeface="Jost" pitchFamily="34" charset="-122"/>
                          <a:cs typeface="Jost" pitchFamily="34" charset="-120"/>
                        </a:rPr>
                        <a:t>SF</a:t>
                      </a:r>
                      <a:endParaRPr lang="en-US" sz="750" dirty="0">
                        <a:latin typeface="Jost" charset="0"/>
                        <a:ea typeface="Jost" charset="0"/>
                        <a:cs typeface="Jost" charset="0"/>
                      </a:endParaRPr>
                    </a:p>
                  </a:txBody>
                  <a:tcPr marL="18288" marR="18288" marT="18288" marB="18288" anchor="ctr">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000000"/>
                    </a:solidFill>
                  </a:tcPr>
                </a:tc>
              </a:tr>
              <a:tr h="187452">
                <a:tc>
                  <a:txBody>
                    <a:bodyPr/>
                    <a:lstStyle/>
                    <a:p>
                      <a:pPr algn="l" indent="0" marL="0">
                        <a:buNone/>
                      </a:pPr>
                      <a:r>
                        <a:rPr lang="en-US" sz="750" dirty="0">
                          <a:solidFill>
                            <a:srgbClr val="EDE7DE"/>
                          </a:solidFill>
                          <a:latin typeface="Jost" pitchFamily="34" charset="0"/>
                          <a:ea typeface="Jost" pitchFamily="34" charset="-122"/>
                          <a:cs typeface="Jost" pitchFamily="34" charset="-120"/>
                        </a:rPr>
                        <a:t>Arrival, concierge, retail</a:t>
                      </a:r>
                      <a:endParaRPr lang="en-US" sz="750" dirty="0">
                        <a:latin typeface="Jost" charset="0"/>
                        <a:ea typeface="Jost" charset="0"/>
                        <a:cs typeface="Jost" charset="0"/>
                      </a:endParaRPr>
                    </a:p>
                  </a:txBody>
                  <a:tcPr marL="18288" marR="18288" marT="18288" marB="18288"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350</a:t>
                      </a:r>
                      <a:endParaRPr lang="en-US" sz="750" dirty="0">
                        <a:latin typeface="Jost" charset="0"/>
                        <a:ea typeface="Jost" charset="0"/>
                        <a:cs typeface="Jost" charset="0"/>
                      </a:endParaRPr>
                    </a:p>
                  </a:txBody>
                  <a:tcPr marL="18288" marR="18288" marT="18288" marB="18288"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87452">
                <a:tc>
                  <a:txBody>
                    <a:bodyPr/>
                    <a:lstStyle/>
                    <a:p>
                      <a:pPr algn="l" indent="0" marL="0">
                        <a:buNone/>
                      </a:pPr>
                      <a:r>
                        <a:rPr lang="en-US" sz="750" dirty="0">
                          <a:solidFill>
                            <a:srgbClr val="EDE7DE"/>
                          </a:solidFill>
                          <a:latin typeface="Jost" pitchFamily="34" charset="0"/>
                          <a:ea typeface="Jost" pitchFamily="34" charset="-122"/>
                          <a:cs typeface="Jost" pitchFamily="34" charset="-120"/>
                        </a:rPr>
                        <a:t>The Lounge</a:t>
                      </a:r>
                      <a:endParaRPr lang="en-US" sz="750" dirty="0">
                        <a:latin typeface="Jost" charset="0"/>
                        <a:ea typeface="Jost" charset="0"/>
                        <a:cs typeface="Jost" charset="0"/>
                      </a:endParaRPr>
                    </a:p>
                  </a:txBody>
                  <a:tcPr marL="18288" marR="18288" marT="18288" marB="18288"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700</a:t>
                      </a:r>
                      <a:endParaRPr lang="en-US" sz="750" dirty="0">
                        <a:latin typeface="Jost" charset="0"/>
                        <a:ea typeface="Jost" charset="0"/>
                        <a:cs typeface="Jost" charset="0"/>
                      </a:endParaRPr>
                    </a:p>
                  </a:txBody>
                  <a:tcPr marL="18288" marR="18288" marT="18288" marB="18288"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87452">
                <a:tc>
                  <a:txBody>
                    <a:bodyPr/>
                    <a:lstStyle/>
                    <a:p>
                      <a:pPr algn="l" indent="0" marL="0">
                        <a:buNone/>
                      </a:pPr>
                      <a:r>
                        <a:rPr lang="en-US" sz="750" dirty="0">
                          <a:solidFill>
                            <a:srgbClr val="EDE7DE"/>
                          </a:solidFill>
                          <a:latin typeface="Jost" pitchFamily="34" charset="0"/>
                          <a:ea typeface="Jost" pitchFamily="34" charset="-122"/>
                          <a:cs typeface="Jost" pitchFamily="34" charset="-120"/>
                        </a:rPr>
                        <a:t>Contrast suite (2 saunas, 2 plunges)</a:t>
                      </a:r>
                      <a:endParaRPr lang="en-US" sz="750" dirty="0">
                        <a:latin typeface="Jost" charset="0"/>
                        <a:ea typeface="Jost" charset="0"/>
                        <a:cs typeface="Jost" charset="0"/>
                      </a:endParaRPr>
                    </a:p>
                  </a:txBody>
                  <a:tcPr marL="18288" marR="18288" marT="18288" marB="18288"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250</a:t>
                      </a:r>
                      <a:endParaRPr lang="en-US" sz="750" dirty="0">
                        <a:latin typeface="Jost" charset="0"/>
                        <a:ea typeface="Jost" charset="0"/>
                        <a:cs typeface="Jost" charset="0"/>
                      </a:endParaRPr>
                    </a:p>
                  </a:txBody>
                  <a:tcPr marL="18288" marR="18288" marT="18288" marB="18288"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87452">
                <a:tc>
                  <a:txBody>
                    <a:bodyPr/>
                    <a:lstStyle/>
                    <a:p>
                      <a:pPr algn="l" indent="0" marL="0">
                        <a:buNone/>
                      </a:pPr>
                      <a:r>
                        <a:rPr lang="en-US" sz="750" dirty="0">
                          <a:solidFill>
                            <a:srgbClr val="EDE7DE"/>
                          </a:solidFill>
                          <a:latin typeface="Jost" pitchFamily="34" charset="0"/>
                          <a:ea typeface="Jost" pitchFamily="34" charset="-122"/>
                          <a:cs typeface="Jost" pitchFamily="34" charset="-120"/>
                        </a:rPr>
                        <a:t>Aescape</a:t>
                      </a:r>
                      <a:endParaRPr lang="en-US" sz="750" dirty="0">
                        <a:latin typeface="Jost" charset="0"/>
                        <a:ea typeface="Jost" charset="0"/>
                        <a:cs typeface="Jost" charset="0"/>
                      </a:endParaRPr>
                    </a:p>
                  </a:txBody>
                  <a:tcPr marL="18288" marR="18288" marT="18288" marB="18288"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120</a:t>
                      </a:r>
                      <a:endParaRPr lang="en-US" sz="750" dirty="0">
                        <a:latin typeface="Jost" charset="0"/>
                        <a:ea typeface="Jost" charset="0"/>
                        <a:cs typeface="Jost" charset="0"/>
                      </a:endParaRPr>
                    </a:p>
                  </a:txBody>
                  <a:tcPr marL="18288" marR="18288" marT="18288" marB="18288"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87452">
                <a:tc>
                  <a:txBody>
                    <a:bodyPr/>
                    <a:lstStyle/>
                    <a:p>
                      <a:pPr algn="l" indent="0" marL="0">
                        <a:buNone/>
                      </a:pPr>
                      <a:r>
                        <a:rPr lang="en-US" sz="750" dirty="0">
                          <a:solidFill>
                            <a:srgbClr val="EDE7DE"/>
                          </a:solidFill>
                          <a:latin typeface="Jost" pitchFamily="34" charset="0"/>
                          <a:ea typeface="Jost" pitchFamily="34" charset="-122"/>
                          <a:cs typeface="Jost" pitchFamily="34" charset="-120"/>
                        </a:rPr>
                        <a:t>Ammortal chamber</a:t>
                      </a:r>
                      <a:endParaRPr lang="en-US" sz="750" dirty="0">
                        <a:latin typeface="Jost" charset="0"/>
                        <a:ea typeface="Jost" charset="0"/>
                        <a:cs typeface="Jost" charset="0"/>
                      </a:endParaRPr>
                    </a:p>
                  </a:txBody>
                  <a:tcPr marL="18288" marR="18288" marT="18288" marB="18288"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90</a:t>
                      </a:r>
                      <a:endParaRPr lang="en-US" sz="750" dirty="0">
                        <a:latin typeface="Jost" charset="0"/>
                        <a:ea typeface="Jost" charset="0"/>
                        <a:cs typeface="Jost" charset="0"/>
                      </a:endParaRPr>
                    </a:p>
                  </a:txBody>
                  <a:tcPr marL="18288" marR="18288" marT="18288" marB="18288"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87452">
                <a:tc>
                  <a:txBody>
                    <a:bodyPr/>
                    <a:lstStyle/>
                    <a:p>
                      <a:pPr algn="l" indent="0" marL="0">
                        <a:buNone/>
                      </a:pPr>
                      <a:r>
                        <a:rPr lang="en-US" sz="750" dirty="0">
                          <a:solidFill>
                            <a:srgbClr val="EDE7DE"/>
                          </a:solidFill>
                          <a:latin typeface="Jost" pitchFamily="34" charset="0"/>
                          <a:ea typeface="Jost" pitchFamily="34" charset="-122"/>
                          <a:cs typeface="Jost" pitchFamily="34" charset="-120"/>
                        </a:rPr>
                        <a:t>Hyperbaric room (seated)</a:t>
                      </a:r>
                      <a:endParaRPr lang="en-US" sz="750" dirty="0">
                        <a:latin typeface="Jost" charset="0"/>
                        <a:ea typeface="Jost" charset="0"/>
                        <a:cs typeface="Jost" charset="0"/>
                      </a:endParaRPr>
                    </a:p>
                  </a:txBody>
                  <a:tcPr marL="18288" marR="18288" marT="18288" marB="18288"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120</a:t>
                      </a:r>
                      <a:endParaRPr lang="en-US" sz="750" dirty="0">
                        <a:latin typeface="Jost" charset="0"/>
                        <a:ea typeface="Jost" charset="0"/>
                        <a:cs typeface="Jost" charset="0"/>
                      </a:endParaRPr>
                    </a:p>
                  </a:txBody>
                  <a:tcPr marL="18288" marR="18288" marT="18288" marB="18288"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87452">
                <a:tc>
                  <a:txBody>
                    <a:bodyPr/>
                    <a:lstStyle/>
                    <a:p>
                      <a:pPr algn="l" indent="0" marL="0">
                        <a:buNone/>
                      </a:pPr>
                      <a:r>
                        <a:rPr lang="en-US" sz="750" dirty="0">
                          <a:solidFill>
                            <a:srgbClr val="EDE7DE"/>
                          </a:solidFill>
                          <a:latin typeface="Jost" pitchFamily="34" charset="0"/>
                          <a:ea typeface="Jost" pitchFamily="34" charset="-122"/>
                          <a:cs typeface="Jost" pitchFamily="34" charset="-120"/>
                        </a:rPr>
                        <a:t>Red light beds (2)</a:t>
                      </a:r>
                      <a:endParaRPr lang="en-US" sz="750" dirty="0">
                        <a:latin typeface="Jost" charset="0"/>
                        <a:ea typeface="Jost" charset="0"/>
                        <a:cs typeface="Jost" charset="0"/>
                      </a:endParaRPr>
                    </a:p>
                  </a:txBody>
                  <a:tcPr marL="18288" marR="18288" marT="18288" marB="18288"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150</a:t>
                      </a:r>
                      <a:endParaRPr lang="en-US" sz="750" dirty="0">
                        <a:latin typeface="Jost" charset="0"/>
                        <a:ea typeface="Jost" charset="0"/>
                        <a:cs typeface="Jost" charset="0"/>
                      </a:endParaRPr>
                    </a:p>
                  </a:txBody>
                  <a:tcPr marL="18288" marR="18288" marT="18288" marB="18288"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87452">
                <a:tc>
                  <a:txBody>
                    <a:bodyPr/>
                    <a:lstStyle/>
                    <a:p>
                      <a:pPr algn="l" indent="0" marL="0">
                        <a:buNone/>
                      </a:pPr>
                      <a:r>
                        <a:rPr lang="en-US" sz="750" dirty="0">
                          <a:solidFill>
                            <a:srgbClr val="EDE7DE"/>
                          </a:solidFill>
                          <a:latin typeface="Jost" pitchFamily="34" charset="0"/>
                          <a:ea typeface="Jost" pitchFamily="34" charset="-122"/>
                          <a:cs typeface="Jost" pitchFamily="34" charset="-120"/>
                        </a:rPr>
                        <a:t>IV and regenerative lounge (8 chairs)</a:t>
                      </a:r>
                      <a:endParaRPr lang="en-US" sz="750" dirty="0">
                        <a:latin typeface="Jost" charset="0"/>
                        <a:ea typeface="Jost" charset="0"/>
                        <a:cs typeface="Jost" charset="0"/>
                      </a:endParaRPr>
                    </a:p>
                  </a:txBody>
                  <a:tcPr marL="18288" marR="18288" marT="18288" marB="18288"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375</a:t>
                      </a:r>
                      <a:endParaRPr lang="en-US" sz="750" dirty="0">
                        <a:latin typeface="Jost" charset="0"/>
                        <a:ea typeface="Jost" charset="0"/>
                        <a:cs typeface="Jost" charset="0"/>
                      </a:endParaRPr>
                    </a:p>
                  </a:txBody>
                  <a:tcPr marL="18288" marR="18288" marT="18288" marB="18288"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87452">
                <a:tc>
                  <a:txBody>
                    <a:bodyPr/>
                    <a:lstStyle/>
                    <a:p>
                      <a:pPr algn="l" indent="0" marL="0">
                        <a:buNone/>
                      </a:pPr>
                      <a:r>
                        <a:rPr lang="en-US" sz="750" dirty="0">
                          <a:solidFill>
                            <a:srgbClr val="EDE7DE"/>
                          </a:solidFill>
                          <a:latin typeface="Jost" pitchFamily="34" charset="0"/>
                          <a:ea typeface="Jost" pitchFamily="34" charset="-122"/>
                          <a:cs typeface="Jost" pitchFamily="34" charset="-120"/>
                        </a:rPr>
                        <a:t>Treatment rooms (3)</a:t>
                      </a:r>
                      <a:endParaRPr lang="en-US" sz="750" dirty="0">
                        <a:latin typeface="Jost" charset="0"/>
                        <a:ea typeface="Jost" charset="0"/>
                        <a:cs typeface="Jost" charset="0"/>
                      </a:endParaRPr>
                    </a:p>
                  </a:txBody>
                  <a:tcPr marL="18288" marR="18288" marT="18288" marB="18288"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300</a:t>
                      </a:r>
                      <a:endParaRPr lang="en-US" sz="750" dirty="0">
                        <a:latin typeface="Jost" charset="0"/>
                        <a:ea typeface="Jost" charset="0"/>
                        <a:cs typeface="Jost" charset="0"/>
                      </a:endParaRPr>
                    </a:p>
                  </a:txBody>
                  <a:tcPr marL="18288" marR="18288" marT="18288" marB="18288"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bl>
          </a:graphicData>
        </a:graphic>
      </p:graphicFrame>
      <p:graphicFrame>
        <p:nvGraphicFramePr>
          <p:cNvPr id="21" name="Table 1"/>
          <p:cNvGraphicFramePr>
            <a:graphicFrameLocks noGrp="1"/>
          </p:cNvGraphicFramePr>
          <p:nvPr>
            <p:extLst>
              <p:ext uri="{D42A27DB-BD31-4B8C-83A1-F6EECF244321}">
                <p14:modId xmlns:p14="http://schemas.microsoft.com/office/powerpoint/2010/main" val="1579011935"/>
              </p:ext>
            </p:extLst>
          </p:nvPr>
        </p:nvGraphicFramePr>
        <p:xfrm>
          <a:off x="4672584" y="2560320"/>
          <a:ext cx="3968496" cy="914400"/>
        </p:xfrm>
        <a:graphic>
          <a:graphicData uri="http://schemas.openxmlformats.org/drawingml/2006/table">
            <a:tbl>
              <a:tblPr/>
              <a:tblGrid>
                <a:gridCol w="3200400"/>
                <a:gridCol w="768096"/>
              </a:tblGrid>
              <a:tr h="187452">
                <a:tc>
                  <a:txBody>
                    <a:bodyPr/>
                    <a:lstStyle/>
                    <a:p>
                      <a:pPr algn="l" indent="0" marL="0">
                        <a:buNone/>
                      </a:pPr>
                      <a:r>
                        <a:rPr lang="en-US" sz="750" spc="140" kern="0" dirty="0">
                          <a:solidFill>
                            <a:srgbClr val="B08D57"/>
                          </a:solidFill>
                          <a:latin typeface="Jost" pitchFamily="34" charset="0"/>
                          <a:ea typeface="Jost" pitchFamily="34" charset="-122"/>
                          <a:cs typeface="Jost" pitchFamily="34" charset="-120"/>
                        </a:rPr>
                        <a:t>SPACE</a:t>
                      </a:r>
                      <a:endParaRPr lang="en-US" sz="750" dirty="0">
                        <a:latin typeface="Jost" charset="0"/>
                        <a:ea typeface="Jost" charset="0"/>
                        <a:cs typeface="Jost" charset="0"/>
                      </a:endParaRPr>
                    </a:p>
                  </a:txBody>
                  <a:tcPr marL="18288" marR="18288" marT="18288" marB="18288" anchor="ctr">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000000"/>
                    </a:solidFill>
                  </a:tcPr>
                </a:tc>
                <a:tc>
                  <a:txBody>
                    <a:bodyPr/>
                    <a:lstStyle/>
                    <a:p>
                      <a:pPr algn="r" indent="0" marL="0">
                        <a:buNone/>
                      </a:pPr>
                      <a:r>
                        <a:rPr lang="en-US" sz="750" spc="140" kern="0" dirty="0">
                          <a:solidFill>
                            <a:srgbClr val="B08D57"/>
                          </a:solidFill>
                          <a:latin typeface="Jost" pitchFamily="34" charset="0"/>
                          <a:ea typeface="Jost" pitchFamily="34" charset="-122"/>
                          <a:cs typeface="Jost" pitchFamily="34" charset="-120"/>
                        </a:rPr>
                        <a:t>SF</a:t>
                      </a:r>
                      <a:endParaRPr lang="en-US" sz="750" dirty="0">
                        <a:latin typeface="Jost" charset="0"/>
                        <a:ea typeface="Jost" charset="0"/>
                        <a:cs typeface="Jost" charset="0"/>
                      </a:endParaRPr>
                    </a:p>
                  </a:txBody>
                  <a:tcPr marL="18288" marR="18288" marT="18288" marB="18288" anchor="ctr">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000000"/>
                    </a:solidFill>
                  </a:tcPr>
                </a:tc>
              </a:tr>
              <a:tr h="187452">
                <a:tc>
                  <a:txBody>
                    <a:bodyPr/>
                    <a:lstStyle/>
                    <a:p>
                      <a:pPr algn="l" indent="0" marL="0">
                        <a:buNone/>
                      </a:pPr>
                      <a:r>
                        <a:rPr lang="en-US" sz="750" dirty="0">
                          <a:solidFill>
                            <a:srgbClr val="EDE7DE"/>
                          </a:solidFill>
                          <a:latin typeface="Jost" pitchFamily="34" charset="0"/>
                          <a:ea typeface="Jost" pitchFamily="34" charset="-122"/>
                          <a:cs typeface="Jost" pitchFamily="34" charset="-120"/>
                        </a:rPr>
                        <a:t>Diagnostics and consult (2)</a:t>
                      </a:r>
                      <a:endParaRPr lang="en-US" sz="750" dirty="0">
                        <a:latin typeface="Jost" charset="0"/>
                        <a:ea typeface="Jost" charset="0"/>
                        <a:cs typeface="Jost" charset="0"/>
                      </a:endParaRPr>
                    </a:p>
                  </a:txBody>
                  <a:tcPr marL="18288" marR="18288" marT="18288" marB="18288"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250</a:t>
                      </a:r>
                      <a:endParaRPr lang="en-US" sz="750" dirty="0">
                        <a:latin typeface="Jost" charset="0"/>
                        <a:ea typeface="Jost" charset="0"/>
                        <a:cs typeface="Jost" charset="0"/>
                      </a:endParaRPr>
                    </a:p>
                  </a:txBody>
                  <a:tcPr marL="18288" marR="18288" marT="18288" marB="18288"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87452">
                <a:tc>
                  <a:txBody>
                    <a:bodyPr/>
                    <a:lstStyle/>
                    <a:p>
                      <a:pPr algn="l" indent="0" marL="0">
                        <a:buNone/>
                      </a:pPr>
                      <a:r>
                        <a:rPr lang="en-US" sz="750" dirty="0">
                          <a:solidFill>
                            <a:srgbClr val="EDE7DE"/>
                          </a:solidFill>
                          <a:latin typeface="Jost" pitchFamily="34" charset="0"/>
                          <a:ea typeface="Jost" pitchFamily="34" charset="-122"/>
                          <a:cs typeface="Jost" pitchFamily="34" charset="-120"/>
                        </a:rPr>
                        <a:t>Diagnostic imaging (GE iDXA densitometer)</a:t>
                      </a:r>
                      <a:endParaRPr lang="en-US" sz="750" dirty="0">
                        <a:latin typeface="Jost" charset="0"/>
                        <a:ea typeface="Jost" charset="0"/>
                        <a:cs typeface="Jost" charset="0"/>
                      </a:endParaRPr>
                    </a:p>
                  </a:txBody>
                  <a:tcPr marL="18288" marR="18288" marT="18288" marB="18288"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125</a:t>
                      </a:r>
                      <a:endParaRPr lang="en-US" sz="750" dirty="0">
                        <a:latin typeface="Jost" charset="0"/>
                        <a:ea typeface="Jost" charset="0"/>
                        <a:cs typeface="Jost" charset="0"/>
                      </a:endParaRPr>
                    </a:p>
                  </a:txBody>
                  <a:tcPr marL="18288" marR="18288" marT="18288" marB="18288"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87452">
                <a:tc>
                  <a:txBody>
                    <a:bodyPr/>
                    <a:lstStyle/>
                    <a:p>
                      <a:pPr algn="l" indent="0" marL="0">
                        <a:buNone/>
                      </a:pPr>
                      <a:r>
                        <a:rPr lang="en-US" sz="750" dirty="0">
                          <a:solidFill>
                            <a:srgbClr val="EDE7DE"/>
                          </a:solidFill>
                          <a:latin typeface="Jost" pitchFamily="34" charset="0"/>
                          <a:ea typeface="Jost" pitchFamily="34" charset="-122"/>
                          <a:cs typeface="Jost" pitchFamily="34" charset="-120"/>
                        </a:rPr>
                        <a:t>Locker, shower, changing, bathrooms</a:t>
                      </a:r>
                      <a:endParaRPr lang="en-US" sz="750" dirty="0">
                        <a:latin typeface="Jost" charset="0"/>
                        <a:ea typeface="Jost" charset="0"/>
                        <a:cs typeface="Jost" charset="0"/>
                      </a:endParaRPr>
                    </a:p>
                  </a:txBody>
                  <a:tcPr marL="18288" marR="18288" marT="18288" marB="18288"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550</a:t>
                      </a:r>
                      <a:endParaRPr lang="en-US" sz="750" dirty="0">
                        <a:latin typeface="Jost" charset="0"/>
                        <a:ea typeface="Jost" charset="0"/>
                        <a:cs typeface="Jost" charset="0"/>
                      </a:endParaRPr>
                    </a:p>
                  </a:txBody>
                  <a:tcPr marL="18288" marR="18288" marT="18288" marB="18288"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87452">
                <a:tc>
                  <a:txBody>
                    <a:bodyPr/>
                    <a:lstStyle/>
                    <a:p>
                      <a:pPr algn="l" indent="0" marL="0">
                        <a:buNone/>
                      </a:pPr>
                      <a:r>
                        <a:rPr lang="en-US" sz="750" dirty="0">
                          <a:solidFill>
                            <a:srgbClr val="EDE7DE"/>
                          </a:solidFill>
                          <a:latin typeface="Jost" pitchFamily="34" charset="0"/>
                          <a:ea typeface="Jost" pitchFamily="34" charset="-122"/>
                          <a:cs typeface="Jost" pitchFamily="34" charset="-120"/>
                        </a:rPr>
                        <a:t>Admin offices (2)</a:t>
                      </a:r>
                      <a:endParaRPr lang="en-US" sz="750" dirty="0">
                        <a:latin typeface="Jost" charset="0"/>
                        <a:ea typeface="Jost" charset="0"/>
                        <a:cs typeface="Jost" charset="0"/>
                      </a:endParaRPr>
                    </a:p>
                  </a:txBody>
                  <a:tcPr marL="18288" marR="18288" marT="18288" marB="18288"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200</a:t>
                      </a:r>
                      <a:endParaRPr lang="en-US" sz="750" dirty="0">
                        <a:latin typeface="Jost" charset="0"/>
                        <a:ea typeface="Jost" charset="0"/>
                        <a:cs typeface="Jost" charset="0"/>
                      </a:endParaRPr>
                    </a:p>
                  </a:txBody>
                  <a:tcPr marL="18288" marR="18288" marT="18288" marB="18288"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87452">
                <a:tc>
                  <a:txBody>
                    <a:bodyPr/>
                    <a:lstStyle/>
                    <a:p>
                      <a:pPr algn="l" indent="0" marL="0">
                        <a:buNone/>
                      </a:pPr>
                      <a:r>
                        <a:rPr lang="en-US" sz="750" dirty="0">
                          <a:solidFill>
                            <a:srgbClr val="EDE7DE"/>
                          </a:solidFill>
                          <a:latin typeface="Jost" pitchFamily="34" charset="0"/>
                          <a:ea typeface="Jost" pitchFamily="34" charset="-122"/>
                          <a:cs typeface="Jost" pitchFamily="34" charset="-120"/>
                        </a:rPr>
                        <a:t>Kitchen and breakroom</a:t>
                      </a:r>
                      <a:endParaRPr lang="en-US" sz="750" dirty="0">
                        <a:latin typeface="Jost" charset="0"/>
                        <a:ea typeface="Jost" charset="0"/>
                        <a:cs typeface="Jost" charset="0"/>
                      </a:endParaRPr>
                    </a:p>
                  </a:txBody>
                  <a:tcPr marL="18288" marR="18288" marT="18288" marB="18288"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200</a:t>
                      </a:r>
                      <a:endParaRPr lang="en-US" sz="750" dirty="0">
                        <a:latin typeface="Jost" charset="0"/>
                        <a:ea typeface="Jost" charset="0"/>
                        <a:cs typeface="Jost" charset="0"/>
                      </a:endParaRPr>
                    </a:p>
                  </a:txBody>
                  <a:tcPr marL="18288" marR="18288" marT="18288" marB="18288"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87452">
                <a:tc>
                  <a:txBody>
                    <a:bodyPr/>
                    <a:lstStyle/>
                    <a:p>
                      <a:pPr algn="l" indent="0" marL="0">
                        <a:buNone/>
                      </a:pPr>
                      <a:r>
                        <a:rPr lang="en-US" sz="750" dirty="0">
                          <a:solidFill>
                            <a:srgbClr val="EDE7DE"/>
                          </a:solidFill>
                          <a:latin typeface="Jost" pitchFamily="34" charset="0"/>
                          <a:ea typeface="Jost" pitchFamily="34" charset="-122"/>
                          <a:cs typeface="Jost" pitchFamily="34" charset="-120"/>
                        </a:rPr>
                        <a:t>Storage</a:t>
                      </a:r>
                      <a:endParaRPr lang="en-US" sz="750" dirty="0">
                        <a:latin typeface="Jost" charset="0"/>
                        <a:ea typeface="Jost" charset="0"/>
                        <a:cs typeface="Jost" charset="0"/>
                      </a:endParaRPr>
                    </a:p>
                  </a:txBody>
                  <a:tcPr marL="18288" marR="18288" marT="18288" marB="18288"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150</a:t>
                      </a:r>
                      <a:endParaRPr lang="en-US" sz="750" dirty="0">
                        <a:latin typeface="Jost" charset="0"/>
                        <a:ea typeface="Jost" charset="0"/>
                        <a:cs typeface="Jost" charset="0"/>
                      </a:endParaRPr>
                    </a:p>
                  </a:txBody>
                  <a:tcPr marL="18288" marR="18288" marT="18288" marB="18288"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87452">
                <a:tc>
                  <a:txBody>
                    <a:bodyPr/>
                    <a:lstStyle/>
                    <a:p>
                      <a:pPr algn="l" indent="0" marL="0">
                        <a:buNone/>
                      </a:pPr>
                      <a:r>
                        <a:rPr lang="en-US" sz="750" dirty="0">
                          <a:solidFill>
                            <a:srgbClr val="EDE7DE"/>
                          </a:solidFill>
                          <a:latin typeface="Jost" pitchFamily="34" charset="0"/>
                          <a:ea typeface="Jost" pitchFamily="34" charset="-122"/>
                          <a:cs typeface="Jost" pitchFamily="34" charset="-120"/>
                        </a:rPr>
                        <a:t>MEP</a:t>
                      </a:r>
                      <a:endParaRPr lang="en-US" sz="750" dirty="0">
                        <a:latin typeface="Jost" charset="0"/>
                        <a:ea typeface="Jost" charset="0"/>
                        <a:cs typeface="Jost" charset="0"/>
                      </a:endParaRPr>
                    </a:p>
                  </a:txBody>
                  <a:tcPr marL="18288" marR="18288" marT="18288" marB="18288"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75</a:t>
                      </a:r>
                      <a:endParaRPr lang="en-US" sz="750" dirty="0">
                        <a:latin typeface="Jost" charset="0"/>
                        <a:ea typeface="Jost" charset="0"/>
                        <a:cs typeface="Jost" charset="0"/>
                      </a:endParaRPr>
                    </a:p>
                  </a:txBody>
                  <a:tcPr marL="18288" marR="18288" marT="18288" marB="18288"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87452">
                <a:tc>
                  <a:txBody>
                    <a:bodyPr/>
                    <a:lstStyle/>
                    <a:p>
                      <a:pPr algn="l" indent="0" marL="0">
                        <a:buNone/>
                      </a:pPr>
                      <a:r>
                        <a:rPr lang="en-US" sz="750" dirty="0">
                          <a:solidFill>
                            <a:srgbClr val="EDE7DE"/>
                          </a:solidFill>
                          <a:latin typeface="Jost" pitchFamily="34" charset="0"/>
                          <a:ea typeface="Jost" pitchFamily="34" charset="-122"/>
                          <a:cs typeface="Jost" pitchFamily="34" charset="-120"/>
                        </a:rPr>
                        <a:t>Biohazard and linen closets</a:t>
                      </a:r>
                      <a:endParaRPr lang="en-US" sz="750" dirty="0">
                        <a:latin typeface="Jost" charset="0"/>
                        <a:ea typeface="Jost" charset="0"/>
                        <a:cs typeface="Jost" charset="0"/>
                      </a:endParaRPr>
                    </a:p>
                  </a:txBody>
                  <a:tcPr marL="18288" marR="18288" marT="18288" marB="18288"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30</a:t>
                      </a:r>
                      <a:endParaRPr lang="en-US" sz="750" dirty="0">
                        <a:latin typeface="Jost" charset="0"/>
                        <a:ea typeface="Jost" charset="0"/>
                        <a:cs typeface="Jost" charset="0"/>
                      </a:endParaRPr>
                    </a:p>
                  </a:txBody>
                  <a:tcPr marL="18288" marR="18288" marT="18288" marB="18288"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87452">
                <a:tc>
                  <a:txBody>
                    <a:bodyPr/>
                    <a:lstStyle/>
                    <a:p>
                      <a:pPr algn="l" indent="0" marL="0">
                        <a:buNone/>
                      </a:pPr>
                      <a:r>
                        <a:rPr lang="en-US" sz="750" dirty="0">
                          <a:solidFill>
                            <a:srgbClr val="EDE7DE"/>
                          </a:solidFill>
                          <a:latin typeface="Jost" pitchFamily="34" charset="0"/>
                          <a:ea typeface="Jost" pitchFamily="34" charset="-122"/>
                          <a:cs typeface="Jost" pitchFamily="34" charset="-120"/>
                        </a:rPr>
                        <a:t>Circulation and grossing factor</a:t>
                      </a:r>
                      <a:endParaRPr lang="en-US" sz="750" dirty="0">
                        <a:latin typeface="Jost" charset="0"/>
                        <a:ea typeface="Jost" charset="0"/>
                        <a:cs typeface="Jost" charset="0"/>
                      </a:endParaRPr>
                    </a:p>
                  </a:txBody>
                  <a:tcPr marL="18288" marR="18288" marT="18288" marB="18288"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890</a:t>
                      </a:r>
                      <a:endParaRPr lang="en-US" sz="750" dirty="0">
                        <a:latin typeface="Jost" charset="0"/>
                        <a:ea typeface="Jost" charset="0"/>
                        <a:cs typeface="Jost" charset="0"/>
                      </a:endParaRPr>
                    </a:p>
                  </a:txBody>
                  <a:tcPr marL="18288" marR="18288" marT="18288" marB="18288"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bl>
          </a:graphicData>
        </a:graphic>
      </p:graphicFrame>
      <p:sp>
        <p:nvSpPr>
          <p:cNvPr id="17" name="Text 13"/>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B6965"/>
                </a:solidFill>
                <a:latin typeface="Jost" pitchFamily="34" charset="0"/>
                <a:ea typeface="Jost" pitchFamily="34" charset="-122"/>
                <a:cs typeface="Jost" pitchFamily="34" charset="-120"/>
              </a:rPr>
              <a:t>L&amp;K WELLNESS  ·  PRIVATE INVESTMENT BRIEF  ·  CONFIDENTIAL</a:t>
            </a:r>
            <a:endParaRPr lang="en-US" sz="700" dirty="0"/>
          </a:p>
        </p:txBody>
      </p:sp>
      <p:sp>
        <p:nvSpPr>
          <p:cNvPr id="18" name="Text 14"/>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B6965"/>
                </a:solidFill>
                <a:latin typeface="Jost" pitchFamily="34" charset="0"/>
                <a:ea typeface="Jost" pitchFamily="34" charset="-122"/>
                <a:cs typeface="Jost" pitchFamily="34" charset="-120"/>
              </a:rPr>
              <a:t>10</a:t>
            </a:r>
            <a:endParaRPr lang="en-US" sz="7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B08D57"/>
                </a:solidFill>
                <a:latin typeface="Jost" pitchFamily="34" charset="0"/>
                <a:ea typeface="Jost" pitchFamily="34" charset="-122"/>
                <a:cs typeface="Jost" pitchFamily="34" charset="-120"/>
              </a:rPr>
              <a:t>THE FACILITY</a:t>
            </a:r>
            <a:endParaRPr lang="en-US" sz="900" dirty="0"/>
          </a:p>
        </p:txBody>
      </p:sp>
      <p:sp>
        <p:nvSpPr>
          <p:cNvPr id="3" name="Shape 1"/>
          <p:cNvSpPr/>
          <p:nvPr/>
        </p:nvSpPr>
        <p:spPr>
          <a:xfrm>
            <a:off x="502920" y="557784"/>
            <a:ext cx="566928" cy="12802"/>
          </a:xfrm>
          <a:prstGeom prst="rect">
            <a:avLst/>
          </a:prstGeom>
          <a:solidFill>
            <a:srgbClr val="B08D57"/>
          </a:solidFill>
          <a:ln w="12700">
            <a:solidFill>
              <a:srgbClr val="B08D57"/>
            </a:solidFill>
            <a:prstDash val="solid"/>
          </a:ln>
        </p:spPr>
      </p:sp>
      <p:sp>
        <p:nvSpPr>
          <p:cNvPr id="4" name="Text 2"/>
          <p:cNvSpPr/>
          <p:nvPr/>
        </p:nvSpPr>
        <p:spPr>
          <a:xfrm>
            <a:off x="502920" y="621792"/>
            <a:ext cx="8138160" cy="548640"/>
          </a:xfrm>
          <a:prstGeom prst="rect">
            <a:avLst/>
          </a:prstGeom>
          <a:noFill/>
          <a:ln/>
        </p:spPr>
        <p:txBody>
          <a:bodyPr wrap="square" rtlCol="0" anchor="t"/>
          <a:lstStyle/>
          <a:p>
            <a:pPr indent="0" marL="0">
              <a:buNone/>
            </a:pPr>
            <a:r>
              <a:rPr lang="en-US" sz="2600" spc="400" kern="0" dirty="0">
                <a:solidFill>
                  <a:srgbClr val="EDE7DE"/>
                </a:solidFill>
                <a:latin typeface="Cormorant Garamond" pitchFamily="34" charset="0"/>
                <a:ea typeface="Cormorant Garamond" pitchFamily="34" charset="-122"/>
                <a:cs typeface="Cormorant Garamond" pitchFamily="34" charset="-120"/>
              </a:rPr>
              <a:t>STATIONS AND EQUIPMENT</a:t>
            </a:r>
            <a:endParaRPr lang="en-US" sz="2600" dirty="0"/>
          </a:p>
        </p:txBody>
      </p:sp>
      <p:sp>
        <p:nvSpPr>
          <p:cNvPr id="5" name="Text 3"/>
          <p:cNvSpPr/>
          <p:nvPr/>
        </p:nvSpPr>
        <p:spPr>
          <a:xfrm>
            <a:off x="502920" y="1115568"/>
            <a:ext cx="7487107" cy="457200"/>
          </a:xfrm>
          <a:prstGeom prst="rect">
            <a:avLst/>
          </a:prstGeom>
          <a:noFill/>
          <a:ln/>
        </p:spPr>
        <p:txBody>
          <a:bodyPr wrap="square" rtlCol="0" anchor="t"/>
          <a:lstStyle/>
          <a:p>
            <a:pPr indent="0" marL="0">
              <a:lnSpc>
                <a:spcPct val="120000"/>
              </a:lnSpc>
              <a:buNone/>
            </a:pPr>
            <a:r>
              <a:rPr lang="en-US" sz="1050" dirty="0">
                <a:solidFill>
                  <a:srgbClr val="C9BCA9"/>
                </a:solidFill>
                <a:latin typeface="Jost" pitchFamily="34" charset="0"/>
                <a:ea typeface="Jost" pitchFamily="34" charset="-122"/>
                <a:cs typeface="Jost" pitchFamily="34" charset="-120"/>
              </a:rPr>
              <a:t>What sits in the 4,925 square feet, and how it is paid for.</a:t>
            </a:r>
            <a:endParaRPr lang="en-US" sz="105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502920" y="1691640"/>
          <a:ext cx="3968496" cy="914400"/>
        </p:xfrm>
        <a:graphic>
          <a:graphicData uri="http://schemas.openxmlformats.org/drawingml/2006/table">
            <a:tbl>
              <a:tblPr/>
              <a:tblGrid>
                <a:gridCol w="3200400"/>
                <a:gridCol w="768096"/>
              </a:tblGrid>
              <a:tr h="219456">
                <a:tc>
                  <a:txBody>
                    <a:bodyPr/>
                    <a:lstStyle/>
                    <a:p>
                      <a:pPr algn="l" indent="0" marL="0">
                        <a:buNone/>
                      </a:pPr>
                      <a:r>
                        <a:rPr lang="en-US" sz="750" spc="140" kern="0" dirty="0">
                          <a:solidFill>
                            <a:srgbClr val="B08D57"/>
                          </a:solidFill>
                          <a:latin typeface="Jost" pitchFamily="34" charset="0"/>
                          <a:ea typeface="Jost" pitchFamily="34" charset="-122"/>
                          <a:cs typeface="Jost" pitchFamily="34" charset="-120"/>
                        </a:rPr>
                        <a:t>STATION</a:t>
                      </a:r>
                      <a:endParaRPr lang="en-US" sz="750" dirty="0">
                        <a:latin typeface="Jost" charset="0"/>
                        <a:ea typeface="Jost" charset="0"/>
                        <a:cs typeface="Jost" charset="0"/>
                      </a:endParaRPr>
                    </a:p>
                  </a:txBody>
                  <a:tcPr marL="36576" marR="36576" marT="36576" marB="36576" anchor="ctr">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000000"/>
                    </a:solidFill>
                  </a:tcPr>
                </a:tc>
                <a:tc>
                  <a:txBody>
                    <a:bodyPr/>
                    <a:lstStyle/>
                    <a:p>
                      <a:pPr algn="r" indent="0" marL="0">
                        <a:buNone/>
                      </a:pPr>
                      <a:r>
                        <a:rPr lang="en-US" sz="750" spc="140" kern="0" dirty="0">
                          <a:solidFill>
                            <a:srgbClr val="B08D57"/>
                          </a:solidFill>
                          <a:latin typeface="Jost" pitchFamily="34" charset="0"/>
                          <a:ea typeface="Jost" pitchFamily="34" charset="-122"/>
                          <a:cs typeface="Jost" pitchFamily="34" charset="-120"/>
                        </a:rPr>
                        <a:t>COUNT</a:t>
                      </a:r>
                      <a:endParaRPr lang="en-US" sz="750" dirty="0">
                        <a:latin typeface="Jost" charset="0"/>
                        <a:ea typeface="Jost" charset="0"/>
                        <a:cs typeface="Jost" charset="0"/>
                      </a:endParaRPr>
                    </a:p>
                  </a:txBody>
                  <a:tcPr marL="36576" marR="36576" marT="36576" marB="36576" anchor="ctr">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000000"/>
                    </a:solidFill>
                  </a:tcPr>
                </a:tc>
              </a:tr>
              <a:tr h="219456">
                <a:tc>
                  <a:txBody>
                    <a:bodyPr/>
                    <a:lstStyle/>
                    <a:p>
                      <a:pPr algn="l" indent="0" marL="0">
                        <a:buNone/>
                      </a:pPr>
                      <a:r>
                        <a:rPr lang="en-US" sz="850" dirty="0">
                          <a:solidFill>
                            <a:srgbClr val="EDE7DE"/>
                          </a:solidFill>
                          <a:latin typeface="Jost" pitchFamily="34" charset="0"/>
                          <a:ea typeface="Jost" pitchFamily="34" charset="-122"/>
                          <a:cs typeface="Jost" pitchFamily="34" charset="-120"/>
                        </a:rPr>
                        <a:t>Treatment rooms</a:t>
                      </a:r>
                      <a:endParaRPr lang="en-US" sz="85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850" dirty="0">
                          <a:solidFill>
                            <a:srgbClr val="C9BCA9"/>
                          </a:solidFill>
                          <a:latin typeface="Jost" pitchFamily="34" charset="0"/>
                          <a:ea typeface="Jost" pitchFamily="34" charset="-122"/>
                          <a:cs typeface="Jost" pitchFamily="34" charset="-120"/>
                        </a:rPr>
                        <a:t>3</a:t>
                      </a:r>
                      <a:endParaRPr lang="en-US" sz="85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219456">
                <a:tc>
                  <a:txBody>
                    <a:bodyPr/>
                    <a:lstStyle/>
                    <a:p>
                      <a:pPr algn="l" indent="0" marL="0">
                        <a:buNone/>
                      </a:pPr>
                      <a:r>
                        <a:rPr lang="en-US" sz="850" dirty="0">
                          <a:solidFill>
                            <a:srgbClr val="EDE7DE"/>
                          </a:solidFill>
                          <a:latin typeface="Jost" pitchFamily="34" charset="0"/>
                          <a:ea typeface="Jost" pitchFamily="34" charset="-122"/>
                          <a:cs typeface="Jost" pitchFamily="34" charset="-120"/>
                        </a:rPr>
                        <a:t>IV / regenerative chairs</a:t>
                      </a:r>
                      <a:endParaRPr lang="en-US" sz="85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850" dirty="0">
                          <a:solidFill>
                            <a:srgbClr val="C9BCA9"/>
                          </a:solidFill>
                          <a:latin typeface="Jost" pitchFamily="34" charset="0"/>
                          <a:ea typeface="Jost" pitchFamily="34" charset="-122"/>
                          <a:cs typeface="Jost" pitchFamily="34" charset="-120"/>
                        </a:rPr>
                        <a:t>8</a:t>
                      </a:r>
                      <a:endParaRPr lang="en-US" sz="85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219456">
                <a:tc>
                  <a:txBody>
                    <a:bodyPr/>
                    <a:lstStyle/>
                    <a:p>
                      <a:pPr algn="l" indent="0" marL="0">
                        <a:buNone/>
                      </a:pPr>
                      <a:r>
                        <a:rPr lang="en-US" sz="850" dirty="0">
                          <a:solidFill>
                            <a:srgbClr val="EDE7DE"/>
                          </a:solidFill>
                          <a:latin typeface="Jost" pitchFamily="34" charset="0"/>
                          <a:ea typeface="Jost" pitchFamily="34" charset="-122"/>
                          <a:cs typeface="Jost" pitchFamily="34" charset="-120"/>
                        </a:rPr>
                        <a:t>Saunas</a:t>
                      </a:r>
                      <a:endParaRPr lang="en-US" sz="85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850" dirty="0">
                          <a:solidFill>
                            <a:srgbClr val="C9BCA9"/>
                          </a:solidFill>
                          <a:latin typeface="Jost" pitchFamily="34" charset="0"/>
                          <a:ea typeface="Jost" pitchFamily="34" charset="-122"/>
                          <a:cs typeface="Jost" pitchFamily="34" charset="-120"/>
                        </a:rPr>
                        <a:t>2</a:t>
                      </a:r>
                      <a:endParaRPr lang="en-US" sz="85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219456">
                <a:tc>
                  <a:txBody>
                    <a:bodyPr/>
                    <a:lstStyle/>
                    <a:p>
                      <a:pPr algn="l" indent="0" marL="0">
                        <a:buNone/>
                      </a:pPr>
                      <a:r>
                        <a:rPr lang="en-US" sz="850" dirty="0">
                          <a:solidFill>
                            <a:srgbClr val="EDE7DE"/>
                          </a:solidFill>
                          <a:latin typeface="Jost" pitchFamily="34" charset="0"/>
                          <a:ea typeface="Jost" pitchFamily="34" charset="-122"/>
                          <a:cs typeface="Jost" pitchFamily="34" charset="-120"/>
                        </a:rPr>
                        <a:t>Cold plunges</a:t>
                      </a:r>
                      <a:endParaRPr lang="en-US" sz="85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850" dirty="0">
                          <a:solidFill>
                            <a:srgbClr val="C9BCA9"/>
                          </a:solidFill>
                          <a:latin typeface="Jost" pitchFamily="34" charset="0"/>
                          <a:ea typeface="Jost" pitchFamily="34" charset="-122"/>
                          <a:cs typeface="Jost" pitchFamily="34" charset="-120"/>
                        </a:rPr>
                        <a:t>2</a:t>
                      </a:r>
                      <a:endParaRPr lang="en-US" sz="85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219456">
                <a:tc>
                  <a:txBody>
                    <a:bodyPr/>
                    <a:lstStyle/>
                    <a:p>
                      <a:pPr algn="l" indent="0" marL="0">
                        <a:buNone/>
                      </a:pPr>
                      <a:r>
                        <a:rPr lang="en-US" sz="850" dirty="0">
                          <a:solidFill>
                            <a:srgbClr val="EDE7DE"/>
                          </a:solidFill>
                          <a:latin typeface="Jost" pitchFamily="34" charset="0"/>
                          <a:ea typeface="Jost" pitchFamily="34" charset="-122"/>
                          <a:cs typeface="Jost" pitchFamily="34" charset="-120"/>
                        </a:rPr>
                        <a:t>Aescape robotic massage</a:t>
                      </a:r>
                      <a:endParaRPr lang="en-US" sz="85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850" dirty="0">
                          <a:solidFill>
                            <a:srgbClr val="C9BCA9"/>
                          </a:solidFill>
                          <a:latin typeface="Jost" pitchFamily="34" charset="0"/>
                          <a:ea typeface="Jost" pitchFamily="34" charset="-122"/>
                          <a:cs typeface="Jost" pitchFamily="34" charset="-120"/>
                        </a:rPr>
                        <a:t>1</a:t>
                      </a:r>
                      <a:endParaRPr lang="en-US" sz="85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219456">
                <a:tc>
                  <a:txBody>
                    <a:bodyPr/>
                    <a:lstStyle/>
                    <a:p>
                      <a:pPr algn="l" indent="0" marL="0">
                        <a:buNone/>
                      </a:pPr>
                      <a:r>
                        <a:rPr lang="en-US" sz="850" dirty="0">
                          <a:solidFill>
                            <a:srgbClr val="EDE7DE"/>
                          </a:solidFill>
                          <a:latin typeface="Jost" pitchFamily="34" charset="0"/>
                          <a:ea typeface="Jost" pitchFamily="34" charset="-122"/>
                          <a:cs typeface="Jost" pitchFamily="34" charset="-120"/>
                        </a:rPr>
                        <a:t>Ammortal chambers</a:t>
                      </a:r>
                      <a:endParaRPr lang="en-US" sz="85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850" dirty="0">
                          <a:solidFill>
                            <a:srgbClr val="C9BCA9"/>
                          </a:solidFill>
                          <a:latin typeface="Jost" pitchFamily="34" charset="0"/>
                          <a:ea typeface="Jost" pitchFamily="34" charset="-122"/>
                          <a:cs typeface="Jost" pitchFamily="34" charset="-120"/>
                        </a:rPr>
                        <a:t>1</a:t>
                      </a:r>
                      <a:endParaRPr lang="en-US" sz="85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bl>
          </a:graphicData>
        </a:graphic>
      </p:graphicFrame>
      <p:graphicFrame>
        <p:nvGraphicFramePr>
          <p:cNvPr id="23" name="Table 1"/>
          <p:cNvGraphicFramePr>
            <a:graphicFrameLocks noGrp="1"/>
          </p:cNvGraphicFramePr>
          <p:nvPr>
            <p:extLst>
              <p:ext uri="{D42A27DB-BD31-4B8C-83A1-F6EECF244321}">
                <p14:modId xmlns:p14="http://schemas.microsoft.com/office/powerpoint/2010/main" val="1579011935"/>
              </p:ext>
            </p:extLst>
          </p:nvPr>
        </p:nvGraphicFramePr>
        <p:xfrm>
          <a:off x="4672584" y="1691640"/>
          <a:ext cx="3968496" cy="914400"/>
        </p:xfrm>
        <a:graphic>
          <a:graphicData uri="http://schemas.openxmlformats.org/drawingml/2006/table">
            <a:tbl>
              <a:tblPr/>
              <a:tblGrid>
                <a:gridCol w="3200400"/>
                <a:gridCol w="768096"/>
              </a:tblGrid>
              <a:tr h="219456">
                <a:tc>
                  <a:txBody>
                    <a:bodyPr/>
                    <a:lstStyle/>
                    <a:p>
                      <a:pPr algn="l" indent="0" marL="0">
                        <a:buNone/>
                      </a:pPr>
                      <a:r>
                        <a:rPr lang="en-US" sz="750" spc="140" kern="0" dirty="0">
                          <a:solidFill>
                            <a:srgbClr val="B08D57"/>
                          </a:solidFill>
                          <a:latin typeface="Jost" pitchFamily="34" charset="0"/>
                          <a:ea typeface="Jost" pitchFamily="34" charset="-122"/>
                          <a:cs typeface="Jost" pitchFamily="34" charset="-120"/>
                        </a:rPr>
                        <a:t>STATION</a:t>
                      </a:r>
                      <a:endParaRPr lang="en-US" sz="750" dirty="0">
                        <a:latin typeface="Jost" charset="0"/>
                        <a:ea typeface="Jost" charset="0"/>
                        <a:cs typeface="Jost" charset="0"/>
                      </a:endParaRPr>
                    </a:p>
                  </a:txBody>
                  <a:tcPr marL="36576" marR="36576" marT="36576" marB="36576" anchor="ctr">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000000"/>
                    </a:solidFill>
                  </a:tcPr>
                </a:tc>
                <a:tc>
                  <a:txBody>
                    <a:bodyPr/>
                    <a:lstStyle/>
                    <a:p>
                      <a:pPr algn="r" indent="0" marL="0">
                        <a:buNone/>
                      </a:pPr>
                      <a:r>
                        <a:rPr lang="en-US" sz="750" spc="140" kern="0" dirty="0">
                          <a:solidFill>
                            <a:srgbClr val="B08D57"/>
                          </a:solidFill>
                          <a:latin typeface="Jost" pitchFamily="34" charset="0"/>
                          <a:ea typeface="Jost" pitchFamily="34" charset="-122"/>
                          <a:cs typeface="Jost" pitchFamily="34" charset="-120"/>
                        </a:rPr>
                        <a:t>COUNT</a:t>
                      </a:r>
                      <a:endParaRPr lang="en-US" sz="750" dirty="0">
                        <a:latin typeface="Jost" charset="0"/>
                        <a:ea typeface="Jost" charset="0"/>
                        <a:cs typeface="Jost" charset="0"/>
                      </a:endParaRPr>
                    </a:p>
                  </a:txBody>
                  <a:tcPr marL="36576" marR="36576" marT="36576" marB="36576" anchor="ctr">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000000"/>
                    </a:solidFill>
                  </a:tcPr>
                </a:tc>
              </a:tr>
              <a:tr h="219456">
                <a:tc>
                  <a:txBody>
                    <a:bodyPr/>
                    <a:lstStyle/>
                    <a:p>
                      <a:pPr algn="l" indent="0" marL="0">
                        <a:buNone/>
                      </a:pPr>
                      <a:r>
                        <a:rPr lang="en-US" sz="850" dirty="0">
                          <a:solidFill>
                            <a:srgbClr val="EDE7DE"/>
                          </a:solidFill>
                          <a:latin typeface="Jost" pitchFamily="34" charset="0"/>
                          <a:ea typeface="Jost" pitchFamily="34" charset="-122"/>
                          <a:cs typeface="Jost" pitchFamily="34" charset="-120"/>
                        </a:rPr>
                        <a:t>Hyperbaric chambers</a:t>
                      </a:r>
                      <a:endParaRPr lang="en-US" sz="85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850" dirty="0">
                          <a:solidFill>
                            <a:srgbClr val="C9BCA9"/>
                          </a:solidFill>
                          <a:latin typeface="Jost" pitchFamily="34" charset="0"/>
                          <a:ea typeface="Jost" pitchFamily="34" charset="-122"/>
                          <a:cs typeface="Jost" pitchFamily="34" charset="-120"/>
                        </a:rPr>
                        <a:t>1</a:t>
                      </a:r>
                      <a:endParaRPr lang="en-US" sz="85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219456">
                <a:tc>
                  <a:txBody>
                    <a:bodyPr/>
                    <a:lstStyle/>
                    <a:p>
                      <a:pPr algn="l" indent="0" marL="0">
                        <a:buNone/>
                      </a:pPr>
                      <a:r>
                        <a:rPr lang="en-US" sz="850" dirty="0">
                          <a:solidFill>
                            <a:srgbClr val="EDE7DE"/>
                          </a:solidFill>
                          <a:latin typeface="Jost" pitchFamily="34" charset="0"/>
                          <a:ea typeface="Jost" pitchFamily="34" charset="-122"/>
                          <a:cs typeface="Jost" pitchFamily="34" charset="-120"/>
                        </a:rPr>
                        <a:t>Redlight rooms</a:t>
                      </a:r>
                      <a:endParaRPr lang="en-US" sz="85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850" dirty="0">
                          <a:solidFill>
                            <a:srgbClr val="C9BCA9"/>
                          </a:solidFill>
                          <a:latin typeface="Jost" pitchFamily="34" charset="0"/>
                          <a:ea typeface="Jost" pitchFamily="34" charset="-122"/>
                          <a:cs typeface="Jost" pitchFamily="34" charset="-120"/>
                        </a:rPr>
                        <a:t>2</a:t>
                      </a:r>
                      <a:endParaRPr lang="en-US" sz="85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219456">
                <a:tc>
                  <a:txBody>
                    <a:bodyPr/>
                    <a:lstStyle/>
                    <a:p>
                      <a:pPr algn="l" indent="0" marL="0">
                        <a:buNone/>
                      </a:pPr>
                      <a:r>
                        <a:rPr lang="en-US" sz="850" dirty="0">
                          <a:solidFill>
                            <a:srgbClr val="EDE7DE"/>
                          </a:solidFill>
                          <a:latin typeface="Jost" pitchFamily="34" charset="0"/>
                          <a:ea typeface="Jost" pitchFamily="34" charset="-122"/>
                          <a:cs typeface="Jost" pitchFamily="34" charset="-120"/>
                        </a:rPr>
                        <a:t>Diagnostic / consult rooms</a:t>
                      </a:r>
                      <a:endParaRPr lang="en-US" sz="85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850" dirty="0">
                          <a:solidFill>
                            <a:srgbClr val="C9BCA9"/>
                          </a:solidFill>
                          <a:latin typeface="Jost" pitchFamily="34" charset="0"/>
                          <a:ea typeface="Jost" pitchFamily="34" charset="-122"/>
                          <a:cs typeface="Jost" pitchFamily="34" charset="-120"/>
                        </a:rPr>
                        <a:t>2</a:t>
                      </a:r>
                      <a:endParaRPr lang="en-US" sz="85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219456">
                <a:tc>
                  <a:txBody>
                    <a:bodyPr/>
                    <a:lstStyle/>
                    <a:p>
                      <a:pPr algn="l" indent="0" marL="0">
                        <a:buNone/>
                      </a:pPr>
                      <a:r>
                        <a:rPr lang="en-US" sz="850" dirty="0">
                          <a:solidFill>
                            <a:srgbClr val="EDE7DE"/>
                          </a:solidFill>
                          <a:latin typeface="Jost" pitchFamily="34" charset="0"/>
                          <a:ea typeface="Jost" pitchFamily="34" charset="-122"/>
                          <a:cs typeface="Jost" pitchFamily="34" charset="-120"/>
                        </a:rPr>
                        <a:t>DEXA scan room</a:t>
                      </a:r>
                      <a:endParaRPr lang="en-US" sz="85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850" dirty="0">
                          <a:solidFill>
                            <a:srgbClr val="C9BCA9"/>
                          </a:solidFill>
                          <a:latin typeface="Jost" pitchFamily="34" charset="0"/>
                          <a:ea typeface="Jost" pitchFamily="34" charset="-122"/>
                          <a:cs typeface="Jost" pitchFamily="34" charset="-120"/>
                        </a:rPr>
                        <a:t>1</a:t>
                      </a:r>
                      <a:endParaRPr lang="en-US" sz="85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219456">
                <a:tc>
                  <a:txBody>
                    <a:bodyPr/>
                    <a:lstStyle/>
                    <a:p>
                      <a:pPr algn="l" indent="0" marL="0">
                        <a:buNone/>
                      </a:pPr>
                      <a:r>
                        <a:rPr lang="en-US" sz="850" dirty="0">
                          <a:solidFill>
                            <a:srgbClr val="EDE7DE"/>
                          </a:solidFill>
                          <a:latin typeface="Jost" pitchFamily="34" charset="0"/>
                          <a:ea typeface="Jost" pitchFamily="34" charset="-122"/>
                          <a:cs typeface="Jost" pitchFamily="34" charset="-120"/>
                        </a:rPr>
                        <a:t>Recovery stations</a:t>
                      </a:r>
                      <a:endParaRPr lang="en-US" sz="85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850" dirty="0">
                          <a:solidFill>
                            <a:srgbClr val="C9BCA9"/>
                          </a:solidFill>
                          <a:latin typeface="Jost" pitchFamily="34" charset="0"/>
                          <a:ea typeface="Jost" pitchFamily="34" charset="-122"/>
                          <a:cs typeface="Jost" pitchFamily="34" charset="-120"/>
                        </a:rPr>
                        <a:t>4</a:t>
                      </a:r>
                      <a:endParaRPr lang="en-US" sz="85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bl>
          </a:graphicData>
        </a:graphic>
      </p:graphicFrame>
      <p:sp>
        <p:nvSpPr>
          <p:cNvPr id="8" name="Shape 4"/>
          <p:cNvSpPr/>
          <p:nvPr/>
        </p:nvSpPr>
        <p:spPr>
          <a:xfrm>
            <a:off x="502920" y="3429000"/>
            <a:ext cx="8138160" cy="1143000"/>
          </a:xfrm>
          <a:prstGeom prst="rect">
            <a:avLst/>
          </a:prstGeom>
          <a:solidFill>
            <a:srgbClr val="1C1C1E"/>
          </a:solidFill>
          <a:ln w="9525">
            <a:solidFill>
              <a:srgbClr val="271F13"/>
            </a:solidFill>
            <a:prstDash val="solid"/>
          </a:ln>
        </p:spPr>
      </p:sp>
      <p:sp>
        <p:nvSpPr>
          <p:cNvPr id="9" name="Text 5"/>
          <p:cNvSpPr/>
          <p:nvPr/>
        </p:nvSpPr>
        <p:spPr>
          <a:xfrm>
            <a:off x="649224" y="3557016"/>
            <a:ext cx="7845552" cy="182880"/>
          </a:xfrm>
          <a:prstGeom prst="rect">
            <a:avLst/>
          </a:prstGeom>
          <a:noFill/>
          <a:ln/>
        </p:spPr>
        <p:txBody>
          <a:bodyPr wrap="square" rtlCol="0" anchor="ctr"/>
          <a:lstStyle/>
          <a:p>
            <a:pPr indent="0" marL="0">
              <a:buNone/>
            </a:pPr>
            <a:r>
              <a:rPr lang="en-US" sz="750" spc="200" kern="0" dirty="0">
                <a:solidFill>
                  <a:srgbClr val="B08D57"/>
                </a:solidFill>
                <a:latin typeface="Jost" pitchFamily="34" charset="0"/>
                <a:ea typeface="Jost" pitchFamily="34" charset="-122"/>
                <a:cs typeface="Jost" pitchFamily="34" charset="-120"/>
              </a:rPr>
              <a:t>EQUIPMENT STRATEGY</a:t>
            </a:r>
            <a:endParaRPr lang="en-US" sz="750" dirty="0"/>
          </a:p>
        </p:txBody>
      </p:sp>
      <p:sp>
        <p:nvSpPr>
          <p:cNvPr id="10" name="Text 6"/>
          <p:cNvSpPr/>
          <p:nvPr/>
        </p:nvSpPr>
        <p:spPr>
          <a:xfrm>
            <a:off x="649224" y="3776472"/>
            <a:ext cx="7845552" cy="685800"/>
          </a:xfrm>
          <a:prstGeom prst="rect">
            <a:avLst/>
          </a:prstGeom>
          <a:noFill/>
          <a:ln/>
        </p:spPr>
        <p:txBody>
          <a:bodyPr wrap="square" rtlCol="0" anchor="t"/>
          <a:lstStyle/>
          <a:p>
            <a:pPr indent="0" marL="0">
              <a:lnSpc>
                <a:spcPct val="120000"/>
              </a:lnSpc>
              <a:buNone/>
            </a:pPr>
            <a:r>
              <a:rPr lang="en-US" sz="900" dirty="0">
                <a:solidFill>
                  <a:srgbClr val="C9BCA9"/>
                </a:solidFill>
                <a:latin typeface="Jost" pitchFamily="34" charset="0"/>
                <a:ea typeface="Jost" pitchFamily="34" charset="-122"/>
                <a:cs typeface="Jost" pitchFamily="34" charset="-120"/>
              </a:rPr>
              <a:t>Purchased where payback justifies it. Wet areas drive cost: plunges, saunas and steam carry a materially higher per-SF buildout than a dry medspa, which is why the lean case trims the contrast suite before it trims treatment rooms.</a:t>
            </a:r>
            <a:endParaRPr lang="en-US" sz="900" dirty="0"/>
          </a:p>
        </p:txBody>
      </p:sp>
      <p:sp>
        <p:nvSpPr>
          <p:cNvPr id="11" name="Text 7"/>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B6965"/>
                </a:solidFill>
                <a:latin typeface="Jost" pitchFamily="34" charset="0"/>
                <a:ea typeface="Jost" pitchFamily="34" charset="-122"/>
                <a:cs typeface="Jost" pitchFamily="34" charset="-120"/>
              </a:rPr>
              <a:t>L&amp;K WELLNESS  ·  PRIVATE INVESTMENT BRIEF  ·  CONFIDENTIAL</a:t>
            </a:r>
            <a:endParaRPr lang="en-US" sz="700" dirty="0"/>
          </a:p>
        </p:txBody>
      </p:sp>
      <p:sp>
        <p:nvSpPr>
          <p:cNvPr id="12" name="Text 8"/>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B6965"/>
                </a:solidFill>
                <a:latin typeface="Jost" pitchFamily="34" charset="0"/>
                <a:ea typeface="Jost" pitchFamily="34" charset="-122"/>
                <a:cs typeface="Jost" pitchFamily="34" charset="-120"/>
              </a:rPr>
              <a:t>11</a:t>
            </a:r>
            <a:endParaRPr lang="en-US" sz="7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B08D57"/>
                </a:solidFill>
                <a:latin typeface="Jost" pitchFamily="34" charset="0"/>
                <a:ea typeface="Jost" pitchFamily="34" charset="-122"/>
                <a:cs typeface="Jost" pitchFamily="34" charset="-120"/>
              </a:rPr>
              <a:t>FLOOR PLAN</a:t>
            </a:r>
            <a:endParaRPr lang="en-US" sz="900" dirty="0"/>
          </a:p>
        </p:txBody>
      </p:sp>
      <p:sp>
        <p:nvSpPr>
          <p:cNvPr id="3" name="Shape 1"/>
          <p:cNvSpPr/>
          <p:nvPr/>
        </p:nvSpPr>
        <p:spPr>
          <a:xfrm>
            <a:off x="502920" y="557784"/>
            <a:ext cx="566928" cy="12802"/>
          </a:xfrm>
          <a:prstGeom prst="rect">
            <a:avLst/>
          </a:prstGeom>
          <a:solidFill>
            <a:srgbClr val="B08D57"/>
          </a:solidFill>
          <a:ln w="12700">
            <a:solidFill>
              <a:srgbClr val="B08D57"/>
            </a:solidFill>
            <a:prstDash val="solid"/>
          </a:ln>
        </p:spPr>
      </p:sp>
      <p:sp>
        <p:nvSpPr>
          <p:cNvPr id="4" name="Text 2"/>
          <p:cNvSpPr/>
          <p:nvPr/>
        </p:nvSpPr>
        <p:spPr>
          <a:xfrm>
            <a:off x="502920" y="621792"/>
            <a:ext cx="8138160" cy="548640"/>
          </a:xfrm>
          <a:prstGeom prst="rect">
            <a:avLst/>
          </a:prstGeom>
          <a:noFill/>
          <a:ln/>
        </p:spPr>
        <p:txBody>
          <a:bodyPr wrap="square" rtlCol="0" anchor="t"/>
          <a:lstStyle/>
          <a:p>
            <a:pPr indent="0" marL="0">
              <a:buNone/>
            </a:pPr>
            <a:r>
              <a:rPr lang="en-US" sz="2600" spc="400" kern="0" dirty="0">
                <a:solidFill>
                  <a:srgbClr val="EDE7DE"/>
                </a:solidFill>
                <a:latin typeface="Cormorant Garamond" pitchFamily="34" charset="0"/>
                <a:ea typeface="Cormorant Garamond" pitchFamily="34" charset="-122"/>
                <a:cs typeface="Cormorant Garamond" pitchFamily="34" charset="-120"/>
              </a:rPr>
              <a:t>4,925 SF, DRAWN TO PROGRAM</a:t>
            </a:r>
            <a:endParaRPr lang="en-US" sz="2600" dirty="0"/>
          </a:p>
        </p:txBody>
      </p:sp>
      <p:pic>
        <p:nvPicPr>
          <p:cNvPr id="5" name="Image 0" descr="preencoded.png">    </p:cNvPr>
          <p:cNvPicPr>
            <a:picLocks noChangeAspect="1"/>
          </p:cNvPicPr>
          <p:nvPr/>
        </p:nvPicPr>
        <p:blipFill>
          <a:blip r:embed="rId1"/>
          <a:stretch>
            <a:fillRect/>
          </a:stretch>
        </p:blipFill>
        <p:spPr>
          <a:xfrm>
            <a:off x="502920" y="1371600"/>
            <a:ext cx="4308569" cy="3154680"/>
          </a:xfrm>
          <a:prstGeom prst="rect">
            <a:avLst/>
          </a:prstGeom>
        </p:spPr>
      </p:pic>
      <p:sp>
        <p:nvSpPr>
          <p:cNvPr id="6" name="Text 3"/>
          <p:cNvSpPr/>
          <p:nvPr/>
        </p:nvSpPr>
        <p:spPr>
          <a:xfrm>
            <a:off x="5040089" y="1371600"/>
            <a:ext cx="3600991" cy="457200"/>
          </a:xfrm>
          <a:prstGeom prst="rect">
            <a:avLst/>
          </a:prstGeom>
          <a:noFill/>
          <a:ln/>
        </p:spPr>
        <p:txBody>
          <a:bodyPr wrap="square" rtlCol="0" anchor="t"/>
          <a:lstStyle/>
          <a:p>
            <a:pPr indent="0" marL="0">
              <a:lnSpc>
                <a:spcPct val="115000"/>
              </a:lnSpc>
              <a:buNone/>
            </a:pPr>
            <a:r>
              <a:rPr lang="en-US" sz="1100" dirty="0">
                <a:solidFill>
                  <a:srgbClr val="EDE7DE"/>
                </a:solidFill>
                <a:latin typeface="Jost" pitchFamily="34" charset="0"/>
                <a:ea typeface="Jost" pitchFamily="34" charset="-122"/>
                <a:cs typeface="Jost" pitchFamily="34" charset="-120"/>
              </a:rPr>
              <a:t>This is a concept plan, not a plan of a specific building.</a:t>
            </a:r>
            <a:endParaRPr lang="en-US" sz="1100" dirty="0"/>
          </a:p>
        </p:txBody>
      </p:sp>
      <p:sp>
        <p:nvSpPr>
          <p:cNvPr id="7" name="Text 4"/>
          <p:cNvSpPr/>
          <p:nvPr/>
        </p:nvSpPr>
        <p:spPr>
          <a:xfrm>
            <a:off x="5040089" y="1847088"/>
            <a:ext cx="3600991" cy="1691640"/>
          </a:xfrm>
          <a:prstGeom prst="rect">
            <a:avLst/>
          </a:prstGeom>
          <a:noFill/>
          <a:ln/>
        </p:spPr>
        <p:txBody>
          <a:bodyPr wrap="square" rtlCol="0" anchor="t"/>
          <a:lstStyle/>
          <a:p>
            <a:pPr indent="0" marL="0">
              <a:lnSpc>
                <a:spcPct val="120000"/>
              </a:lnSpc>
              <a:buNone/>
            </a:pPr>
            <a:r>
              <a:rPr lang="en-US" sz="850" dirty="0">
                <a:solidFill>
                  <a:srgbClr val="C9BCA9"/>
                </a:solidFill>
                <a:latin typeface="Jost" pitchFamily="34" charset="0"/>
                <a:ea typeface="Jost" pitchFamily="34" charset="-122"/>
                <a:cs typeface="Jost" pitchFamily="34" charset="-120"/>
              </a:rPr>
              <a:t>Every room is drawn to its true programmed area and the adjacencies are the ones the operation actually requires, but the outline is illustrative. The program reflows to an L, a rectangle, a corner unit or a split level. What does not flex is the wet block, the total area, and a clean separation between the public clinic and the members’ club. Once a space is signed an architect produces a real test fit against its as-builts.</a:t>
            </a:r>
            <a:endParaRPr lang="en-US" sz="850" dirty="0"/>
          </a:p>
        </p:txBody>
      </p:sp>
      <p:sp>
        <p:nvSpPr>
          <p:cNvPr id="8" name="Text 5"/>
          <p:cNvSpPr/>
          <p:nvPr/>
        </p:nvSpPr>
        <p:spPr>
          <a:xfrm>
            <a:off x="5040089" y="3584448"/>
            <a:ext cx="3600991" cy="182880"/>
          </a:xfrm>
          <a:prstGeom prst="rect">
            <a:avLst/>
          </a:prstGeom>
          <a:noFill/>
          <a:ln/>
        </p:spPr>
        <p:txBody>
          <a:bodyPr wrap="square" rtlCol="0" anchor="ctr"/>
          <a:lstStyle/>
          <a:p>
            <a:pPr indent="0" marL="0">
              <a:buNone/>
            </a:pPr>
            <a:r>
              <a:rPr lang="en-US" sz="750" spc="200" kern="0" dirty="0">
                <a:solidFill>
                  <a:srgbClr val="B08D57"/>
                </a:solidFill>
                <a:latin typeface="Jost" pitchFamily="34" charset="0"/>
                <a:ea typeface="Jost" pitchFamily="34" charset="-122"/>
                <a:cs typeface="Jost" pitchFamily="34" charset="-120"/>
              </a:rPr>
              <a:t>HARD TO RETROFIT</a:t>
            </a:r>
            <a:endParaRPr lang="en-US" sz="750" dirty="0"/>
          </a:p>
        </p:txBody>
      </p:sp>
      <p:sp>
        <p:nvSpPr>
          <p:cNvPr id="9" name="Text 6"/>
          <p:cNvSpPr/>
          <p:nvPr/>
        </p:nvSpPr>
        <p:spPr>
          <a:xfrm>
            <a:off x="5040089" y="3776472"/>
            <a:ext cx="3600991" cy="777240"/>
          </a:xfrm>
          <a:prstGeom prst="rect">
            <a:avLst/>
          </a:prstGeom>
          <a:noFill/>
          <a:ln/>
        </p:spPr>
        <p:txBody>
          <a:bodyPr wrap="square" rtlCol="0" anchor="t"/>
          <a:lstStyle/>
          <a:p>
            <a:pPr indent="0" marL="0">
              <a:lnSpc>
                <a:spcPct val="120000"/>
              </a:lnSpc>
              <a:buNone/>
            </a:pPr>
            <a:r>
              <a:rPr lang="en-US" sz="850" dirty="0">
                <a:solidFill>
                  <a:srgbClr val="EDE7DE"/>
                </a:solidFill>
                <a:latin typeface="Jost" pitchFamily="34" charset="0"/>
                <a:ea typeface="Jost" pitchFamily="34" charset="-122"/>
                <a:cs typeface="Jost" pitchFamily="34" charset="-120"/>
              </a:rPr>
              <a:t>The wet block, 800 SF: two saunas, two cold plunges and steam on a single plumbing wall, sharing that wall with the locker room. It is the first question we ask about any space.</a:t>
            </a:r>
            <a:endParaRPr lang="en-US" sz="850" dirty="0"/>
          </a:p>
        </p:txBody>
      </p:sp>
      <p:sp>
        <p:nvSpPr>
          <p:cNvPr id="10" name="Text 7"/>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B6965"/>
                </a:solidFill>
                <a:latin typeface="Jost" pitchFamily="34" charset="0"/>
                <a:ea typeface="Jost" pitchFamily="34" charset="-122"/>
                <a:cs typeface="Jost" pitchFamily="34" charset="-120"/>
              </a:rPr>
              <a:t>L&amp;K WELLNESS  ·  PRIVATE INVESTMENT BRIEF  ·  CONFIDENTIAL</a:t>
            </a:r>
            <a:endParaRPr lang="en-US" sz="700" dirty="0"/>
          </a:p>
        </p:txBody>
      </p:sp>
      <p:sp>
        <p:nvSpPr>
          <p:cNvPr id="11" name="Text 8"/>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B6965"/>
                </a:solidFill>
                <a:latin typeface="Jost" pitchFamily="34" charset="0"/>
                <a:ea typeface="Jost" pitchFamily="34" charset="-122"/>
                <a:cs typeface="Jost" pitchFamily="34" charset="-120"/>
              </a:rPr>
              <a:t>12</a:t>
            </a:r>
            <a:endParaRPr lang="en-US" sz="7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B08D57"/>
                </a:solidFill>
                <a:latin typeface="Jost" pitchFamily="34" charset="0"/>
                <a:ea typeface="Jost" pitchFamily="34" charset="-122"/>
                <a:cs typeface="Jost" pitchFamily="34" charset="-120"/>
              </a:rPr>
              <a:t>RENDERINGS</a:t>
            </a:r>
            <a:endParaRPr lang="en-US" sz="900" dirty="0"/>
          </a:p>
        </p:txBody>
      </p:sp>
      <p:sp>
        <p:nvSpPr>
          <p:cNvPr id="3" name="Shape 1"/>
          <p:cNvSpPr/>
          <p:nvPr/>
        </p:nvSpPr>
        <p:spPr>
          <a:xfrm>
            <a:off x="502920" y="557784"/>
            <a:ext cx="566928" cy="12802"/>
          </a:xfrm>
          <a:prstGeom prst="rect">
            <a:avLst/>
          </a:prstGeom>
          <a:solidFill>
            <a:srgbClr val="B08D57"/>
          </a:solidFill>
          <a:ln w="12700">
            <a:solidFill>
              <a:srgbClr val="B08D57"/>
            </a:solidFill>
            <a:prstDash val="solid"/>
          </a:ln>
        </p:spPr>
      </p:sp>
      <p:sp>
        <p:nvSpPr>
          <p:cNvPr id="4" name="Text 2"/>
          <p:cNvSpPr/>
          <p:nvPr/>
        </p:nvSpPr>
        <p:spPr>
          <a:xfrm>
            <a:off x="502920" y="621792"/>
            <a:ext cx="8138160" cy="548640"/>
          </a:xfrm>
          <a:prstGeom prst="rect">
            <a:avLst/>
          </a:prstGeom>
          <a:noFill/>
          <a:ln/>
        </p:spPr>
        <p:txBody>
          <a:bodyPr wrap="square" rtlCol="0" anchor="t"/>
          <a:lstStyle/>
          <a:p>
            <a:pPr indent="0" marL="0">
              <a:buNone/>
            </a:pPr>
            <a:r>
              <a:rPr lang="en-US" sz="2600" spc="400" kern="0" dirty="0">
                <a:solidFill>
                  <a:srgbClr val="EDE7DE"/>
                </a:solidFill>
                <a:latin typeface="Cormorant Garamond" pitchFamily="34" charset="0"/>
                <a:ea typeface="Cormorant Garamond" pitchFamily="34" charset="-122"/>
                <a:cs typeface="Cormorant Garamond" pitchFamily="34" charset="-120"/>
              </a:rPr>
              <a:t>DESIGN DIRECTION (1 OF 2)</a:t>
            </a:r>
            <a:endParaRPr lang="en-US" sz="2600" dirty="0"/>
          </a:p>
        </p:txBody>
      </p:sp>
      <p:pic>
        <p:nvPicPr>
          <p:cNvPr id="5" name="Image 0" descr="preencoded.png">    </p:cNvPr>
          <p:cNvPicPr>
            <a:picLocks noChangeAspect="1"/>
          </p:cNvPicPr>
          <p:nvPr/>
        </p:nvPicPr>
        <p:blipFill>
          <a:blip r:embed="rId1"/>
          <a:srcRect l="0" r="0" t="0" b="0"/>
          <a:stretch/>
        </p:blipFill>
        <p:spPr>
          <a:xfrm>
            <a:off x="502920" y="1188720"/>
            <a:ext cx="2639568" cy="1484757"/>
          </a:xfrm>
          <a:prstGeom prst="rect">
            <a:avLst/>
          </a:prstGeom>
        </p:spPr>
      </p:pic>
      <p:sp>
        <p:nvSpPr>
          <p:cNvPr id="6" name="Shape 3"/>
          <p:cNvSpPr/>
          <p:nvPr/>
        </p:nvSpPr>
        <p:spPr>
          <a:xfrm>
            <a:off x="502920" y="1188720"/>
            <a:ext cx="2639568" cy="1484757"/>
          </a:xfrm>
          <a:prstGeom prst="rect">
            <a:avLst/>
          </a:prstGeom>
          <a:solidFill>
            <a:srgbClr val="0D0D0D">
              <a:alpha val="0"/>
            </a:srgbClr>
          </a:solidFill>
          <a:ln w="9525">
            <a:solidFill>
              <a:srgbClr val="271F13"/>
            </a:solidFill>
            <a:prstDash val="solid"/>
          </a:ln>
        </p:spPr>
      </p:sp>
      <p:sp>
        <p:nvSpPr>
          <p:cNvPr id="7" name="Text 4"/>
          <p:cNvSpPr/>
          <p:nvPr/>
        </p:nvSpPr>
        <p:spPr>
          <a:xfrm>
            <a:off x="502920" y="2691765"/>
            <a:ext cx="2639568" cy="164592"/>
          </a:xfrm>
          <a:prstGeom prst="rect">
            <a:avLst/>
          </a:prstGeom>
          <a:noFill/>
          <a:ln/>
        </p:spPr>
        <p:txBody>
          <a:bodyPr wrap="square" rtlCol="0" anchor="ctr"/>
          <a:lstStyle/>
          <a:p>
            <a:pPr indent="0" marL="0">
              <a:buNone/>
            </a:pPr>
            <a:r>
              <a:rPr lang="en-US" sz="750" spc="100" kern="0" dirty="0">
                <a:solidFill>
                  <a:srgbClr val="EDE7DE"/>
                </a:solidFill>
                <a:latin typeface="Jost" pitchFamily="34" charset="0"/>
                <a:ea typeface="Jost" pitchFamily="34" charset="-122"/>
                <a:cs typeface="Jost" pitchFamily="34" charset="-120"/>
              </a:rPr>
              <a:t>Storefront</a:t>
            </a:r>
            <a:endParaRPr lang="en-US" sz="750" dirty="0"/>
          </a:p>
        </p:txBody>
      </p:sp>
      <p:pic>
        <p:nvPicPr>
          <p:cNvPr id="8" name="Image 1" descr="preencoded.png">    </p:cNvPr>
          <p:cNvPicPr>
            <a:picLocks noChangeAspect="1"/>
          </p:cNvPicPr>
          <p:nvPr/>
        </p:nvPicPr>
        <p:blipFill>
          <a:blip r:embed="rId2"/>
          <a:srcRect l="0" r="0" t="0" b="0"/>
          <a:stretch/>
        </p:blipFill>
        <p:spPr>
          <a:xfrm>
            <a:off x="3252216" y="1188720"/>
            <a:ext cx="2639568" cy="1484757"/>
          </a:xfrm>
          <a:prstGeom prst="rect">
            <a:avLst/>
          </a:prstGeom>
        </p:spPr>
      </p:pic>
      <p:sp>
        <p:nvSpPr>
          <p:cNvPr id="9" name="Shape 5"/>
          <p:cNvSpPr/>
          <p:nvPr/>
        </p:nvSpPr>
        <p:spPr>
          <a:xfrm>
            <a:off x="3252216" y="1188720"/>
            <a:ext cx="2639568" cy="1484757"/>
          </a:xfrm>
          <a:prstGeom prst="rect">
            <a:avLst/>
          </a:prstGeom>
          <a:solidFill>
            <a:srgbClr val="0D0D0D">
              <a:alpha val="0"/>
            </a:srgbClr>
          </a:solidFill>
          <a:ln w="9525">
            <a:solidFill>
              <a:srgbClr val="271F13"/>
            </a:solidFill>
            <a:prstDash val="solid"/>
          </a:ln>
        </p:spPr>
      </p:sp>
      <p:sp>
        <p:nvSpPr>
          <p:cNvPr id="10" name="Text 6"/>
          <p:cNvSpPr/>
          <p:nvPr/>
        </p:nvSpPr>
        <p:spPr>
          <a:xfrm>
            <a:off x="3252216" y="2691765"/>
            <a:ext cx="2639568" cy="164592"/>
          </a:xfrm>
          <a:prstGeom prst="rect">
            <a:avLst/>
          </a:prstGeom>
          <a:noFill/>
          <a:ln/>
        </p:spPr>
        <p:txBody>
          <a:bodyPr wrap="square" rtlCol="0" anchor="ctr"/>
          <a:lstStyle/>
          <a:p>
            <a:pPr indent="0" marL="0">
              <a:buNone/>
            </a:pPr>
            <a:r>
              <a:rPr lang="en-US" sz="750" spc="100" kern="0" dirty="0">
                <a:solidFill>
                  <a:srgbClr val="EDE7DE"/>
                </a:solidFill>
                <a:latin typeface="Jost" pitchFamily="34" charset="0"/>
                <a:ea typeface="Jost" pitchFamily="34" charset="-122"/>
                <a:cs typeface="Jost" pitchFamily="34" charset="-120"/>
              </a:rPr>
              <a:t>Arrival, concierge and retail</a:t>
            </a:r>
            <a:endParaRPr lang="en-US" sz="750" dirty="0"/>
          </a:p>
        </p:txBody>
      </p:sp>
      <p:pic>
        <p:nvPicPr>
          <p:cNvPr id="11" name="Image 2" descr="preencoded.png">    </p:cNvPr>
          <p:cNvPicPr>
            <a:picLocks noChangeAspect="1"/>
          </p:cNvPicPr>
          <p:nvPr/>
        </p:nvPicPr>
        <p:blipFill>
          <a:blip r:embed="rId3"/>
          <a:srcRect l="0" r="0" t="0" b="0"/>
          <a:stretch/>
        </p:blipFill>
        <p:spPr>
          <a:xfrm>
            <a:off x="6001512" y="1188720"/>
            <a:ext cx="2639568" cy="1484757"/>
          </a:xfrm>
          <a:prstGeom prst="rect">
            <a:avLst/>
          </a:prstGeom>
        </p:spPr>
      </p:pic>
      <p:sp>
        <p:nvSpPr>
          <p:cNvPr id="12" name="Shape 7"/>
          <p:cNvSpPr/>
          <p:nvPr/>
        </p:nvSpPr>
        <p:spPr>
          <a:xfrm>
            <a:off x="6001512" y="1188720"/>
            <a:ext cx="2639568" cy="1484757"/>
          </a:xfrm>
          <a:prstGeom prst="rect">
            <a:avLst/>
          </a:prstGeom>
          <a:solidFill>
            <a:srgbClr val="0D0D0D">
              <a:alpha val="0"/>
            </a:srgbClr>
          </a:solidFill>
          <a:ln w="9525">
            <a:solidFill>
              <a:srgbClr val="271F13"/>
            </a:solidFill>
            <a:prstDash val="solid"/>
          </a:ln>
        </p:spPr>
      </p:sp>
      <p:sp>
        <p:nvSpPr>
          <p:cNvPr id="13" name="Text 8"/>
          <p:cNvSpPr/>
          <p:nvPr/>
        </p:nvSpPr>
        <p:spPr>
          <a:xfrm>
            <a:off x="6001512" y="2691765"/>
            <a:ext cx="2639568" cy="164592"/>
          </a:xfrm>
          <a:prstGeom prst="rect">
            <a:avLst/>
          </a:prstGeom>
          <a:noFill/>
          <a:ln/>
        </p:spPr>
        <p:txBody>
          <a:bodyPr wrap="square" rtlCol="0" anchor="ctr"/>
          <a:lstStyle/>
          <a:p>
            <a:pPr indent="0" marL="0">
              <a:buNone/>
            </a:pPr>
            <a:r>
              <a:rPr lang="en-US" sz="750" spc="100" kern="0" dirty="0">
                <a:solidFill>
                  <a:srgbClr val="EDE7DE"/>
                </a:solidFill>
                <a:latin typeface="Jost" pitchFamily="34" charset="0"/>
                <a:ea typeface="Jost" pitchFamily="34" charset="-122"/>
                <a:cs typeface="Jost" pitchFamily="34" charset="-120"/>
              </a:rPr>
              <a:t>Members' social lounge, The Lounge</a:t>
            </a:r>
            <a:endParaRPr lang="en-US" sz="750" dirty="0"/>
          </a:p>
        </p:txBody>
      </p:sp>
      <p:pic>
        <p:nvPicPr>
          <p:cNvPr id="14" name="Image 3" descr="preencoded.png">    </p:cNvPr>
          <p:cNvPicPr>
            <a:picLocks noChangeAspect="1"/>
          </p:cNvPicPr>
          <p:nvPr/>
        </p:nvPicPr>
        <p:blipFill>
          <a:blip r:embed="rId4"/>
          <a:srcRect l="0" r="0" t="0" b="0"/>
          <a:stretch/>
        </p:blipFill>
        <p:spPr>
          <a:xfrm>
            <a:off x="1877568" y="2947797"/>
            <a:ext cx="2639568" cy="1484757"/>
          </a:xfrm>
          <a:prstGeom prst="rect">
            <a:avLst/>
          </a:prstGeom>
        </p:spPr>
      </p:pic>
      <p:sp>
        <p:nvSpPr>
          <p:cNvPr id="15" name="Shape 9"/>
          <p:cNvSpPr/>
          <p:nvPr/>
        </p:nvSpPr>
        <p:spPr>
          <a:xfrm>
            <a:off x="1877568" y="2947797"/>
            <a:ext cx="2639568" cy="1484757"/>
          </a:xfrm>
          <a:prstGeom prst="rect">
            <a:avLst/>
          </a:prstGeom>
          <a:solidFill>
            <a:srgbClr val="0D0D0D">
              <a:alpha val="0"/>
            </a:srgbClr>
          </a:solidFill>
          <a:ln w="9525">
            <a:solidFill>
              <a:srgbClr val="271F13"/>
            </a:solidFill>
            <a:prstDash val="solid"/>
          </a:ln>
        </p:spPr>
      </p:sp>
      <p:sp>
        <p:nvSpPr>
          <p:cNvPr id="16" name="Text 10"/>
          <p:cNvSpPr/>
          <p:nvPr/>
        </p:nvSpPr>
        <p:spPr>
          <a:xfrm>
            <a:off x="1877568" y="4450842"/>
            <a:ext cx="2639568" cy="164592"/>
          </a:xfrm>
          <a:prstGeom prst="rect">
            <a:avLst/>
          </a:prstGeom>
          <a:noFill/>
          <a:ln/>
        </p:spPr>
        <p:txBody>
          <a:bodyPr wrap="square" rtlCol="0" anchor="ctr"/>
          <a:lstStyle/>
          <a:p>
            <a:pPr indent="0" marL="0">
              <a:buNone/>
            </a:pPr>
            <a:r>
              <a:rPr lang="en-US" sz="750" spc="100" kern="0" dirty="0">
                <a:solidFill>
                  <a:srgbClr val="EDE7DE"/>
                </a:solidFill>
                <a:latin typeface="Jost" pitchFamily="34" charset="0"/>
                <a:ea typeface="Jost" pitchFamily="34" charset="-122"/>
                <a:cs typeface="Jost" pitchFamily="34" charset="-120"/>
              </a:rPr>
              <a:t>Contrast suite, sauna and cold plunge</a:t>
            </a:r>
            <a:endParaRPr lang="en-US" sz="750" dirty="0"/>
          </a:p>
        </p:txBody>
      </p:sp>
      <p:pic>
        <p:nvPicPr>
          <p:cNvPr id="17" name="Image 4" descr="preencoded.png">    </p:cNvPr>
          <p:cNvPicPr>
            <a:picLocks noChangeAspect="1"/>
          </p:cNvPicPr>
          <p:nvPr/>
        </p:nvPicPr>
        <p:blipFill>
          <a:blip r:embed="rId5"/>
          <a:srcRect l="0" r="0" t="0" b="0"/>
          <a:stretch/>
        </p:blipFill>
        <p:spPr>
          <a:xfrm>
            <a:off x="4626864" y="2947797"/>
            <a:ext cx="2639568" cy="1484757"/>
          </a:xfrm>
          <a:prstGeom prst="rect">
            <a:avLst/>
          </a:prstGeom>
        </p:spPr>
      </p:pic>
      <p:sp>
        <p:nvSpPr>
          <p:cNvPr id="18" name="Shape 11"/>
          <p:cNvSpPr/>
          <p:nvPr/>
        </p:nvSpPr>
        <p:spPr>
          <a:xfrm>
            <a:off x="4626864" y="2947797"/>
            <a:ext cx="2639568" cy="1484757"/>
          </a:xfrm>
          <a:prstGeom prst="rect">
            <a:avLst/>
          </a:prstGeom>
          <a:solidFill>
            <a:srgbClr val="0D0D0D">
              <a:alpha val="0"/>
            </a:srgbClr>
          </a:solidFill>
          <a:ln w="9525">
            <a:solidFill>
              <a:srgbClr val="271F13"/>
            </a:solidFill>
            <a:prstDash val="solid"/>
          </a:ln>
        </p:spPr>
      </p:sp>
      <p:sp>
        <p:nvSpPr>
          <p:cNvPr id="19" name="Text 12"/>
          <p:cNvSpPr/>
          <p:nvPr/>
        </p:nvSpPr>
        <p:spPr>
          <a:xfrm>
            <a:off x="4626864" y="4450842"/>
            <a:ext cx="2639568" cy="164592"/>
          </a:xfrm>
          <a:prstGeom prst="rect">
            <a:avLst/>
          </a:prstGeom>
          <a:noFill/>
          <a:ln/>
        </p:spPr>
        <p:txBody>
          <a:bodyPr wrap="square" rtlCol="0" anchor="ctr"/>
          <a:lstStyle/>
          <a:p>
            <a:pPr indent="0" marL="0">
              <a:buNone/>
            </a:pPr>
            <a:r>
              <a:rPr lang="en-US" sz="750" spc="100" kern="0" dirty="0">
                <a:solidFill>
                  <a:srgbClr val="EDE7DE"/>
                </a:solidFill>
                <a:latin typeface="Jost" pitchFamily="34" charset="0"/>
                <a:ea typeface="Jost" pitchFamily="34" charset="-122"/>
                <a:cs typeface="Jost" pitchFamily="34" charset="-120"/>
              </a:rPr>
              <a:t>Locker, shower and changing</a:t>
            </a:r>
            <a:endParaRPr lang="en-US" sz="750" dirty="0"/>
          </a:p>
        </p:txBody>
      </p:sp>
      <p:sp>
        <p:nvSpPr>
          <p:cNvPr id="20" name="Text 13"/>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B6965"/>
                </a:solidFill>
                <a:latin typeface="Jost" pitchFamily="34" charset="0"/>
                <a:ea typeface="Jost" pitchFamily="34" charset="-122"/>
                <a:cs typeface="Jost" pitchFamily="34" charset="-120"/>
              </a:rPr>
              <a:t>L&amp;K WELLNESS  ·  PRIVATE INVESTMENT BRIEF  ·  CONFIDENTIAL</a:t>
            </a:r>
            <a:endParaRPr lang="en-US" sz="700" dirty="0"/>
          </a:p>
        </p:txBody>
      </p:sp>
      <p:sp>
        <p:nvSpPr>
          <p:cNvPr id="21" name="Text 14"/>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B6965"/>
                </a:solidFill>
                <a:latin typeface="Jost" pitchFamily="34" charset="0"/>
                <a:ea typeface="Jost" pitchFamily="34" charset="-122"/>
                <a:cs typeface="Jost" pitchFamily="34" charset="-120"/>
              </a:rPr>
              <a:t>13</a:t>
            </a:r>
            <a:endParaRPr lang="en-US" sz="7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B08D57"/>
                </a:solidFill>
                <a:latin typeface="Jost" pitchFamily="34" charset="0"/>
                <a:ea typeface="Jost" pitchFamily="34" charset="-122"/>
                <a:cs typeface="Jost" pitchFamily="34" charset="-120"/>
              </a:rPr>
              <a:t>RENDERINGS</a:t>
            </a:r>
            <a:endParaRPr lang="en-US" sz="900" dirty="0"/>
          </a:p>
        </p:txBody>
      </p:sp>
      <p:sp>
        <p:nvSpPr>
          <p:cNvPr id="3" name="Shape 1"/>
          <p:cNvSpPr/>
          <p:nvPr/>
        </p:nvSpPr>
        <p:spPr>
          <a:xfrm>
            <a:off x="502920" y="557784"/>
            <a:ext cx="566928" cy="12802"/>
          </a:xfrm>
          <a:prstGeom prst="rect">
            <a:avLst/>
          </a:prstGeom>
          <a:solidFill>
            <a:srgbClr val="B08D57"/>
          </a:solidFill>
          <a:ln w="12700">
            <a:solidFill>
              <a:srgbClr val="B08D57"/>
            </a:solidFill>
            <a:prstDash val="solid"/>
          </a:ln>
        </p:spPr>
      </p:sp>
      <p:sp>
        <p:nvSpPr>
          <p:cNvPr id="4" name="Text 2"/>
          <p:cNvSpPr/>
          <p:nvPr/>
        </p:nvSpPr>
        <p:spPr>
          <a:xfrm>
            <a:off x="502920" y="621792"/>
            <a:ext cx="8138160" cy="548640"/>
          </a:xfrm>
          <a:prstGeom prst="rect">
            <a:avLst/>
          </a:prstGeom>
          <a:noFill/>
          <a:ln/>
        </p:spPr>
        <p:txBody>
          <a:bodyPr wrap="square" rtlCol="0" anchor="t"/>
          <a:lstStyle/>
          <a:p>
            <a:pPr indent="0" marL="0">
              <a:buNone/>
            </a:pPr>
            <a:r>
              <a:rPr lang="en-US" sz="2600" spc="400" kern="0" dirty="0">
                <a:solidFill>
                  <a:srgbClr val="EDE7DE"/>
                </a:solidFill>
                <a:latin typeface="Cormorant Garamond" pitchFamily="34" charset="0"/>
                <a:ea typeface="Cormorant Garamond" pitchFamily="34" charset="-122"/>
                <a:cs typeface="Cormorant Garamond" pitchFamily="34" charset="-120"/>
              </a:rPr>
              <a:t>DESIGN DIRECTION (2 OF 2)</a:t>
            </a:r>
            <a:endParaRPr lang="en-US" sz="2600" dirty="0"/>
          </a:p>
        </p:txBody>
      </p:sp>
      <p:pic>
        <p:nvPicPr>
          <p:cNvPr id="5" name="Image 0" descr="preencoded.png">    </p:cNvPr>
          <p:cNvPicPr>
            <a:picLocks noChangeAspect="1"/>
          </p:cNvPicPr>
          <p:nvPr/>
        </p:nvPicPr>
        <p:blipFill>
          <a:blip r:embed="rId1"/>
          <a:srcRect l="0" r="0" t="0" b="0"/>
          <a:stretch/>
        </p:blipFill>
        <p:spPr>
          <a:xfrm>
            <a:off x="502920" y="1188720"/>
            <a:ext cx="2639568" cy="1484757"/>
          </a:xfrm>
          <a:prstGeom prst="rect">
            <a:avLst/>
          </a:prstGeom>
        </p:spPr>
      </p:pic>
      <p:sp>
        <p:nvSpPr>
          <p:cNvPr id="6" name="Shape 3"/>
          <p:cNvSpPr/>
          <p:nvPr/>
        </p:nvSpPr>
        <p:spPr>
          <a:xfrm>
            <a:off x="502920" y="1188720"/>
            <a:ext cx="2639568" cy="1484757"/>
          </a:xfrm>
          <a:prstGeom prst="rect">
            <a:avLst/>
          </a:prstGeom>
          <a:solidFill>
            <a:srgbClr val="0D0D0D">
              <a:alpha val="0"/>
            </a:srgbClr>
          </a:solidFill>
          <a:ln w="9525">
            <a:solidFill>
              <a:srgbClr val="271F13"/>
            </a:solidFill>
            <a:prstDash val="solid"/>
          </a:ln>
        </p:spPr>
      </p:sp>
      <p:sp>
        <p:nvSpPr>
          <p:cNvPr id="7" name="Text 4"/>
          <p:cNvSpPr/>
          <p:nvPr/>
        </p:nvSpPr>
        <p:spPr>
          <a:xfrm>
            <a:off x="502920" y="2691765"/>
            <a:ext cx="2639568" cy="164592"/>
          </a:xfrm>
          <a:prstGeom prst="rect">
            <a:avLst/>
          </a:prstGeom>
          <a:noFill/>
          <a:ln/>
        </p:spPr>
        <p:txBody>
          <a:bodyPr wrap="square" rtlCol="0" anchor="ctr"/>
          <a:lstStyle/>
          <a:p>
            <a:pPr indent="0" marL="0">
              <a:buNone/>
            </a:pPr>
            <a:r>
              <a:rPr lang="en-US" sz="750" spc="100" kern="0" dirty="0">
                <a:solidFill>
                  <a:srgbClr val="EDE7DE"/>
                </a:solidFill>
                <a:latin typeface="Jost" pitchFamily="34" charset="0"/>
                <a:ea typeface="Jost" pitchFamily="34" charset="-122"/>
                <a:cs typeface="Jost" pitchFamily="34" charset="-120"/>
              </a:rPr>
              <a:t>Member circulation</a:t>
            </a:r>
            <a:endParaRPr lang="en-US" sz="750" dirty="0"/>
          </a:p>
        </p:txBody>
      </p:sp>
      <p:pic>
        <p:nvPicPr>
          <p:cNvPr id="8" name="Image 1" descr="preencoded.png">    </p:cNvPr>
          <p:cNvPicPr>
            <a:picLocks noChangeAspect="1"/>
          </p:cNvPicPr>
          <p:nvPr/>
        </p:nvPicPr>
        <p:blipFill>
          <a:blip r:embed="rId2"/>
          <a:srcRect l="0" r="0" t="0" b="0"/>
          <a:stretch/>
        </p:blipFill>
        <p:spPr>
          <a:xfrm>
            <a:off x="3252216" y="1188720"/>
            <a:ext cx="2639568" cy="1484757"/>
          </a:xfrm>
          <a:prstGeom prst="rect">
            <a:avLst/>
          </a:prstGeom>
        </p:spPr>
      </p:pic>
      <p:sp>
        <p:nvSpPr>
          <p:cNvPr id="9" name="Shape 5"/>
          <p:cNvSpPr/>
          <p:nvPr/>
        </p:nvSpPr>
        <p:spPr>
          <a:xfrm>
            <a:off x="3252216" y="1188720"/>
            <a:ext cx="2639568" cy="1484757"/>
          </a:xfrm>
          <a:prstGeom prst="rect">
            <a:avLst/>
          </a:prstGeom>
          <a:solidFill>
            <a:srgbClr val="0D0D0D">
              <a:alpha val="0"/>
            </a:srgbClr>
          </a:solidFill>
          <a:ln w="9525">
            <a:solidFill>
              <a:srgbClr val="271F13"/>
            </a:solidFill>
            <a:prstDash val="solid"/>
          </a:ln>
        </p:spPr>
      </p:sp>
      <p:sp>
        <p:nvSpPr>
          <p:cNvPr id="10" name="Text 6"/>
          <p:cNvSpPr/>
          <p:nvPr/>
        </p:nvSpPr>
        <p:spPr>
          <a:xfrm>
            <a:off x="3252216" y="2691765"/>
            <a:ext cx="2639568" cy="164592"/>
          </a:xfrm>
          <a:prstGeom prst="rect">
            <a:avLst/>
          </a:prstGeom>
          <a:noFill/>
          <a:ln/>
        </p:spPr>
        <p:txBody>
          <a:bodyPr wrap="square" rtlCol="0" anchor="ctr"/>
          <a:lstStyle/>
          <a:p>
            <a:pPr indent="0" marL="0">
              <a:buNone/>
            </a:pPr>
            <a:r>
              <a:rPr lang="en-US" sz="750" spc="100" kern="0" dirty="0">
                <a:solidFill>
                  <a:srgbClr val="EDE7DE"/>
                </a:solidFill>
                <a:latin typeface="Jost" pitchFamily="34" charset="0"/>
                <a:ea typeface="Jost" pitchFamily="34" charset="-122"/>
                <a:cs typeface="Jost" pitchFamily="34" charset="-120"/>
              </a:rPr>
              <a:t>Treatment room</a:t>
            </a:r>
            <a:endParaRPr lang="en-US" sz="750" dirty="0"/>
          </a:p>
        </p:txBody>
      </p:sp>
      <p:pic>
        <p:nvPicPr>
          <p:cNvPr id="11" name="Image 2" descr="preencoded.png">    </p:cNvPr>
          <p:cNvPicPr>
            <a:picLocks noChangeAspect="1"/>
          </p:cNvPicPr>
          <p:nvPr/>
        </p:nvPicPr>
        <p:blipFill>
          <a:blip r:embed="rId3"/>
          <a:srcRect l="0" r="0" t="0" b="0"/>
          <a:stretch/>
        </p:blipFill>
        <p:spPr>
          <a:xfrm>
            <a:off x="6001512" y="1188720"/>
            <a:ext cx="2639568" cy="1484757"/>
          </a:xfrm>
          <a:prstGeom prst="rect">
            <a:avLst/>
          </a:prstGeom>
        </p:spPr>
      </p:pic>
      <p:sp>
        <p:nvSpPr>
          <p:cNvPr id="12" name="Shape 7"/>
          <p:cNvSpPr/>
          <p:nvPr/>
        </p:nvSpPr>
        <p:spPr>
          <a:xfrm>
            <a:off x="6001512" y="1188720"/>
            <a:ext cx="2639568" cy="1484757"/>
          </a:xfrm>
          <a:prstGeom prst="rect">
            <a:avLst/>
          </a:prstGeom>
          <a:solidFill>
            <a:srgbClr val="0D0D0D">
              <a:alpha val="0"/>
            </a:srgbClr>
          </a:solidFill>
          <a:ln w="9525">
            <a:solidFill>
              <a:srgbClr val="271F13"/>
            </a:solidFill>
            <a:prstDash val="solid"/>
          </a:ln>
        </p:spPr>
      </p:sp>
      <p:sp>
        <p:nvSpPr>
          <p:cNvPr id="13" name="Text 8"/>
          <p:cNvSpPr/>
          <p:nvPr/>
        </p:nvSpPr>
        <p:spPr>
          <a:xfrm>
            <a:off x="6001512" y="2691765"/>
            <a:ext cx="2639568" cy="164592"/>
          </a:xfrm>
          <a:prstGeom prst="rect">
            <a:avLst/>
          </a:prstGeom>
          <a:noFill/>
          <a:ln/>
        </p:spPr>
        <p:txBody>
          <a:bodyPr wrap="square" rtlCol="0" anchor="ctr"/>
          <a:lstStyle/>
          <a:p>
            <a:pPr indent="0" marL="0">
              <a:buNone/>
            </a:pPr>
            <a:r>
              <a:rPr lang="en-US" sz="750" spc="100" kern="0" dirty="0">
                <a:solidFill>
                  <a:srgbClr val="EDE7DE"/>
                </a:solidFill>
                <a:latin typeface="Jost" pitchFamily="34" charset="0"/>
                <a:ea typeface="Jost" pitchFamily="34" charset="-122"/>
                <a:cs typeface="Jost" pitchFamily="34" charset="-120"/>
              </a:rPr>
              <a:t>Consult room</a:t>
            </a:r>
            <a:endParaRPr lang="en-US" sz="750" dirty="0"/>
          </a:p>
        </p:txBody>
      </p:sp>
      <p:pic>
        <p:nvPicPr>
          <p:cNvPr id="14" name="Image 3" descr="preencoded.png">    </p:cNvPr>
          <p:cNvPicPr>
            <a:picLocks noChangeAspect="1"/>
          </p:cNvPicPr>
          <p:nvPr/>
        </p:nvPicPr>
        <p:blipFill>
          <a:blip r:embed="rId4"/>
          <a:srcRect l="0" r="0" t="0" b="0"/>
          <a:stretch/>
        </p:blipFill>
        <p:spPr>
          <a:xfrm>
            <a:off x="1877568" y="2947797"/>
            <a:ext cx="2639568" cy="1484757"/>
          </a:xfrm>
          <a:prstGeom prst="rect">
            <a:avLst/>
          </a:prstGeom>
        </p:spPr>
      </p:pic>
      <p:sp>
        <p:nvSpPr>
          <p:cNvPr id="15" name="Shape 9"/>
          <p:cNvSpPr/>
          <p:nvPr/>
        </p:nvSpPr>
        <p:spPr>
          <a:xfrm>
            <a:off x="1877568" y="2947797"/>
            <a:ext cx="2639568" cy="1484757"/>
          </a:xfrm>
          <a:prstGeom prst="rect">
            <a:avLst/>
          </a:prstGeom>
          <a:solidFill>
            <a:srgbClr val="0D0D0D">
              <a:alpha val="0"/>
            </a:srgbClr>
          </a:solidFill>
          <a:ln w="9525">
            <a:solidFill>
              <a:srgbClr val="271F13"/>
            </a:solidFill>
            <a:prstDash val="solid"/>
          </a:ln>
        </p:spPr>
      </p:sp>
      <p:sp>
        <p:nvSpPr>
          <p:cNvPr id="16" name="Text 10"/>
          <p:cNvSpPr/>
          <p:nvPr/>
        </p:nvSpPr>
        <p:spPr>
          <a:xfrm>
            <a:off x="1877568" y="4450842"/>
            <a:ext cx="2639568" cy="164592"/>
          </a:xfrm>
          <a:prstGeom prst="rect">
            <a:avLst/>
          </a:prstGeom>
          <a:noFill/>
          <a:ln/>
        </p:spPr>
        <p:txBody>
          <a:bodyPr wrap="square" rtlCol="0" anchor="ctr"/>
          <a:lstStyle/>
          <a:p>
            <a:pPr indent="0" marL="0">
              <a:buNone/>
            </a:pPr>
            <a:r>
              <a:rPr lang="en-US" sz="750" spc="100" kern="0" dirty="0">
                <a:solidFill>
                  <a:srgbClr val="EDE7DE"/>
                </a:solidFill>
                <a:latin typeface="Jost" pitchFamily="34" charset="0"/>
                <a:ea typeface="Jost" pitchFamily="34" charset="-122"/>
                <a:cs typeface="Jost" pitchFamily="34" charset="-120"/>
              </a:rPr>
              <a:t>IV and regenerative lounge</a:t>
            </a:r>
            <a:endParaRPr lang="en-US" sz="750" dirty="0"/>
          </a:p>
        </p:txBody>
      </p:sp>
      <p:pic>
        <p:nvPicPr>
          <p:cNvPr id="17" name="Image 4" descr="preencoded.png">    </p:cNvPr>
          <p:cNvPicPr>
            <a:picLocks noChangeAspect="1"/>
          </p:cNvPicPr>
          <p:nvPr/>
        </p:nvPicPr>
        <p:blipFill>
          <a:blip r:embed="rId5"/>
          <a:srcRect l="0" r="0" t="0" b="0"/>
          <a:stretch/>
        </p:blipFill>
        <p:spPr>
          <a:xfrm>
            <a:off x="4626864" y="2947797"/>
            <a:ext cx="2639568" cy="1484757"/>
          </a:xfrm>
          <a:prstGeom prst="rect">
            <a:avLst/>
          </a:prstGeom>
        </p:spPr>
      </p:pic>
      <p:sp>
        <p:nvSpPr>
          <p:cNvPr id="18" name="Shape 11"/>
          <p:cNvSpPr/>
          <p:nvPr/>
        </p:nvSpPr>
        <p:spPr>
          <a:xfrm>
            <a:off x="4626864" y="2947797"/>
            <a:ext cx="2639568" cy="1484757"/>
          </a:xfrm>
          <a:prstGeom prst="rect">
            <a:avLst/>
          </a:prstGeom>
          <a:solidFill>
            <a:srgbClr val="0D0D0D">
              <a:alpha val="0"/>
            </a:srgbClr>
          </a:solidFill>
          <a:ln w="9525">
            <a:solidFill>
              <a:srgbClr val="271F13"/>
            </a:solidFill>
            <a:prstDash val="solid"/>
          </a:ln>
        </p:spPr>
      </p:sp>
      <p:sp>
        <p:nvSpPr>
          <p:cNvPr id="19" name="Text 12"/>
          <p:cNvSpPr/>
          <p:nvPr/>
        </p:nvSpPr>
        <p:spPr>
          <a:xfrm>
            <a:off x="4626864" y="4450842"/>
            <a:ext cx="2639568" cy="164592"/>
          </a:xfrm>
          <a:prstGeom prst="rect">
            <a:avLst/>
          </a:prstGeom>
          <a:noFill/>
          <a:ln/>
        </p:spPr>
        <p:txBody>
          <a:bodyPr wrap="square" rtlCol="0" anchor="ctr"/>
          <a:lstStyle/>
          <a:p>
            <a:pPr indent="0" marL="0">
              <a:buNone/>
            </a:pPr>
            <a:r>
              <a:rPr lang="en-US" sz="750" spc="100" kern="0" dirty="0">
                <a:solidFill>
                  <a:srgbClr val="EDE7DE"/>
                </a:solidFill>
                <a:latin typeface="Jost" pitchFamily="34" charset="0"/>
                <a:ea typeface="Jost" pitchFamily="34" charset="-122"/>
                <a:cs typeface="Jost" pitchFamily="34" charset="-120"/>
              </a:rPr>
              <a:t>Hyperbaric room</a:t>
            </a:r>
            <a:endParaRPr lang="en-US" sz="750" dirty="0"/>
          </a:p>
        </p:txBody>
      </p:sp>
      <p:sp>
        <p:nvSpPr>
          <p:cNvPr id="20" name="Text 13"/>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B6965"/>
                </a:solidFill>
                <a:latin typeface="Jost" pitchFamily="34" charset="0"/>
                <a:ea typeface="Jost" pitchFamily="34" charset="-122"/>
                <a:cs typeface="Jost" pitchFamily="34" charset="-120"/>
              </a:rPr>
              <a:t>L&amp;K WELLNESS  ·  PRIVATE INVESTMENT BRIEF  ·  CONFIDENTIAL</a:t>
            </a:r>
            <a:endParaRPr lang="en-US" sz="700" dirty="0"/>
          </a:p>
        </p:txBody>
      </p:sp>
      <p:sp>
        <p:nvSpPr>
          <p:cNvPr id="21" name="Text 14"/>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B6965"/>
                </a:solidFill>
                <a:latin typeface="Jost" pitchFamily="34" charset="0"/>
                <a:ea typeface="Jost" pitchFamily="34" charset="-122"/>
                <a:cs typeface="Jost" pitchFamily="34" charset="-120"/>
              </a:rPr>
              <a:t>14</a:t>
            </a:r>
            <a:endParaRPr lang="en-US" sz="7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B08D57"/>
                </a:solidFill>
                <a:latin typeface="Jost" pitchFamily="34" charset="0"/>
                <a:ea typeface="Jost" pitchFamily="34" charset="-122"/>
                <a:cs typeface="Jost" pitchFamily="34" charset="-120"/>
              </a:rPr>
              <a:t>CAPACITY</a:t>
            </a:r>
            <a:endParaRPr lang="en-US" sz="900" dirty="0"/>
          </a:p>
        </p:txBody>
      </p:sp>
      <p:sp>
        <p:nvSpPr>
          <p:cNvPr id="3" name="Shape 1"/>
          <p:cNvSpPr/>
          <p:nvPr/>
        </p:nvSpPr>
        <p:spPr>
          <a:xfrm>
            <a:off x="502920" y="557784"/>
            <a:ext cx="566928" cy="12802"/>
          </a:xfrm>
          <a:prstGeom prst="rect">
            <a:avLst/>
          </a:prstGeom>
          <a:solidFill>
            <a:srgbClr val="B08D57"/>
          </a:solidFill>
          <a:ln w="12700">
            <a:solidFill>
              <a:srgbClr val="B08D57"/>
            </a:solidFill>
            <a:prstDash val="solid"/>
          </a:ln>
        </p:spPr>
      </p:sp>
      <p:sp>
        <p:nvSpPr>
          <p:cNvPr id="4" name="Text 2"/>
          <p:cNvSpPr/>
          <p:nvPr/>
        </p:nvSpPr>
        <p:spPr>
          <a:xfrm>
            <a:off x="502920" y="621792"/>
            <a:ext cx="8138160" cy="548640"/>
          </a:xfrm>
          <a:prstGeom prst="rect">
            <a:avLst/>
          </a:prstGeom>
          <a:noFill/>
          <a:ln/>
        </p:spPr>
        <p:txBody>
          <a:bodyPr wrap="square" rtlCol="0" anchor="t"/>
          <a:lstStyle/>
          <a:p>
            <a:pPr indent="0" marL="0">
              <a:buNone/>
            </a:pPr>
            <a:r>
              <a:rPr lang="en-US" sz="2600" spc="400" kern="0" dirty="0">
                <a:solidFill>
                  <a:srgbClr val="EDE7DE"/>
                </a:solidFill>
                <a:latin typeface="Cormorant Garamond" pitchFamily="34" charset="0"/>
                <a:ea typeface="Cormorant Garamond" pitchFamily="34" charset="-122"/>
                <a:cs typeface="Cormorant Garamond" pitchFamily="34" charset="-120"/>
              </a:rPr>
              <a:t>CAPACITY FOR WHAT IS SOLD</a:t>
            </a:r>
            <a:endParaRPr lang="en-US" sz="2600" dirty="0"/>
          </a:p>
        </p:txBody>
      </p:sp>
      <p:sp>
        <p:nvSpPr>
          <p:cNvPr id="5" name="Text 3"/>
          <p:cNvSpPr/>
          <p:nvPr/>
        </p:nvSpPr>
        <p:spPr>
          <a:xfrm>
            <a:off x="502920" y="1115568"/>
            <a:ext cx="7487107" cy="457200"/>
          </a:xfrm>
          <a:prstGeom prst="rect">
            <a:avLst/>
          </a:prstGeom>
          <a:noFill/>
          <a:ln/>
        </p:spPr>
        <p:txBody>
          <a:bodyPr wrap="square" rtlCol="0" anchor="t"/>
          <a:lstStyle/>
          <a:p>
            <a:pPr indent="0" marL="0">
              <a:lnSpc>
                <a:spcPct val="120000"/>
              </a:lnSpc>
              <a:buNone/>
            </a:pPr>
            <a:r>
              <a:rPr lang="en-US" sz="1050" dirty="0">
                <a:solidFill>
                  <a:srgbClr val="C9BCA9"/>
                </a:solidFill>
                <a:latin typeface="Jost" pitchFamily="34" charset="0"/>
                <a:ea typeface="Jost" pitchFamily="34" charset="-122"/>
                <a:cs typeface="Jost" pitchFamily="34" charset="-120"/>
              </a:rPr>
              <a:t>Built bottom-up from station hours, not assumed. The circuit bottleneck is the cold plunge, not the sauna; the clinical bottleneck is treatment rooms.</a:t>
            </a:r>
            <a:endParaRPr lang="en-US" sz="1050" dirty="0"/>
          </a:p>
        </p:txBody>
      </p:sp>
      <p:sp>
        <p:nvSpPr>
          <p:cNvPr id="6" name="Shape 4"/>
          <p:cNvSpPr/>
          <p:nvPr/>
        </p:nvSpPr>
        <p:spPr>
          <a:xfrm>
            <a:off x="502920" y="1783080"/>
            <a:ext cx="2615184" cy="1600200"/>
          </a:xfrm>
          <a:prstGeom prst="rect">
            <a:avLst/>
          </a:prstGeom>
          <a:solidFill>
            <a:srgbClr val="1C1C1E"/>
          </a:solidFill>
          <a:ln w="9525">
            <a:solidFill>
              <a:srgbClr val="271F13"/>
            </a:solidFill>
            <a:prstDash val="solid"/>
          </a:ln>
        </p:spPr>
      </p:sp>
      <p:sp>
        <p:nvSpPr>
          <p:cNvPr id="7" name="Text 5"/>
          <p:cNvSpPr/>
          <p:nvPr/>
        </p:nvSpPr>
        <p:spPr>
          <a:xfrm>
            <a:off x="649224" y="1911096"/>
            <a:ext cx="2322576" cy="329184"/>
          </a:xfrm>
          <a:prstGeom prst="rect">
            <a:avLst/>
          </a:prstGeom>
          <a:noFill/>
          <a:ln/>
        </p:spPr>
        <p:txBody>
          <a:bodyPr wrap="square" rtlCol="0" anchor="t"/>
          <a:lstStyle/>
          <a:p>
            <a:pPr indent="0" marL="0">
              <a:buNone/>
            </a:pPr>
            <a:r>
              <a:rPr lang="en-US" sz="2000" dirty="0">
                <a:solidFill>
                  <a:srgbClr val="B08D57"/>
                </a:solidFill>
                <a:latin typeface="Cormorant Garamond" pitchFamily="34" charset="0"/>
                <a:ea typeface="Cormorant Garamond" pitchFamily="34" charset="-122"/>
                <a:cs typeface="Cormorant Garamond" pitchFamily="34" charset="-120"/>
              </a:rPr>
              <a:t>73%</a:t>
            </a:r>
            <a:endParaRPr lang="en-US" sz="2000" dirty="0"/>
          </a:p>
        </p:txBody>
      </p:sp>
      <p:sp>
        <p:nvSpPr>
          <p:cNvPr id="8" name="Text 6"/>
          <p:cNvSpPr/>
          <p:nvPr/>
        </p:nvSpPr>
        <p:spPr>
          <a:xfrm>
            <a:off x="649224" y="2258568"/>
            <a:ext cx="2322576" cy="274320"/>
          </a:xfrm>
          <a:prstGeom prst="rect">
            <a:avLst/>
          </a:prstGeom>
          <a:noFill/>
          <a:ln/>
        </p:spPr>
        <p:txBody>
          <a:bodyPr wrap="square" rtlCol="0" anchor="t"/>
          <a:lstStyle/>
          <a:p>
            <a:pPr indent="0" marL="0">
              <a:lnSpc>
                <a:spcPct val="110000"/>
              </a:lnSpc>
              <a:buNone/>
            </a:pPr>
            <a:r>
              <a:rPr lang="en-US" sz="900" dirty="0">
                <a:solidFill>
                  <a:srgbClr val="EDE7DE"/>
                </a:solidFill>
                <a:latin typeface="Jost" pitchFamily="34" charset="0"/>
                <a:ea typeface="Jost" pitchFamily="34" charset="-122"/>
                <a:cs typeface="Jost" pitchFamily="34" charset="-120"/>
              </a:rPr>
              <a:t>Recovery circuit utilization</a:t>
            </a:r>
            <a:endParaRPr lang="en-US" sz="900" dirty="0"/>
          </a:p>
        </p:txBody>
      </p:sp>
      <p:sp>
        <p:nvSpPr>
          <p:cNvPr id="9" name="Text 7"/>
          <p:cNvSpPr/>
          <p:nvPr/>
        </p:nvSpPr>
        <p:spPr>
          <a:xfrm>
            <a:off x="649224" y="2569464"/>
            <a:ext cx="2322576" cy="704088"/>
          </a:xfrm>
          <a:prstGeom prst="rect">
            <a:avLst/>
          </a:prstGeom>
          <a:noFill/>
          <a:ln/>
        </p:spPr>
        <p:txBody>
          <a:bodyPr wrap="square" rtlCol="0" anchor="t"/>
          <a:lstStyle/>
          <a:p>
            <a:pPr indent="0" marL="0">
              <a:lnSpc>
                <a:spcPct val="120000"/>
              </a:lnSpc>
              <a:buNone/>
            </a:pPr>
            <a:r>
              <a:rPr lang="en-US" sz="800" dirty="0">
                <a:solidFill>
                  <a:srgbClr val="C9BCA9"/>
                </a:solidFill>
                <a:latin typeface="Jost" pitchFamily="34" charset="0"/>
                <a:ea typeface="Jost" pitchFamily="34" charset="-122"/>
                <a:cs typeface="Jost" pitchFamily="34" charset="-120"/>
              </a:rPr>
              <a:t>2,345 modeled visits against 3,192 practical capacity, leaving 847 visits of headroom.</a:t>
            </a:r>
            <a:endParaRPr lang="en-US" sz="800" dirty="0"/>
          </a:p>
        </p:txBody>
      </p:sp>
      <p:sp>
        <p:nvSpPr>
          <p:cNvPr id="10" name="Shape 8"/>
          <p:cNvSpPr/>
          <p:nvPr/>
        </p:nvSpPr>
        <p:spPr>
          <a:xfrm>
            <a:off x="3264408" y="1783080"/>
            <a:ext cx="2615184" cy="1600200"/>
          </a:xfrm>
          <a:prstGeom prst="rect">
            <a:avLst/>
          </a:prstGeom>
          <a:solidFill>
            <a:srgbClr val="1C1C1E"/>
          </a:solidFill>
          <a:ln w="9525">
            <a:solidFill>
              <a:srgbClr val="271F13"/>
            </a:solidFill>
            <a:prstDash val="solid"/>
          </a:ln>
        </p:spPr>
      </p:sp>
      <p:sp>
        <p:nvSpPr>
          <p:cNvPr id="11" name="Text 9"/>
          <p:cNvSpPr/>
          <p:nvPr/>
        </p:nvSpPr>
        <p:spPr>
          <a:xfrm>
            <a:off x="3410712" y="1911096"/>
            <a:ext cx="2322576" cy="329184"/>
          </a:xfrm>
          <a:prstGeom prst="rect">
            <a:avLst/>
          </a:prstGeom>
          <a:noFill/>
          <a:ln/>
        </p:spPr>
        <p:txBody>
          <a:bodyPr wrap="square" rtlCol="0" anchor="t"/>
          <a:lstStyle/>
          <a:p>
            <a:pPr indent="0" marL="0">
              <a:buNone/>
            </a:pPr>
            <a:r>
              <a:rPr lang="en-US" sz="2000" dirty="0">
                <a:solidFill>
                  <a:srgbClr val="B08D57"/>
                </a:solidFill>
                <a:latin typeface="Cormorant Garamond" pitchFamily="34" charset="0"/>
                <a:ea typeface="Cormorant Garamond" pitchFamily="34" charset="-122"/>
                <a:cs typeface="Cormorant Garamond" pitchFamily="34" charset="-120"/>
              </a:rPr>
              <a:t>83%</a:t>
            </a:r>
            <a:endParaRPr lang="en-US" sz="2000" dirty="0"/>
          </a:p>
        </p:txBody>
      </p:sp>
      <p:sp>
        <p:nvSpPr>
          <p:cNvPr id="12" name="Text 10"/>
          <p:cNvSpPr/>
          <p:nvPr/>
        </p:nvSpPr>
        <p:spPr>
          <a:xfrm>
            <a:off x="3410712" y="2258568"/>
            <a:ext cx="2322576" cy="274320"/>
          </a:xfrm>
          <a:prstGeom prst="rect">
            <a:avLst/>
          </a:prstGeom>
          <a:noFill/>
          <a:ln/>
        </p:spPr>
        <p:txBody>
          <a:bodyPr wrap="square" rtlCol="0" anchor="t"/>
          <a:lstStyle/>
          <a:p>
            <a:pPr indent="0" marL="0">
              <a:lnSpc>
                <a:spcPct val="110000"/>
              </a:lnSpc>
              <a:buNone/>
            </a:pPr>
            <a:r>
              <a:rPr lang="en-US" sz="900" dirty="0">
                <a:solidFill>
                  <a:srgbClr val="EDE7DE"/>
                </a:solidFill>
                <a:latin typeface="Jost" pitchFamily="34" charset="0"/>
                <a:ea typeface="Jost" pitchFamily="34" charset="-122"/>
                <a:cs typeface="Jost" pitchFamily="34" charset="-120"/>
              </a:rPr>
              <a:t>Treatment room utilization</a:t>
            </a:r>
            <a:endParaRPr lang="en-US" sz="900" dirty="0"/>
          </a:p>
        </p:txBody>
      </p:sp>
      <p:sp>
        <p:nvSpPr>
          <p:cNvPr id="13" name="Text 11"/>
          <p:cNvSpPr/>
          <p:nvPr/>
        </p:nvSpPr>
        <p:spPr>
          <a:xfrm>
            <a:off x="3410712" y="2569464"/>
            <a:ext cx="2322576" cy="704088"/>
          </a:xfrm>
          <a:prstGeom prst="rect">
            <a:avLst/>
          </a:prstGeom>
          <a:noFill/>
          <a:ln/>
        </p:spPr>
        <p:txBody>
          <a:bodyPr wrap="square" rtlCol="0" anchor="t"/>
          <a:lstStyle/>
          <a:p>
            <a:pPr indent="0" marL="0">
              <a:lnSpc>
                <a:spcPct val="120000"/>
              </a:lnSpc>
              <a:buNone/>
            </a:pPr>
            <a:r>
              <a:rPr lang="en-US" sz="800" dirty="0">
                <a:solidFill>
                  <a:srgbClr val="C9BCA9"/>
                </a:solidFill>
                <a:latin typeface="Jost" pitchFamily="34" charset="0"/>
                <a:ea typeface="Jost" pitchFamily="34" charset="-122"/>
                <a:cs typeface="Jost" pitchFamily="34" charset="-120"/>
              </a:rPr>
              <a:t>419 procedures against 507 practical capacity, leaving 88 slots of headroom.</a:t>
            </a:r>
            <a:endParaRPr lang="en-US" sz="800" dirty="0"/>
          </a:p>
        </p:txBody>
      </p:sp>
      <p:sp>
        <p:nvSpPr>
          <p:cNvPr id="14" name="Shape 12"/>
          <p:cNvSpPr/>
          <p:nvPr/>
        </p:nvSpPr>
        <p:spPr>
          <a:xfrm>
            <a:off x="6025896" y="1783080"/>
            <a:ext cx="2615184" cy="1600200"/>
          </a:xfrm>
          <a:prstGeom prst="rect">
            <a:avLst/>
          </a:prstGeom>
          <a:solidFill>
            <a:srgbClr val="1C1C1E"/>
          </a:solidFill>
          <a:ln w="9525">
            <a:solidFill>
              <a:srgbClr val="271F13"/>
            </a:solidFill>
            <a:prstDash val="solid"/>
          </a:ln>
        </p:spPr>
      </p:sp>
      <p:sp>
        <p:nvSpPr>
          <p:cNvPr id="15" name="Text 13"/>
          <p:cNvSpPr/>
          <p:nvPr/>
        </p:nvSpPr>
        <p:spPr>
          <a:xfrm>
            <a:off x="6172200" y="1911096"/>
            <a:ext cx="2322576" cy="329184"/>
          </a:xfrm>
          <a:prstGeom prst="rect">
            <a:avLst/>
          </a:prstGeom>
          <a:noFill/>
          <a:ln/>
        </p:spPr>
        <p:txBody>
          <a:bodyPr wrap="square" rtlCol="0" anchor="t"/>
          <a:lstStyle/>
          <a:p>
            <a:pPr indent="0" marL="0">
              <a:buNone/>
            </a:pPr>
            <a:r>
              <a:rPr lang="en-US" sz="2000" dirty="0">
                <a:solidFill>
                  <a:srgbClr val="B08D57"/>
                </a:solidFill>
                <a:latin typeface="Cormorant Garamond" pitchFamily="34" charset="0"/>
                <a:ea typeface="Cormorant Garamond" pitchFamily="34" charset="-122"/>
                <a:cs typeface="Cormorant Garamond" pitchFamily="34" charset="-120"/>
              </a:rPr>
              <a:t>76%</a:t>
            </a:r>
            <a:endParaRPr lang="en-US" sz="2000" dirty="0"/>
          </a:p>
        </p:txBody>
      </p:sp>
      <p:sp>
        <p:nvSpPr>
          <p:cNvPr id="16" name="Text 14"/>
          <p:cNvSpPr/>
          <p:nvPr/>
        </p:nvSpPr>
        <p:spPr>
          <a:xfrm>
            <a:off x="6172200" y="2258568"/>
            <a:ext cx="2322576" cy="274320"/>
          </a:xfrm>
          <a:prstGeom prst="rect">
            <a:avLst/>
          </a:prstGeom>
          <a:noFill/>
          <a:ln/>
        </p:spPr>
        <p:txBody>
          <a:bodyPr wrap="square" rtlCol="0" anchor="t"/>
          <a:lstStyle/>
          <a:p>
            <a:pPr indent="0" marL="0">
              <a:lnSpc>
                <a:spcPct val="110000"/>
              </a:lnSpc>
              <a:buNone/>
            </a:pPr>
            <a:r>
              <a:rPr lang="en-US" sz="900" dirty="0">
                <a:solidFill>
                  <a:srgbClr val="EDE7DE"/>
                </a:solidFill>
                <a:latin typeface="Jost" pitchFamily="34" charset="0"/>
                <a:ea typeface="Jost" pitchFamily="34" charset="-122"/>
                <a:cs typeface="Jost" pitchFamily="34" charset="-120"/>
              </a:rPr>
              <a:t>Red light utilization</a:t>
            </a:r>
            <a:endParaRPr lang="en-US" sz="900" dirty="0"/>
          </a:p>
        </p:txBody>
      </p:sp>
      <p:sp>
        <p:nvSpPr>
          <p:cNvPr id="17" name="Text 15"/>
          <p:cNvSpPr/>
          <p:nvPr/>
        </p:nvSpPr>
        <p:spPr>
          <a:xfrm>
            <a:off x="6172200" y="2569464"/>
            <a:ext cx="2322576" cy="704088"/>
          </a:xfrm>
          <a:prstGeom prst="rect">
            <a:avLst/>
          </a:prstGeom>
          <a:noFill/>
          <a:ln/>
        </p:spPr>
        <p:txBody>
          <a:bodyPr wrap="square" rtlCol="0" anchor="t"/>
          <a:lstStyle/>
          <a:p>
            <a:pPr indent="0" marL="0">
              <a:lnSpc>
                <a:spcPct val="120000"/>
              </a:lnSpc>
              <a:buNone/>
            </a:pPr>
            <a:r>
              <a:rPr lang="en-US" sz="800" dirty="0">
                <a:solidFill>
                  <a:srgbClr val="C9BCA9"/>
                </a:solidFill>
                <a:latin typeface="Jost" pitchFamily="34" charset="0"/>
                <a:ea typeface="Jost" pitchFamily="34" charset="-122"/>
                <a:cs typeface="Jost" pitchFamily="34" charset="-120"/>
              </a:rPr>
              <a:t>650 sessions against 851 on 2 beds.</a:t>
            </a:r>
            <a:endParaRPr lang="en-US" sz="800" dirty="0"/>
          </a:p>
        </p:txBody>
      </p:sp>
      <p:sp>
        <p:nvSpPr>
          <p:cNvPr id="18" name="Text 16"/>
          <p:cNvSpPr/>
          <p:nvPr/>
        </p:nvSpPr>
        <p:spPr>
          <a:xfrm>
            <a:off x="502920" y="3566160"/>
            <a:ext cx="8138160" cy="548640"/>
          </a:xfrm>
          <a:prstGeom prst="rect">
            <a:avLst/>
          </a:prstGeom>
          <a:noFill/>
          <a:ln/>
        </p:spPr>
        <p:txBody>
          <a:bodyPr wrap="square" rtlCol="0" anchor="t"/>
          <a:lstStyle/>
          <a:p>
            <a:pPr indent="0" marL="0">
              <a:lnSpc>
                <a:spcPct val="120000"/>
              </a:lnSpc>
              <a:buNone/>
            </a:pPr>
            <a:r>
              <a:rPr lang="en-US" sz="950" dirty="0">
                <a:solidFill>
                  <a:srgbClr val="C9BCA9"/>
                </a:solidFill>
                <a:latin typeface="Jost" pitchFamily="34" charset="0"/>
                <a:ea typeface="Jost" pitchFamily="34" charset="-122"/>
                <a:cs typeface="Jost" pitchFamily="34" charset="-120"/>
              </a:rPr>
              <a:t>Practical capacity applies a utilization ceiling to theoretical station hours, because demand concentrates at peak times and nothing runs flat out. Headroom is the growth the facility can absorb without further capital.</a:t>
            </a:r>
            <a:endParaRPr lang="en-US" sz="950" dirty="0"/>
          </a:p>
        </p:txBody>
      </p:sp>
      <p:sp>
        <p:nvSpPr>
          <p:cNvPr id="19" name="Text 17"/>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B6965"/>
                </a:solidFill>
                <a:latin typeface="Jost" pitchFamily="34" charset="0"/>
                <a:ea typeface="Jost" pitchFamily="34" charset="-122"/>
                <a:cs typeface="Jost" pitchFamily="34" charset="-120"/>
              </a:rPr>
              <a:t>L&amp;K WELLNESS  ·  PRIVATE INVESTMENT BRIEF  ·  CONFIDENTIAL</a:t>
            </a:r>
            <a:endParaRPr lang="en-US" sz="700" dirty="0"/>
          </a:p>
        </p:txBody>
      </p:sp>
      <p:sp>
        <p:nvSpPr>
          <p:cNvPr id="20" name="Text 18"/>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B6965"/>
                </a:solidFill>
                <a:latin typeface="Jost" pitchFamily="34" charset="0"/>
                <a:ea typeface="Jost" pitchFamily="34" charset="-122"/>
                <a:cs typeface="Jost" pitchFamily="34" charset="-120"/>
              </a:rPr>
              <a:t>15</a:t>
            </a:r>
            <a:endParaRPr lang="en-US" sz="7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B08D57"/>
                </a:solidFill>
                <a:latin typeface="Jost" pitchFamily="34" charset="0"/>
                <a:ea typeface="Jost" pitchFamily="34" charset="-122"/>
                <a:cs typeface="Jost" pitchFamily="34" charset="-120"/>
              </a:rPr>
              <a:t>MARKET</a:t>
            </a:r>
            <a:endParaRPr lang="en-US" sz="900" dirty="0"/>
          </a:p>
        </p:txBody>
      </p:sp>
      <p:sp>
        <p:nvSpPr>
          <p:cNvPr id="3" name="Shape 1"/>
          <p:cNvSpPr/>
          <p:nvPr/>
        </p:nvSpPr>
        <p:spPr>
          <a:xfrm>
            <a:off x="502920" y="557784"/>
            <a:ext cx="566928" cy="12802"/>
          </a:xfrm>
          <a:prstGeom prst="rect">
            <a:avLst/>
          </a:prstGeom>
          <a:solidFill>
            <a:srgbClr val="B08D57"/>
          </a:solidFill>
          <a:ln w="12700">
            <a:solidFill>
              <a:srgbClr val="B08D57"/>
            </a:solidFill>
            <a:prstDash val="solid"/>
          </a:ln>
        </p:spPr>
      </p:sp>
      <p:sp>
        <p:nvSpPr>
          <p:cNvPr id="4" name="Text 2"/>
          <p:cNvSpPr/>
          <p:nvPr/>
        </p:nvSpPr>
        <p:spPr>
          <a:xfrm>
            <a:off x="502920" y="621792"/>
            <a:ext cx="8138160" cy="548640"/>
          </a:xfrm>
          <a:prstGeom prst="rect">
            <a:avLst/>
          </a:prstGeom>
          <a:noFill/>
          <a:ln/>
        </p:spPr>
        <p:txBody>
          <a:bodyPr wrap="square" rtlCol="0" anchor="t"/>
          <a:lstStyle/>
          <a:p>
            <a:pPr indent="0" marL="0">
              <a:buNone/>
            </a:pPr>
            <a:r>
              <a:rPr lang="en-US" sz="2600" spc="400" kern="0" dirty="0">
                <a:solidFill>
                  <a:srgbClr val="EDE7DE"/>
                </a:solidFill>
                <a:latin typeface="Cormorant Garamond" pitchFamily="34" charset="0"/>
                <a:ea typeface="Cormorant Garamond" pitchFamily="34" charset="-122"/>
                <a:cs typeface="Cormorant Garamond" pitchFamily="34" charset="-120"/>
              </a:rPr>
              <a:t>A LARGE, FAST, CASH-PAY CATEGORY</a:t>
            </a:r>
            <a:endParaRPr lang="en-US" sz="2600" dirty="0"/>
          </a:p>
        </p:txBody>
      </p:sp>
      <p:sp>
        <p:nvSpPr>
          <p:cNvPr id="5" name="Text 3"/>
          <p:cNvSpPr/>
          <p:nvPr/>
        </p:nvSpPr>
        <p:spPr>
          <a:xfrm>
            <a:off x="502920" y="1115568"/>
            <a:ext cx="7487107" cy="457200"/>
          </a:xfrm>
          <a:prstGeom prst="rect">
            <a:avLst/>
          </a:prstGeom>
          <a:noFill/>
          <a:ln/>
        </p:spPr>
        <p:txBody>
          <a:bodyPr wrap="square" rtlCol="0" anchor="t"/>
          <a:lstStyle/>
          <a:p>
            <a:pPr indent="0" marL="0">
              <a:lnSpc>
                <a:spcPct val="120000"/>
              </a:lnSpc>
              <a:buNone/>
            </a:pPr>
            <a:r>
              <a:rPr lang="en-US" sz="1050" dirty="0">
                <a:solidFill>
                  <a:srgbClr val="C9BCA9"/>
                </a:solidFill>
                <a:latin typeface="Jost" pitchFamily="34" charset="0"/>
                <a:ea typeface="Jost" pitchFamily="34" charset="-122"/>
                <a:cs typeface="Jost" pitchFamily="34" charset="-120"/>
              </a:rPr>
              <a:t>Every figure carries its source. Anything we could not source was cut rather than estimated.</a:t>
            </a:r>
            <a:endParaRPr lang="en-US" sz="1050" dirty="0"/>
          </a:p>
        </p:txBody>
      </p:sp>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502920" y="1645920"/>
          <a:ext cx="8138160" cy="914400"/>
        </p:xfrm>
        <a:graphic>
          <a:graphicData uri="http://schemas.openxmlformats.org/drawingml/2006/table">
            <a:tbl>
              <a:tblPr/>
              <a:tblGrid>
                <a:gridCol w="4206240"/>
                <a:gridCol w="1371600"/>
                <a:gridCol w="2560320"/>
              </a:tblGrid>
              <a:tr h="274320">
                <a:tc>
                  <a:txBody>
                    <a:bodyPr/>
                    <a:lstStyle/>
                    <a:p>
                      <a:pPr algn="l" indent="0" marL="0">
                        <a:buNone/>
                      </a:pPr>
                      <a:r>
                        <a:rPr lang="en-US" sz="750" spc="140" kern="0" dirty="0">
                          <a:solidFill>
                            <a:srgbClr val="B08D57"/>
                          </a:solidFill>
                          <a:latin typeface="Jost" pitchFamily="34" charset="0"/>
                          <a:ea typeface="Jost" pitchFamily="34" charset="-122"/>
                          <a:cs typeface="Jost" pitchFamily="34" charset="-120"/>
                        </a:rPr>
                        <a:t>FIGURE</a:t>
                      </a:r>
                      <a:endParaRPr lang="en-US" sz="750" dirty="0">
                        <a:latin typeface="Jost" charset="0"/>
                        <a:ea typeface="Jost" charset="0"/>
                        <a:cs typeface="Jost" charset="0"/>
                      </a:endParaRPr>
                    </a:p>
                  </a:txBody>
                  <a:tcPr marL="36576" marR="36576" marT="36576" marB="36576" anchor="ctr">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000000"/>
                    </a:solidFill>
                  </a:tcPr>
                </a:tc>
                <a:tc>
                  <a:txBody>
                    <a:bodyPr/>
                    <a:lstStyle/>
                    <a:p>
                      <a:pPr algn="r" indent="0" marL="0">
                        <a:buNone/>
                      </a:pPr>
                      <a:r>
                        <a:rPr lang="en-US" sz="750" spc="140" kern="0" dirty="0">
                          <a:solidFill>
                            <a:srgbClr val="B08D57"/>
                          </a:solidFill>
                          <a:latin typeface="Jost" pitchFamily="34" charset="0"/>
                          <a:ea typeface="Jost" pitchFamily="34" charset="-122"/>
                          <a:cs typeface="Jost" pitchFamily="34" charset="-120"/>
                        </a:rPr>
                        <a:t>VALUE</a:t>
                      </a:r>
                      <a:endParaRPr lang="en-US" sz="750" dirty="0">
                        <a:latin typeface="Jost" charset="0"/>
                        <a:ea typeface="Jost" charset="0"/>
                        <a:cs typeface="Jost" charset="0"/>
                      </a:endParaRPr>
                    </a:p>
                  </a:txBody>
                  <a:tcPr marL="36576" marR="36576" marT="36576" marB="36576" anchor="ctr">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000000"/>
                    </a:solidFill>
                  </a:tcPr>
                </a:tc>
                <a:tc>
                  <a:txBody>
                    <a:bodyPr/>
                    <a:lstStyle/>
                    <a:p>
                      <a:pPr algn="l" indent="0" marL="0">
                        <a:buNone/>
                      </a:pPr>
                      <a:r>
                        <a:rPr lang="en-US" sz="750" spc="140" kern="0" dirty="0">
                          <a:solidFill>
                            <a:srgbClr val="B08D57"/>
                          </a:solidFill>
                          <a:latin typeface="Jost" pitchFamily="34" charset="0"/>
                          <a:ea typeface="Jost" pitchFamily="34" charset="-122"/>
                          <a:cs typeface="Jost" pitchFamily="34" charset="-120"/>
                        </a:rPr>
                        <a:t>SOURCE</a:t>
                      </a:r>
                      <a:endParaRPr lang="en-US" sz="750" dirty="0">
                        <a:latin typeface="Jost" charset="0"/>
                        <a:ea typeface="Jost" charset="0"/>
                        <a:cs typeface="Jost" charset="0"/>
                      </a:endParaRPr>
                    </a:p>
                  </a:txBody>
                  <a:tcPr marL="36576" marR="36576" marT="36576" marB="36576" anchor="ctr">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000000"/>
                    </a:solidFill>
                  </a:tcPr>
                </a:tc>
              </a:tr>
              <a:tr h="274320">
                <a:tc>
                  <a:txBody>
                    <a:bodyPr/>
                    <a:lstStyle/>
                    <a:p>
                      <a:pPr algn="l" indent="0" marL="0">
                        <a:buNone/>
                      </a:pPr>
                      <a:r>
                        <a:rPr lang="en-US" sz="900" dirty="0">
                          <a:solidFill>
                            <a:srgbClr val="EDE7DE"/>
                          </a:solidFill>
                          <a:latin typeface="Jost" pitchFamily="34" charset="0"/>
                          <a:ea typeface="Jost" pitchFamily="34" charset="-122"/>
                          <a:cs typeface="Jost" pitchFamily="34" charset="-120"/>
                        </a:rPr>
                        <a:t>Global wellness economy, 2024</a:t>
                      </a:r>
                      <a:endParaRPr lang="en-US" sz="90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900" dirty="0">
                          <a:solidFill>
                            <a:srgbClr val="C9BCA9"/>
                          </a:solidFill>
                          <a:latin typeface="Jost" pitchFamily="34" charset="0"/>
                          <a:ea typeface="Jost" pitchFamily="34" charset="-122"/>
                          <a:cs typeface="Jost" pitchFamily="34" charset="-120"/>
                        </a:rPr>
                        <a:t>$6.8T</a:t>
                      </a:r>
                      <a:endParaRPr lang="en-US" sz="90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l" indent="0" marL="0">
                        <a:buNone/>
                      </a:pPr>
                      <a:r>
                        <a:rPr lang="en-US" sz="900" dirty="0">
                          <a:solidFill>
                            <a:srgbClr val="C9BCA9"/>
                          </a:solidFill>
                          <a:latin typeface="Jost" pitchFamily="34" charset="0"/>
                          <a:ea typeface="Jost" pitchFamily="34" charset="-122"/>
                          <a:cs typeface="Jost" pitchFamily="34" charset="-120"/>
                        </a:rPr>
                        <a:t>Global Wellness Institute</a:t>
                      </a:r>
                      <a:endParaRPr lang="en-US" sz="90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274320">
                <a:tc>
                  <a:txBody>
                    <a:bodyPr/>
                    <a:lstStyle/>
                    <a:p>
                      <a:pPr algn="l" indent="0" marL="0">
                        <a:buNone/>
                      </a:pPr>
                      <a:r>
                        <a:rPr lang="en-US" sz="900" dirty="0">
                          <a:solidFill>
                            <a:srgbClr val="EDE7DE"/>
                          </a:solidFill>
                          <a:latin typeface="Jost" pitchFamily="34" charset="0"/>
                          <a:ea typeface="Jost" pitchFamily="34" charset="-122"/>
                          <a:cs typeface="Jost" pitchFamily="34" charset="-120"/>
                        </a:rPr>
                        <a:t>Global medical spa market, 2026</a:t>
                      </a:r>
                      <a:endParaRPr lang="en-US" sz="90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900" dirty="0">
                          <a:solidFill>
                            <a:srgbClr val="C9BCA9"/>
                          </a:solidFill>
                          <a:latin typeface="Jost" pitchFamily="34" charset="0"/>
                          <a:ea typeface="Jost" pitchFamily="34" charset="-122"/>
                          <a:cs typeface="Jost" pitchFamily="34" charset="-120"/>
                        </a:rPr>
                        <a:t>$27.8B</a:t>
                      </a:r>
                      <a:endParaRPr lang="en-US" sz="90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l" indent="0" marL="0">
                        <a:buNone/>
                      </a:pPr>
                      <a:r>
                        <a:rPr lang="en-US" sz="900" dirty="0">
                          <a:solidFill>
                            <a:srgbClr val="C9BCA9"/>
                          </a:solidFill>
                          <a:latin typeface="Jost" pitchFamily="34" charset="0"/>
                          <a:ea typeface="Jost" pitchFamily="34" charset="-122"/>
                          <a:cs typeface="Jost" pitchFamily="34" charset="-120"/>
                        </a:rPr>
                        <a:t>Grand View Research</a:t>
                      </a:r>
                      <a:endParaRPr lang="en-US" sz="90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274320">
                <a:tc>
                  <a:txBody>
                    <a:bodyPr/>
                    <a:lstStyle/>
                    <a:p>
                      <a:pPr algn="l" indent="0" marL="0">
                        <a:buNone/>
                      </a:pPr>
                      <a:r>
                        <a:rPr lang="en-US" sz="900" dirty="0">
                          <a:solidFill>
                            <a:srgbClr val="EDE7DE"/>
                          </a:solidFill>
                          <a:latin typeface="Jost" pitchFamily="34" charset="0"/>
                          <a:ea typeface="Jost" pitchFamily="34" charset="-122"/>
                          <a:cs typeface="Jost" pitchFamily="34" charset="-120"/>
                        </a:rPr>
                        <a:t>US medical spas, 2023</a:t>
                      </a:r>
                      <a:endParaRPr lang="en-US" sz="90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900" dirty="0">
                          <a:solidFill>
                            <a:srgbClr val="C9BCA9"/>
                          </a:solidFill>
                          <a:latin typeface="Jost" pitchFamily="34" charset="0"/>
                          <a:ea typeface="Jost" pitchFamily="34" charset="-122"/>
                          <a:cs typeface="Jost" pitchFamily="34" charset="-120"/>
                        </a:rPr>
                        <a:t>10,488</a:t>
                      </a:r>
                      <a:endParaRPr lang="en-US" sz="90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l" indent="0" marL="0">
                        <a:buNone/>
                      </a:pPr>
                      <a:r>
                        <a:rPr lang="en-US" sz="900" dirty="0">
                          <a:solidFill>
                            <a:srgbClr val="C9BCA9"/>
                          </a:solidFill>
                          <a:latin typeface="Jost" pitchFamily="34" charset="0"/>
                          <a:ea typeface="Jost" pitchFamily="34" charset="-122"/>
                          <a:cs typeface="Jost" pitchFamily="34" charset="-120"/>
                        </a:rPr>
                        <a:t>Grand View Research</a:t>
                      </a:r>
                      <a:endParaRPr lang="en-US" sz="90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274320">
                <a:tc>
                  <a:txBody>
                    <a:bodyPr/>
                    <a:lstStyle/>
                    <a:p>
                      <a:pPr algn="l" indent="0" marL="0">
                        <a:buNone/>
                      </a:pPr>
                      <a:r>
                        <a:rPr lang="en-US" sz="900" dirty="0">
                          <a:solidFill>
                            <a:srgbClr val="EDE7DE"/>
                          </a:solidFill>
                          <a:latin typeface="Jost" pitchFamily="34" charset="0"/>
                          <a:ea typeface="Jost" pitchFamily="34" charset="-122"/>
                          <a:cs typeface="Jost" pitchFamily="34" charset="-120"/>
                        </a:rPr>
                        <a:t>US consumers calling wellness a top or important priority</a:t>
                      </a:r>
                      <a:endParaRPr lang="en-US" sz="90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900" dirty="0">
                          <a:solidFill>
                            <a:srgbClr val="C9BCA9"/>
                          </a:solidFill>
                          <a:latin typeface="Jost" pitchFamily="34" charset="0"/>
                          <a:ea typeface="Jost" pitchFamily="34" charset="-122"/>
                          <a:cs typeface="Jost" pitchFamily="34" charset="-120"/>
                        </a:rPr>
                        <a:t>82%</a:t>
                      </a:r>
                      <a:endParaRPr lang="en-US" sz="90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l" indent="0" marL="0">
                        <a:buNone/>
                      </a:pPr>
                      <a:r>
                        <a:rPr lang="en-US" sz="900" dirty="0">
                          <a:solidFill>
                            <a:srgbClr val="C9BCA9"/>
                          </a:solidFill>
                          <a:latin typeface="Jost" pitchFamily="34" charset="0"/>
                          <a:ea typeface="Jost" pitchFamily="34" charset="-122"/>
                          <a:cs typeface="Jost" pitchFamily="34" charset="-120"/>
                        </a:rPr>
                        <a:t>McKinsey</a:t>
                      </a:r>
                      <a:endParaRPr lang="en-US" sz="90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274320">
                <a:tc>
                  <a:txBody>
                    <a:bodyPr/>
                    <a:lstStyle/>
                    <a:p>
                      <a:pPr algn="l" indent="0" marL="0">
                        <a:buNone/>
                      </a:pPr>
                      <a:r>
                        <a:rPr lang="en-US" sz="900" dirty="0">
                          <a:solidFill>
                            <a:srgbClr val="EDE7DE"/>
                          </a:solidFill>
                          <a:latin typeface="Jost" pitchFamily="34" charset="0"/>
                          <a:ea typeface="Jost" pitchFamily="34" charset="-122"/>
                          <a:cs typeface="Jost" pitchFamily="34" charset="-120"/>
                        </a:rPr>
                        <a:t>US concierge medicine market by 2034</a:t>
                      </a:r>
                      <a:endParaRPr lang="en-US" sz="90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900" dirty="0">
                          <a:solidFill>
                            <a:srgbClr val="C9BCA9"/>
                          </a:solidFill>
                          <a:latin typeface="Jost" pitchFamily="34" charset="0"/>
                          <a:ea typeface="Jost" pitchFamily="34" charset="-122"/>
                          <a:cs typeface="Jost" pitchFamily="34" charset="-120"/>
                        </a:rPr>
                        <a:t>$19.4B</a:t>
                      </a:r>
                      <a:endParaRPr lang="en-US" sz="90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l" indent="0" marL="0">
                        <a:buNone/>
                      </a:pPr>
                      <a:r>
                        <a:rPr lang="en-US" sz="900" dirty="0">
                          <a:solidFill>
                            <a:srgbClr val="C9BCA9"/>
                          </a:solidFill>
                          <a:latin typeface="Jost" pitchFamily="34" charset="0"/>
                          <a:ea typeface="Jost" pitchFamily="34" charset="-122"/>
                          <a:cs typeface="Jost" pitchFamily="34" charset="-120"/>
                        </a:rPr>
                        <a:t>Cited in Patientfy longevity market map</a:t>
                      </a:r>
                      <a:endParaRPr lang="en-US" sz="90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274320">
                <a:tc>
                  <a:txBody>
                    <a:bodyPr/>
                    <a:lstStyle/>
                    <a:p>
                      <a:pPr algn="l" indent="0" marL="0">
                        <a:buNone/>
                      </a:pPr>
                      <a:r>
                        <a:rPr lang="en-US" sz="900" dirty="0">
                          <a:solidFill>
                            <a:srgbClr val="EDE7DE"/>
                          </a:solidFill>
                          <a:latin typeface="Jost" pitchFamily="34" charset="0"/>
                          <a:ea typeface="Jost" pitchFamily="34" charset="-122"/>
                          <a:cs typeface="Jost" pitchFamily="34" charset="-120"/>
                        </a:rPr>
                        <a:t>US adults currently taking a GLP-1</a:t>
                      </a:r>
                      <a:endParaRPr lang="en-US" sz="90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900" dirty="0">
                          <a:solidFill>
                            <a:srgbClr val="C9BCA9"/>
                          </a:solidFill>
                          <a:latin typeface="Jost" pitchFamily="34" charset="0"/>
                          <a:ea typeface="Jost" pitchFamily="34" charset="-122"/>
                          <a:cs typeface="Jost" pitchFamily="34" charset="-120"/>
                        </a:rPr>
                        <a:t>1 in 8</a:t>
                      </a:r>
                      <a:endParaRPr lang="en-US" sz="90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l" indent="0" marL="0">
                        <a:buNone/>
                      </a:pPr>
                      <a:r>
                        <a:rPr lang="en-US" sz="900" dirty="0">
                          <a:solidFill>
                            <a:srgbClr val="C9BCA9"/>
                          </a:solidFill>
                          <a:latin typeface="Jost" pitchFamily="34" charset="0"/>
                          <a:ea typeface="Jost" pitchFamily="34" charset="-122"/>
                          <a:cs typeface="Jost" pitchFamily="34" charset="-120"/>
                        </a:rPr>
                        <a:t>KFF</a:t>
                      </a:r>
                      <a:endParaRPr lang="en-US" sz="90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274320">
                <a:tc>
                  <a:txBody>
                    <a:bodyPr/>
                    <a:lstStyle/>
                    <a:p>
                      <a:pPr algn="l" indent="0" marL="0">
                        <a:buNone/>
                      </a:pPr>
                      <a:r>
                        <a:rPr lang="en-US" sz="900" dirty="0">
                          <a:solidFill>
                            <a:srgbClr val="EDE7DE"/>
                          </a:solidFill>
                          <a:latin typeface="Jost" pitchFamily="34" charset="0"/>
                          <a:ea typeface="Jost" pitchFamily="34" charset="-122"/>
                          <a:cs typeface="Jost" pitchFamily="34" charset="-120"/>
                        </a:rPr>
                        <a:t>Longevity retreats market, 2026</a:t>
                      </a:r>
                      <a:endParaRPr lang="en-US" sz="90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900" dirty="0">
                          <a:solidFill>
                            <a:srgbClr val="C9BCA9"/>
                          </a:solidFill>
                          <a:latin typeface="Jost" pitchFamily="34" charset="0"/>
                          <a:ea typeface="Jost" pitchFamily="34" charset="-122"/>
                          <a:cs typeface="Jost" pitchFamily="34" charset="-120"/>
                        </a:rPr>
                        <a:t>$11.1B</a:t>
                      </a:r>
                      <a:endParaRPr lang="en-US" sz="90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l" indent="0" marL="0">
                        <a:buNone/>
                      </a:pPr>
                      <a:r>
                        <a:rPr lang="en-US" sz="900" dirty="0">
                          <a:solidFill>
                            <a:srgbClr val="C9BCA9"/>
                          </a:solidFill>
                          <a:latin typeface="Jost" pitchFamily="34" charset="0"/>
                          <a:ea typeface="Jost" pitchFamily="34" charset="-122"/>
                          <a:cs typeface="Jost" pitchFamily="34" charset="-120"/>
                        </a:rPr>
                        <a:t>Research and Markets</a:t>
                      </a:r>
                      <a:endParaRPr lang="en-US" sz="90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bl>
          </a:graphicData>
        </a:graphic>
      </p:graphicFrame>
      <p:sp>
        <p:nvSpPr>
          <p:cNvPr id="7" name="Text 4"/>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B6965"/>
                </a:solidFill>
                <a:latin typeface="Jost" pitchFamily="34" charset="0"/>
                <a:ea typeface="Jost" pitchFamily="34" charset="-122"/>
                <a:cs typeface="Jost" pitchFamily="34" charset="-120"/>
              </a:rPr>
              <a:t>L&amp;K WELLNESS  ·  PRIVATE INVESTMENT BRIEF  ·  CONFIDENTIAL</a:t>
            </a:r>
            <a:endParaRPr lang="en-US" sz="700" dirty="0"/>
          </a:p>
        </p:txBody>
      </p:sp>
      <p:sp>
        <p:nvSpPr>
          <p:cNvPr id="8" name="Text 5"/>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B6965"/>
                </a:solidFill>
                <a:latin typeface="Jost" pitchFamily="34" charset="0"/>
                <a:ea typeface="Jost" pitchFamily="34" charset="-122"/>
                <a:cs typeface="Jost" pitchFamily="34" charset="-120"/>
              </a:rPr>
              <a:t>16</a:t>
            </a:r>
            <a:endParaRPr lang="en-US" sz="7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B08D57"/>
                </a:solidFill>
                <a:latin typeface="Jost" pitchFamily="34" charset="0"/>
                <a:ea typeface="Jost" pitchFamily="34" charset="-122"/>
                <a:cs typeface="Jost" pitchFamily="34" charset="-120"/>
              </a:rPr>
              <a:t>MARKET</a:t>
            </a:r>
            <a:endParaRPr lang="en-US" sz="900" dirty="0"/>
          </a:p>
        </p:txBody>
      </p:sp>
      <p:sp>
        <p:nvSpPr>
          <p:cNvPr id="3" name="Shape 1"/>
          <p:cNvSpPr/>
          <p:nvPr/>
        </p:nvSpPr>
        <p:spPr>
          <a:xfrm>
            <a:off x="502920" y="557784"/>
            <a:ext cx="566928" cy="12802"/>
          </a:xfrm>
          <a:prstGeom prst="rect">
            <a:avLst/>
          </a:prstGeom>
          <a:solidFill>
            <a:srgbClr val="B08D57"/>
          </a:solidFill>
          <a:ln w="12700">
            <a:solidFill>
              <a:srgbClr val="B08D57"/>
            </a:solidFill>
            <a:prstDash val="solid"/>
          </a:ln>
        </p:spPr>
      </p:sp>
      <p:sp>
        <p:nvSpPr>
          <p:cNvPr id="4" name="Text 2"/>
          <p:cNvSpPr/>
          <p:nvPr/>
        </p:nvSpPr>
        <p:spPr>
          <a:xfrm>
            <a:off x="502920" y="621792"/>
            <a:ext cx="8138160" cy="548640"/>
          </a:xfrm>
          <a:prstGeom prst="rect">
            <a:avLst/>
          </a:prstGeom>
          <a:noFill/>
          <a:ln/>
        </p:spPr>
        <p:txBody>
          <a:bodyPr wrap="square" rtlCol="0" anchor="t"/>
          <a:lstStyle/>
          <a:p>
            <a:pPr indent="0" marL="0">
              <a:buNone/>
            </a:pPr>
            <a:r>
              <a:rPr lang="en-US" sz="2600" spc="400" kern="0" dirty="0">
                <a:solidFill>
                  <a:srgbClr val="EDE7DE"/>
                </a:solidFill>
                <a:latin typeface="Cormorant Garamond" pitchFamily="34" charset="0"/>
                <a:ea typeface="Cormorant Garamond" pitchFamily="34" charset="-122"/>
                <a:cs typeface="Cormorant Garamond" pitchFamily="34" charset="-120"/>
              </a:rPr>
              <a:t>SILICON BEACH, AT ITS DENSEST</a:t>
            </a:r>
            <a:endParaRPr lang="en-US" sz="2600" dirty="0"/>
          </a:p>
        </p:txBody>
      </p:sp>
      <p:sp>
        <p:nvSpPr>
          <p:cNvPr id="5" name="Text 3"/>
          <p:cNvSpPr/>
          <p:nvPr/>
        </p:nvSpPr>
        <p:spPr>
          <a:xfrm>
            <a:off x="502920" y="1115568"/>
            <a:ext cx="7487107" cy="457200"/>
          </a:xfrm>
          <a:prstGeom prst="rect">
            <a:avLst/>
          </a:prstGeom>
          <a:noFill/>
          <a:ln/>
        </p:spPr>
        <p:txBody>
          <a:bodyPr wrap="square" rtlCol="0" anchor="t"/>
          <a:lstStyle/>
          <a:p>
            <a:pPr indent="0" marL="0">
              <a:lnSpc>
                <a:spcPct val="120000"/>
              </a:lnSpc>
              <a:buNone/>
            </a:pPr>
            <a:r>
              <a:rPr lang="en-US" sz="1050" dirty="0">
                <a:solidFill>
                  <a:srgbClr val="C9BCA9"/>
                </a:solidFill>
                <a:latin typeface="Jost" pitchFamily="34" charset="0"/>
                <a:ea typeface="Jost" pitchFamily="34" charset="-122"/>
                <a:cs typeface="Jost" pitchFamily="34" charset="-120"/>
              </a:rPr>
              <a:t>Playa Vista is a master-planned innovation district on the old Hughes Aircraft site, and it has become the centre of gravity for the Westside’s technology, media, advertising and creator economy. Google, YouTube and Meta campuses sit within a walk of one another. LAX is four miles south, the studios fifteen minutes north, and the district was designed to be walked rather than driven.</a:t>
            </a:r>
            <a:endParaRPr lang="en-US" sz="1050" dirty="0"/>
          </a:p>
        </p:txBody>
      </p:sp>
      <p:sp>
        <p:nvSpPr>
          <p:cNvPr id="6" name="Shape 4"/>
          <p:cNvSpPr/>
          <p:nvPr/>
        </p:nvSpPr>
        <p:spPr>
          <a:xfrm>
            <a:off x="502920" y="1783080"/>
            <a:ext cx="2615184" cy="1554480"/>
          </a:xfrm>
          <a:prstGeom prst="rect">
            <a:avLst/>
          </a:prstGeom>
          <a:solidFill>
            <a:srgbClr val="1C1C1E"/>
          </a:solidFill>
          <a:ln w="9525">
            <a:solidFill>
              <a:srgbClr val="271F13"/>
            </a:solidFill>
            <a:prstDash val="solid"/>
          </a:ln>
        </p:spPr>
      </p:sp>
      <p:sp>
        <p:nvSpPr>
          <p:cNvPr id="7" name="Text 5"/>
          <p:cNvSpPr/>
          <p:nvPr/>
        </p:nvSpPr>
        <p:spPr>
          <a:xfrm>
            <a:off x="649224" y="1911096"/>
            <a:ext cx="2322576" cy="329184"/>
          </a:xfrm>
          <a:prstGeom prst="rect">
            <a:avLst/>
          </a:prstGeom>
          <a:noFill/>
          <a:ln/>
        </p:spPr>
        <p:txBody>
          <a:bodyPr wrap="square" rtlCol="0" anchor="t"/>
          <a:lstStyle/>
          <a:p>
            <a:pPr indent="0" marL="0">
              <a:buNone/>
            </a:pPr>
            <a:r>
              <a:rPr lang="en-US" sz="2000" dirty="0">
                <a:solidFill>
                  <a:srgbClr val="B08D57"/>
                </a:solidFill>
                <a:latin typeface="Cormorant Garamond" pitchFamily="34" charset="0"/>
                <a:ea typeface="Cormorant Garamond" pitchFamily="34" charset="-122"/>
                <a:cs typeface="Cormorant Garamond" pitchFamily="34" charset="-120"/>
              </a:rPr>
              <a:t>$129,942</a:t>
            </a:r>
            <a:endParaRPr lang="en-US" sz="2000" dirty="0"/>
          </a:p>
        </p:txBody>
      </p:sp>
      <p:sp>
        <p:nvSpPr>
          <p:cNvPr id="8" name="Text 6"/>
          <p:cNvSpPr/>
          <p:nvPr/>
        </p:nvSpPr>
        <p:spPr>
          <a:xfrm>
            <a:off x="649224" y="2258568"/>
            <a:ext cx="2322576" cy="274320"/>
          </a:xfrm>
          <a:prstGeom prst="rect">
            <a:avLst/>
          </a:prstGeom>
          <a:noFill/>
          <a:ln/>
        </p:spPr>
        <p:txBody>
          <a:bodyPr wrap="square" rtlCol="0" anchor="t"/>
          <a:lstStyle/>
          <a:p>
            <a:pPr indent="0" marL="0">
              <a:lnSpc>
                <a:spcPct val="110000"/>
              </a:lnSpc>
              <a:buNone/>
            </a:pPr>
            <a:r>
              <a:rPr lang="en-US" sz="900" dirty="0">
                <a:solidFill>
                  <a:srgbClr val="EDE7DE"/>
                </a:solidFill>
                <a:latin typeface="Jost" pitchFamily="34" charset="0"/>
                <a:ea typeface="Jost" pitchFamily="34" charset="-122"/>
                <a:cs typeface="Jost" pitchFamily="34" charset="-120"/>
              </a:rPr>
              <a:t>Playa Vista median household income</a:t>
            </a:r>
            <a:endParaRPr lang="en-US" sz="900" dirty="0"/>
          </a:p>
        </p:txBody>
      </p:sp>
      <p:sp>
        <p:nvSpPr>
          <p:cNvPr id="9" name="Text 7"/>
          <p:cNvSpPr/>
          <p:nvPr/>
        </p:nvSpPr>
        <p:spPr>
          <a:xfrm>
            <a:off x="649224" y="2569464"/>
            <a:ext cx="2322576" cy="658368"/>
          </a:xfrm>
          <a:prstGeom prst="rect">
            <a:avLst/>
          </a:prstGeom>
          <a:noFill/>
          <a:ln/>
        </p:spPr>
        <p:txBody>
          <a:bodyPr wrap="square" rtlCol="0" anchor="t"/>
          <a:lstStyle/>
          <a:p>
            <a:pPr indent="0" marL="0">
              <a:lnSpc>
                <a:spcPct val="120000"/>
              </a:lnSpc>
              <a:buNone/>
            </a:pPr>
            <a:r>
              <a:rPr lang="en-US" sz="800" dirty="0">
                <a:solidFill>
                  <a:srgbClr val="C9BCA9"/>
                </a:solidFill>
                <a:latin typeface="Jost" pitchFamily="34" charset="0"/>
                <a:ea typeface="Jost" pitchFamily="34" charset="-122"/>
                <a:cs typeface="Jost" pitchFamily="34" charset="-120"/>
              </a:rPr>
              <a:t>Against a Los Angeles County median well below it. This is a cash-pay market. (US Census Bureau, via Point2Homes)</a:t>
            </a:r>
            <a:endParaRPr lang="en-US" sz="800" dirty="0"/>
          </a:p>
        </p:txBody>
      </p:sp>
      <p:sp>
        <p:nvSpPr>
          <p:cNvPr id="10" name="Shape 8"/>
          <p:cNvSpPr/>
          <p:nvPr/>
        </p:nvSpPr>
        <p:spPr>
          <a:xfrm>
            <a:off x="3264408" y="1783080"/>
            <a:ext cx="2615184" cy="1554480"/>
          </a:xfrm>
          <a:prstGeom prst="rect">
            <a:avLst/>
          </a:prstGeom>
          <a:solidFill>
            <a:srgbClr val="1C1C1E"/>
          </a:solidFill>
          <a:ln w="9525">
            <a:solidFill>
              <a:srgbClr val="271F13"/>
            </a:solidFill>
            <a:prstDash val="solid"/>
          </a:ln>
        </p:spPr>
      </p:sp>
      <p:sp>
        <p:nvSpPr>
          <p:cNvPr id="11" name="Text 9"/>
          <p:cNvSpPr/>
          <p:nvPr/>
        </p:nvSpPr>
        <p:spPr>
          <a:xfrm>
            <a:off x="3410712" y="1911096"/>
            <a:ext cx="2322576" cy="329184"/>
          </a:xfrm>
          <a:prstGeom prst="rect">
            <a:avLst/>
          </a:prstGeom>
          <a:noFill/>
          <a:ln/>
        </p:spPr>
        <p:txBody>
          <a:bodyPr wrap="square" rtlCol="0" anchor="t"/>
          <a:lstStyle/>
          <a:p>
            <a:pPr indent="0" marL="0">
              <a:buNone/>
            </a:pPr>
            <a:r>
              <a:rPr lang="en-US" sz="2000" dirty="0">
                <a:solidFill>
                  <a:srgbClr val="B08D57"/>
                </a:solidFill>
                <a:latin typeface="Cormorant Garamond" pitchFamily="34" charset="0"/>
                <a:ea typeface="Cormorant Garamond" pitchFamily="34" charset="-122"/>
                <a:cs typeface="Cormorant Garamond" pitchFamily="34" charset="-120"/>
              </a:rPr>
              <a:t>500+</a:t>
            </a:r>
            <a:endParaRPr lang="en-US" sz="2000" dirty="0"/>
          </a:p>
        </p:txBody>
      </p:sp>
      <p:sp>
        <p:nvSpPr>
          <p:cNvPr id="12" name="Text 10"/>
          <p:cNvSpPr/>
          <p:nvPr/>
        </p:nvSpPr>
        <p:spPr>
          <a:xfrm>
            <a:off x="3410712" y="2258568"/>
            <a:ext cx="2322576" cy="274320"/>
          </a:xfrm>
          <a:prstGeom prst="rect">
            <a:avLst/>
          </a:prstGeom>
          <a:noFill/>
          <a:ln/>
        </p:spPr>
        <p:txBody>
          <a:bodyPr wrap="square" rtlCol="0" anchor="t"/>
          <a:lstStyle/>
          <a:p>
            <a:pPr indent="0" marL="0">
              <a:lnSpc>
                <a:spcPct val="110000"/>
              </a:lnSpc>
              <a:buNone/>
            </a:pPr>
            <a:r>
              <a:rPr lang="en-US" sz="900" dirty="0">
                <a:solidFill>
                  <a:srgbClr val="EDE7DE"/>
                </a:solidFill>
                <a:latin typeface="Jost" pitchFamily="34" charset="0"/>
                <a:ea typeface="Jost" pitchFamily="34" charset="-122"/>
                <a:cs typeface="Jost" pitchFamily="34" charset="-120"/>
              </a:rPr>
              <a:t>Technology companies in Silicon Beach</a:t>
            </a:r>
            <a:endParaRPr lang="en-US" sz="900" dirty="0"/>
          </a:p>
        </p:txBody>
      </p:sp>
      <p:sp>
        <p:nvSpPr>
          <p:cNvPr id="13" name="Text 11"/>
          <p:cNvSpPr/>
          <p:nvPr/>
        </p:nvSpPr>
        <p:spPr>
          <a:xfrm>
            <a:off x="3410712" y="2569464"/>
            <a:ext cx="2322576" cy="658368"/>
          </a:xfrm>
          <a:prstGeom prst="rect">
            <a:avLst/>
          </a:prstGeom>
          <a:noFill/>
          <a:ln/>
        </p:spPr>
        <p:txBody>
          <a:bodyPr wrap="square" rtlCol="0" anchor="t"/>
          <a:lstStyle/>
          <a:p>
            <a:pPr indent="0" marL="0">
              <a:lnSpc>
                <a:spcPct val="120000"/>
              </a:lnSpc>
              <a:buNone/>
            </a:pPr>
            <a:r>
              <a:rPr lang="en-US" sz="800" dirty="0">
                <a:solidFill>
                  <a:srgbClr val="C9BCA9"/>
                </a:solidFill>
                <a:latin typeface="Jost" pitchFamily="34" charset="0"/>
                <a:ea typeface="Jost" pitchFamily="34" charset="-122"/>
                <a:cs typeface="Jost" pitchFamily="34" charset="-120"/>
              </a:rPr>
              <a:t>The Westside tech corridor that Playa Vista sits at the center of. (Wikipedia, Silicon Beach)</a:t>
            </a:r>
            <a:endParaRPr lang="en-US" sz="800" dirty="0"/>
          </a:p>
        </p:txBody>
      </p:sp>
      <p:sp>
        <p:nvSpPr>
          <p:cNvPr id="14" name="Shape 12"/>
          <p:cNvSpPr/>
          <p:nvPr/>
        </p:nvSpPr>
        <p:spPr>
          <a:xfrm>
            <a:off x="6025896" y="1783080"/>
            <a:ext cx="2615184" cy="1554480"/>
          </a:xfrm>
          <a:prstGeom prst="rect">
            <a:avLst/>
          </a:prstGeom>
          <a:solidFill>
            <a:srgbClr val="1C1C1E"/>
          </a:solidFill>
          <a:ln w="9525">
            <a:solidFill>
              <a:srgbClr val="271F13"/>
            </a:solidFill>
            <a:prstDash val="solid"/>
          </a:ln>
        </p:spPr>
      </p:sp>
      <p:sp>
        <p:nvSpPr>
          <p:cNvPr id="15" name="Text 13"/>
          <p:cNvSpPr/>
          <p:nvPr/>
        </p:nvSpPr>
        <p:spPr>
          <a:xfrm>
            <a:off x="6172200" y="1911096"/>
            <a:ext cx="2322576" cy="329184"/>
          </a:xfrm>
          <a:prstGeom prst="rect">
            <a:avLst/>
          </a:prstGeom>
          <a:noFill/>
          <a:ln/>
        </p:spPr>
        <p:txBody>
          <a:bodyPr wrap="square" rtlCol="0" anchor="t"/>
          <a:lstStyle/>
          <a:p>
            <a:pPr indent="0" marL="0">
              <a:buNone/>
            </a:pPr>
            <a:r>
              <a:rPr lang="en-US" sz="2000" dirty="0">
                <a:solidFill>
                  <a:srgbClr val="B08D57"/>
                </a:solidFill>
                <a:latin typeface="Cormorant Garamond" pitchFamily="34" charset="0"/>
                <a:ea typeface="Cormorant Garamond" pitchFamily="34" charset="-122"/>
                <a:cs typeface="Cormorant Garamond" pitchFamily="34" charset="-120"/>
              </a:rPr>
              <a:t>~5,100</a:t>
            </a:r>
            <a:endParaRPr lang="en-US" sz="2000" dirty="0"/>
          </a:p>
        </p:txBody>
      </p:sp>
      <p:sp>
        <p:nvSpPr>
          <p:cNvPr id="16" name="Text 14"/>
          <p:cNvSpPr/>
          <p:nvPr/>
        </p:nvSpPr>
        <p:spPr>
          <a:xfrm>
            <a:off x="6172200" y="2258568"/>
            <a:ext cx="2322576" cy="274320"/>
          </a:xfrm>
          <a:prstGeom prst="rect">
            <a:avLst/>
          </a:prstGeom>
          <a:noFill/>
          <a:ln/>
        </p:spPr>
        <p:txBody>
          <a:bodyPr wrap="square" rtlCol="0" anchor="t"/>
          <a:lstStyle/>
          <a:p>
            <a:pPr indent="0" marL="0">
              <a:lnSpc>
                <a:spcPct val="110000"/>
              </a:lnSpc>
              <a:buNone/>
            </a:pPr>
            <a:r>
              <a:rPr lang="en-US" sz="900" dirty="0">
                <a:solidFill>
                  <a:srgbClr val="EDE7DE"/>
                </a:solidFill>
                <a:latin typeface="Jost" pitchFamily="34" charset="0"/>
                <a:ea typeface="Jost" pitchFamily="34" charset="-122"/>
                <a:cs typeface="Jost" pitchFamily="34" charset="-120"/>
              </a:rPr>
              <a:t>Employed at The Campus at Playa Vista</a:t>
            </a:r>
            <a:endParaRPr lang="en-US" sz="900" dirty="0"/>
          </a:p>
        </p:txBody>
      </p:sp>
      <p:sp>
        <p:nvSpPr>
          <p:cNvPr id="17" name="Text 15"/>
          <p:cNvSpPr/>
          <p:nvPr/>
        </p:nvSpPr>
        <p:spPr>
          <a:xfrm>
            <a:off x="6172200" y="2569464"/>
            <a:ext cx="2322576" cy="658368"/>
          </a:xfrm>
          <a:prstGeom prst="rect">
            <a:avLst/>
          </a:prstGeom>
          <a:noFill/>
          <a:ln/>
        </p:spPr>
        <p:txBody>
          <a:bodyPr wrap="square" rtlCol="0" anchor="t"/>
          <a:lstStyle/>
          <a:p>
            <a:pPr indent="0" marL="0">
              <a:lnSpc>
                <a:spcPct val="120000"/>
              </a:lnSpc>
              <a:buNone/>
            </a:pPr>
            <a:r>
              <a:rPr lang="en-US" sz="800" dirty="0">
                <a:solidFill>
                  <a:srgbClr val="C9BCA9"/>
                </a:solidFill>
                <a:latin typeface="Jost" pitchFamily="34" charset="0"/>
                <a:ea typeface="Jost" pitchFamily="34" charset="-122"/>
                <a:cs typeface="Jost" pitchFamily="34" charset="-120"/>
              </a:rPr>
              <a:t>Up from roughly 2,000 in 2015, a 150% increase. A dense, high-income daytime population inside walking distance. (Los Angeles Business Journal)</a:t>
            </a:r>
            <a:endParaRPr lang="en-US" sz="800" dirty="0"/>
          </a:p>
        </p:txBody>
      </p:sp>
      <p:sp>
        <p:nvSpPr>
          <p:cNvPr id="18" name="Text 16"/>
          <p:cNvSpPr/>
          <p:nvPr/>
        </p:nvSpPr>
        <p:spPr>
          <a:xfrm>
            <a:off x="502920" y="3520440"/>
            <a:ext cx="8138160" cy="182880"/>
          </a:xfrm>
          <a:prstGeom prst="rect">
            <a:avLst/>
          </a:prstGeom>
          <a:noFill/>
          <a:ln/>
        </p:spPr>
        <p:txBody>
          <a:bodyPr wrap="square" rtlCol="0" anchor="ctr"/>
          <a:lstStyle/>
          <a:p>
            <a:pPr indent="0" marL="0">
              <a:buNone/>
            </a:pPr>
            <a:r>
              <a:rPr lang="en-US" sz="750" spc="200" kern="0" dirty="0">
                <a:solidFill>
                  <a:srgbClr val="B08D57"/>
                </a:solidFill>
                <a:latin typeface="Jost" pitchFamily="34" charset="0"/>
                <a:ea typeface="Jost" pitchFamily="34" charset="-122"/>
                <a:cs typeface="Jost" pitchFamily="34" charset="-120"/>
              </a:rPr>
              <a:t>INSIDE A REALISTIC DRIVE TIME</a:t>
            </a:r>
            <a:endParaRPr lang="en-US" sz="750" dirty="0"/>
          </a:p>
        </p:txBody>
      </p:sp>
      <p:sp>
        <p:nvSpPr>
          <p:cNvPr id="19" name="Text 17"/>
          <p:cNvSpPr/>
          <p:nvPr/>
        </p:nvSpPr>
        <p:spPr>
          <a:xfrm>
            <a:off x="502920" y="3749040"/>
            <a:ext cx="8138160" cy="548640"/>
          </a:xfrm>
          <a:prstGeom prst="rect">
            <a:avLst/>
          </a:prstGeom>
          <a:noFill/>
          <a:ln/>
        </p:spPr>
        <p:txBody>
          <a:bodyPr wrap="square" rtlCol="0" anchor="t"/>
          <a:lstStyle/>
          <a:p>
            <a:pPr indent="0" marL="0">
              <a:lnSpc>
                <a:spcPct val="120000"/>
              </a:lnSpc>
              <a:buNone/>
            </a:pPr>
            <a:r>
              <a:rPr lang="en-US" sz="1000" dirty="0">
                <a:solidFill>
                  <a:srgbClr val="C9BCA9"/>
                </a:solidFill>
                <a:latin typeface="Jost" pitchFamily="34" charset="0"/>
                <a:ea typeface="Jost" pitchFamily="34" charset="-122"/>
                <a:cs typeface="Jost" pitchFamily="34" charset="-120"/>
              </a:rPr>
              <a:t>Playa Vista   ·   Marina del Rey   ·   Culver City   ·   Venice   ·   Santa Monica   ·   Playa del Rey   ·   El Segundo   ·   Westchester   ·   Mar Vista   ·   Manhattan Beach</a:t>
            </a:r>
            <a:endParaRPr lang="en-US" sz="1000" dirty="0"/>
          </a:p>
        </p:txBody>
      </p:sp>
      <p:sp>
        <p:nvSpPr>
          <p:cNvPr id="20" name="Text 18"/>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B6965"/>
                </a:solidFill>
                <a:latin typeface="Jost" pitchFamily="34" charset="0"/>
                <a:ea typeface="Jost" pitchFamily="34" charset="-122"/>
                <a:cs typeface="Jost" pitchFamily="34" charset="-120"/>
              </a:rPr>
              <a:t>L&amp;K WELLNESS  ·  PRIVATE INVESTMENT BRIEF  ·  CONFIDENTIAL</a:t>
            </a:r>
            <a:endParaRPr lang="en-US" sz="700" dirty="0"/>
          </a:p>
        </p:txBody>
      </p:sp>
      <p:sp>
        <p:nvSpPr>
          <p:cNvPr id="21" name="Text 19"/>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B6965"/>
                </a:solidFill>
                <a:latin typeface="Jost" pitchFamily="34" charset="0"/>
                <a:ea typeface="Jost" pitchFamily="34" charset="-122"/>
                <a:cs typeface="Jost" pitchFamily="34" charset="-120"/>
              </a:rPr>
              <a:t>17</a:t>
            </a:r>
            <a:endParaRPr lang="en-US" sz="7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B08D57"/>
                </a:solidFill>
                <a:latin typeface="Jost" pitchFamily="34" charset="0"/>
                <a:ea typeface="Jost" pitchFamily="34" charset="-122"/>
                <a:cs typeface="Jost" pitchFamily="34" charset="-120"/>
              </a:rPr>
              <a:t>UNIT ECONOMICS</a:t>
            </a:r>
            <a:endParaRPr lang="en-US" sz="900" dirty="0"/>
          </a:p>
        </p:txBody>
      </p:sp>
      <p:sp>
        <p:nvSpPr>
          <p:cNvPr id="3" name="Shape 1"/>
          <p:cNvSpPr/>
          <p:nvPr/>
        </p:nvSpPr>
        <p:spPr>
          <a:xfrm>
            <a:off x="502920" y="557784"/>
            <a:ext cx="566928" cy="12802"/>
          </a:xfrm>
          <a:prstGeom prst="rect">
            <a:avLst/>
          </a:prstGeom>
          <a:solidFill>
            <a:srgbClr val="B08D57"/>
          </a:solidFill>
          <a:ln w="12700">
            <a:solidFill>
              <a:srgbClr val="B08D57"/>
            </a:solidFill>
            <a:prstDash val="solid"/>
          </a:ln>
        </p:spPr>
      </p:sp>
      <p:sp>
        <p:nvSpPr>
          <p:cNvPr id="4" name="Text 2"/>
          <p:cNvSpPr/>
          <p:nvPr/>
        </p:nvSpPr>
        <p:spPr>
          <a:xfrm>
            <a:off x="502920" y="621792"/>
            <a:ext cx="8138160" cy="548640"/>
          </a:xfrm>
          <a:prstGeom prst="rect">
            <a:avLst/>
          </a:prstGeom>
          <a:noFill/>
          <a:ln/>
        </p:spPr>
        <p:txBody>
          <a:bodyPr wrap="square" rtlCol="0" anchor="t"/>
          <a:lstStyle/>
          <a:p>
            <a:pPr indent="0" marL="0">
              <a:buNone/>
            </a:pPr>
            <a:r>
              <a:rPr lang="en-US" sz="2600" spc="400" kern="0" dirty="0">
                <a:solidFill>
                  <a:srgbClr val="EDE7DE"/>
                </a:solidFill>
                <a:latin typeface="Cormorant Garamond" pitchFamily="34" charset="0"/>
                <a:ea typeface="Cormorant Garamond" pitchFamily="34" charset="-122"/>
                <a:cs typeface="Cormorant Garamond" pitchFamily="34" charset="-120"/>
              </a:rPr>
              <a:t>30 LINES, ALL CASH-PAY (1 OF 2)</a:t>
            </a:r>
            <a:endParaRPr lang="en-US" sz="2600" dirty="0"/>
          </a:p>
        </p:txBody>
      </p:sp>
      <p:sp>
        <p:nvSpPr>
          <p:cNvPr id="5" name="Text 3"/>
          <p:cNvSpPr/>
          <p:nvPr/>
        </p:nvSpPr>
        <p:spPr>
          <a:xfrm>
            <a:off x="502920" y="1115568"/>
            <a:ext cx="7487107" cy="457200"/>
          </a:xfrm>
          <a:prstGeom prst="rect">
            <a:avLst/>
          </a:prstGeom>
          <a:noFill/>
          <a:ln/>
        </p:spPr>
        <p:txBody>
          <a:bodyPr wrap="square" rtlCol="0" anchor="t"/>
          <a:lstStyle/>
          <a:p>
            <a:pPr indent="0" marL="0">
              <a:lnSpc>
                <a:spcPct val="120000"/>
              </a:lnSpc>
              <a:buNone/>
            </a:pPr>
            <a:r>
              <a:rPr lang="en-US" sz="1050" dirty="0">
                <a:solidFill>
                  <a:srgbClr val="C9BCA9"/>
                </a:solidFill>
                <a:latin typeface="Jost" pitchFamily="34" charset="0"/>
                <a:ea typeface="Jost" pitchFamily="34" charset="-122"/>
                <a:cs typeface="Jost" pitchFamily="34" charset="-120"/>
              </a:rPr>
              <a:t>No insurance contracts, no payer mix, no receivables aging. Prices are exact, not banded.</a:t>
            </a:r>
            <a:endParaRPr lang="en-US" sz="1050" dirty="0"/>
          </a:p>
        </p:txBody>
      </p:sp>
      <p:graphicFrame>
        <p:nvGraphicFramePr>
          <p:cNvPr id="19" name="Table 0"/>
          <p:cNvGraphicFramePr>
            <a:graphicFrameLocks noGrp="1"/>
          </p:cNvGraphicFramePr>
          <p:nvPr>
            <p:extLst>
              <p:ext uri="{D42A27DB-BD31-4B8C-83A1-F6EECF244321}">
                <p14:modId xmlns:p14="http://schemas.microsoft.com/office/powerpoint/2010/main" val="1579011935"/>
              </p:ext>
            </p:extLst>
          </p:nvPr>
        </p:nvGraphicFramePr>
        <p:xfrm>
          <a:off x="502920" y="1572768"/>
          <a:ext cx="8138160" cy="914400"/>
        </p:xfrm>
        <a:graphic>
          <a:graphicData uri="http://schemas.openxmlformats.org/drawingml/2006/table">
            <a:tbl>
              <a:tblPr/>
              <a:tblGrid>
                <a:gridCol w="2103120"/>
                <a:gridCol w="960120"/>
                <a:gridCol w="777240"/>
                <a:gridCol w="685800"/>
                <a:gridCol w="868680"/>
                <a:gridCol w="1143000"/>
                <a:gridCol w="1143000"/>
              </a:tblGrid>
              <a:tr h="146304">
                <a:tc>
                  <a:txBody>
                    <a:bodyPr/>
                    <a:lstStyle/>
                    <a:p>
                      <a:pPr algn="l" indent="0" marL="0">
                        <a:buNone/>
                      </a:pPr>
                      <a:r>
                        <a:rPr lang="en-US" sz="750" spc="140" kern="0" dirty="0">
                          <a:solidFill>
                            <a:srgbClr val="B08D57"/>
                          </a:solidFill>
                          <a:latin typeface="Jost" pitchFamily="34" charset="0"/>
                          <a:ea typeface="Jost" pitchFamily="34" charset="-122"/>
                          <a:cs typeface="Jost" pitchFamily="34" charset="-120"/>
                        </a:rPr>
                        <a:t>SERVICE</a:t>
                      </a:r>
                      <a:endParaRPr lang="en-US" sz="750" dirty="0">
                        <a:latin typeface="Jost" charset="0"/>
                        <a:ea typeface="Jost" charset="0"/>
                        <a:cs typeface="Jost" charset="0"/>
                      </a:endParaRPr>
                    </a:p>
                  </a:txBody>
                  <a:tcPr marL="13716" marR="13716" marT="13716" marB="13716" anchor="ctr">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000000"/>
                    </a:solidFill>
                  </a:tcPr>
                </a:tc>
                <a:tc>
                  <a:txBody>
                    <a:bodyPr/>
                    <a:lstStyle/>
                    <a:p>
                      <a:pPr algn="l" indent="0" marL="0">
                        <a:buNone/>
                      </a:pPr>
                      <a:r>
                        <a:rPr lang="en-US" sz="750" spc="140" kern="0" dirty="0">
                          <a:solidFill>
                            <a:srgbClr val="B08D57"/>
                          </a:solidFill>
                          <a:latin typeface="Jost" pitchFamily="34" charset="0"/>
                          <a:ea typeface="Jost" pitchFamily="34" charset="-122"/>
                          <a:cs typeface="Jost" pitchFamily="34" charset="-120"/>
                        </a:rPr>
                        <a:t>CATEGORY</a:t>
                      </a:r>
                      <a:endParaRPr lang="en-US" sz="750" dirty="0">
                        <a:latin typeface="Jost" charset="0"/>
                        <a:ea typeface="Jost" charset="0"/>
                        <a:cs typeface="Jost" charset="0"/>
                      </a:endParaRPr>
                    </a:p>
                  </a:txBody>
                  <a:tcPr marL="13716" marR="13716" marT="13716" marB="13716" anchor="ctr">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000000"/>
                    </a:solidFill>
                  </a:tcPr>
                </a:tc>
                <a:tc>
                  <a:txBody>
                    <a:bodyPr/>
                    <a:lstStyle/>
                    <a:p>
                      <a:pPr algn="r" indent="0" marL="0">
                        <a:buNone/>
                      </a:pPr>
                      <a:r>
                        <a:rPr lang="en-US" sz="750" spc="140" kern="0" dirty="0">
                          <a:solidFill>
                            <a:srgbClr val="B08D57"/>
                          </a:solidFill>
                          <a:latin typeface="Jost" pitchFamily="34" charset="0"/>
                          <a:ea typeface="Jost" pitchFamily="34" charset="-122"/>
                          <a:cs typeface="Jost" pitchFamily="34" charset="-120"/>
                        </a:rPr>
                        <a:t>PRICE</a:t>
                      </a:r>
                      <a:endParaRPr lang="en-US" sz="750" dirty="0">
                        <a:latin typeface="Jost" charset="0"/>
                        <a:ea typeface="Jost" charset="0"/>
                        <a:cs typeface="Jost" charset="0"/>
                      </a:endParaRPr>
                    </a:p>
                  </a:txBody>
                  <a:tcPr marL="13716" marR="13716" marT="13716" marB="13716" anchor="ctr">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000000"/>
                    </a:solidFill>
                  </a:tcPr>
                </a:tc>
                <a:tc>
                  <a:txBody>
                    <a:bodyPr/>
                    <a:lstStyle/>
                    <a:p>
                      <a:pPr algn="r" indent="0" marL="0">
                        <a:buNone/>
                      </a:pPr>
                      <a:r>
                        <a:rPr lang="en-US" sz="750" spc="140" kern="0" dirty="0">
                          <a:solidFill>
                            <a:srgbClr val="B08D57"/>
                          </a:solidFill>
                          <a:latin typeface="Jost" pitchFamily="34" charset="0"/>
                          <a:ea typeface="Jost" pitchFamily="34" charset="-122"/>
                          <a:cs typeface="Jost" pitchFamily="34" charset="-120"/>
                        </a:rPr>
                        <a:t>MARGIN</a:t>
                      </a:r>
                      <a:endParaRPr lang="en-US" sz="750" dirty="0">
                        <a:latin typeface="Jost" charset="0"/>
                        <a:ea typeface="Jost" charset="0"/>
                        <a:cs typeface="Jost" charset="0"/>
                      </a:endParaRPr>
                    </a:p>
                  </a:txBody>
                  <a:tcPr marL="13716" marR="13716" marT="13716" marB="13716" anchor="ctr">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000000"/>
                    </a:solidFill>
                  </a:tcPr>
                </a:tc>
                <a:tc>
                  <a:txBody>
                    <a:bodyPr/>
                    <a:lstStyle/>
                    <a:p>
                      <a:pPr algn="r" indent="0" marL="0">
                        <a:buNone/>
                      </a:pPr>
                      <a:r>
                        <a:rPr lang="en-US" sz="750" spc="140" kern="0" dirty="0">
                          <a:solidFill>
                            <a:srgbClr val="B08D57"/>
                          </a:solidFill>
                          <a:latin typeface="Jost" pitchFamily="34" charset="0"/>
                          <a:ea typeface="Jost" pitchFamily="34" charset="-122"/>
                          <a:cs typeface="Jost" pitchFamily="34" charset="-120"/>
                        </a:rPr>
                        <a:t>SESSIONS/MO</a:t>
                      </a:r>
                      <a:endParaRPr lang="en-US" sz="750" dirty="0">
                        <a:latin typeface="Jost" charset="0"/>
                        <a:ea typeface="Jost" charset="0"/>
                        <a:cs typeface="Jost" charset="0"/>
                      </a:endParaRPr>
                    </a:p>
                  </a:txBody>
                  <a:tcPr marL="13716" marR="13716" marT="13716" marB="13716" anchor="ctr">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000000"/>
                    </a:solidFill>
                  </a:tcPr>
                </a:tc>
                <a:tc>
                  <a:txBody>
                    <a:bodyPr/>
                    <a:lstStyle/>
                    <a:p>
                      <a:pPr algn="r" indent="0" marL="0">
                        <a:buNone/>
                      </a:pPr>
                      <a:r>
                        <a:rPr lang="en-US" sz="750" spc="140" kern="0" dirty="0">
                          <a:solidFill>
                            <a:srgbClr val="B08D57"/>
                          </a:solidFill>
                          <a:latin typeface="Jost" pitchFamily="34" charset="0"/>
                          <a:ea typeface="Jost" pitchFamily="34" charset="-122"/>
                          <a:cs typeface="Jost" pitchFamily="34" charset="-120"/>
                        </a:rPr>
                        <a:t>GROSS/MO</a:t>
                      </a:r>
                      <a:endParaRPr lang="en-US" sz="750" dirty="0">
                        <a:latin typeface="Jost" charset="0"/>
                        <a:ea typeface="Jost" charset="0"/>
                        <a:cs typeface="Jost" charset="0"/>
                      </a:endParaRPr>
                    </a:p>
                  </a:txBody>
                  <a:tcPr marL="13716" marR="13716" marT="13716" marB="13716" anchor="ctr">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000000"/>
                    </a:solidFill>
                  </a:tcPr>
                </a:tc>
                <a:tc>
                  <a:txBody>
                    <a:bodyPr/>
                    <a:lstStyle/>
                    <a:p>
                      <a:pPr algn="r" indent="0" marL="0">
                        <a:buNone/>
                      </a:pPr>
                      <a:r>
                        <a:rPr lang="en-US" sz="750" spc="140" kern="0" dirty="0">
                          <a:solidFill>
                            <a:srgbClr val="B08D57"/>
                          </a:solidFill>
                          <a:latin typeface="Jost" pitchFamily="34" charset="0"/>
                          <a:ea typeface="Jost" pitchFamily="34" charset="-122"/>
                          <a:cs typeface="Jost" pitchFamily="34" charset="-120"/>
                        </a:rPr>
                        <a:t>AFTER MARGIN</a:t>
                      </a:r>
                      <a:endParaRPr lang="en-US" sz="750" dirty="0">
                        <a:latin typeface="Jost" charset="0"/>
                        <a:ea typeface="Jost" charset="0"/>
                        <a:cs typeface="Jost" charset="0"/>
                      </a:endParaRPr>
                    </a:p>
                  </a:txBody>
                  <a:tcPr marL="13716" marR="13716" marT="13716" marB="13716" anchor="ctr">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000000"/>
                    </a:solidFill>
                  </a:tcPr>
                </a:tc>
              </a:tr>
              <a:tr h="146304">
                <a:tc>
                  <a:txBody>
                    <a:bodyPr/>
                    <a:lstStyle/>
                    <a:p>
                      <a:pPr algn="l" indent="0" marL="0">
                        <a:buNone/>
                      </a:pPr>
                      <a:r>
                        <a:rPr lang="en-US" sz="750" dirty="0">
                          <a:solidFill>
                            <a:srgbClr val="EDE7DE"/>
                          </a:solidFill>
                          <a:latin typeface="Jost" pitchFamily="34" charset="0"/>
                          <a:ea typeface="Jost" pitchFamily="34" charset="-122"/>
                          <a:cs typeface="Jost" pitchFamily="34" charset="-120"/>
                        </a:rPr>
                        <a:t>Aescape Robotic Massage</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l" indent="0" marL="0">
                        <a:buNone/>
                      </a:pPr>
                      <a:r>
                        <a:rPr lang="en-US" sz="750" dirty="0">
                          <a:solidFill>
                            <a:srgbClr val="C9BCA9"/>
                          </a:solidFill>
                          <a:latin typeface="Jost" pitchFamily="34" charset="0"/>
                          <a:ea typeface="Jost" pitchFamily="34" charset="-122"/>
                          <a:cs typeface="Jost" pitchFamily="34" charset="-120"/>
                        </a:rPr>
                        <a:t>Recovery</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$70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82%</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200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$14,000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$11,480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46304">
                <a:tc>
                  <a:txBody>
                    <a:bodyPr/>
                    <a:lstStyle/>
                    <a:p>
                      <a:pPr algn="l" indent="0" marL="0">
                        <a:buNone/>
                      </a:pPr>
                      <a:r>
                        <a:rPr lang="en-US" sz="750" dirty="0">
                          <a:solidFill>
                            <a:srgbClr val="EDE7DE"/>
                          </a:solidFill>
                          <a:latin typeface="Jost" pitchFamily="34" charset="0"/>
                          <a:ea typeface="Jost" pitchFamily="34" charset="-122"/>
                          <a:cs typeface="Jost" pitchFamily="34" charset="-120"/>
                        </a:rPr>
                        <a:t>Ammortal Chamber</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l" indent="0" marL="0">
                        <a:buNone/>
                      </a:pPr>
                      <a:r>
                        <a:rPr lang="en-US" sz="750" dirty="0">
                          <a:solidFill>
                            <a:srgbClr val="C9BCA9"/>
                          </a:solidFill>
                          <a:latin typeface="Jost" pitchFamily="34" charset="0"/>
                          <a:ea typeface="Jost" pitchFamily="34" charset="-122"/>
                          <a:cs typeface="Jost" pitchFamily="34" charset="-120"/>
                        </a:rPr>
                        <a:t>Recovery</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$140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82%</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120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$16,800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$13,776</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46304">
                <a:tc>
                  <a:txBody>
                    <a:bodyPr/>
                    <a:lstStyle/>
                    <a:p>
                      <a:pPr algn="l" indent="0" marL="0">
                        <a:buNone/>
                      </a:pPr>
                      <a:r>
                        <a:rPr lang="en-US" sz="750" dirty="0">
                          <a:solidFill>
                            <a:srgbClr val="EDE7DE"/>
                          </a:solidFill>
                          <a:latin typeface="Jost" pitchFamily="34" charset="0"/>
                          <a:ea typeface="Jost" pitchFamily="34" charset="-122"/>
                          <a:cs typeface="Jost" pitchFamily="34" charset="-120"/>
                        </a:rPr>
                        <a:t>Red Light Therapy</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l" indent="0" marL="0">
                        <a:buNone/>
                      </a:pPr>
                      <a:r>
                        <a:rPr lang="en-US" sz="750" dirty="0">
                          <a:solidFill>
                            <a:srgbClr val="C9BCA9"/>
                          </a:solidFill>
                          <a:latin typeface="Jost" pitchFamily="34" charset="0"/>
                          <a:ea typeface="Jost" pitchFamily="34" charset="-122"/>
                          <a:cs typeface="Jost" pitchFamily="34" charset="-120"/>
                        </a:rPr>
                        <a:t>Recovery</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$60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82%</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650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$39,000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$31,980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46304">
                <a:tc>
                  <a:txBody>
                    <a:bodyPr/>
                    <a:lstStyle/>
                    <a:p>
                      <a:pPr algn="l" indent="0" marL="0">
                        <a:buNone/>
                      </a:pPr>
                      <a:r>
                        <a:rPr lang="en-US" sz="750" dirty="0">
                          <a:solidFill>
                            <a:srgbClr val="EDE7DE"/>
                          </a:solidFill>
                          <a:latin typeface="Jost" pitchFamily="34" charset="0"/>
                          <a:ea typeface="Jost" pitchFamily="34" charset="-122"/>
                          <a:cs typeface="Jost" pitchFamily="34" charset="-120"/>
                        </a:rPr>
                        <a:t>Hyperbaric Oxygen</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l" indent="0" marL="0">
                        <a:buNone/>
                      </a:pPr>
                      <a:r>
                        <a:rPr lang="en-US" sz="750" dirty="0">
                          <a:solidFill>
                            <a:srgbClr val="C9BCA9"/>
                          </a:solidFill>
                          <a:latin typeface="Jost" pitchFamily="34" charset="0"/>
                          <a:ea typeface="Jost" pitchFamily="34" charset="-122"/>
                          <a:cs typeface="Jost" pitchFamily="34" charset="-120"/>
                        </a:rPr>
                        <a:t>Recovery</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$200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80%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50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$10,000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$8,000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46304">
                <a:tc>
                  <a:txBody>
                    <a:bodyPr/>
                    <a:lstStyle/>
                    <a:p>
                      <a:pPr algn="l" indent="0" marL="0">
                        <a:buNone/>
                      </a:pPr>
                      <a:r>
                        <a:rPr lang="en-US" sz="750" dirty="0">
                          <a:solidFill>
                            <a:srgbClr val="EDE7DE"/>
                          </a:solidFill>
                          <a:latin typeface="Jost" pitchFamily="34" charset="0"/>
                          <a:ea typeface="Jost" pitchFamily="34" charset="-122"/>
                          <a:cs typeface="Jost" pitchFamily="34" charset="-120"/>
                        </a:rPr>
                        <a:t>Compression Therapy</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l" indent="0" marL="0">
                        <a:buNone/>
                      </a:pPr>
                      <a:r>
                        <a:rPr lang="en-US" sz="750" dirty="0">
                          <a:solidFill>
                            <a:srgbClr val="C9BCA9"/>
                          </a:solidFill>
                          <a:latin typeface="Jost" pitchFamily="34" charset="0"/>
                          <a:ea typeface="Jost" pitchFamily="34" charset="-122"/>
                          <a:cs typeface="Jost" pitchFamily="34" charset="-120"/>
                        </a:rPr>
                        <a:t>Recovery</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$45</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82%</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225</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$10,125</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$8,303</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46304">
                <a:tc>
                  <a:txBody>
                    <a:bodyPr/>
                    <a:lstStyle/>
                    <a:p>
                      <a:pPr algn="l" indent="0" marL="0">
                        <a:buNone/>
                      </a:pPr>
                      <a:r>
                        <a:rPr lang="en-US" sz="750" dirty="0">
                          <a:solidFill>
                            <a:srgbClr val="EDE7DE"/>
                          </a:solidFill>
                          <a:latin typeface="Jost" pitchFamily="34" charset="0"/>
                          <a:ea typeface="Jost" pitchFamily="34" charset="-122"/>
                          <a:cs typeface="Jost" pitchFamily="34" charset="-120"/>
                        </a:rPr>
                        <a:t>PRP: Hair &amp; Scalp</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l" indent="0" marL="0">
                        <a:buNone/>
                      </a:pPr>
                      <a:r>
                        <a:rPr lang="en-US" sz="750" dirty="0">
                          <a:solidFill>
                            <a:srgbClr val="C9BCA9"/>
                          </a:solidFill>
                          <a:latin typeface="Jost" pitchFamily="34" charset="0"/>
                          <a:ea typeface="Jost" pitchFamily="34" charset="-122"/>
                          <a:cs typeface="Jost" pitchFamily="34" charset="-120"/>
                        </a:rPr>
                        <a:t>PRP</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$995</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72%</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33</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$32,835</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$23,641</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46304">
                <a:tc>
                  <a:txBody>
                    <a:bodyPr/>
                    <a:lstStyle/>
                    <a:p>
                      <a:pPr algn="l" indent="0" marL="0">
                        <a:buNone/>
                      </a:pPr>
                      <a:r>
                        <a:rPr lang="en-US" sz="750" dirty="0">
                          <a:solidFill>
                            <a:srgbClr val="EDE7DE"/>
                          </a:solidFill>
                          <a:latin typeface="Jost" pitchFamily="34" charset="0"/>
                          <a:ea typeface="Jost" pitchFamily="34" charset="-122"/>
                          <a:cs typeface="Jost" pitchFamily="34" charset="-120"/>
                        </a:rPr>
                        <a:t>PRP: Face &amp; Aesthetic</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l" indent="0" marL="0">
                        <a:buNone/>
                      </a:pPr>
                      <a:r>
                        <a:rPr lang="en-US" sz="750" dirty="0">
                          <a:solidFill>
                            <a:srgbClr val="C9BCA9"/>
                          </a:solidFill>
                          <a:latin typeface="Jost" pitchFamily="34" charset="0"/>
                          <a:ea typeface="Jost" pitchFamily="34" charset="-122"/>
                          <a:cs typeface="Jost" pitchFamily="34" charset="-120"/>
                        </a:rPr>
                        <a:t>PRP</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$700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68%</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35</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$24,500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$16,660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46304">
                <a:tc>
                  <a:txBody>
                    <a:bodyPr/>
                    <a:lstStyle/>
                    <a:p>
                      <a:pPr algn="l" indent="0" marL="0">
                        <a:buNone/>
                      </a:pPr>
                      <a:r>
                        <a:rPr lang="en-US" sz="750" dirty="0">
                          <a:solidFill>
                            <a:srgbClr val="EDE7DE"/>
                          </a:solidFill>
                          <a:latin typeface="Jost" pitchFamily="34" charset="0"/>
                          <a:ea typeface="Jost" pitchFamily="34" charset="-122"/>
                          <a:cs typeface="Jost" pitchFamily="34" charset="-120"/>
                        </a:rPr>
                        <a:t>PRP: Scar &amp; Skin Repair</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l" indent="0" marL="0">
                        <a:buNone/>
                      </a:pPr>
                      <a:r>
                        <a:rPr lang="en-US" sz="750" dirty="0">
                          <a:solidFill>
                            <a:srgbClr val="C9BCA9"/>
                          </a:solidFill>
                          <a:latin typeface="Jost" pitchFamily="34" charset="0"/>
                          <a:ea typeface="Jost" pitchFamily="34" charset="-122"/>
                          <a:cs typeface="Jost" pitchFamily="34" charset="-120"/>
                        </a:rPr>
                        <a:t>PRP</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$600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65%</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10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$6,000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$3,900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46304">
                <a:tc>
                  <a:txBody>
                    <a:bodyPr/>
                    <a:lstStyle/>
                    <a:p>
                      <a:pPr algn="l" indent="0" marL="0">
                        <a:buNone/>
                      </a:pPr>
                      <a:r>
                        <a:rPr lang="en-US" sz="750" dirty="0">
                          <a:solidFill>
                            <a:srgbClr val="EDE7DE"/>
                          </a:solidFill>
                          <a:latin typeface="Jost" pitchFamily="34" charset="0"/>
                          <a:ea typeface="Jost" pitchFamily="34" charset="-122"/>
                          <a:cs typeface="Jost" pitchFamily="34" charset="-120"/>
                        </a:rPr>
                        <a:t>PRP: Soft Tissue</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l" indent="0" marL="0">
                        <a:buNone/>
                      </a:pPr>
                      <a:r>
                        <a:rPr lang="en-US" sz="750" dirty="0">
                          <a:solidFill>
                            <a:srgbClr val="C9BCA9"/>
                          </a:solidFill>
                          <a:latin typeface="Jost" pitchFamily="34" charset="0"/>
                          <a:ea typeface="Jost" pitchFamily="34" charset="-122"/>
                          <a:cs typeface="Jost" pitchFamily="34" charset="-120"/>
                        </a:rPr>
                        <a:t>PRP</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$1,000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65%</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25</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$25,000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$16,250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46304">
                <a:tc>
                  <a:txBody>
                    <a:bodyPr/>
                    <a:lstStyle/>
                    <a:p>
                      <a:pPr algn="l" indent="0" marL="0">
                        <a:buNone/>
                      </a:pPr>
                      <a:r>
                        <a:rPr lang="en-US" sz="750" dirty="0">
                          <a:solidFill>
                            <a:srgbClr val="EDE7DE"/>
                          </a:solidFill>
                          <a:latin typeface="Jost" pitchFamily="34" charset="0"/>
                          <a:ea typeface="Jost" pitchFamily="34" charset="-122"/>
                          <a:cs typeface="Jost" pitchFamily="34" charset="-120"/>
                        </a:rPr>
                        <a:t>PRP: Joint &amp; Cartilage</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l" indent="0" marL="0">
                        <a:buNone/>
                      </a:pPr>
                      <a:r>
                        <a:rPr lang="en-US" sz="750" dirty="0">
                          <a:solidFill>
                            <a:srgbClr val="C9BCA9"/>
                          </a:solidFill>
                          <a:latin typeface="Jost" pitchFamily="34" charset="0"/>
                          <a:ea typeface="Jost" pitchFamily="34" charset="-122"/>
                          <a:cs typeface="Jost" pitchFamily="34" charset="-120"/>
                        </a:rPr>
                        <a:t>PRP</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$1,200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62%</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25</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$30,000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$18,600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46304">
                <a:tc>
                  <a:txBody>
                    <a:bodyPr/>
                    <a:lstStyle/>
                    <a:p>
                      <a:pPr algn="l" indent="0" marL="0">
                        <a:buNone/>
                      </a:pPr>
                      <a:r>
                        <a:rPr lang="en-US" sz="750" dirty="0">
                          <a:solidFill>
                            <a:srgbClr val="EDE7DE"/>
                          </a:solidFill>
                          <a:latin typeface="Jost" pitchFamily="34" charset="0"/>
                          <a:ea typeface="Jost" pitchFamily="34" charset="-122"/>
                          <a:cs typeface="Jost" pitchFamily="34" charset="-120"/>
                        </a:rPr>
                        <a:t>PRP: Post-procedure</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l" indent="0" marL="0">
                        <a:buNone/>
                      </a:pPr>
                      <a:r>
                        <a:rPr lang="en-US" sz="750" dirty="0">
                          <a:solidFill>
                            <a:srgbClr val="C9BCA9"/>
                          </a:solidFill>
                          <a:latin typeface="Jost" pitchFamily="34" charset="0"/>
                          <a:ea typeface="Jost" pitchFamily="34" charset="-122"/>
                          <a:cs typeface="Jost" pitchFamily="34" charset="-120"/>
                        </a:rPr>
                        <a:t>PRP</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$650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60%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15</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$9,750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$5,850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46304">
                <a:tc>
                  <a:txBody>
                    <a:bodyPr/>
                    <a:lstStyle/>
                    <a:p>
                      <a:pPr algn="l" indent="0" marL="0">
                        <a:buNone/>
                      </a:pPr>
                      <a:r>
                        <a:rPr lang="en-US" sz="750" dirty="0">
                          <a:solidFill>
                            <a:srgbClr val="EDE7DE"/>
                          </a:solidFill>
                          <a:latin typeface="Jost" pitchFamily="34" charset="0"/>
                          <a:ea typeface="Jost" pitchFamily="34" charset="-122"/>
                          <a:cs typeface="Jost" pitchFamily="34" charset="-120"/>
                        </a:rPr>
                        <a:t>Basic Hydration</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l" indent="0" marL="0">
                        <a:buNone/>
                      </a:pPr>
                      <a:r>
                        <a:rPr lang="en-US" sz="750" dirty="0">
                          <a:solidFill>
                            <a:srgbClr val="C9BCA9"/>
                          </a:solidFill>
                          <a:latin typeface="Jost" pitchFamily="34" charset="0"/>
                          <a:ea typeface="Jost" pitchFamily="34" charset="-122"/>
                          <a:cs typeface="Jost" pitchFamily="34" charset="-120"/>
                        </a:rPr>
                        <a:t>Regenerative</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$99</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68%</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71</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$7,029</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$4,780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46304">
                <a:tc>
                  <a:txBody>
                    <a:bodyPr/>
                    <a:lstStyle/>
                    <a:p>
                      <a:pPr algn="l" indent="0" marL="0">
                        <a:buNone/>
                      </a:pPr>
                      <a:r>
                        <a:rPr lang="en-US" sz="750" dirty="0">
                          <a:solidFill>
                            <a:srgbClr val="EDE7DE"/>
                          </a:solidFill>
                          <a:latin typeface="Jost" pitchFamily="34" charset="0"/>
                          <a:ea typeface="Jost" pitchFamily="34" charset="-122"/>
                          <a:cs typeface="Jost" pitchFamily="34" charset="-120"/>
                        </a:rPr>
                        <a:t>Myers Cocktail</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l" indent="0" marL="0">
                        <a:buNone/>
                      </a:pPr>
                      <a:r>
                        <a:rPr lang="en-US" sz="750" dirty="0">
                          <a:solidFill>
                            <a:srgbClr val="C9BCA9"/>
                          </a:solidFill>
                          <a:latin typeface="Jost" pitchFamily="34" charset="0"/>
                          <a:ea typeface="Jost" pitchFamily="34" charset="-122"/>
                          <a:cs typeface="Jost" pitchFamily="34" charset="-120"/>
                        </a:rPr>
                        <a:t>Regenerative</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$199</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56%</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34</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$6,766</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$3,789</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46304">
                <a:tc>
                  <a:txBody>
                    <a:bodyPr/>
                    <a:lstStyle/>
                    <a:p>
                      <a:pPr algn="l" indent="0" marL="0">
                        <a:buNone/>
                      </a:pPr>
                      <a:r>
                        <a:rPr lang="en-US" sz="750" dirty="0">
                          <a:solidFill>
                            <a:srgbClr val="EDE7DE"/>
                          </a:solidFill>
                          <a:latin typeface="Jost" pitchFamily="34" charset="0"/>
                          <a:ea typeface="Jost" pitchFamily="34" charset="-122"/>
                          <a:cs typeface="Jost" pitchFamily="34" charset="-120"/>
                        </a:rPr>
                        <a:t>Recovery / Hangover</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l" indent="0" marL="0">
                        <a:buNone/>
                      </a:pPr>
                      <a:r>
                        <a:rPr lang="en-US" sz="750" dirty="0">
                          <a:solidFill>
                            <a:srgbClr val="C9BCA9"/>
                          </a:solidFill>
                          <a:latin typeface="Jost" pitchFamily="34" charset="0"/>
                          <a:ea typeface="Jost" pitchFamily="34" charset="-122"/>
                          <a:cs typeface="Jost" pitchFamily="34" charset="-120"/>
                        </a:rPr>
                        <a:t>Regenerative</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$249</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62%</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34</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$8,466</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$5,249</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46304">
                <a:tc>
                  <a:txBody>
                    <a:bodyPr/>
                    <a:lstStyle/>
                    <a:p>
                      <a:pPr algn="l" indent="0" marL="0">
                        <a:buNone/>
                      </a:pPr>
                      <a:r>
                        <a:rPr lang="en-US" sz="750" dirty="0">
                          <a:solidFill>
                            <a:srgbClr val="EDE7DE"/>
                          </a:solidFill>
                          <a:latin typeface="Jost" pitchFamily="34" charset="0"/>
                          <a:ea typeface="Jost" pitchFamily="34" charset="-122"/>
                          <a:cs typeface="Jost" pitchFamily="34" charset="-120"/>
                        </a:rPr>
                        <a:t>Immunity / High-Dose C</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l" indent="0" marL="0">
                        <a:buNone/>
                      </a:pPr>
                      <a:r>
                        <a:rPr lang="en-US" sz="750" dirty="0">
                          <a:solidFill>
                            <a:srgbClr val="C9BCA9"/>
                          </a:solidFill>
                          <a:latin typeface="Jost" pitchFamily="34" charset="0"/>
                          <a:ea typeface="Jost" pitchFamily="34" charset="-122"/>
                          <a:cs typeface="Jost" pitchFamily="34" charset="-120"/>
                        </a:rPr>
                        <a:t>Regenerative</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$289</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61%</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25</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$7,225</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$4,407</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46304">
                <a:tc>
                  <a:txBody>
                    <a:bodyPr/>
                    <a:lstStyle/>
                    <a:p>
                      <a:pPr algn="l" indent="0" marL="0">
                        <a:buNone/>
                      </a:pPr>
                      <a:r>
                        <a:rPr lang="en-US" sz="750" dirty="0">
                          <a:solidFill>
                            <a:srgbClr val="B08D57"/>
                          </a:solidFill>
                          <a:latin typeface="Jost" pitchFamily="34" charset="0"/>
                          <a:ea typeface="Jost" pitchFamily="34" charset="-122"/>
                          <a:cs typeface="Jost" pitchFamily="34" charset="-120"/>
                        </a:rPr>
                        <a:t>Subtotal, continued overleaf</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l" indent="0" marL="0">
                        <a:buNone/>
                      </a:pP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B08D57"/>
                          </a:solidFill>
                          <a:latin typeface="Jost" pitchFamily="34" charset="0"/>
                          <a:ea typeface="Jost" pitchFamily="34" charset="-122"/>
                          <a:cs typeface="Jost" pitchFamily="34" charset="-120"/>
                        </a:rPr>
                        <a:t>71%</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B08D57"/>
                          </a:solidFill>
                          <a:latin typeface="Jost" pitchFamily="34" charset="0"/>
                          <a:ea typeface="Jost" pitchFamily="34" charset="-122"/>
                          <a:cs typeface="Jost" pitchFamily="34" charset="-120"/>
                        </a:rPr>
                        <a:t>1,552</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B08D57"/>
                          </a:solidFill>
                          <a:latin typeface="Jost" pitchFamily="34" charset="0"/>
                          <a:ea typeface="Jost" pitchFamily="34" charset="-122"/>
                          <a:cs typeface="Jost" pitchFamily="34" charset="-120"/>
                        </a:rPr>
                        <a:t>$247,496</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B08D57"/>
                          </a:solidFill>
                          <a:latin typeface="Jost" pitchFamily="34" charset="0"/>
                          <a:ea typeface="Jost" pitchFamily="34" charset="-122"/>
                          <a:cs typeface="Jost" pitchFamily="34" charset="-120"/>
                        </a:rPr>
                        <a:t>$176,665</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bl>
          </a:graphicData>
        </a:graphic>
      </p:graphicFrame>
      <p:sp>
        <p:nvSpPr>
          <p:cNvPr id="7" name="Text 4"/>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B6965"/>
                </a:solidFill>
                <a:latin typeface="Jost" pitchFamily="34" charset="0"/>
                <a:ea typeface="Jost" pitchFamily="34" charset="-122"/>
                <a:cs typeface="Jost" pitchFamily="34" charset="-120"/>
              </a:rPr>
              <a:t>L&amp;K WELLNESS  ·  PRIVATE INVESTMENT BRIEF  ·  CONFIDENTIAL</a:t>
            </a:r>
            <a:endParaRPr lang="en-US" sz="700" dirty="0"/>
          </a:p>
        </p:txBody>
      </p:sp>
      <p:sp>
        <p:nvSpPr>
          <p:cNvPr id="8" name="Text 5"/>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B6965"/>
                </a:solidFill>
                <a:latin typeface="Jost" pitchFamily="34" charset="0"/>
                <a:ea typeface="Jost" pitchFamily="34" charset="-122"/>
                <a:cs typeface="Jost" pitchFamily="34" charset="-120"/>
              </a:rPr>
              <a:t>18</a:t>
            </a:r>
            <a:endParaRPr lang="en-US" sz="7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B08D57"/>
                </a:solidFill>
                <a:latin typeface="Jost" pitchFamily="34" charset="0"/>
                <a:ea typeface="Jost" pitchFamily="34" charset="-122"/>
                <a:cs typeface="Jost" pitchFamily="34" charset="-120"/>
              </a:rPr>
              <a:t>UNIT ECONOMICS</a:t>
            </a:r>
            <a:endParaRPr lang="en-US" sz="900" dirty="0"/>
          </a:p>
        </p:txBody>
      </p:sp>
      <p:sp>
        <p:nvSpPr>
          <p:cNvPr id="3" name="Shape 1"/>
          <p:cNvSpPr/>
          <p:nvPr/>
        </p:nvSpPr>
        <p:spPr>
          <a:xfrm>
            <a:off x="502920" y="557784"/>
            <a:ext cx="566928" cy="12802"/>
          </a:xfrm>
          <a:prstGeom prst="rect">
            <a:avLst/>
          </a:prstGeom>
          <a:solidFill>
            <a:srgbClr val="B08D57"/>
          </a:solidFill>
          <a:ln w="12700">
            <a:solidFill>
              <a:srgbClr val="B08D57"/>
            </a:solidFill>
            <a:prstDash val="solid"/>
          </a:ln>
        </p:spPr>
      </p:sp>
      <p:sp>
        <p:nvSpPr>
          <p:cNvPr id="4" name="Text 2"/>
          <p:cNvSpPr/>
          <p:nvPr/>
        </p:nvSpPr>
        <p:spPr>
          <a:xfrm>
            <a:off x="502920" y="621792"/>
            <a:ext cx="8138160" cy="548640"/>
          </a:xfrm>
          <a:prstGeom prst="rect">
            <a:avLst/>
          </a:prstGeom>
          <a:noFill/>
          <a:ln/>
        </p:spPr>
        <p:txBody>
          <a:bodyPr wrap="square" rtlCol="0" anchor="t"/>
          <a:lstStyle/>
          <a:p>
            <a:pPr indent="0" marL="0">
              <a:buNone/>
            </a:pPr>
            <a:r>
              <a:rPr lang="en-US" sz="2600" spc="400" kern="0" dirty="0">
                <a:solidFill>
                  <a:srgbClr val="EDE7DE"/>
                </a:solidFill>
                <a:latin typeface="Cormorant Garamond" pitchFamily="34" charset="0"/>
                <a:ea typeface="Cormorant Garamond" pitchFamily="34" charset="-122"/>
                <a:cs typeface="Cormorant Garamond" pitchFamily="34" charset="-120"/>
              </a:rPr>
              <a:t>30 LINES, ALL CASH-PAY (2 OF 2)</a:t>
            </a:r>
            <a:endParaRPr lang="en-US" sz="2600" dirty="0"/>
          </a:p>
        </p:txBody>
      </p:sp>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502920" y="1325880"/>
          <a:ext cx="8138160" cy="914400"/>
        </p:xfrm>
        <a:graphic>
          <a:graphicData uri="http://schemas.openxmlformats.org/drawingml/2006/table">
            <a:tbl>
              <a:tblPr/>
              <a:tblGrid>
                <a:gridCol w="2103120"/>
                <a:gridCol w="960120"/>
                <a:gridCol w="777240"/>
                <a:gridCol w="685800"/>
                <a:gridCol w="868680"/>
                <a:gridCol w="1143000"/>
                <a:gridCol w="1143000"/>
              </a:tblGrid>
              <a:tr h="146304">
                <a:tc>
                  <a:txBody>
                    <a:bodyPr/>
                    <a:lstStyle/>
                    <a:p>
                      <a:pPr algn="l" indent="0" marL="0">
                        <a:buNone/>
                      </a:pPr>
                      <a:r>
                        <a:rPr lang="en-US" sz="750" spc="140" kern="0" dirty="0">
                          <a:solidFill>
                            <a:srgbClr val="B08D57"/>
                          </a:solidFill>
                          <a:latin typeface="Jost" pitchFamily="34" charset="0"/>
                          <a:ea typeface="Jost" pitchFamily="34" charset="-122"/>
                          <a:cs typeface="Jost" pitchFamily="34" charset="-120"/>
                        </a:rPr>
                        <a:t>SERVICE</a:t>
                      </a:r>
                      <a:endParaRPr lang="en-US" sz="750" dirty="0">
                        <a:latin typeface="Jost" charset="0"/>
                        <a:ea typeface="Jost" charset="0"/>
                        <a:cs typeface="Jost" charset="0"/>
                      </a:endParaRPr>
                    </a:p>
                  </a:txBody>
                  <a:tcPr marL="13716" marR="13716" marT="13716" marB="13716" anchor="ctr">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000000"/>
                    </a:solidFill>
                  </a:tcPr>
                </a:tc>
                <a:tc>
                  <a:txBody>
                    <a:bodyPr/>
                    <a:lstStyle/>
                    <a:p>
                      <a:pPr algn="l" indent="0" marL="0">
                        <a:buNone/>
                      </a:pPr>
                      <a:r>
                        <a:rPr lang="en-US" sz="750" spc="140" kern="0" dirty="0">
                          <a:solidFill>
                            <a:srgbClr val="B08D57"/>
                          </a:solidFill>
                          <a:latin typeface="Jost" pitchFamily="34" charset="0"/>
                          <a:ea typeface="Jost" pitchFamily="34" charset="-122"/>
                          <a:cs typeface="Jost" pitchFamily="34" charset="-120"/>
                        </a:rPr>
                        <a:t>CATEGORY</a:t>
                      </a:r>
                      <a:endParaRPr lang="en-US" sz="750" dirty="0">
                        <a:latin typeface="Jost" charset="0"/>
                        <a:ea typeface="Jost" charset="0"/>
                        <a:cs typeface="Jost" charset="0"/>
                      </a:endParaRPr>
                    </a:p>
                  </a:txBody>
                  <a:tcPr marL="13716" marR="13716" marT="13716" marB="13716" anchor="ctr">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000000"/>
                    </a:solidFill>
                  </a:tcPr>
                </a:tc>
                <a:tc>
                  <a:txBody>
                    <a:bodyPr/>
                    <a:lstStyle/>
                    <a:p>
                      <a:pPr algn="r" indent="0" marL="0">
                        <a:buNone/>
                      </a:pPr>
                      <a:r>
                        <a:rPr lang="en-US" sz="750" spc="140" kern="0" dirty="0">
                          <a:solidFill>
                            <a:srgbClr val="B08D57"/>
                          </a:solidFill>
                          <a:latin typeface="Jost" pitchFamily="34" charset="0"/>
                          <a:ea typeface="Jost" pitchFamily="34" charset="-122"/>
                          <a:cs typeface="Jost" pitchFamily="34" charset="-120"/>
                        </a:rPr>
                        <a:t>PRICE</a:t>
                      </a:r>
                      <a:endParaRPr lang="en-US" sz="750" dirty="0">
                        <a:latin typeface="Jost" charset="0"/>
                        <a:ea typeface="Jost" charset="0"/>
                        <a:cs typeface="Jost" charset="0"/>
                      </a:endParaRPr>
                    </a:p>
                  </a:txBody>
                  <a:tcPr marL="13716" marR="13716" marT="13716" marB="13716" anchor="ctr">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000000"/>
                    </a:solidFill>
                  </a:tcPr>
                </a:tc>
                <a:tc>
                  <a:txBody>
                    <a:bodyPr/>
                    <a:lstStyle/>
                    <a:p>
                      <a:pPr algn="r" indent="0" marL="0">
                        <a:buNone/>
                      </a:pPr>
                      <a:r>
                        <a:rPr lang="en-US" sz="750" spc="140" kern="0" dirty="0">
                          <a:solidFill>
                            <a:srgbClr val="B08D57"/>
                          </a:solidFill>
                          <a:latin typeface="Jost" pitchFamily="34" charset="0"/>
                          <a:ea typeface="Jost" pitchFamily="34" charset="-122"/>
                          <a:cs typeface="Jost" pitchFamily="34" charset="-120"/>
                        </a:rPr>
                        <a:t>MARGIN</a:t>
                      </a:r>
                      <a:endParaRPr lang="en-US" sz="750" dirty="0">
                        <a:latin typeface="Jost" charset="0"/>
                        <a:ea typeface="Jost" charset="0"/>
                        <a:cs typeface="Jost" charset="0"/>
                      </a:endParaRPr>
                    </a:p>
                  </a:txBody>
                  <a:tcPr marL="13716" marR="13716" marT="13716" marB="13716" anchor="ctr">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000000"/>
                    </a:solidFill>
                  </a:tcPr>
                </a:tc>
                <a:tc>
                  <a:txBody>
                    <a:bodyPr/>
                    <a:lstStyle/>
                    <a:p>
                      <a:pPr algn="r" indent="0" marL="0">
                        <a:buNone/>
                      </a:pPr>
                      <a:r>
                        <a:rPr lang="en-US" sz="750" spc="140" kern="0" dirty="0">
                          <a:solidFill>
                            <a:srgbClr val="B08D57"/>
                          </a:solidFill>
                          <a:latin typeface="Jost" pitchFamily="34" charset="0"/>
                          <a:ea typeface="Jost" pitchFamily="34" charset="-122"/>
                          <a:cs typeface="Jost" pitchFamily="34" charset="-120"/>
                        </a:rPr>
                        <a:t>SESSIONS/MO</a:t>
                      </a:r>
                      <a:endParaRPr lang="en-US" sz="750" dirty="0">
                        <a:latin typeface="Jost" charset="0"/>
                        <a:ea typeface="Jost" charset="0"/>
                        <a:cs typeface="Jost" charset="0"/>
                      </a:endParaRPr>
                    </a:p>
                  </a:txBody>
                  <a:tcPr marL="13716" marR="13716" marT="13716" marB="13716" anchor="ctr">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000000"/>
                    </a:solidFill>
                  </a:tcPr>
                </a:tc>
                <a:tc>
                  <a:txBody>
                    <a:bodyPr/>
                    <a:lstStyle/>
                    <a:p>
                      <a:pPr algn="r" indent="0" marL="0">
                        <a:buNone/>
                      </a:pPr>
                      <a:r>
                        <a:rPr lang="en-US" sz="750" spc="140" kern="0" dirty="0">
                          <a:solidFill>
                            <a:srgbClr val="B08D57"/>
                          </a:solidFill>
                          <a:latin typeface="Jost" pitchFamily="34" charset="0"/>
                          <a:ea typeface="Jost" pitchFamily="34" charset="-122"/>
                          <a:cs typeface="Jost" pitchFamily="34" charset="-120"/>
                        </a:rPr>
                        <a:t>GROSS/MO</a:t>
                      </a:r>
                      <a:endParaRPr lang="en-US" sz="750" dirty="0">
                        <a:latin typeface="Jost" charset="0"/>
                        <a:ea typeface="Jost" charset="0"/>
                        <a:cs typeface="Jost" charset="0"/>
                      </a:endParaRPr>
                    </a:p>
                  </a:txBody>
                  <a:tcPr marL="13716" marR="13716" marT="13716" marB="13716" anchor="ctr">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000000"/>
                    </a:solidFill>
                  </a:tcPr>
                </a:tc>
                <a:tc>
                  <a:txBody>
                    <a:bodyPr/>
                    <a:lstStyle/>
                    <a:p>
                      <a:pPr algn="r" indent="0" marL="0">
                        <a:buNone/>
                      </a:pPr>
                      <a:r>
                        <a:rPr lang="en-US" sz="750" spc="140" kern="0" dirty="0">
                          <a:solidFill>
                            <a:srgbClr val="B08D57"/>
                          </a:solidFill>
                          <a:latin typeface="Jost" pitchFamily="34" charset="0"/>
                          <a:ea typeface="Jost" pitchFamily="34" charset="-122"/>
                          <a:cs typeface="Jost" pitchFamily="34" charset="-120"/>
                        </a:rPr>
                        <a:t>AFTER MARGIN</a:t>
                      </a:r>
                      <a:endParaRPr lang="en-US" sz="750" dirty="0">
                        <a:latin typeface="Jost" charset="0"/>
                        <a:ea typeface="Jost" charset="0"/>
                        <a:cs typeface="Jost" charset="0"/>
                      </a:endParaRPr>
                    </a:p>
                  </a:txBody>
                  <a:tcPr marL="13716" marR="13716" marT="13716" marB="13716" anchor="ctr">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000000"/>
                    </a:solidFill>
                  </a:tcPr>
                </a:tc>
              </a:tr>
              <a:tr h="146304">
                <a:tc>
                  <a:txBody>
                    <a:bodyPr/>
                    <a:lstStyle/>
                    <a:p>
                      <a:pPr algn="l" indent="0" marL="0">
                        <a:buNone/>
                      </a:pPr>
                      <a:r>
                        <a:rPr lang="en-US" sz="750" dirty="0">
                          <a:solidFill>
                            <a:srgbClr val="EDE7DE"/>
                          </a:solidFill>
                          <a:latin typeface="Jost" pitchFamily="34" charset="0"/>
                          <a:ea typeface="Jost" pitchFamily="34" charset="-122"/>
                          <a:cs typeface="Jost" pitchFamily="34" charset="-120"/>
                        </a:rPr>
                        <a:t>Beauty / Glutathione</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l" indent="0" marL="0">
                        <a:buNone/>
                      </a:pPr>
                      <a:r>
                        <a:rPr lang="en-US" sz="750" dirty="0">
                          <a:solidFill>
                            <a:srgbClr val="C9BCA9"/>
                          </a:solidFill>
                          <a:latin typeface="Jost" pitchFamily="34" charset="0"/>
                          <a:ea typeface="Jost" pitchFamily="34" charset="-122"/>
                          <a:cs typeface="Jost" pitchFamily="34" charset="-120"/>
                        </a:rPr>
                        <a:t>Regenerative</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$165</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66%</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57</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$9,405</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$6,207</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46304">
                <a:tc>
                  <a:txBody>
                    <a:bodyPr/>
                    <a:lstStyle/>
                    <a:p>
                      <a:pPr algn="l" indent="0" marL="0">
                        <a:buNone/>
                      </a:pPr>
                      <a:r>
                        <a:rPr lang="en-US" sz="750" dirty="0">
                          <a:solidFill>
                            <a:srgbClr val="EDE7DE"/>
                          </a:solidFill>
                          <a:latin typeface="Jost" pitchFamily="34" charset="0"/>
                          <a:ea typeface="Jost" pitchFamily="34" charset="-122"/>
                          <a:cs typeface="Jost" pitchFamily="34" charset="-120"/>
                        </a:rPr>
                        <a:t>Athletic Performance</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l" indent="0" marL="0">
                        <a:buNone/>
                      </a:pPr>
                      <a:r>
                        <a:rPr lang="en-US" sz="750" dirty="0">
                          <a:solidFill>
                            <a:srgbClr val="C9BCA9"/>
                          </a:solidFill>
                          <a:latin typeface="Jost" pitchFamily="34" charset="0"/>
                          <a:ea typeface="Jost" pitchFamily="34" charset="-122"/>
                          <a:cs typeface="Jost" pitchFamily="34" charset="-120"/>
                        </a:rPr>
                        <a:t>Regenerative</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$249</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65%</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40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$9,960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$6,474</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46304">
                <a:tc>
                  <a:txBody>
                    <a:bodyPr/>
                    <a:lstStyle/>
                    <a:p>
                      <a:pPr algn="l" indent="0" marL="0">
                        <a:buNone/>
                      </a:pPr>
                      <a:r>
                        <a:rPr lang="en-US" sz="750" dirty="0">
                          <a:solidFill>
                            <a:srgbClr val="EDE7DE"/>
                          </a:solidFill>
                          <a:latin typeface="Jost" pitchFamily="34" charset="0"/>
                          <a:ea typeface="Jost" pitchFamily="34" charset="-122"/>
                          <a:cs typeface="Jost" pitchFamily="34" charset="-120"/>
                        </a:rPr>
                        <a:t>NAD+ 100mg</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l" indent="0" marL="0">
                        <a:buNone/>
                      </a:pPr>
                      <a:r>
                        <a:rPr lang="en-US" sz="750" dirty="0">
                          <a:solidFill>
                            <a:srgbClr val="C9BCA9"/>
                          </a:solidFill>
                          <a:latin typeface="Jost" pitchFamily="34" charset="0"/>
                          <a:ea typeface="Jost" pitchFamily="34" charset="-122"/>
                          <a:cs typeface="Jost" pitchFamily="34" charset="-120"/>
                        </a:rPr>
                        <a:t>Regenerative</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$289</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74%</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25</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$7,225</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$5,347</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46304">
                <a:tc>
                  <a:txBody>
                    <a:bodyPr/>
                    <a:lstStyle/>
                    <a:p>
                      <a:pPr algn="l" indent="0" marL="0">
                        <a:buNone/>
                      </a:pPr>
                      <a:r>
                        <a:rPr lang="en-US" sz="750" dirty="0">
                          <a:solidFill>
                            <a:srgbClr val="EDE7DE"/>
                          </a:solidFill>
                          <a:latin typeface="Jost" pitchFamily="34" charset="0"/>
                          <a:ea typeface="Jost" pitchFamily="34" charset="-122"/>
                          <a:cs typeface="Jost" pitchFamily="34" charset="-120"/>
                        </a:rPr>
                        <a:t>NAD+ 250mg</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l" indent="0" marL="0">
                        <a:buNone/>
                      </a:pPr>
                      <a:r>
                        <a:rPr lang="en-US" sz="750" dirty="0">
                          <a:solidFill>
                            <a:srgbClr val="C9BCA9"/>
                          </a:solidFill>
                          <a:latin typeface="Jost" pitchFamily="34" charset="0"/>
                          <a:ea typeface="Jost" pitchFamily="34" charset="-122"/>
                          <a:cs typeface="Jost" pitchFamily="34" charset="-120"/>
                        </a:rPr>
                        <a:t>Regenerative</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$350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76%</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33</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$11,550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$8,778</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46304">
                <a:tc>
                  <a:txBody>
                    <a:bodyPr/>
                    <a:lstStyle/>
                    <a:p>
                      <a:pPr algn="l" indent="0" marL="0">
                        <a:buNone/>
                      </a:pPr>
                      <a:r>
                        <a:rPr lang="en-US" sz="750" dirty="0">
                          <a:solidFill>
                            <a:srgbClr val="EDE7DE"/>
                          </a:solidFill>
                          <a:latin typeface="Jost" pitchFamily="34" charset="0"/>
                          <a:ea typeface="Jost" pitchFamily="34" charset="-122"/>
                          <a:cs typeface="Jost" pitchFamily="34" charset="-120"/>
                        </a:rPr>
                        <a:t>NAD+ 500mg</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l" indent="0" marL="0">
                        <a:buNone/>
                      </a:pPr>
                      <a:r>
                        <a:rPr lang="en-US" sz="750" dirty="0">
                          <a:solidFill>
                            <a:srgbClr val="C9BCA9"/>
                          </a:solidFill>
                          <a:latin typeface="Jost" pitchFamily="34" charset="0"/>
                          <a:ea typeface="Jost" pitchFamily="34" charset="-122"/>
                          <a:cs typeface="Jost" pitchFamily="34" charset="-120"/>
                        </a:rPr>
                        <a:t>Regenerative</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$550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78%</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33</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$18,150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$14,157</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46304">
                <a:tc>
                  <a:txBody>
                    <a:bodyPr/>
                    <a:lstStyle/>
                    <a:p>
                      <a:pPr algn="l" indent="0" marL="0">
                        <a:buNone/>
                      </a:pPr>
                      <a:r>
                        <a:rPr lang="en-US" sz="750" dirty="0">
                          <a:solidFill>
                            <a:srgbClr val="EDE7DE"/>
                          </a:solidFill>
                          <a:latin typeface="Jost" pitchFamily="34" charset="0"/>
                          <a:ea typeface="Jost" pitchFamily="34" charset="-122"/>
                          <a:cs typeface="Jost" pitchFamily="34" charset="-120"/>
                        </a:rPr>
                        <a:t>IM Shot: B12 / Lipo</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l" indent="0" marL="0">
                        <a:buNone/>
                      </a:pPr>
                      <a:r>
                        <a:rPr lang="en-US" sz="750" dirty="0">
                          <a:solidFill>
                            <a:srgbClr val="C9BCA9"/>
                          </a:solidFill>
                          <a:latin typeface="Jost" pitchFamily="34" charset="0"/>
                          <a:ea typeface="Jost" pitchFamily="34" charset="-122"/>
                          <a:cs typeface="Jost" pitchFamily="34" charset="-120"/>
                        </a:rPr>
                        <a:t>Regenerative</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$95</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65%</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58</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$5,510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$3,582</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46304">
                <a:tc>
                  <a:txBody>
                    <a:bodyPr/>
                    <a:lstStyle/>
                    <a:p>
                      <a:pPr algn="l" indent="0" marL="0">
                        <a:buNone/>
                      </a:pPr>
                      <a:r>
                        <a:rPr lang="en-US" sz="750" dirty="0">
                          <a:solidFill>
                            <a:srgbClr val="EDE7DE"/>
                          </a:solidFill>
                          <a:latin typeface="Jost" pitchFamily="34" charset="0"/>
                          <a:ea typeface="Jost" pitchFamily="34" charset="-122"/>
                          <a:cs typeface="Jost" pitchFamily="34" charset="-120"/>
                        </a:rPr>
                        <a:t>Therapeutic medications</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l" indent="0" marL="0">
                        <a:buNone/>
                      </a:pPr>
                      <a:r>
                        <a:rPr lang="en-US" sz="750" dirty="0">
                          <a:solidFill>
                            <a:srgbClr val="C9BCA9"/>
                          </a:solidFill>
                          <a:latin typeface="Jost" pitchFamily="34" charset="0"/>
                          <a:ea typeface="Jost" pitchFamily="34" charset="-122"/>
                          <a:cs typeface="Jost" pitchFamily="34" charset="-120"/>
                        </a:rPr>
                        <a:t>Regenerative</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$300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75%</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60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$18,000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$13,500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46304">
                <a:tc>
                  <a:txBody>
                    <a:bodyPr/>
                    <a:lstStyle/>
                    <a:p>
                      <a:pPr algn="l" indent="0" marL="0">
                        <a:buNone/>
                      </a:pPr>
                      <a:r>
                        <a:rPr lang="en-US" sz="750" dirty="0">
                          <a:solidFill>
                            <a:srgbClr val="EDE7DE"/>
                          </a:solidFill>
                          <a:latin typeface="Jost" pitchFamily="34" charset="0"/>
                          <a:ea typeface="Jost" pitchFamily="34" charset="-122"/>
                          <a:cs typeface="Jost" pitchFamily="34" charset="-120"/>
                        </a:rPr>
                        <a:t>Botox (15-unit minimum)</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l" indent="0" marL="0">
                        <a:buNone/>
                      </a:pPr>
                      <a:r>
                        <a:rPr lang="en-US" sz="750" dirty="0">
                          <a:solidFill>
                            <a:srgbClr val="C9BCA9"/>
                          </a:solidFill>
                          <a:latin typeface="Jost" pitchFamily="34" charset="0"/>
                          <a:ea typeface="Jost" pitchFamily="34" charset="-122"/>
                          <a:cs typeface="Jost" pitchFamily="34" charset="-120"/>
                        </a:rPr>
                        <a:t>Aesthetics</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$240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70%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80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$19,200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$13,440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46304">
                <a:tc>
                  <a:txBody>
                    <a:bodyPr/>
                    <a:lstStyle/>
                    <a:p>
                      <a:pPr algn="l" indent="0" marL="0">
                        <a:buNone/>
                      </a:pPr>
                      <a:r>
                        <a:rPr lang="en-US" sz="750" dirty="0">
                          <a:solidFill>
                            <a:srgbClr val="EDE7DE"/>
                          </a:solidFill>
                          <a:latin typeface="Jost" pitchFamily="34" charset="0"/>
                          <a:ea typeface="Jost" pitchFamily="34" charset="-122"/>
                          <a:cs typeface="Jost" pitchFamily="34" charset="-120"/>
                        </a:rPr>
                        <a:t>Filler (0.5 ml)</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l" indent="0" marL="0">
                        <a:buNone/>
                      </a:pPr>
                      <a:r>
                        <a:rPr lang="en-US" sz="750" dirty="0">
                          <a:solidFill>
                            <a:srgbClr val="C9BCA9"/>
                          </a:solidFill>
                          <a:latin typeface="Jost" pitchFamily="34" charset="0"/>
                          <a:ea typeface="Jost" pitchFamily="34" charset="-122"/>
                          <a:cs typeface="Jost" pitchFamily="34" charset="-120"/>
                        </a:rPr>
                        <a:t>Aesthetics</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$850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65%</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56</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$47,600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$30,940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46304">
                <a:tc>
                  <a:txBody>
                    <a:bodyPr/>
                    <a:lstStyle/>
                    <a:p>
                      <a:pPr algn="l" indent="0" marL="0">
                        <a:buNone/>
                      </a:pPr>
                      <a:r>
                        <a:rPr lang="en-US" sz="750" dirty="0">
                          <a:solidFill>
                            <a:srgbClr val="EDE7DE"/>
                          </a:solidFill>
                          <a:latin typeface="Jost" pitchFamily="34" charset="0"/>
                          <a:ea typeface="Jost" pitchFamily="34" charset="-122"/>
                          <a:cs typeface="Jost" pitchFamily="34" charset="-120"/>
                        </a:rPr>
                        <a:t>RF Microneedling</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l" indent="0" marL="0">
                        <a:buNone/>
                      </a:pPr>
                      <a:r>
                        <a:rPr lang="en-US" sz="750" dirty="0">
                          <a:solidFill>
                            <a:srgbClr val="C9BCA9"/>
                          </a:solidFill>
                          <a:latin typeface="Jost" pitchFamily="34" charset="0"/>
                          <a:ea typeface="Jost" pitchFamily="34" charset="-122"/>
                          <a:cs typeface="Jost" pitchFamily="34" charset="-120"/>
                        </a:rPr>
                        <a:t>Aesthetics</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$1,000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75%</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50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$50,000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$37,500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46304">
                <a:tc>
                  <a:txBody>
                    <a:bodyPr/>
                    <a:lstStyle/>
                    <a:p>
                      <a:pPr algn="l" indent="0" marL="0">
                        <a:buNone/>
                      </a:pPr>
                      <a:r>
                        <a:rPr lang="en-US" sz="750" dirty="0">
                          <a:solidFill>
                            <a:srgbClr val="EDE7DE"/>
                          </a:solidFill>
                          <a:latin typeface="Jost" pitchFamily="34" charset="0"/>
                          <a:ea typeface="Jost" pitchFamily="34" charset="-122"/>
                          <a:cs typeface="Jost" pitchFamily="34" charset="-120"/>
                        </a:rPr>
                        <a:t>Laser Platform</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l" indent="0" marL="0">
                        <a:buNone/>
                      </a:pPr>
                      <a:r>
                        <a:rPr lang="en-US" sz="750" dirty="0">
                          <a:solidFill>
                            <a:srgbClr val="C9BCA9"/>
                          </a:solidFill>
                          <a:latin typeface="Jost" pitchFamily="34" charset="0"/>
                          <a:ea typeface="Jost" pitchFamily="34" charset="-122"/>
                          <a:cs typeface="Jost" pitchFamily="34" charset="-120"/>
                        </a:rPr>
                        <a:t>Aesthetics</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$850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70%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30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$25,500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$17,850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46304">
                <a:tc>
                  <a:txBody>
                    <a:bodyPr/>
                    <a:lstStyle/>
                    <a:p>
                      <a:pPr algn="l" indent="0" marL="0">
                        <a:buNone/>
                      </a:pPr>
                      <a:r>
                        <a:rPr lang="en-US" sz="750" dirty="0">
                          <a:solidFill>
                            <a:srgbClr val="EDE7DE"/>
                          </a:solidFill>
                          <a:latin typeface="Jost" pitchFamily="34" charset="0"/>
                          <a:ea typeface="Jost" pitchFamily="34" charset="-122"/>
                          <a:cs typeface="Jost" pitchFamily="34" charset="-120"/>
                        </a:rPr>
                        <a:t>Advanced Biometrics</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l" indent="0" marL="0">
                        <a:buNone/>
                      </a:pPr>
                      <a:r>
                        <a:rPr lang="en-US" sz="750" dirty="0">
                          <a:solidFill>
                            <a:srgbClr val="C9BCA9"/>
                          </a:solidFill>
                          <a:latin typeface="Jost" pitchFamily="34" charset="0"/>
                          <a:ea typeface="Jost" pitchFamily="34" charset="-122"/>
                          <a:cs typeface="Jost" pitchFamily="34" charset="-120"/>
                        </a:rPr>
                        <a:t>Diagnostics</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$225</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70%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20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$4,500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$3,150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46304">
                <a:tc>
                  <a:txBody>
                    <a:bodyPr/>
                    <a:lstStyle/>
                    <a:p>
                      <a:pPr algn="l" indent="0" marL="0">
                        <a:buNone/>
                      </a:pPr>
                      <a:r>
                        <a:rPr lang="en-US" sz="750" dirty="0">
                          <a:solidFill>
                            <a:srgbClr val="EDE7DE"/>
                          </a:solidFill>
                          <a:latin typeface="Jost" pitchFamily="34" charset="0"/>
                          <a:ea typeface="Jost" pitchFamily="34" charset="-122"/>
                          <a:cs typeface="Jost" pitchFamily="34" charset="-120"/>
                        </a:rPr>
                        <a:t>DNA Analysis</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l" indent="0" marL="0">
                        <a:buNone/>
                      </a:pPr>
                      <a:r>
                        <a:rPr lang="en-US" sz="750" dirty="0">
                          <a:solidFill>
                            <a:srgbClr val="C9BCA9"/>
                          </a:solidFill>
                          <a:latin typeface="Jost" pitchFamily="34" charset="0"/>
                          <a:ea typeface="Jost" pitchFamily="34" charset="-122"/>
                          <a:cs typeface="Jost" pitchFamily="34" charset="-120"/>
                        </a:rPr>
                        <a:t>Diagnostics</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$600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67%</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15</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$9,000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$6,030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46304">
                <a:tc>
                  <a:txBody>
                    <a:bodyPr/>
                    <a:lstStyle/>
                    <a:p>
                      <a:pPr algn="l" indent="0" marL="0">
                        <a:buNone/>
                      </a:pPr>
                      <a:r>
                        <a:rPr lang="en-US" sz="750" dirty="0">
                          <a:solidFill>
                            <a:srgbClr val="EDE7DE"/>
                          </a:solidFill>
                          <a:latin typeface="Jost" pitchFamily="34" charset="0"/>
                          <a:ea typeface="Jost" pitchFamily="34" charset="-122"/>
                          <a:cs typeface="Jost" pitchFamily="34" charset="-120"/>
                        </a:rPr>
                        <a:t>DUTCH Plus Test</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l" indent="0" marL="0">
                        <a:buNone/>
                      </a:pPr>
                      <a:r>
                        <a:rPr lang="en-US" sz="750" dirty="0">
                          <a:solidFill>
                            <a:srgbClr val="C9BCA9"/>
                          </a:solidFill>
                          <a:latin typeface="Jost" pitchFamily="34" charset="0"/>
                          <a:ea typeface="Jost" pitchFamily="34" charset="-122"/>
                          <a:cs typeface="Jost" pitchFamily="34" charset="-120"/>
                        </a:rPr>
                        <a:t>Diagnostics</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$750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65%</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20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$15,000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$9,750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46304">
                <a:tc>
                  <a:txBody>
                    <a:bodyPr/>
                    <a:lstStyle/>
                    <a:p>
                      <a:pPr algn="l" indent="0" marL="0">
                        <a:buNone/>
                      </a:pPr>
                      <a:r>
                        <a:rPr lang="en-US" sz="750" dirty="0">
                          <a:solidFill>
                            <a:srgbClr val="EDE7DE"/>
                          </a:solidFill>
                          <a:latin typeface="Jost" pitchFamily="34" charset="0"/>
                          <a:ea typeface="Jost" pitchFamily="34" charset="-122"/>
                          <a:cs typeface="Jost" pitchFamily="34" charset="-120"/>
                        </a:rPr>
                        <a:t>DEXA Scan</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l" indent="0" marL="0">
                        <a:buNone/>
                      </a:pPr>
                      <a:r>
                        <a:rPr lang="en-US" sz="750" dirty="0">
                          <a:solidFill>
                            <a:srgbClr val="C9BCA9"/>
                          </a:solidFill>
                          <a:latin typeface="Jost" pitchFamily="34" charset="0"/>
                          <a:ea typeface="Jost" pitchFamily="34" charset="-122"/>
                          <a:cs typeface="Jost" pitchFamily="34" charset="-120"/>
                        </a:rPr>
                        <a:t>Diagnostics</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$95</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77%</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95</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$9,025</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$6,949</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46304">
                <a:tc>
                  <a:txBody>
                    <a:bodyPr/>
                    <a:lstStyle/>
                    <a:p>
                      <a:pPr algn="l" indent="0" marL="0">
                        <a:buNone/>
                      </a:pPr>
                      <a:r>
                        <a:rPr lang="en-US" sz="750" dirty="0">
                          <a:solidFill>
                            <a:srgbClr val="B08D57"/>
                          </a:solidFill>
                          <a:latin typeface="Jost" pitchFamily="34" charset="0"/>
                          <a:ea typeface="Jost" pitchFamily="34" charset="-122"/>
                          <a:cs typeface="Jost" pitchFamily="34" charset="-120"/>
                        </a:rPr>
                        <a:t>Wellness delivery at list value</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l" indent="0" marL="0">
                        <a:buNone/>
                      </a:pP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B08D57"/>
                          </a:solidFill>
                          <a:latin typeface="Jost" pitchFamily="34" charset="0"/>
                          <a:ea typeface="Jost" pitchFamily="34" charset="-122"/>
                          <a:cs typeface="Jost" pitchFamily="34" charset="-120"/>
                        </a:rPr>
                        <a:t>71%</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B08D57"/>
                          </a:solidFill>
                          <a:latin typeface="Jost" pitchFamily="34" charset="0"/>
                          <a:ea typeface="Jost" pitchFamily="34" charset="-122"/>
                          <a:cs typeface="Jost" pitchFamily="34" charset="-120"/>
                        </a:rPr>
                        <a:t>672</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B08D57"/>
                          </a:solidFill>
                          <a:latin typeface="Jost" pitchFamily="34" charset="0"/>
                          <a:ea typeface="Jost" pitchFamily="34" charset="-122"/>
                          <a:cs typeface="Jost" pitchFamily="34" charset="-120"/>
                        </a:rPr>
                        <a:t>$259,625</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B08D57"/>
                          </a:solidFill>
                          <a:latin typeface="Jost" pitchFamily="34" charset="0"/>
                          <a:ea typeface="Jost" pitchFamily="34" charset="-122"/>
                          <a:cs typeface="Jost" pitchFamily="34" charset="-120"/>
                        </a:rPr>
                        <a:t>$183,654</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bl>
          </a:graphicData>
        </a:graphic>
      </p:graphicFrame>
      <p:sp>
        <p:nvSpPr>
          <p:cNvPr id="6" name="Text 3"/>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B6965"/>
                </a:solidFill>
                <a:latin typeface="Jost" pitchFamily="34" charset="0"/>
                <a:ea typeface="Jost" pitchFamily="34" charset="-122"/>
                <a:cs typeface="Jost" pitchFamily="34" charset="-120"/>
              </a:rPr>
              <a:t>L&amp;K WELLNESS  ·  PRIVATE INVESTMENT BRIEF  ·  CONFIDENTIAL</a:t>
            </a:r>
            <a:endParaRPr lang="en-US" sz="700" dirty="0"/>
          </a:p>
        </p:txBody>
      </p:sp>
      <p:sp>
        <p:nvSpPr>
          <p:cNvPr id="7" name="Text 4"/>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B6965"/>
                </a:solidFill>
                <a:latin typeface="Jost" pitchFamily="34" charset="0"/>
                <a:ea typeface="Jost" pitchFamily="34" charset="-122"/>
                <a:cs typeface="Jost" pitchFamily="34" charset="-120"/>
              </a:rPr>
              <a:t>19</a:t>
            </a:r>
            <a:endParaRPr lang="en-US" sz="7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B08D57"/>
                </a:solidFill>
                <a:latin typeface="Jost" pitchFamily="34" charset="0"/>
                <a:ea typeface="Jost" pitchFamily="34" charset="-122"/>
                <a:cs typeface="Jost" pitchFamily="34" charset="-120"/>
              </a:rPr>
              <a:t>REVENUE MODEL</a:t>
            </a:r>
            <a:endParaRPr lang="en-US" sz="900" dirty="0"/>
          </a:p>
        </p:txBody>
      </p:sp>
      <p:sp>
        <p:nvSpPr>
          <p:cNvPr id="3" name="Shape 1"/>
          <p:cNvSpPr/>
          <p:nvPr/>
        </p:nvSpPr>
        <p:spPr>
          <a:xfrm>
            <a:off x="502920" y="557784"/>
            <a:ext cx="566928" cy="12802"/>
          </a:xfrm>
          <a:prstGeom prst="rect">
            <a:avLst/>
          </a:prstGeom>
          <a:solidFill>
            <a:srgbClr val="B08D57"/>
          </a:solidFill>
          <a:ln w="12700">
            <a:solidFill>
              <a:srgbClr val="B08D57"/>
            </a:solidFill>
            <a:prstDash val="solid"/>
          </a:ln>
        </p:spPr>
      </p:sp>
      <p:sp>
        <p:nvSpPr>
          <p:cNvPr id="4" name="Text 2"/>
          <p:cNvSpPr/>
          <p:nvPr/>
        </p:nvSpPr>
        <p:spPr>
          <a:xfrm>
            <a:off x="502920" y="621792"/>
            <a:ext cx="8138160" cy="548640"/>
          </a:xfrm>
          <a:prstGeom prst="rect">
            <a:avLst/>
          </a:prstGeom>
          <a:noFill/>
          <a:ln/>
        </p:spPr>
        <p:txBody>
          <a:bodyPr wrap="square" rtlCol="0" anchor="t"/>
          <a:lstStyle/>
          <a:p>
            <a:pPr indent="0" marL="0">
              <a:buNone/>
            </a:pPr>
            <a:r>
              <a:rPr lang="en-US" sz="2600" spc="400" kern="0" dirty="0">
                <a:solidFill>
                  <a:srgbClr val="EDE7DE"/>
                </a:solidFill>
                <a:latin typeface="Cormorant Garamond" pitchFamily="34" charset="0"/>
                <a:ea typeface="Cormorant Garamond" pitchFamily="34" charset="-122"/>
                <a:cs typeface="Cormorant Garamond" pitchFamily="34" charset="-120"/>
              </a:rPr>
              <a:t>MEMBERSHIP IS NOT ADDITIVE</a:t>
            </a:r>
            <a:endParaRPr lang="en-US" sz="2600" dirty="0"/>
          </a:p>
        </p:txBody>
      </p:sp>
      <p:sp>
        <p:nvSpPr>
          <p:cNvPr id="5" name="Text 3"/>
          <p:cNvSpPr/>
          <p:nvPr/>
        </p:nvSpPr>
        <p:spPr>
          <a:xfrm>
            <a:off x="502920" y="1115568"/>
            <a:ext cx="7487107" cy="457200"/>
          </a:xfrm>
          <a:prstGeom prst="rect">
            <a:avLst/>
          </a:prstGeom>
          <a:noFill/>
          <a:ln/>
        </p:spPr>
        <p:txBody>
          <a:bodyPr wrap="square" rtlCol="0" anchor="t"/>
          <a:lstStyle/>
          <a:p>
            <a:pPr indent="0" marL="0">
              <a:lnSpc>
                <a:spcPct val="120000"/>
              </a:lnSpc>
              <a:buNone/>
            </a:pPr>
            <a:r>
              <a:rPr lang="en-US" sz="1050" dirty="0">
                <a:solidFill>
                  <a:srgbClr val="C9BCA9"/>
                </a:solidFill>
                <a:latin typeface="Jost" pitchFamily="34" charset="0"/>
                <a:ea typeface="Jost" pitchFamily="34" charset="-122"/>
                <a:cs typeface="Jost" pitchFamily="34" charset="-120"/>
              </a:rPr>
              <a:t>The easy mistake is to stack membership fees on top of full a la carte revenue. Members draw down a credit bank against services that would otherwise be paid at list price, so redemption is netted out first.</a:t>
            </a:r>
            <a:endParaRPr lang="en-US" sz="1050" dirty="0"/>
          </a:p>
        </p:txBody>
      </p:sp>
      <p:graphicFrame>
        <p:nvGraphicFramePr>
          <p:cNvPr id="21" name="Table 0"/>
          <p:cNvGraphicFramePr>
            <a:graphicFrameLocks noGrp="1"/>
          </p:cNvGraphicFramePr>
          <p:nvPr>
            <p:extLst>
              <p:ext uri="{D42A27DB-BD31-4B8C-83A1-F6EECF244321}">
                <p14:modId xmlns:p14="http://schemas.microsoft.com/office/powerpoint/2010/main" val="1579011935"/>
              </p:ext>
            </p:extLst>
          </p:nvPr>
        </p:nvGraphicFramePr>
        <p:xfrm>
          <a:off x="502920" y="1783080"/>
          <a:ext cx="8138160" cy="914400"/>
        </p:xfrm>
        <a:graphic>
          <a:graphicData uri="http://schemas.openxmlformats.org/drawingml/2006/table">
            <a:tbl>
              <a:tblPr/>
              <a:tblGrid>
                <a:gridCol w="5486400"/>
                <a:gridCol w="2651760"/>
              </a:tblGrid>
              <a:tr h="274320">
                <a:tc>
                  <a:txBody>
                    <a:bodyPr/>
                    <a:lstStyle/>
                    <a:p>
                      <a:pPr algn="l" indent="0" marL="0">
                        <a:buNone/>
                      </a:pPr>
                      <a:r>
                        <a:rPr lang="en-US" sz="750" spc="140" kern="0" dirty="0">
                          <a:solidFill>
                            <a:srgbClr val="B08D57"/>
                          </a:solidFill>
                          <a:latin typeface="Jost" pitchFamily="34" charset="0"/>
                          <a:ea typeface="Jost" pitchFamily="34" charset="-122"/>
                          <a:cs typeface="Jost" pitchFamily="34" charset="-120"/>
                        </a:rPr>
                        <a:t>BUILD</a:t>
                      </a:r>
                      <a:endParaRPr lang="en-US" sz="750" dirty="0">
                        <a:latin typeface="Jost" charset="0"/>
                        <a:ea typeface="Jost" charset="0"/>
                        <a:cs typeface="Jost" charset="0"/>
                      </a:endParaRPr>
                    </a:p>
                  </a:txBody>
                  <a:tcPr marL="36576" marR="36576" marT="36576" marB="36576" anchor="ctr">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000000"/>
                    </a:solidFill>
                  </a:tcPr>
                </a:tc>
                <a:tc>
                  <a:txBody>
                    <a:bodyPr/>
                    <a:lstStyle/>
                    <a:p>
                      <a:pPr algn="r" indent="0" marL="0">
                        <a:buNone/>
                      </a:pPr>
                      <a:r>
                        <a:rPr lang="en-US" sz="750" spc="140" kern="0" dirty="0">
                          <a:solidFill>
                            <a:srgbClr val="B08D57"/>
                          </a:solidFill>
                          <a:latin typeface="Jost" pitchFamily="34" charset="0"/>
                          <a:ea typeface="Jost" pitchFamily="34" charset="-122"/>
                          <a:cs typeface="Jost" pitchFamily="34" charset="-120"/>
                        </a:rPr>
                        <a:t>MONTHLY</a:t>
                      </a:r>
                      <a:endParaRPr lang="en-US" sz="750" dirty="0">
                        <a:latin typeface="Jost" charset="0"/>
                        <a:ea typeface="Jost" charset="0"/>
                        <a:cs typeface="Jost" charset="0"/>
                      </a:endParaRPr>
                    </a:p>
                  </a:txBody>
                  <a:tcPr marL="36576" marR="36576" marT="36576" marB="36576" anchor="ctr">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000000"/>
                    </a:solidFill>
                  </a:tcPr>
                </a:tc>
              </a:tr>
              <a:tr h="274320">
                <a:tc>
                  <a:txBody>
                    <a:bodyPr/>
                    <a:lstStyle/>
                    <a:p>
                      <a:pPr algn="l" indent="0" marL="0">
                        <a:buNone/>
                      </a:pPr>
                      <a:r>
                        <a:rPr lang="en-US" sz="900" dirty="0">
                          <a:solidFill>
                            <a:srgbClr val="EDE7DE"/>
                          </a:solidFill>
                          <a:latin typeface="Jost" pitchFamily="34" charset="0"/>
                          <a:ea typeface="Jost" pitchFamily="34" charset="-122"/>
                          <a:cs typeface="Jost" pitchFamily="34" charset="-120"/>
                        </a:rPr>
                        <a:t>Service delivery at list value</a:t>
                      </a:r>
                      <a:endParaRPr lang="en-US" sz="90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900" dirty="0">
                          <a:solidFill>
                            <a:srgbClr val="C9BCA9"/>
                          </a:solidFill>
                          <a:latin typeface="Jost" pitchFamily="34" charset="0"/>
                          <a:ea typeface="Jost" pitchFamily="34" charset="-122"/>
                          <a:cs typeface="Jost" pitchFamily="34" charset="-120"/>
                        </a:rPr>
                        <a:t>$507,121</a:t>
                      </a:r>
                      <a:endParaRPr lang="en-US" sz="90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274320">
                <a:tc>
                  <a:txBody>
                    <a:bodyPr/>
                    <a:lstStyle/>
                    <a:p>
                      <a:pPr algn="l" indent="0" marL="0">
                        <a:buNone/>
                      </a:pPr>
                      <a:r>
                        <a:rPr lang="en-US" sz="900" dirty="0">
                          <a:solidFill>
                            <a:srgbClr val="6B6965"/>
                          </a:solidFill>
                          <a:latin typeface="Jost" pitchFamily="34" charset="0"/>
                          <a:ea typeface="Jost" pitchFamily="34" charset="-122"/>
                          <a:cs typeface="Jost" pitchFamily="34" charset="-120"/>
                        </a:rPr>
                        <a:t>less member credit redemption</a:t>
                      </a:r>
                      <a:endParaRPr lang="en-US" sz="90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900" dirty="0">
                          <a:solidFill>
                            <a:srgbClr val="6B6965"/>
                          </a:solidFill>
                          <a:latin typeface="Jost" pitchFamily="34" charset="0"/>
                          <a:ea typeface="Jost" pitchFamily="34" charset="-122"/>
                          <a:cs typeface="Jost" pitchFamily="34" charset="-120"/>
                        </a:rPr>
                        <a:t>-$129,500</a:t>
                      </a:r>
                      <a:endParaRPr lang="en-US" sz="90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274320">
                <a:tc>
                  <a:txBody>
                    <a:bodyPr/>
                    <a:lstStyle/>
                    <a:p>
                      <a:pPr algn="l" indent="0" marL="0">
                        <a:buNone/>
                      </a:pPr>
                      <a:r>
                        <a:rPr lang="en-US" sz="900" dirty="0">
                          <a:solidFill>
                            <a:srgbClr val="6B6965"/>
                          </a:solidFill>
                          <a:latin typeface="Jost" pitchFamily="34" charset="0"/>
                          <a:ea typeface="Jost" pitchFamily="34" charset="-122"/>
                          <a:cs typeface="Jost" pitchFamily="34" charset="-120"/>
                        </a:rPr>
                        <a:t>less member and Friends discount</a:t>
                      </a:r>
                      <a:endParaRPr lang="en-US" sz="90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900" dirty="0">
                          <a:solidFill>
                            <a:srgbClr val="6B6965"/>
                          </a:solidFill>
                          <a:latin typeface="Jost" pitchFamily="34" charset="0"/>
                          <a:ea typeface="Jost" pitchFamily="34" charset="-122"/>
                          <a:cs typeface="Jost" pitchFamily="34" charset="-120"/>
                        </a:rPr>
                        <a:t>-$30,210</a:t>
                      </a:r>
                      <a:endParaRPr lang="en-US" sz="90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274320">
                <a:tc>
                  <a:txBody>
                    <a:bodyPr/>
                    <a:lstStyle/>
                    <a:p>
                      <a:pPr algn="l" indent="0" marL="0">
                        <a:buNone/>
                      </a:pPr>
                      <a:r>
                        <a:rPr lang="en-US" sz="900" dirty="0">
                          <a:solidFill>
                            <a:srgbClr val="B08D57"/>
                          </a:solidFill>
                          <a:latin typeface="Jost" pitchFamily="34" charset="0"/>
                          <a:ea typeface="Jost" pitchFamily="34" charset="-122"/>
                          <a:cs typeface="Jost" pitchFamily="34" charset="-120"/>
                        </a:rPr>
                        <a:t>A la carte revenue</a:t>
                      </a:r>
                      <a:endParaRPr lang="en-US" sz="90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900" dirty="0">
                          <a:solidFill>
                            <a:srgbClr val="B08D57"/>
                          </a:solidFill>
                          <a:latin typeface="Jost" pitchFamily="34" charset="0"/>
                          <a:ea typeface="Jost" pitchFamily="34" charset="-122"/>
                          <a:cs typeface="Jost" pitchFamily="34" charset="-120"/>
                        </a:rPr>
                        <a:t>$347,411</a:t>
                      </a:r>
                      <a:endParaRPr lang="en-US" sz="90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274320">
                <a:tc>
                  <a:txBody>
                    <a:bodyPr/>
                    <a:lstStyle/>
                    <a:p>
                      <a:pPr algn="l" indent="0" marL="0">
                        <a:buNone/>
                      </a:pPr>
                      <a:r>
                        <a:rPr lang="en-US" sz="900" dirty="0">
                          <a:solidFill>
                            <a:srgbClr val="EDE7DE"/>
                          </a:solidFill>
                          <a:latin typeface="Jost" pitchFamily="34" charset="0"/>
                          <a:ea typeface="Jost" pitchFamily="34" charset="-122"/>
                          <a:cs typeface="Jost" pitchFamily="34" charset="-120"/>
                        </a:rPr>
                        <a:t>plus membership fees</a:t>
                      </a:r>
                      <a:endParaRPr lang="en-US" sz="90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900" dirty="0">
                          <a:solidFill>
                            <a:srgbClr val="C9BCA9"/>
                          </a:solidFill>
                          <a:latin typeface="Jost" pitchFamily="34" charset="0"/>
                          <a:ea typeface="Jost" pitchFamily="34" charset="-122"/>
                          <a:cs typeface="Jost" pitchFamily="34" charset="-120"/>
                        </a:rPr>
                        <a:t>$230,000</a:t>
                      </a:r>
                      <a:endParaRPr lang="en-US" sz="90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274320">
                <a:tc>
                  <a:txBody>
                    <a:bodyPr/>
                    <a:lstStyle/>
                    <a:p>
                      <a:pPr algn="l" indent="0" marL="0">
                        <a:buNone/>
                      </a:pPr>
                      <a:r>
                        <a:rPr lang="en-US" sz="900" dirty="0">
                          <a:solidFill>
                            <a:srgbClr val="EDE7DE"/>
                          </a:solidFill>
                          <a:latin typeface="Jost" pitchFamily="34" charset="0"/>
                          <a:ea typeface="Jost" pitchFamily="34" charset="-122"/>
                          <a:cs typeface="Jost" pitchFamily="34" charset="-120"/>
                        </a:rPr>
                        <a:t>plus day pass and access</a:t>
                      </a:r>
                      <a:endParaRPr lang="en-US" sz="90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900" dirty="0">
                          <a:solidFill>
                            <a:srgbClr val="C9BCA9"/>
                          </a:solidFill>
                          <a:latin typeface="Jost" pitchFamily="34" charset="0"/>
                          <a:ea typeface="Jost" pitchFamily="34" charset="-122"/>
                          <a:cs typeface="Jost" pitchFamily="34" charset="-120"/>
                        </a:rPr>
                        <a:t>$20,625</a:t>
                      </a:r>
                      <a:endParaRPr lang="en-US" sz="90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274320">
                <a:tc>
                  <a:txBody>
                    <a:bodyPr/>
                    <a:lstStyle/>
                    <a:p>
                      <a:pPr algn="l" indent="0" marL="0">
                        <a:buNone/>
                      </a:pPr>
                      <a:r>
                        <a:rPr lang="en-US" sz="900" dirty="0">
                          <a:solidFill>
                            <a:srgbClr val="B08D57"/>
                          </a:solidFill>
                          <a:latin typeface="Jost" pitchFamily="34" charset="0"/>
                          <a:ea typeface="Jost" pitchFamily="34" charset="-122"/>
                          <a:cs typeface="Jost" pitchFamily="34" charset="-120"/>
                        </a:rPr>
                        <a:t>Total revenue per month</a:t>
                      </a:r>
                      <a:endParaRPr lang="en-US" sz="90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900" dirty="0">
                          <a:solidFill>
                            <a:srgbClr val="B08D57"/>
                          </a:solidFill>
                          <a:latin typeface="Jost" pitchFamily="34" charset="0"/>
                          <a:ea typeface="Jost" pitchFamily="34" charset="-122"/>
                          <a:cs typeface="Jost" pitchFamily="34" charset="-120"/>
                        </a:rPr>
                        <a:t>$598,036</a:t>
                      </a:r>
                      <a:endParaRPr lang="en-US" sz="90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bl>
          </a:graphicData>
        </a:graphic>
      </p:graphicFrame>
      <p:sp>
        <p:nvSpPr>
          <p:cNvPr id="7" name="Text 4"/>
          <p:cNvSpPr/>
          <p:nvPr/>
        </p:nvSpPr>
        <p:spPr>
          <a:xfrm>
            <a:off x="502920" y="4114800"/>
            <a:ext cx="8138160" cy="457200"/>
          </a:xfrm>
          <a:prstGeom prst="rect">
            <a:avLst/>
          </a:prstGeom>
          <a:noFill/>
          <a:ln/>
        </p:spPr>
        <p:txBody>
          <a:bodyPr wrap="square" rtlCol="0" anchor="t"/>
          <a:lstStyle/>
          <a:p>
            <a:pPr indent="0" marL="0">
              <a:lnSpc>
                <a:spcPct val="120000"/>
              </a:lnSpc>
              <a:buNone/>
            </a:pPr>
            <a:r>
              <a:rPr lang="en-US" sz="850" dirty="0">
                <a:solidFill>
                  <a:srgbClr val="6B6965"/>
                </a:solidFill>
                <a:latin typeface="Jost" pitchFamily="34" charset="0"/>
                <a:ea typeface="Jost" pitchFamily="34" charset="-122"/>
                <a:cs typeface="Jost" pitchFamily="34" charset="-120"/>
              </a:rPr>
              <a:t>Residents and Longevity members pay $207,500 a month and redeem $129,500 of service at retail. Redemption ratio 62.4%. If that exceeded 100% the credit bank would be underpriced; the model asserts it cannot.</a:t>
            </a:r>
            <a:endParaRPr lang="en-US" sz="850" dirty="0"/>
          </a:p>
        </p:txBody>
      </p:sp>
      <p:sp>
        <p:nvSpPr>
          <p:cNvPr id="8" name="Text 5"/>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B6965"/>
                </a:solidFill>
                <a:latin typeface="Jost" pitchFamily="34" charset="0"/>
                <a:ea typeface="Jost" pitchFamily="34" charset="-122"/>
                <a:cs typeface="Jost" pitchFamily="34" charset="-120"/>
              </a:rPr>
              <a:t>L&amp;K WELLNESS  ·  PRIVATE INVESTMENT BRIEF  ·  CONFIDENTIAL</a:t>
            </a:r>
            <a:endParaRPr lang="en-US" sz="700" dirty="0"/>
          </a:p>
        </p:txBody>
      </p:sp>
      <p:sp>
        <p:nvSpPr>
          <p:cNvPr id="9" name="Text 6"/>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B6965"/>
                </a:solidFill>
                <a:latin typeface="Jost" pitchFamily="34" charset="0"/>
                <a:ea typeface="Jost" pitchFamily="34" charset="-122"/>
                <a:cs typeface="Jost" pitchFamily="34" charset="-120"/>
              </a:rPr>
              <a:t>20</a:t>
            </a:r>
            <a:endParaRPr lang="en-US" sz="7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B08D57"/>
                </a:solidFill>
                <a:latin typeface="Jost" pitchFamily="34" charset="0"/>
                <a:ea typeface="Jost" pitchFamily="34" charset="-122"/>
                <a:cs typeface="Jost" pitchFamily="34" charset="-120"/>
              </a:rPr>
              <a:t>RAMP</a:t>
            </a:r>
            <a:endParaRPr lang="en-US" sz="900" dirty="0"/>
          </a:p>
        </p:txBody>
      </p:sp>
      <p:sp>
        <p:nvSpPr>
          <p:cNvPr id="3" name="Shape 1"/>
          <p:cNvSpPr/>
          <p:nvPr/>
        </p:nvSpPr>
        <p:spPr>
          <a:xfrm>
            <a:off x="502920" y="557784"/>
            <a:ext cx="566928" cy="12802"/>
          </a:xfrm>
          <a:prstGeom prst="rect">
            <a:avLst/>
          </a:prstGeom>
          <a:solidFill>
            <a:srgbClr val="B08D57"/>
          </a:solidFill>
          <a:ln w="12700">
            <a:solidFill>
              <a:srgbClr val="B08D57"/>
            </a:solidFill>
            <a:prstDash val="solid"/>
          </a:ln>
        </p:spPr>
      </p:sp>
      <p:sp>
        <p:nvSpPr>
          <p:cNvPr id="4" name="Text 2"/>
          <p:cNvSpPr/>
          <p:nvPr/>
        </p:nvSpPr>
        <p:spPr>
          <a:xfrm>
            <a:off x="502920" y="621792"/>
            <a:ext cx="8138160" cy="548640"/>
          </a:xfrm>
          <a:prstGeom prst="rect">
            <a:avLst/>
          </a:prstGeom>
          <a:noFill/>
          <a:ln/>
        </p:spPr>
        <p:txBody>
          <a:bodyPr wrap="square" rtlCol="0" anchor="t"/>
          <a:lstStyle/>
          <a:p>
            <a:pPr indent="0" marL="0">
              <a:buNone/>
            </a:pPr>
            <a:r>
              <a:rPr lang="en-US" sz="2600" spc="400" kern="0" dirty="0">
                <a:solidFill>
                  <a:srgbClr val="EDE7DE"/>
                </a:solidFill>
                <a:latin typeface="Cormorant Garamond" pitchFamily="34" charset="0"/>
                <a:ea typeface="Cormorant Garamond" pitchFamily="34" charset="-122"/>
                <a:cs typeface="Cormorant Garamond" pitchFamily="34" charset="-120"/>
              </a:rPr>
              <a:t>BREAKEVEN AT MONTH 10</a:t>
            </a:r>
            <a:endParaRPr lang="en-US" sz="2600" dirty="0"/>
          </a:p>
        </p:txBody>
      </p:sp>
      <p:sp>
        <p:nvSpPr>
          <p:cNvPr id="5" name="Text 3"/>
          <p:cNvSpPr/>
          <p:nvPr/>
        </p:nvSpPr>
        <p:spPr>
          <a:xfrm>
            <a:off x="502920" y="1115568"/>
            <a:ext cx="7487107" cy="457200"/>
          </a:xfrm>
          <a:prstGeom prst="rect">
            <a:avLst/>
          </a:prstGeom>
          <a:noFill/>
          <a:ln/>
        </p:spPr>
        <p:txBody>
          <a:bodyPr wrap="square" rtlCol="0" anchor="t"/>
          <a:lstStyle/>
          <a:p>
            <a:pPr indent="0" marL="0">
              <a:lnSpc>
                <a:spcPct val="120000"/>
              </a:lnSpc>
              <a:buNone/>
            </a:pPr>
            <a:r>
              <a:rPr lang="en-US" sz="1050" dirty="0">
                <a:solidFill>
                  <a:srgbClr val="C9BCA9"/>
                </a:solidFill>
                <a:latin typeface="Jost" pitchFamily="34" charset="0"/>
                <a:ea typeface="Jost" pitchFamily="34" charset="-122"/>
                <a:cs typeface="Jost" pitchFamily="34" charset="-120"/>
              </a:rPr>
              <a:t>Months one through six are construction and founding presales. There is no debt service at any point, so operating income is what the business keeps.</a:t>
            </a:r>
            <a:endParaRPr lang="en-US" sz="1050" dirty="0"/>
          </a:p>
        </p:txBody>
      </p:sp>
      <p:sp>
        <p:nvSpPr>
          <p:cNvPr id="6" name="Shape 4"/>
          <p:cNvSpPr/>
          <p:nvPr/>
        </p:nvSpPr>
        <p:spPr>
          <a:xfrm>
            <a:off x="502920" y="1627632"/>
            <a:ext cx="8138160" cy="2331720"/>
          </a:xfrm>
          <a:prstGeom prst="rect">
            <a:avLst/>
          </a:prstGeom>
          <a:solidFill>
            <a:srgbClr val="1C1C1E"/>
          </a:solidFill>
          <a:ln w="9525">
            <a:solidFill>
              <a:srgbClr val="271F13"/>
            </a:solidFill>
            <a:prstDash val="solid"/>
          </a:ln>
        </p:spPr>
      </p:sp>
      <p:sp>
        <p:nvSpPr>
          <p:cNvPr id="7" name="Shape 5"/>
          <p:cNvSpPr/>
          <p:nvPr/>
        </p:nvSpPr>
        <p:spPr>
          <a:xfrm>
            <a:off x="502920" y="3344538"/>
            <a:ext cx="8138160" cy="10973"/>
          </a:xfrm>
          <a:prstGeom prst="rect">
            <a:avLst/>
          </a:prstGeom>
          <a:solidFill>
            <a:srgbClr val="B08D57"/>
          </a:solidFill>
          <a:ln w="12700">
            <a:solidFill>
              <a:srgbClr val="B08D57"/>
            </a:solidFill>
            <a:prstDash val="solid"/>
          </a:ln>
        </p:spPr>
      </p:sp>
      <p:sp>
        <p:nvSpPr>
          <p:cNvPr id="8" name="Shape 6"/>
          <p:cNvSpPr/>
          <p:nvPr/>
        </p:nvSpPr>
        <p:spPr>
          <a:xfrm>
            <a:off x="541350" y="3344538"/>
            <a:ext cx="149200" cy="555128"/>
          </a:xfrm>
          <a:prstGeom prst="rect">
            <a:avLst/>
          </a:prstGeom>
          <a:solidFill>
            <a:srgbClr val="6B6965"/>
          </a:solidFill>
          <a:ln w="12700">
            <a:solidFill>
              <a:srgbClr val="6B6965"/>
            </a:solidFill>
            <a:prstDash val="solid"/>
          </a:ln>
        </p:spPr>
      </p:sp>
      <p:sp>
        <p:nvSpPr>
          <p:cNvPr id="9" name="Shape 7"/>
          <p:cNvSpPr/>
          <p:nvPr/>
        </p:nvSpPr>
        <p:spPr>
          <a:xfrm>
            <a:off x="767410" y="3344538"/>
            <a:ext cx="149200" cy="555128"/>
          </a:xfrm>
          <a:prstGeom prst="rect">
            <a:avLst/>
          </a:prstGeom>
          <a:solidFill>
            <a:srgbClr val="6B6965"/>
          </a:solidFill>
          <a:ln w="12700">
            <a:solidFill>
              <a:srgbClr val="6B6965"/>
            </a:solidFill>
            <a:prstDash val="solid"/>
          </a:ln>
        </p:spPr>
      </p:sp>
      <p:sp>
        <p:nvSpPr>
          <p:cNvPr id="10" name="Shape 8"/>
          <p:cNvSpPr/>
          <p:nvPr/>
        </p:nvSpPr>
        <p:spPr>
          <a:xfrm>
            <a:off x="993470" y="3344538"/>
            <a:ext cx="149200" cy="555128"/>
          </a:xfrm>
          <a:prstGeom prst="rect">
            <a:avLst/>
          </a:prstGeom>
          <a:solidFill>
            <a:srgbClr val="6B6965"/>
          </a:solidFill>
          <a:ln w="12700">
            <a:solidFill>
              <a:srgbClr val="6B6965"/>
            </a:solidFill>
            <a:prstDash val="solid"/>
          </a:ln>
        </p:spPr>
      </p:sp>
      <p:sp>
        <p:nvSpPr>
          <p:cNvPr id="11" name="Shape 9"/>
          <p:cNvSpPr/>
          <p:nvPr/>
        </p:nvSpPr>
        <p:spPr>
          <a:xfrm>
            <a:off x="1219530" y="3344538"/>
            <a:ext cx="149200" cy="555128"/>
          </a:xfrm>
          <a:prstGeom prst="rect">
            <a:avLst/>
          </a:prstGeom>
          <a:solidFill>
            <a:srgbClr val="6B6965"/>
          </a:solidFill>
          <a:ln w="12700">
            <a:solidFill>
              <a:srgbClr val="6B6965"/>
            </a:solidFill>
            <a:prstDash val="solid"/>
          </a:ln>
        </p:spPr>
      </p:sp>
      <p:sp>
        <p:nvSpPr>
          <p:cNvPr id="12" name="Shape 10"/>
          <p:cNvSpPr/>
          <p:nvPr/>
        </p:nvSpPr>
        <p:spPr>
          <a:xfrm>
            <a:off x="1445590" y="3344538"/>
            <a:ext cx="149200" cy="555128"/>
          </a:xfrm>
          <a:prstGeom prst="rect">
            <a:avLst/>
          </a:prstGeom>
          <a:solidFill>
            <a:srgbClr val="6B6965"/>
          </a:solidFill>
          <a:ln w="12700">
            <a:solidFill>
              <a:srgbClr val="6B6965"/>
            </a:solidFill>
            <a:prstDash val="solid"/>
          </a:ln>
        </p:spPr>
      </p:sp>
      <p:sp>
        <p:nvSpPr>
          <p:cNvPr id="13" name="Shape 11"/>
          <p:cNvSpPr/>
          <p:nvPr/>
        </p:nvSpPr>
        <p:spPr>
          <a:xfrm>
            <a:off x="1671650" y="3344538"/>
            <a:ext cx="149200" cy="555128"/>
          </a:xfrm>
          <a:prstGeom prst="rect">
            <a:avLst/>
          </a:prstGeom>
          <a:solidFill>
            <a:srgbClr val="6B6965"/>
          </a:solidFill>
          <a:ln w="12700">
            <a:solidFill>
              <a:srgbClr val="6B6965"/>
            </a:solidFill>
            <a:prstDash val="solid"/>
          </a:ln>
        </p:spPr>
      </p:sp>
      <p:sp>
        <p:nvSpPr>
          <p:cNvPr id="14" name="Text 12"/>
          <p:cNvSpPr/>
          <p:nvPr/>
        </p:nvSpPr>
        <p:spPr>
          <a:xfrm>
            <a:off x="1445590" y="3986784"/>
            <a:ext cx="678180" cy="164592"/>
          </a:xfrm>
          <a:prstGeom prst="rect">
            <a:avLst/>
          </a:prstGeom>
          <a:noFill/>
          <a:ln/>
        </p:spPr>
        <p:txBody>
          <a:bodyPr wrap="square" rtlCol="0" anchor="ctr"/>
          <a:lstStyle/>
          <a:p>
            <a:pPr algn="ctr" indent="0" marL="0">
              <a:buNone/>
            </a:pPr>
            <a:r>
              <a:rPr lang="en-US" sz="700" dirty="0">
                <a:solidFill>
                  <a:srgbClr val="6B6965"/>
                </a:solidFill>
                <a:latin typeface="Jost" pitchFamily="34" charset="0"/>
                <a:ea typeface="Jost" pitchFamily="34" charset="-122"/>
                <a:cs typeface="Jost" pitchFamily="34" charset="-120"/>
              </a:rPr>
              <a:t>M6</a:t>
            </a:r>
            <a:endParaRPr lang="en-US" sz="700" dirty="0"/>
          </a:p>
        </p:txBody>
      </p:sp>
      <p:sp>
        <p:nvSpPr>
          <p:cNvPr id="15" name="Shape 13"/>
          <p:cNvSpPr/>
          <p:nvPr/>
        </p:nvSpPr>
        <p:spPr>
          <a:xfrm>
            <a:off x="1897710" y="3344538"/>
            <a:ext cx="149200" cy="614814"/>
          </a:xfrm>
          <a:prstGeom prst="rect">
            <a:avLst/>
          </a:prstGeom>
          <a:solidFill>
            <a:srgbClr val="6B6965"/>
          </a:solidFill>
          <a:ln w="12700">
            <a:solidFill>
              <a:srgbClr val="6B6965"/>
            </a:solidFill>
            <a:prstDash val="solid"/>
          </a:ln>
        </p:spPr>
      </p:sp>
      <p:sp>
        <p:nvSpPr>
          <p:cNvPr id="16" name="Shape 14"/>
          <p:cNvSpPr/>
          <p:nvPr/>
        </p:nvSpPr>
        <p:spPr>
          <a:xfrm>
            <a:off x="2123770" y="3344538"/>
            <a:ext cx="149200" cy="383606"/>
          </a:xfrm>
          <a:prstGeom prst="rect">
            <a:avLst/>
          </a:prstGeom>
          <a:solidFill>
            <a:srgbClr val="6B6965"/>
          </a:solidFill>
          <a:ln w="12700">
            <a:solidFill>
              <a:srgbClr val="6B6965"/>
            </a:solidFill>
            <a:prstDash val="solid"/>
          </a:ln>
        </p:spPr>
      </p:sp>
      <p:sp>
        <p:nvSpPr>
          <p:cNvPr id="17" name="Shape 15"/>
          <p:cNvSpPr/>
          <p:nvPr/>
        </p:nvSpPr>
        <p:spPr>
          <a:xfrm>
            <a:off x="2349830" y="3344538"/>
            <a:ext cx="149200" cy="119366"/>
          </a:xfrm>
          <a:prstGeom prst="rect">
            <a:avLst/>
          </a:prstGeom>
          <a:solidFill>
            <a:srgbClr val="6B6965"/>
          </a:solidFill>
          <a:ln w="12700">
            <a:solidFill>
              <a:srgbClr val="6B6965"/>
            </a:solidFill>
            <a:prstDash val="solid"/>
          </a:ln>
        </p:spPr>
      </p:sp>
      <p:sp>
        <p:nvSpPr>
          <p:cNvPr id="18" name="Shape 16"/>
          <p:cNvSpPr/>
          <p:nvPr/>
        </p:nvSpPr>
        <p:spPr>
          <a:xfrm>
            <a:off x="2575890" y="3265719"/>
            <a:ext cx="149200" cy="78818"/>
          </a:xfrm>
          <a:prstGeom prst="rect">
            <a:avLst/>
          </a:prstGeom>
          <a:solidFill>
            <a:srgbClr val="B08D57"/>
          </a:solidFill>
          <a:ln w="12700">
            <a:solidFill>
              <a:srgbClr val="B08D57"/>
            </a:solidFill>
            <a:prstDash val="solid"/>
          </a:ln>
        </p:spPr>
      </p:sp>
      <p:sp>
        <p:nvSpPr>
          <p:cNvPr id="19" name="Shape 17"/>
          <p:cNvSpPr/>
          <p:nvPr/>
        </p:nvSpPr>
        <p:spPr>
          <a:xfrm>
            <a:off x="2801950" y="3067543"/>
            <a:ext cx="149200" cy="276995"/>
          </a:xfrm>
          <a:prstGeom prst="rect">
            <a:avLst/>
          </a:prstGeom>
          <a:solidFill>
            <a:srgbClr val="B08D57"/>
          </a:solidFill>
          <a:ln w="12700">
            <a:solidFill>
              <a:srgbClr val="B08D57"/>
            </a:solidFill>
            <a:prstDash val="solid"/>
          </a:ln>
        </p:spPr>
      </p:sp>
      <p:sp>
        <p:nvSpPr>
          <p:cNvPr id="20" name="Shape 18"/>
          <p:cNvSpPr/>
          <p:nvPr/>
        </p:nvSpPr>
        <p:spPr>
          <a:xfrm>
            <a:off x="3028010" y="2869366"/>
            <a:ext cx="149200" cy="475171"/>
          </a:xfrm>
          <a:prstGeom prst="rect">
            <a:avLst/>
          </a:prstGeom>
          <a:solidFill>
            <a:srgbClr val="B08D57"/>
          </a:solidFill>
          <a:ln w="12700">
            <a:solidFill>
              <a:srgbClr val="B08D57"/>
            </a:solidFill>
            <a:prstDash val="solid"/>
          </a:ln>
        </p:spPr>
      </p:sp>
      <p:sp>
        <p:nvSpPr>
          <p:cNvPr id="21" name="Text 19"/>
          <p:cNvSpPr/>
          <p:nvPr/>
        </p:nvSpPr>
        <p:spPr>
          <a:xfrm>
            <a:off x="2801950" y="3986784"/>
            <a:ext cx="678180" cy="164592"/>
          </a:xfrm>
          <a:prstGeom prst="rect">
            <a:avLst/>
          </a:prstGeom>
          <a:noFill/>
          <a:ln/>
        </p:spPr>
        <p:txBody>
          <a:bodyPr wrap="square" rtlCol="0" anchor="ctr"/>
          <a:lstStyle/>
          <a:p>
            <a:pPr algn="ctr" indent="0" marL="0">
              <a:buNone/>
            </a:pPr>
            <a:r>
              <a:rPr lang="en-US" sz="700" dirty="0">
                <a:solidFill>
                  <a:srgbClr val="6B6965"/>
                </a:solidFill>
                <a:latin typeface="Jost" pitchFamily="34" charset="0"/>
                <a:ea typeface="Jost" pitchFamily="34" charset="-122"/>
                <a:cs typeface="Jost" pitchFamily="34" charset="-120"/>
              </a:rPr>
              <a:t>M12</a:t>
            </a:r>
            <a:endParaRPr lang="en-US" sz="700" dirty="0"/>
          </a:p>
        </p:txBody>
      </p:sp>
      <p:sp>
        <p:nvSpPr>
          <p:cNvPr id="22" name="Shape 20"/>
          <p:cNvSpPr/>
          <p:nvPr/>
        </p:nvSpPr>
        <p:spPr>
          <a:xfrm>
            <a:off x="3254070" y="2671182"/>
            <a:ext cx="149200" cy="673355"/>
          </a:xfrm>
          <a:prstGeom prst="rect">
            <a:avLst/>
          </a:prstGeom>
          <a:solidFill>
            <a:srgbClr val="B08D57"/>
          </a:solidFill>
          <a:ln w="12700">
            <a:solidFill>
              <a:srgbClr val="B08D57"/>
            </a:solidFill>
            <a:prstDash val="solid"/>
          </a:ln>
        </p:spPr>
      </p:sp>
      <p:sp>
        <p:nvSpPr>
          <p:cNvPr id="23" name="Shape 21"/>
          <p:cNvSpPr/>
          <p:nvPr/>
        </p:nvSpPr>
        <p:spPr>
          <a:xfrm>
            <a:off x="3480130" y="2539062"/>
            <a:ext cx="149200" cy="805476"/>
          </a:xfrm>
          <a:prstGeom prst="rect">
            <a:avLst/>
          </a:prstGeom>
          <a:solidFill>
            <a:srgbClr val="B08D57"/>
          </a:solidFill>
          <a:ln w="12700">
            <a:solidFill>
              <a:srgbClr val="B08D57"/>
            </a:solidFill>
            <a:prstDash val="solid"/>
          </a:ln>
        </p:spPr>
      </p:sp>
      <p:sp>
        <p:nvSpPr>
          <p:cNvPr id="24" name="Shape 22"/>
          <p:cNvSpPr/>
          <p:nvPr/>
        </p:nvSpPr>
        <p:spPr>
          <a:xfrm>
            <a:off x="3706190" y="2406942"/>
            <a:ext cx="149200" cy="937596"/>
          </a:xfrm>
          <a:prstGeom prst="rect">
            <a:avLst/>
          </a:prstGeom>
          <a:solidFill>
            <a:srgbClr val="B08D57"/>
          </a:solidFill>
          <a:ln w="12700">
            <a:solidFill>
              <a:srgbClr val="B08D57"/>
            </a:solidFill>
            <a:prstDash val="solid"/>
          </a:ln>
        </p:spPr>
      </p:sp>
      <p:sp>
        <p:nvSpPr>
          <p:cNvPr id="25" name="Shape 23"/>
          <p:cNvSpPr/>
          <p:nvPr/>
        </p:nvSpPr>
        <p:spPr>
          <a:xfrm>
            <a:off x="3932250" y="2274822"/>
            <a:ext cx="149200" cy="1069716"/>
          </a:xfrm>
          <a:prstGeom prst="rect">
            <a:avLst/>
          </a:prstGeom>
          <a:solidFill>
            <a:srgbClr val="B08D57"/>
          </a:solidFill>
          <a:ln w="12700">
            <a:solidFill>
              <a:srgbClr val="B08D57"/>
            </a:solidFill>
            <a:prstDash val="solid"/>
          </a:ln>
        </p:spPr>
      </p:sp>
      <p:sp>
        <p:nvSpPr>
          <p:cNvPr id="26" name="Shape 24"/>
          <p:cNvSpPr/>
          <p:nvPr/>
        </p:nvSpPr>
        <p:spPr>
          <a:xfrm>
            <a:off x="4158310" y="2142701"/>
            <a:ext cx="149200" cy="1201836"/>
          </a:xfrm>
          <a:prstGeom prst="rect">
            <a:avLst/>
          </a:prstGeom>
          <a:solidFill>
            <a:srgbClr val="B08D57"/>
          </a:solidFill>
          <a:ln w="12700">
            <a:solidFill>
              <a:srgbClr val="B08D57"/>
            </a:solidFill>
            <a:prstDash val="solid"/>
          </a:ln>
        </p:spPr>
      </p:sp>
      <p:sp>
        <p:nvSpPr>
          <p:cNvPr id="27" name="Shape 25"/>
          <p:cNvSpPr/>
          <p:nvPr/>
        </p:nvSpPr>
        <p:spPr>
          <a:xfrm>
            <a:off x="4384370" y="2091194"/>
            <a:ext cx="149200" cy="1253343"/>
          </a:xfrm>
          <a:prstGeom prst="rect">
            <a:avLst/>
          </a:prstGeom>
          <a:solidFill>
            <a:srgbClr val="B08D57"/>
          </a:solidFill>
          <a:ln w="12700">
            <a:solidFill>
              <a:srgbClr val="B08D57"/>
            </a:solidFill>
            <a:prstDash val="solid"/>
          </a:ln>
        </p:spPr>
      </p:sp>
      <p:sp>
        <p:nvSpPr>
          <p:cNvPr id="28" name="Text 26"/>
          <p:cNvSpPr/>
          <p:nvPr/>
        </p:nvSpPr>
        <p:spPr>
          <a:xfrm>
            <a:off x="4158310" y="3986784"/>
            <a:ext cx="678180" cy="164592"/>
          </a:xfrm>
          <a:prstGeom prst="rect">
            <a:avLst/>
          </a:prstGeom>
          <a:noFill/>
          <a:ln/>
        </p:spPr>
        <p:txBody>
          <a:bodyPr wrap="square" rtlCol="0" anchor="ctr"/>
          <a:lstStyle/>
          <a:p>
            <a:pPr algn="ctr" indent="0" marL="0">
              <a:buNone/>
            </a:pPr>
            <a:r>
              <a:rPr lang="en-US" sz="700" dirty="0">
                <a:solidFill>
                  <a:srgbClr val="6B6965"/>
                </a:solidFill>
                <a:latin typeface="Jost" pitchFamily="34" charset="0"/>
                <a:ea typeface="Jost" pitchFamily="34" charset="-122"/>
                <a:cs typeface="Jost" pitchFamily="34" charset="-120"/>
              </a:rPr>
              <a:t>M18</a:t>
            </a:r>
            <a:endParaRPr lang="en-US" sz="700" dirty="0"/>
          </a:p>
        </p:txBody>
      </p:sp>
      <p:sp>
        <p:nvSpPr>
          <p:cNvPr id="29" name="Shape 27"/>
          <p:cNvSpPr/>
          <p:nvPr/>
        </p:nvSpPr>
        <p:spPr>
          <a:xfrm>
            <a:off x="4610430" y="2039688"/>
            <a:ext cx="149200" cy="1304850"/>
          </a:xfrm>
          <a:prstGeom prst="rect">
            <a:avLst/>
          </a:prstGeom>
          <a:solidFill>
            <a:srgbClr val="B08D57"/>
          </a:solidFill>
          <a:ln w="12700">
            <a:solidFill>
              <a:srgbClr val="B08D57"/>
            </a:solidFill>
            <a:prstDash val="solid"/>
          </a:ln>
        </p:spPr>
      </p:sp>
      <p:sp>
        <p:nvSpPr>
          <p:cNvPr id="30" name="Shape 28"/>
          <p:cNvSpPr/>
          <p:nvPr/>
        </p:nvSpPr>
        <p:spPr>
          <a:xfrm>
            <a:off x="4836490" y="1988181"/>
            <a:ext cx="149200" cy="1356357"/>
          </a:xfrm>
          <a:prstGeom prst="rect">
            <a:avLst/>
          </a:prstGeom>
          <a:solidFill>
            <a:srgbClr val="B08D57"/>
          </a:solidFill>
          <a:ln w="12700">
            <a:solidFill>
              <a:srgbClr val="B08D57"/>
            </a:solidFill>
            <a:prstDash val="solid"/>
          </a:ln>
        </p:spPr>
      </p:sp>
      <p:sp>
        <p:nvSpPr>
          <p:cNvPr id="31" name="Shape 29"/>
          <p:cNvSpPr/>
          <p:nvPr/>
        </p:nvSpPr>
        <p:spPr>
          <a:xfrm>
            <a:off x="5062550" y="1936674"/>
            <a:ext cx="149200" cy="1407864"/>
          </a:xfrm>
          <a:prstGeom prst="rect">
            <a:avLst/>
          </a:prstGeom>
          <a:solidFill>
            <a:srgbClr val="B08D57"/>
          </a:solidFill>
          <a:ln w="12700">
            <a:solidFill>
              <a:srgbClr val="B08D57"/>
            </a:solidFill>
            <a:prstDash val="solid"/>
          </a:ln>
        </p:spPr>
      </p:sp>
      <p:sp>
        <p:nvSpPr>
          <p:cNvPr id="32" name="Shape 30"/>
          <p:cNvSpPr/>
          <p:nvPr/>
        </p:nvSpPr>
        <p:spPr>
          <a:xfrm>
            <a:off x="5288610" y="1885167"/>
            <a:ext cx="149200" cy="1459371"/>
          </a:xfrm>
          <a:prstGeom prst="rect">
            <a:avLst/>
          </a:prstGeom>
          <a:solidFill>
            <a:srgbClr val="B08D57"/>
          </a:solidFill>
          <a:ln w="12700">
            <a:solidFill>
              <a:srgbClr val="B08D57"/>
            </a:solidFill>
            <a:prstDash val="solid"/>
          </a:ln>
        </p:spPr>
      </p:sp>
      <p:sp>
        <p:nvSpPr>
          <p:cNvPr id="33" name="Shape 31"/>
          <p:cNvSpPr/>
          <p:nvPr/>
        </p:nvSpPr>
        <p:spPr>
          <a:xfrm>
            <a:off x="5514670" y="1850829"/>
            <a:ext cx="149200" cy="1493709"/>
          </a:xfrm>
          <a:prstGeom prst="rect">
            <a:avLst/>
          </a:prstGeom>
          <a:solidFill>
            <a:srgbClr val="B08D57"/>
          </a:solidFill>
          <a:ln w="12700">
            <a:solidFill>
              <a:srgbClr val="B08D57"/>
            </a:solidFill>
            <a:prstDash val="solid"/>
          </a:ln>
        </p:spPr>
      </p:sp>
      <p:sp>
        <p:nvSpPr>
          <p:cNvPr id="34" name="Shape 32"/>
          <p:cNvSpPr/>
          <p:nvPr/>
        </p:nvSpPr>
        <p:spPr>
          <a:xfrm>
            <a:off x="5740730" y="1816491"/>
            <a:ext cx="149200" cy="1528047"/>
          </a:xfrm>
          <a:prstGeom prst="rect">
            <a:avLst/>
          </a:prstGeom>
          <a:solidFill>
            <a:srgbClr val="B08D57"/>
          </a:solidFill>
          <a:ln w="12700">
            <a:solidFill>
              <a:srgbClr val="B08D57"/>
            </a:solidFill>
            <a:prstDash val="solid"/>
          </a:ln>
        </p:spPr>
      </p:sp>
      <p:sp>
        <p:nvSpPr>
          <p:cNvPr id="35" name="Text 33"/>
          <p:cNvSpPr/>
          <p:nvPr/>
        </p:nvSpPr>
        <p:spPr>
          <a:xfrm>
            <a:off x="5514670" y="3986784"/>
            <a:ext cx="678180" cy="164592"/>
          </a:xfrm>
          <a:prstGeom prst="rect">
            <a:avLst/>
          </a:prstGeom>
          <a:noFill/>
          <a:ln/>
        </p:spPr>
        <p:txBody>
          <a:bodyPr wrap="square" rtlCol="0" anchor="ctr"/>
          <a:lstStyle/>
          <a:p>
            <a:pPr algn="ctr" indent="0" marL="0">
              <a:buNone/>
            </a:pPr>
            <a:r>
              <a:rPr lang="en-US" sz="700" dirty="0">
                <a:solidFill>
                  <a:srgbClr val="6B6965"/>
                </a:solidFill>
                <a:latin typeface="Jost" pitchFamily="34" charset="0"/>
                <a:ea typeface="Jost" pitchFamily="34" charset="-122"/>
                <a:cs typeface="Jost" pitchFamily="34" charset="-120"/>
              </a:rPr>
              <a:t>M24</a:t>
            </a:r>
            <a:endParaRPr lang="en-US" sz="700" dirty="0"/>
          </a:p>
        </p:txBody>
      </p:sp>
      <p:sp>
        <p:nvSpPr>
          <p:cNvPr id="36" name="Shape 34"/>
          <p:cNvSpPr/>
          <p:nvPr/>
        </p:nvSpPr>
        <p:spPr>
          <a:xfrm>
            <a:off x="5966790" y="1782153"/>
            <a:ext cx="149200" cy="1562385"/>
          </a:xfrm>
          <a:prstGeom prst="rect">
            <a:avLst/>
          </a:prstGeom>
          <a:solidFill>
            <a:srgbClr val="B08D57"/>
          </a:solidFill>
          <a:ln w="12700">
            <a:solidFill>
              <a:srgbClr val="B08D57"/>
            </a:solidFill>
            <a:prstDash val="solid"/>
          </a:ln>
        </p:spPr>
      </p:sp>
      <p:sp>
        <p:nvSpPr>
          <p:cNvPr id="37" name="Shape 35"/>
          <p:cNvSpPr/>
          <p:nvPr/>
        </p:nvSpPr>
        <p:spPr>
          <a:xfrm>
            <a:off x="6192850" y="1747815"/>
            <a:ext cx="149200" cy="1596723"/>
          </a:xfrm>
          <a:prstGeom prst="rect">
            <a:avLst/>
          </a:prstGeom>
          <a:solidFill>
            <a:srgbClr val="B08D57"/>
          </a:solidFill>
          <a:ln w="12700">
            <a:solidFill>
              <a:srgbClr val="B08D57"/>
            </a:solidFill>
            <a:prstDash val="solid"/>
          </a:ln>
        </p:spPr>
      </p:sp>
      <p:sp>
        <p:nvSpPr>
          <p:cNvPr id="38" name="Shape 36"/>
          <p:cNvSpPr/>
          <p:nvPr/>
        </p:nvSpPr>
        <p:spPr>
          <a:xfrm>
            <a:off x="6418910" y="1730646"/>
            <a:ext cx="149200" cy="1613892"/>
          </a:xfrm>
          <a:prstGeom prst="rect">
            <a:avLst/>
          </a:prstGeom>
          <a:solidFill>
            <a:srgbClr val="B08D57"/>
          </a:solidFill>
          <a:ln w="12700">
            <a:solidFill>
              <a:srgbClr val="B08D57"/>
            </a:solidFill>
            <a:prstDash val="solid"/>
          </a:ln>
        </p:spPr>
      </p:sp>
      <p:sp>
        <p:nvSpPr>
          <p:cNvPr id="39" name="Shape 37"/>
          <p:cNvSpPr/>
          <p:nvPr/>
        </p:nvSpPr>
        <p:spPr>
          <a:xfrm>
            <a:off x="6644970" y="1696308"/>
            <a:ext cx="149200" cy="1648230"/>
          </a:xfrm>
          <a:prstGeom prst="rect">
            <a:avLst/>
          </a:prstGeom>
          <a:solidFill>
            <a:srgbClr val="B08D57"/>
          </a:solidFill>
          <a:ln w="12700">
            <a:solidFill>
              <a:srgbClr val="B08D57"/>
            </a:solidFill>
            <a:prstDash val="solid"/>
          </a:ln>
        </p:spPr>
      </p:sp>
      <p:sp>
        <p:nvSpPr>
          <p:cNvPr id="40" name="Shape 38"/>
          <p:cNvSpPr/>
          <p:nvPr/>
        </p:nvSpPr>
        <p:spPr>
          <a:xfrm>
            <a:off x="6871030" y="1679139"/>
            <a:ext cx="149200" cy="1665399"/>
          </a:xfrm>
          <a:prstGeom prst="rect">
            <a:avLst/>
          </a:prstGeom>
          <a:solidFill>
            <a:srgbClr val="B08D57"/>
          </a:solidFill>
          <a:ln w="12700">
            <a:solidFill>
              <a:srgbClr val="B08D57"/>
            </a:solidFill>
            <a:prstDash val="solid"/>
          </a:ln>
        </p:spPr>
      </p:sp>
      <p:sp>
        <p:nvSpPr>
          <p:cNvPr id="41" name="Shape 39"/>
          <p:cNvSpPr/>
          <p:nvPr/>
        </p:nvSpPr>
        <p:spPr>
          <a:xfrm>
            <a:off x="7097090" y="1661970"/>
            <a:ext cx="149200" cy="1682568"/>
          </a:xfrm>
          <a:prstGeom prst="rect">
            <a:avLst/>
          </a:prstGeom>
          <a:solidFill>
            <a:srgbClr val="B08D57"/>
          </a:solidFill>
          <a:ln w="12700">
            <a:solidFill>
              <a:srgbClr val="B08D57"/>
            </a:solidFill>
            <a:prstDash val="solid"/>
          </a:ln>
        </p:spPr>
      </p:sp>
      <p:sp>
        <p:nvSpPr>
          <p:cNvPr id="42" name="Text 40"/>
          <p:cNvSpPr/>
          <p:nvPr/>
        </p:nvSpPr>
        <p:spPr>
          <a:xfrm>
            <a:off x="6871030" y="3986784"/>
            <a:ext cx="678180" cy="164592"/>
          </a:xfrm>
          <a:prstGeom prst="rect">
            <a:avLst/>
          </a:prstGeom>
          <a:noFill/>
          <a:ln/>
        </p:spPr>
        <p:txBody>
          <a:bodyPr wrap="square" rtlCol="0" anchor="ctr"/>
          <a:lstStyle/>
          <a:p>
            <a:pPr algn="ctr" indent="0" marL="0">
              <a:buNone/>
            </a:pPr>
            <a:r>
              <a:rPr lang="en-US" sz="700" dirty="0">
                <a:solidFill>
                  <a:srgbClr val="6B6965"/>
                </a:solidFill>
                <a:latin typeface="Jost" pitchFamily="34" charset="0"/>
                <a:ea typeface="Jost" pitchFamily="34" charset="-122"/>
                <a:cs typeface="Jost" pitchFamily="34" charset="-120"/>
              </a:rPr>
              <a:t>M30</a:t>
            </a:r>
            <a:endParaRPr lang="en-US" sz="700" dirty="0"/>
          </a:p>
        </p:txBody>
      </p:sp>
      <p:sp>
        <p:nvSpPr>
          <p:cNvPr id="43" name="Shape 41"/>
          <p:cNvSpPr/>
          <p:nvPr/>
        </p:nvSpPr>
        <p:spPr>
          <a:xfrm>
            <a:off x="7323150" y="1644801"/>
            <a:ext cx="149200" cy="1699737"/>
          </a:xfrm>
          <a:prstGeom prst="rect">
            <a:avLst/>
          </a:prstGeom>
          <a:solidFill>
            <a:srgbClr val="B08D57"/>
          </a:solidFill>
          <a:ln w="12700">
            <a:solidFill>
              <a:srgbClr val="B08D57"/>
            </a:solidFill>
            <a:prstDash val="solid"/>
          </a:ln>
        </p:spPr>
      </p:sp>
      <p:sp>
        <p:nvSpPr>
          <p:cNvPr id="44" name="Shape 42"/>
          <p:cNvSpPr/>
          <p:nvPr/>
        </p:nvSpPr>
        <p:spPr>
          <a:xfrm>
            <a:off x="7549210" y="1627632"/>
            <a:ext cx="149200" cy="1716906"/>
          </a:xfrm>
          <a:prstGeom prst="rect">
            <a:avLst/>
          </a:prstGeom>
          <a:solidFill>
            <a:srgbClr val="B08D57"/>
          </a:solidFill>
          <a:ln w="12700">
            <a:solidFill>
              <a:srgbClr val="B08D57"/>
            </a:solidFill>
            <a:prstDash val="solid"/>
          </a:ln>
        </p:spPr>
      </p:sp>
      <p:sp>
        <p:nvSpPr>
          <p:cNvPr id="45" name="Shape 43"/>
          <p:cNvSpPr/>
          <p:nvPr/>
        </p:nvSpPr>
        <p:spPr>
          <a:xfrm>
            <a:off x="7775270" y="1627632"/>
            <a:ext cx="149200" cy="1716906"/>
          </a:xfrm>
          <a:prstGeom prst="rect">
            <a:avLst/>
          </a:prstGeom>
          <a:solidFill>
            <a:srgbClr val="B08D57"/>
          </a:solidFill>
          <a:ln w="12700">
            <a:solidFill>
              <a:srgbClr val="B08D57"/>
            </a:solidFill>
            <a:prstDash val="solid"/>
          </a:ln>
        </p:spPr>
      </p:sp>
      <p:sp>
        <p:nvSpPr>
          <p:cNvPr id="46" name="Shape 44"/>
          <p:cNvSpPr/>
          <p:nvPr/>
        </p:nvSpPr>
        <p:spPr>
          <a:xfrm>
            <a:off x="8001330" y="1627632"/>
            <a:ext cx="149200" cy="1716906"/>
          </a:xfrm>
          <a:prstGeom prst="rect">
            <a:avLst/>
          </a:prstGeom>
          <a:solidFill>
            <a:srgbClr val="B08D57"/>
          </a:solidFill>
          <a:ln w="12700">
            <a:solidFill>
              <a:srgbClr val="B08D57"/>
            </a:solidFill>
            <a:prstDash val="solid"/>
          </a:ln>
        </p:spPr>
      </p:sp>
      <p:sp>
        <p:nvSpPr>
          <p:cNvPr id="47" name="Shape 45"/>
          <p:cNvSpPr/>
          <p:nvPr/>
        </p:nvSpPr>
        <p:spPr>
          <a:xfrm>
            <a:off x="8227390" y="1627632"/>
            <a:ext cx="149200" cy="1716906"/>
          </a:xfrm>
          <a:prstGeom prst="rect">
            <a:avLst/>
          </a:prstGeom>
          <a:solidFill>
            <a:srgbClr val="B08D57"/>
          </a:solidFill>
          <a:ln w="12700">
            <a:solidFill>
              <a:srgbClr val="B08D57"/>
            </a:solidFill>
            <a:prstDash val="solid"/>
          </a:ln>
        </p:spPr>
      </p:sp>
      <p:sp>
        <p:nvSpPr>
          <p:cNvPr id="48" name="Shape 46"/>
          <p:cNvSpPr/>
          <p:nvPr/>
        </p:nvSpPr>
        <p:spPr>
          <a:xfrm>
            <a:off x="8453450" y="1627632"/>
            <a:ext cx="149200" cy="1716906"/>
          </a:xfrm>
          <a:prstGeom prst="rect">
            <a:avLst/>
          </a:prstGeom>
          <a:solidFill>
            <a:srgbClr val="B08D57"/>
          </a:solidFill>
          <a:ln w="12700">
            <a:solidFill>
              <a:srgbClr val="B08D57"/>
            </a:solidFill>
            <a:prstDash val="solid"/>
          </a:ln>
        </p:spPr>
      </p:sp>
      <p:sp>
        <p:nvSpPr>
          <p:cNvPr id="49" name="Text 47"/>
          <p:cNvSpPr/>
          <p:nvPr/>
        </p:nvSpPr>
        <p:spPr>
          <a:xfrm>
            <a:off x="8227390" y="3986784"/>
            <a:ext cx="678180" cy="164592"/>
          </a:xfrm>
          <a:prstGeom prst="rect">
            <a:avLst/>
          </a:prstGeom>
          <a:noFill/>
          <a:ln/>
        </p:spPr>
        <p:txBody>
          <a:bodyPr wrap="square" rtlCol="0" anchor="ctr"/>
          <a:lstStyle/>
          <a:p>
            <a:pPr algn="ctr" indent="0" marL="0">
              <a:buNone/>
            </a:pPr>
            <a:r>
              <a:rPr lang="en-US" sz="700" dirty="0">
                <a:solidFill>
                  <a:srgbClr val="6B6965"/>
                </a:solidFill>
                <a:latin typeface="Jost" pitchFamily="34" charset="0"/>
                <a:ea typeface="Jost" pitchFamily="34" charset="-122"/>
                <a:cs typeface="Jost" pitchFamily="34" charset="-120"/>
              </a:rPr>
              <a:t>M36</a:t>
            </a:r>
            <a:endParaRPr lang="en-US" sz="700" dirty="0"/>
          </a:p>
        </p:txBody>
      </p:sp>
      <p:sp>
        <p:nvSpPr>
          <p:cNvPr id="50" name="Text 48"/>
          <p:cNvSpPr/>
          <p:nvPr/>
        </p:nvSpPr>
        <p:spPr>
          <a:xfrm>
            <a:off x="594360" y="1682496"/>
            <a:ext cx="1463040" cy="164592"/>
          </a:xfrm>
          <a:prstGeom prst="rect">
            <a:avLst/>
          </a:prstGeom>
          <a:noFill/>
          <a:ln/>
        </p:spPr>
        <p:txBody>
          <a:bodyPr wrap="square" rtlCol="0" anchor="ctr"/>
          <a:lstStyle/>
          <a:p>
            <a:pPr indent="0" marL="0">
              <a:buNone/>
            </a:pPr>
            <a:r>
              <a:rPr lang="en-US" sz="700" dirty="0">
                <a:solidFill>
                  <a:srgbClr val="C9BCA9"/>
                </a:solidFill>
                <a:latin typeface="Jost" pitchFamily="34" charset="0"/>
                <a:ea typeface="Jost" pitchFamily="34" charset="-122"/>
                <a:cs typeface="Jost" pitchFamily="34" charset="-120"/>
              </a:rPr>
              <a:t>$224,801 / mo</a:t>
            </a:r>
            <a:endParaRPr lang="en-US" sz="700" dirty="0"/>
          </a:p>
        </p:txBody>
      </p:sp>
      <p:sp>
        <p:nvSpPr>
          <p:cNvPr id="51" name="Text 49"/>
          <p:cNvSpPr/>
          <p:nvPr/>
        </p:nvSpPr>
        <p:spPr>
          <a:xfrm>
            <a:off x="594360" y="3739896"/>
            <a:ext cx="1463040" cy="164592"/>
          </a:xfrm>
          <a:prstGeom prst="rect">
            <a:avLst/>
          </a:prstGeom>
          <a:noFill/>
          <a:ln/>
        </p:spPr>
        <p:txBody>
          <a:bodyPr wrap="square" rtlCol="0" anchor="ctr"/>
          <a:lstStyle/>
          <a:p>
            <a:pPr indent="0" marL="0">
              <a:buNone/>
            </a:pPr>
            <a:r>
              <a:rPr lang="en-US" sz="700" dirty="0">
                <a:solidFill>
                  <a:srgbClr val="C9BCA9"/>
                </a:solidFill>
                <a:latin typeface="Jost" pitchFamily="34" charset="0"/>
                <a:ea typeface="Jost" pitchFamily="34" charset="-122"/>
                <a:cs typeface="Jost" pitchFamily="34" charset="-120"/>
              </a:rPr>
              <a:t>$-80,500 / mo</a:t>
            </a:r>
            <a:endParaRPr lang="en-US" sz="700" dirty="0"/>
          </a:p>
        </p:txBody>
      </p:sp>
      <p:sp>
        <p:nvSpPr>
          <p:cNvPr id="52" name="Text 50"/>
          <p:cNvSpPr/>
          <p:nvPr/>
        </p:nvSpPr>
        <p:spPr>
          <a:xfrm>
            <a:off x="502920" y="4224528"/>
            <a:ext cx="8138160" cy="329184"/>
          </a:xfrm>
          <a:prstGeom prst="rect">
            <a:avLst/>
          </a:prstGeom>
          <a:noFill/>
          <a:ln/>
        </p:spPr>
        <p:txBody>
          <a:bodyPr wrap="square" rtlCol="0" anchor="t"/>
          <a:lstStyle/>
          <a:p>
            <a:pPr indent="0" marL="0">
              <a:buNone/>
            </a:pPr>
            <a:r>
              <a:rPr lang="en-US" sz="900" dirty="0">
                <a:solidFill>
                  <a:srgbClr val="C9BCA9"/>
                </a:solidFill>
                <a:latin typeface="Jost" pitchFamily="34" charset="0"/>
                <a:ea typeface="Jost" pitchFamily="34" charset="-122"/>
                <a:cs typeface="Jost" pitchFamily="34" charset="-120"/>
              </a:rPr>
              <a:t>Cash trough -$42,467 at month 9, against a $1,105,800 working capital reserve funded inside use of funds.</a:t>
            </a:r>
            <a:endParaRPr lang="en-US" sz="900" dirty="0"/>
          </a:p>
        </p:txBody>
      </p:sp>
      <p:sp>
        <p:nvSpPr>
          <p:cNvPr id="53" name="Text 51"/>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B6965"/>
                </a:solidFill>
                <a:latin typeface="Jost" pitchFamily="34" charset="0"/>
                <a:ea typeface="Jost" pitchFamily="34" charset="-122"/>
                <a:cs typeface="Jost" pitchFamily="34" charset="-120"/>
              </a:rPr>
              <a:t>L&amp;K WELLNESS  ·  PRIVATE INVESTMENT BRIEF  ·  CONFIDENTIAL</a:t>
            </a:r>
            <a:endParaRPr lang="en-US" sz="700" dirty="0"/>
          </a:p>
        </p:txBody>
      </p:sp>
      <p:sp>
        <p:nvSpPr>
          <p:cNvPr id="54" name="Text 52"/>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B6965"/>
                </a:solidFill>
                <a:latin typeface="Jost" pitchFamily="34" charset="0"/>
                <a:ea typeface="Jost" pitchFamily="34" charset="-122"/>
                <a:cs typeface="Jost" pitchFamily="34" charset="-120"/>
              </a:rPr>
              <a:t>21</a:t>
            </a:r>
            <a:endParaRPr lang="en-US" sz="7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B08D57"/>
                </a:solidFill>
                <a:latin typeface="Jost" pitchFamily="34" charset="0"/>
                <a:ea typeface="Jost" pitchFamily="34" charset="-122"/>
                <a:cs typeface="Jost" pitchFamily="34" charset="-120"/>
              </a:rPr>
              <a:t>STABILIZED P&amp;L</a:t>
            </a:r>
            <a:endParaRPr lang="en-US" sz="900" dirty="0"/>
          </a:p>
        </p:txBody>
      </p:sp>
      <p:sp>
        <p:nvSpPr>
          <p:cNvPr id="3" name="Shape 1"/>
          <p:cNvSpPr/>
          <p:nvPr/>
        </p:nvSpPr>
        <p:spPr>
          <a:xfrm>
            <a:off x="502920" y="557784"/>
            <a:ext cx="566928" cy="12802"/>
          </a:xfrm>
          <a:prstGeom prst="rect">
            <a:avLst/>
          </a:prstGeom>
          <a:solidFill>
            <a:srgbClr val="B08D57"/>
          </a:solidFill>
          <a:ln w="12700">
            <a:solidFill>
              <a:srgbClr val="B08D57"/>
            </a:solidFill>
            <a:prstDash val="solid"/>
          </a:ln>
        </p:spPr>
      </p:sp>
      <p:sp>
        <p:nvSpPr>
          <p:cNvPr id="4" name="Text 2"/>
          <p:cNvSpPr/>
          <p:nvPr/>
        </p:nvSpPr>
        <p:spPr>
          <a:xfrm>
            <a:off x="502920" y="621792"/>
            <a:ext cx="8138160" cy="548640"/>
          </a:xfrm>
          <a:prstGeom prst="rect">
            <a:avLst/>
          </a:prstGeom>
          <a:noFill/>
          <a:ln/>
        </p:spPr>
        <p:txBody>
          <a:bodyPr wrap="square" rtlCol="0" anchor="t"/>
          <a:lstStyle/>
          <a:p>
            <a:pPr indent="0" marL="0">
              <a:buNone/>
            </a:pPr>
            <a:r>
              <a:rPr lang="en-US" sz="2600" spc="400" kern="0" dirty="0">
                <a:solidFill>
                  <a:srgbClr val="EDE7DE"/>
                </a:solidFill>
                <a:latin typeface="Cormorant Garamond" pitchFamily="34" charset="0"/>
                <a:ea typeface="Cormorant Garamond" pitchFamily="34" charset="-122"/>
                <a:cs typeface="Cormorant Garamond" pitchFamily="34" charset="-120"/>
              </a:rPr>
              <a:t>STABILIZED P&amp;L, PROJECTED</a:t>
            </a:r>
            <a:endParaRPr lang="en-US" sz="2600" dirty="0"/>
          </a:p>
        </p:txBody>
      </p:sp>
      <p:graphicFrame>
        <p:nvGraphicFramePr>
          <p:cNvPr id="23" name="Table 0"/>
          <p:cNvGraphicFramePr>
            <a:graphicFrameLocks noGrp="1"/>
          </p:cNvGraphicFramePr>
          <p:nvPr>
            <p:extLst>
              <p:ext uri="{D42A27DB-BD31-4B8C-83A1-F6EECF244321}">
                <p14:modId xmlns:p14="http://schemas.microsoft.com/office/powerpoint/2010/main" val="1579011935"/>
              </p:ext>
            </p:extLst>
          </p:nvPr>
        </p:nvGraphicFramePr>
        <p:xfrm>
          <a:off x="502920" y="1298448"/>
          <a:ext cx="8138160" cy="914400"/>
        </p:xfrm>
        <a:graphic>
          <a:graphicData uri="http://schemas.openxmlformats.org/drawingml/2006/table">
            <a:tbl>
              <a:tblPr/>
              <a:tblGrid>
                <a:gridCol w="4480560"/>
                <a:gridCol w="1828800"/>
                <a:gridCol w="1828800"/>
              </a:tblGrid>
              <a:tr h="173736">
                <a:tc>
                  <a:txBody>
                    <a:bodyPr/>
                    <a:lstStyle/>
                    <a:p>
                      <a:pPr algn="l" indent="0" marL="0">
                        <a:buNone/>
                      </a:pPr>
                      <a:r>
                        <a:rPr lang="en-US" sz="750" spc="140" kern="0" dirty="0">
                          <a:solidFill>
                            <a:srgbClr val="B08D57"/>
                          </a:solidFill>
                          <a:latin typeface="Jost" pitchFamily="34" charset="0"/>
                          <a:ea typeface="Jost" pitchFamily="34" charset="-122"/>
                          <a:cs typeface="Jost" pitchFamily="34" charset="-120"/>
                        </a:rPr>
                        <a:t>LINE</a:t>
                      </a:r>
                      <a:endParaRPr lang="en-US" sz="750" dirty="0">
                        <a:latin typeface="Jost" charset="0"/>
                        <a:ea typeface="Jost" charset="0"/>
                        <a:cs typeface="Jost" charset="0"/>
                      </a:endParaRPr>
                    </a:p>
                  </a:txBody>
                  <a:tcPr marL="16459" marR="16459" marT="16459" marB="16459" anchor="ctr">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000000"/>
                    </a:solidFill>
                  </a:tcPr>
                </a:tc>
                <a:tc>
                  <a:txBody>
                    <a:bodyPr/>
                    <a:lstStyle/>
                    <a:p>
                      <a:pPr algn="r" indent="0" marL="0">
                        <a:buNone/>
                      </a:pPr>
                      <a:r>
                        <a:rPr lang="en-US" sz="750" spc="140" kern="0" dirty="0">
                          <a:solidFill>
                            <a:srgbClr val="B08D57"/>
                          </a:solidFill>
                          <a:latin typeface="Jost" pitchFamily="34" charset="0"/>
                          <a:ea typeface="Jost" pitchFamily="34" charset="-122"/>
                          <a:cs typeface="Jost" pitchFamily="34" charset="-120"/>
                        </a:rPr>
                        <a:t>MONTHLY</a:t>
                      </a:r>
                      <a:endParaRPr lang="en-US" sz="750" dirty="0">
                        <a:latin typeface="Jost" charset="0"/>
                        <a:ea typeface="Jost" charset="0"/>
                        <a:cs typeface="Jost" charset="0"/>
                      </a:endParaRPr>
                    </a:p>
                  </a:txBody>
                  <a:tcPr marL="16459" marR="16459" marT="16459" marB="16459" anchor="ctr">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000000"/>
                    </a:solidFill>
                  </a:tcPr>
                </a:tc>
                <a:tc>
                  <a:txBody>
                    <a:bodyPr/>
                    <a:lstStyle/>
                    <a:p>
                      <a:pPr algn="r" indent="0" marL="0">
                        <a:buNone/>
                      </a:pPr>
                      <a:r>
                        <a:rPr lang="en-US" sz="750" spc="140" kern="0" dirty="0">
                          <a:solidFill>
                            <a:srgbClr val="B08D57"/>
                          </a:solidFill>
                          <a:latin typeface="Jost" pitchFamily="34" charset="0"/>
                          <a:ea typeface="Jost" pitchFamily="34" charset="-122"/>
                          <a:cs typeface="Jost" pitchFamily="34" charset="-120"/>
                        </a:rPr>
                        <a:t>% OF REVENUE</a:t>
                      </a:r>
                      <a:endParaRPr lang="en-US" sz="750" dirty="0">
                        <a:latin typeface="Jost" charset="0"/>
                        <a:ea typeface="Jost" charset="0"/>
                        <a:cs typeface="Jost" charset="0"/>
                      </a:endParaRPr>
                    </a:p>
                  </a:txBody>
                  <a:tcPr marL="16459" marR="16459" marT="16459" marB="16459" anchor="ctr">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000000"/>
                    </a:solidFill>
                  </a:tcPr>
                </a:tc>
              </a:tr>
              <a:tr h="173736">
                <a:tc>
                  <a:txBody>
                    <a:bodyPr/>
                    <a:lstStyle/>
                    <a:p>
                      <a:pPr algn="l" indent="0" marL="0">
                        <a:buNone/>
                      </a:pPr>
                      <a:r>
                        <a:rPr lang="en-US" sz="800" dirty="0">
                          <a:solidFill>
                            <a:srgbClr val="EDE7DE"/>
                          </a:solidFill>
                          <a:latin typeface="Jost" pitchFamily="34" charset="0"/>
                          <a:ea typeface="Jost" pitchFamily="34" charset="-122"/>
                          <a:cs typeface="Jost" pitchFamily="34" charset="-120"/>
                        </a:rPr>
                        <a:t>Total revenue</a:t>
                      </a:r>
                      <a:endParaRPr lang="en-US" sz="800" dirty="0">
                        <a:latin typeface="Jost" charset="0"/>
                        <a:ea typeface="Jost" charset="0"/>
                        <a:cs typeface="Jost" charset="0"/>
                      </a:endParaRPr>
                    </a:p>
                  </a:txBody>
                  <a:tcPr marL="16459" marR="16459" marT="16459" marB="16459"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800" dirty="0">
                          <a:solidFill>
                            <a:srgbClr val="C9BCA9"/>
                          </a:solidFill>
                          <a:latin typeface="Jost" pitchFamily="34" charset="0"/>
                          <a:ea typeface="Jost" pitchFamily="34" charset="-122"/>
                          <a:cs typeface="Jost" pitchFamily="34" charset="-120"/>
                        </a:rPr>
                        <a:t>$598,036</a:t>
                      </a:r>
                      <a:endParaRPr lang="en-US" sz="800" dirty="0">
                        <a:latin typeface="Jost" charset="0"/>
                        <a:ea typeface="Jost" charset="0"/>
                        <a:cs typeface="Jost" charset="0"/>
                      </a:endParaRPr>
                    </a:p>
                  </a:txBody>
                  <a:tcPr marL="16459" marR="16459" marT="16459" marB="16459"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800" dirty="0">
                          <a:solidFill>
                            <a:srgbClr val="C9BCA9"/>
                          </a:solidFill>
                          <a:latin typeface="Jost" pitchFamily="34" charset="0"/>
                          <a:ea typeface="Jost" pitchFamily="34" charset="-122"/>
                          <a:cs typeface="Jost" pitchFamily="34" charset="-120"/>
                        </a:rPr>
                        <a:t>100%</a:t>
                      </a:r>
                      <a:endParaRPr lang="en-US" sz="800" dirty="0">
                        <a:latin typeface="Jost" charset="0"/>
                        <a:ea typeface="Jost" charset="0"/>
                        <a:cs typeface="Jost" charset="0"/>
                      </a:endParaRPr>
                    </a:p>
                  </a:txBody>
                  <a:tcPr marL="16459" marR="16459" marT="16459" marB="16459"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73736">
                <a:tc>
                  <a:txBody>
                    <a:bodyPr/>
                    <a:lstStyle/>
                    <a:p>
                      <a:pPr algn="l" indent="0" marL="0">
                        <a:buNone/>
                      </a:pPr>
                      <a:r>
                        <a:rPr lang="en-US" sz="800" dirty="0">
                          <a:solidFill>
                            <a:srgbClr val="6B6965"/>
                          </a:solidFill>
                          <a:latin typeface="Jost" pitchFamily="34" charset="0"/>
                          <a:ea typeface="Jost" pitchFamily="34" charset="-122"/>
                          <a:cs typeface="Jost" pitchFamily="34" charset="-120"/>
                        </a:rPr>
                        <a:t>Cost of services delivered</a:t>
                      </a:r>
                      <a:endParaRPr lang="en-US" sz="800" dirty="0">
                        <a:latin typeface="Jost" charset="0"/>
                        <a:ea typeface="Jost" charset="0"/>
                        <a:cs typeface="Jost" charset="0"/>
                      </a:endParaRPr>
                    </a:p>
                  </a:txBody>
                  <a:tcPr marL="16459" marR="16459" marT="16459" marB="16459"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800" dirty="0">
                          <a:solidFill>
                            <a:srgbClr val="6B6965"/>
                          </a:solidFill>
                          <a:latin typeface="Jost" pitchFamily="34" charset="0"/>
                          <a:ea typeface="Jost" pitchFamily="34" charset="-122"/>
                          <a:cs typeface="Jost" pitchFamily="34" charset="-120"/>
                        </a:rPr>
                        <a:t>-$146,803</a:t>
                      </a:r>
                      <a:endParaRPr lang="en-US" sz="800" dirty="0">
                        <a:latin typeface="Jost" charset="0"/>
                        <a:ea typeface="Jost" charset="0"/>
                        <a:cs typeface="Jost" charset="0"/>
                      </a:endParaRPr>
                    </a:p>
                  </a:txBody>
                  <a:tcPr marL="16459" marR="16459" marT="16459" marB="16459"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800" dirty="0">
                          <a:solidFill>
                            <a:srgbClr val="6B6965"/>
                          </a:solidFill>
                          <a:latin typeface="Jost" pitchFamily="34" charset="0"/>
                          <a:ea typeface="Jost" pitchFamily="34" charset="-122"/>
                          <a:cs typeface="Jost" pitchFamily="34" charset="-120"/>
                        </a:rPr>
                        <a:t>25%</a:t>
                      </a:r>
                      <a:endParaRPr lang="en-US" sz="800" dirty="0">
                        <a:latin typeface="Jost" charset="0"/>
                        <a:ea typeface="Jost" charset="0"/>
                        <a:cs typeface="Jost" charset="0"/>
                      </a:endParaRPr>
                    </a:p>
                  </a:txBody>
                  <a:tcPr marL="16459" marR="16459" marT="16459" marB="16459"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73736">
                <a:tc>
                  <a:txBody>
                    <a:bodyPr/>
                    <a:lstStyle/>
                    <a:p>
                      <a:pPr algn="l" indent="0" marL="0">
                        <a:buNone/>
                      </a:pPr>
                      <a:r>
                        <a:rPr lang="en-US" sz="800" dirty="0">
                          <a:solidFill>
                            <a:srgbClr val="6B6965"/>
                          </a:solidFill>
                          <a:latin typeface="Jost" pitchFamily="34" charset="0"/>
                          <a:ea typeface="Jost" pitchFamily="34" charset="-122"/>
                          <a:cs typeface="Jost" pitchFamily="34" charset="-120"/>
                        </a:rPr>
                        <a:t>Circuit consumables</a:t>
                      </a:r>
                      <a:endParaRPr lang="en-US" sz="800" dirty="0">
                        <a:latin typeface="Jost" charset="0"/>
                        <a:ea typeface="Jost" charset="0"/>
                        <a:cs typeface="Jost" charset="0"/>
                      </a:endParaRPr>
                    </a:p>
                  </a:txBody>
                  <a:tcPr marL="16459" marR="16459" marT="16459" marB="16459"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800" dirty="0">
                          <a:solidFill>
                            <a:srgbClr val="6B6965"/>
                          </a:solidFill>
                          <a:latin typeface="Jost" pitchFamily="34" charset="0"/>
                          <a:ea typeface="Jost" pitchFamily="34" charset="-122"/>
                          <a:cs typeface="Jost" pitchFamily="34" charset="-120"/>
                        </a:rPr>
                        <a:t>-$18,760</a:t>
                      </a:r>
                      <a:endParaRPr lang="en-US" sz="800" dirty="0">
                        <a:latin typeface="Jost" charset="0"/>
                        <a:ea typeface="Jost" charset="0"/>
                        <a:cs typeface="Jost" charset="0"/>
                      </a:endParaRPr>
                    </a:p>
                  </a:txBody>
                  <a:tcPr marL="16459" marR="16459" marT="16459" marB="16459"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800" dirty="0">
                          <a:solidFill>
                            <a:srgbClr val="6B6965"/>
                          </a:solidFill>
                          <a:latin typeface="Jost" pitchFamily="34" charset="0"/>
                          <a:ea typeface="Jost" pitchFamily="34" charset="-122"/>
                          <a:cs typeface="Jost" pitchFamily="34" charset="-120"/>
                        </a:rPr>
                        <a:t>3%</a:t>
                      </a:r>
                      <a:endParaRPr lang="en-US" sz="800" dirty="0">
                        <a:latin typeface="Jost" charset="0"/>
                        <a:ea typeface="Jost" charset="0"/>
                        <a:cs typeface="Jost" charset="0"/>
                      </a:endParaRPr>
                    </a:p>
                  </a:txBody>
                  <a:tcPr marL="16459" marR="16459" marT="16459" marB="16459"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73736">
                <a:tc>
                  <a:txBody>
                    <a:bodyPr/>
                    <a:lstStyle/>
                    <a:p>
                      <a:pPr algn="l" indent="0" marL="0">
                        <a:buNone/>
                      </a:pPr>
                      <a:r>
                        <a:rPr lang="en-US" sz="800" dirty="0">
                          <a:solidFill>
                            <a:srgbClr val="B08D57"/>
                          </a:solidFill>
                          <a:latin typeface="Jost" pitchFamily="34" charset="0"/>
                          <a:ea typeface="Jost" pitchFamily="34" charset="-122"/>
                          <a:cs typeface="Jost" pitchFamily="34" charset="-120"/>
                        </a:rPr>
                        <a:t>Net after COGS</a:t>
                      </a:r>
                      <a:endParaRPr lang="en-US" sz="800" dirty="0">
                        <a:latin typeface="Jost" charset="0"/>
                        <a:ea typeface="Jost" charset="0"/>
                        <a:cs typeface="Jost" charset="0"/>
                      </a:endParaRPr>
                    </a:p>
                  </a:txBody>
                  <a:tcPr marL="16459" marR="16459" marT="16459" marB="16459"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800" dirty="0">
                          <a:solidFill>
                            <a:srgbClr val="B08D57"/>
                          </a:solidFill>
                          <a:latin typeface="Jost" pitchFamily="34" charset="0"/>
                          <a:ea typeface="Jost" pitchFamily="34" charset="-122"/>
                          <a:cs typeface="Jost" pitchFamily="34" charset="-120"/>
                        </a:rPr>
                        <a:t>$432,473</a:t>
                      </a:r>
                      <a:endParaRPr lang="en-US" sz="800" dirty="0">
                        <a:latin typeface="Jost" charset="0"/>
                        <a:ea typeface="Jost" charset="0"/>
                        <a:cs typeface="Jost" charset="0"/>
                      </a:endParaRPr>
                    </a:p>
                  </a:txBody>
                  <a:tcPr marL="16459" marR="16459" marT="16459" marB="16459"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800" dirty="0">
                          <a:solidFill>
                            <a:srgbClr val="B08D57"/>
                          </a:solidFill>
                          <a:latin typeface="Jost" pitchFamily="34" charset="0"/>
                          <a:ea typeface="Jost" pitchFamily="34" charset="-122"/>
                          <a:cs typeface="Jost" pitchFamily="34" charset="-120"/>
                        </a:rPr>
                        <a:t>72%</a:t>
                      </a:r>
                      <a:endParaRPr lang="en-US" sz="800" dirty="0">
                        <a:latin typeface="Jost" charset="0"/>
                        <a:ea typeface="Jost" charset="0"/>
                        <a:cs typeface="Jost" charset="0"/>
                      </a:endParaRPr>
                    </a:p>
                  </a:txBody>
                  <a:tcPr marL="16459" marR="16459" marT="16459" marB="16459"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73736">
                <a:tc>
                  <a:txBody>
                    <a:bodyPr/>
                    <a:lstStyle/>
                    <a:p>
                      <a:pPr algn="l" indent="0" marL="0">
                        <a:buNone/>
                      </a:pPr>
                      <a:r>
                        <a:rPr lang="en-US" sz="800" dirty="0">
                          <a:solidFill>
                            <a:srgbClr val="6B6965"/>
                          </a:solidFill>
                          <a:latin typeface="Jost" pitchFamily="34" charset="0"/>
                          <a:ea typeface="Jost" pitchFamily="34" charset="-122"/>
                          <a:cs typeface="Jost" pitchFamily="34" charset="-120"/>
                        </a:rPr>
                        <a:t>Rent (4,925 SF NNN)</a:t>
                      </a:r>
                      <a:endParaRPr lang="en-US" sz="800" dirty="0">
                        <a:latin typeface="Jost" charset="0"/>
                        <a:ea typeface="Jost" charset="0"/>
                        <a:cs typeface="Jost" charset="0"/>
                      </a:endParaRPr>
                    </a:p>
                  </a:txBody>
                  <a:tcPr marL="16459" marR="16459" marT="16459" marB="16459"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800" dirty="0">
                          <a:solidFill>
                            <a:srgbClr val="6B6965"/>
                          </a:solidFill>
                          <a:latin typeface="Jost" pitchFamily="34" charset="0"/>
                          <a:ea typeface="Jost" pitchFamily="34" charset="-122"/>
                          <a:cs typeface="Jost" pitchFamily="34" charset="-120"/>
                        </a:rPr>
                        <a:t>-$27,088</a:t>
                      </a:r>
                      <a:endParaRPr lang="en-US" sz="800" dirty="0">
                        <a:latin typeface="Jost" charset="0"/>
                        <a:ea typeface="Jost" charset="0"/>
                        <a:cs typeface="Jost" charset="0"/>
                      </a:endParaRPr>
                    </a:p>
                  </a:txBody>
                  <a:tcPr marL="16459" marR="16459" marT="16459" marB="16459"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800" dirty="0">
                          <a:solidFill>
                            <a:srgbClr val="6B6965"/>
                          </a:solidFill>
                          <a:latin typeface="Jost" pitchFamily="34" charset="0"/>
                          <a:ea typeface="Jost" pitchFamily="34" charset="-122"/>
                          <a:cs typeface="Jost" pitchFamily="34" charset="-120"/>
                        </a:rPr>
                        <a:t>5%</a:t>
                      </a:r>
                      <a:endParaRPr lang="en-US" sz="800" dirty="0">
                        <a:latin typeface="Jost" charset="0"/>
                        <a:ea typeface="Jost" charset="0"/>
                        <a:cs typeface="Jost" charset="0"/>
                      </a:endParaRPr>
                    </a:p>
                  </a:txBody>
                  <a:tcPr marL="16459" marR="16459" marT="16459" marB="16459"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73736">
                <a:tc>
                  <a:txBody>
                    <a:bodyPr/>
                    <a:lstStyle/>
                    <a:p>
                      <a:pPr algn="l" indent="0" marL="0">
                        <a:buNone/>
                      </a:pPr>
                      <a:r>
                        <a:rPr lang="en-US" sz="800" dirty="0">
                          <a:solidFill>
                            <a:srgbClr val="6B6965"/>
                          </a:solidFill>
                          <a:latin typeface="Jost" pitchFamily="34" charset="0"/>
                          <a:ea typeface="Jost" pitchFamily="34" charset="-122"/>
                          <a:cs typeface="Jost" pitchFamily="34" charset="-120"/>
                        </a:rPr>
                        <a:t>Clinical and club staff</a:t>
                      </a:r>
                      <a:endParaRPr lang="en-US" sz="800" dirty="0">
                        <a:latin typeface="Jost" charset="0"/>
                        <a:ea typeface="Jost" charset="0"/>
                        <a:cs typeface="Jost" charset="0"/>
                      </a:endParaRPr>
                    </a:p>
                  </a:txBody>
                  <a:tcPr marL="16459" marR="16459" marT="16459" marB="16459"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800" dirty="0">
                          <a:solidFill>
                            <a:srgbClr val="6B6965"/>
                          </a:solidFill>
                          <a:latin typeface="Jost" pitchFamily="34" charset="0"/>
                          <a:ea typeface="Jost" pitchFamily="34" charset="-122"/>
                          <a:cs typeface="Jost" pitchFamily="34" charset="-120"/>
                        </a:rPr>
                        <a:t>-$85,920</a:t>
                      </a:r>
                      <a:endParaRPr lang="en-US" sz="800" dirty="0">
                        <a:latin typeface="Jost" charset="0"/>
                        <a:ea typeface="Jost" charset="0"/>
                        <a:cs typeface="Jost" charset="0"/>
                      </a:endParaRPr>
                    </a:p>
                  </a:txBody>
                  <a:tcPr marL="16459" marR="16459" marT="16459" marB="16459"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800" dirty="0">
                          <a:solidFill>
                            <a:srgbClr val="6B6965"/>
                          </a:solidFill>
                          <a:latin typeface="Jost" pitchFamily="34" charset="0"/>
                          <a:ea typeface="Jost" pitchFamily="34" charset="-122"/>
                          <a:cs typeface="Jost" pitchFamily="34" charset="-120"/>
                        </a:rPr>
                        <a:t>14%</a:t>
                      </a:r>
                      <a:endParaRPr lang="en-US" sz="800" dirty="0">
                        <a:latin typeface="Jost" charset="0"/>
                        <a:ea typeface="Jost" charset="0"/>
                        <a:cs typeface="Jost" charset="0"/>
                      </a:endParaRPr>
                    </a:p>
                  </a:txBody>
                  <a:tcPr marL="16459" marR="16459" marT="16459" marB="16459"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73736">
                <a:tc>
                  <a:txBody>
                    <a:bodyPr/>
                    <a:lstStyle/>
                    <a:p>
                      <a:pPr algn="l" indent="0" marL="0">
                        <a:buNone/>
                      </a:pPr>
                      <a:r>
                        <a:rPr lang="en-US" sz="800" dirty="0">
                          <a:solidFill>
                            <a:srgbClr val="6B6965"/>
                          </a:solidFill>
                          <a:latin typeface="Jost" pitchFamily="34" charset="0"/>
                          <a:ea typeface="Jost" pitchFamily="34" charset="-122"/>
                          <a:cs typeface="Jost" pitchFamily="34" charset="-120"/>
                        </a:rPr>
                        <a:t>Admin and management</a:t>
                      </a:r>
                      <a:endParaRPr lang="en-US" sz="800" dirty="0">
                        <a:latin typeface="Jost" charset="0"/>
                        <a:ea typeface="Jost" charset="0"/>
                        <a:cs typeface="Jost" charset="0"/>
                      </a:endParaRPr>
                    </a:p>
                  </a:txBody>
                  <a:tcPr marL="16459" marR="16459" marT="16459" marB="16459"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800" dirty="0">
                          <a:solidFill>
                            <a:srgbClr val="6B6965"/>
                          </a:solidFill>
                          <a:latin typeface="Jost" pitchFamily="34" charset="0"/>
                          <a:ea typeface="Jost" pitchFamily="34" charset="-122"/>
                          <a:cs typeface="Jost" pitchFamily="34" charset="-120"/>
                        </a:rPr>
                        <a:t>-$18,500</a:t>
                      </a:r>
                      <a:endParaRPr lang="en-US" sz="800" dirty="0">
                        <a:latin typeface="Jost" charset="0"/>
                        <a:ea typeface="Jost" charset="0"/>
                        <a:cs typeface="Jost" charset="0"/>
                      </a:endParaRPr>
                    </a:p>
                  </a:txBody>
                  <a:tcPr marL="16459" marR="16459" marT="16459" marB="16459"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800" dirty="0">
                          <a:solidFill>
                            <a:srgbClr val="6B6965"/>
                          </a:solidFill>
                          <a:latin typeface="Jost" pitchFamily="34" charset="0"/>
                          <a:ea typeface="Jost" pitchFamily="34" charset="-122"/>
                          <a:cs typeface="Jost" pitchFamily="34" charset="-120"/>
                        </a:rPr>
                        <a:t>3%</a:t>
                      </a:r>
                      <a:endParaRPr lang="en-US" sz="800" dirty="0">
                        <a:latin typeface="Jost" charset="0"/>
                        <a:ea typeface="Jost" charset="0"/>
                        <a:cs typeface="Jost" charset="0"/>
                      </a:endParaRPr>
                    </a:p>
                  </a:txBody>
                  <a:tcPr marL="16459" marR="16459" marT="16459" marB="16459"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73736">
                <a:tc>
                  <a:txBody>
                    <a:bodyPr/>
                    <a:lstStyle/>
                    <a:p>
                      <a:pPr algn="l" indent="0" marL="0">
                        <a:buNone/>
                      </a:pPr>
                      <a:r>
                        <a:rPr lang="en-US" sz="800" dirty="0">
                          <a:solidFill>
                            <a:srgbClr val="6B6965"/>
                          </a:solidFill>
                          <a:latin typeface="Jost" pitchFamily="34" charset="0"/>
                          <a:ea typeface="Jost" pitchFamily="34" charset="-122"/>
                          <a:cs typeface="Jost" pitchFamily="34" charset="-120"/>
                        </a:rPr>
                        <a:t>Marketing and member acquisition</a:t>
                      </a:r>
                      <a:endParaRPr lang="en-US" sz="800" dirty="0">
                        <a:latin typeface="Jost" charset="0"/>
                        <a:ea typeface="Jost" charset="0"/>
                        <a:cs typeface="Jost" charset="0"/>
                      </a:endParaRPr>
                    </a:p>
                  </a:txBody>
                  <a:tcPr marL="16459" marR="16459" marT="16459" marB="16459"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800" dirty="0">
                          <a:solidFill>
                            <a:srgbClr val="6B6965"/>
                          </a:solidFill>
                          <a:latin typeface="Jost" pitchFamily="34" charset="0"/>
                          <a:ea typeface="Jost" pitchFamily="34" charset="-122"/>
                          <a:cs typeface="Jost" pitchFamily="34" charset="-120"/>
                        </a:rPr>
                        <a:t>-$30,000</a:t>
                      </a:r>
                      <a:endParaRPr lang="en-US" sz="800" dirty="0">
                        <a:latin typeface="Jost" charset="0"/>
                        <a:ea typeface="Jost" charset="0"/>
                        <a:cs typeface="Jost" charset="0"/>
                      </a:endParaRPr>
                    </a:p>
                  </a:txBody>
                  <a:tcPr marL="16459" marR="16459" marT="16459" marB="16459"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800" dirty="0">
                          <a:solidFill>
                            <a:srgbClr val="6B6965"/>
                          </a:solidFill>
                          <a:latin typeface="Jost" pitchFamily="34" charset="0"/>
                          <a:ea typeface="Jost" pitchFamily="34" charset="-122"/>
                          <a:cs typeface="Jost" pitchFamily="34" charset="-120"/>
                        </a:rPr>
                        <a:t>5%</a:t>
                      </a:r>
                      <a:endParaRPr lang="en-US" sz="800" dirty="0">
                        <a:latin typeface="Jost" charset="0"/>
                        <a:ea typeface="Jost" charset="0"/>
                        <a:cs typeface="Jost" charset="0"/>
                      </a:endParaRPr>
                    </a:p>
                  </a:txBody>
                  <a:tcPr marL="16459" marR="16459" marT="16459" marB="16459"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73736">
                <a:tc>
                  <a:txBody>
                    <a:bodyPr/>
                    <a:lstStyle/>
                    <a:p>
                      <a:pPr algn="l" indent="0" marL="0">
                        <a:buNone/>
                      </a:pPr>
                      <a:r>
                        <a:rPr lang="en-US" sz="800" dirty="0">
                          <a:solidFill>
                            <a:srgbClr val="6B6965"/>
                          </a:solidFill>
                          <a:latin typeface="Jost" pitchFamily="34" charset="0"/>
                          <a:ea typeface="Jost" pitchFamily="34" charset="-122"/>
                          <a:cs typeface="Jost" pitchFamily="34" charset="-120"/>
                        </a:rPr>
                        <a:t>Malpractice and liability</a:t>
                      </a:r>
                      <a:endParaRPr lang="en-US" sz="800" dirty="0">
                        <a:latin typeface="Jost" charset="0"/>
                        <a:ea typeface="Jost" charset="0"/>
                        <a:cs typeface="Jost" charset="0"/>
                      </a:endParaRPr>
                    </a:p>
                  </a:txBody>
                  <a:tcPr marL="16459" marR="16459" marT="16459" marB="16459"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800" dirty="0">
                          <a:solidFill>
                            <a:srgbClr val="6B6965"/>
                          </a:solidFill>
                          <a:latin typeface="Jost" pitchFamily="34" charset="0"/>
                          <a:ea typeface="Jost" pitchFamily="34" charset="-122"/>
                          <a:cs typeface="Jost" pitchFamily="34" charset="-120"/>
                        </a:rPr>
                        <a:t>-$12,000</a:t>
                      </a:r>
                      <a:endParaRPr lang="en-US" sz="800" dirty="0">
                        <a:latin typeface="Jost" charset="0"/>
                        <a:ea typeface="Jost" charset="0"/>
                        <a:cs typeface="Jost" charset="0"/>
                      </a:endParaRPr>
                    </a:p>
                  </a:txBody>
                  <a:tcPr marL="16459" marR="16459" marT="16459" marB="16459"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800" dirty="0">
                          <a:solidFill>
                            <a:srgbClr val="6B6965"/>
                          </a:solidFill>
                          <a:latin typeface="Jost" pitchFamily="34" charset="0"/>
                          <a:ea typeface="Jost" pitchFamily="34" charset="-122"/>
                          <a:cs typeface="Jost" pitchFamily="34" charset="-120"/>
                        </a:rPr>
                        <a:t>2%</a:t>
                      </a:r>
                      <a:endParaRPr lang="en-US" sz="800" dirty="0">
                        <a:latin typeface="Jost" charset="0"/>
                        <a:ea typeface="Jost" charset="0"/>
                        <a:cs typeface="Jost" charset="0"/>
                      </a:endParaRPr>
                    </a:p>
                  </a:txBody>
                  <a:tcPr marL="16459" marR="16459" marT="16459" marB="16459"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73736">
                <a:tc>
                  <a:txBody>
                    <a:bodyPr/>
                    <a:lstStyle/>
                    <a:p>
                      <a:pPr algn="l" indent="0" marL="0">
                        <a:buNone/>
                      </a:pPr>
                      <a:r>
                        <a:rPr lang="en-US" sz="800" dirty="0">
                          <a:solidFill>
                            <a:srgbClr val="6B6965"/>
                          </a:solidFill>
                          <a:latin typeface="Jost" pitchFamily="34" charset="0"/>
                          <a:ea typeface="Jost" pitchFamily="34" charset="-122"/>
                          <a:cs typeface="Jost" pitchFamily="34" charset="-120"/>
                        </a:rPr>
                        <a:t>Equipment leases</a:t>
                      </a:r>
                      <a:endParaRPr lang="en-US" sz="800" dirty="0">
                        <a:latin typeface="Jost" charset="0"/>
                        <a:ea typeface="Jost" charset="0"/>
                        <a:cs typeface="Jost" charset="0"/>
                      </a:endParaRPr>
                    </a:p>
                  </a:txBody>
                  <a:tcPr marL="16459" marR="16459" marT="16459" marB="16459"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800" dirty="0">
                          <a:solidFill>
                            <a:srgbClr val="6B6965"/>
                          </a:solidFill>
                          <a:latin typeface="Jost" pitchFamily="34" charset="0"/>
                          <a:ea typeface="Jost" pitchFamily="34" charset="-122"/>
                          <a:cs typeface="Jost" pitchFamily="34" charset="-120"/>
                        </a:rPr>
                        <a:t>-$16,555</a:t>
                      </a:r>
                      <a:endParaRPr lang="en-US" sz="800" dirty="0">
                        <a:latin typeface="Jost" charset="0"/>
                        <a:ea typeface="Jost" charset="0"/>
                        <a:cs typeface="Jost" charset="0"/>
                      </a:endParaRPr>
                    </a:p>
                  </a:txBody>
                  <a:tcPr marL="16459" marR="16459" marT="16459" marB="16459"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800" dirty="0">
                          <a:solidFill>
                            <a:srgbClr val="6B6965"/>
                          </a:solidFill>
                          <a:latin typeface="Jost" pitchFamily="34" charset="0"/>
                          <a:ea typeface="Jost" pitchFamily="34" charset="-122"/>
                          <a:cs typeface="Jost" pitchFamily="34" charset="-120"/>
                        </a:rPr>
                        <a:t>3%</a:t>
                      </a:r>
                      <a:endParaRPr lang="en-US" sz="800" dirty="0">
                        <a:latin typeface="Jost" charset="0"/>
                        <a:ea typeface="Jost" charset="0"/>
                        <a:cs typeface="Jost" charset="0"/>
                      </a:endParaRPr>
                    </a:p>
                  </a:txBody>
                  <a:tcPr marL="16459" marR="16459" marT="16459" marB="16459"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73736">
                <a:tc>
                  <a:txBody>
                    <a:bodyPr/>
                    <a:lstStyle/>
                    <a:p>
                      <a:pPr algn="l" indent="0" marL="0">
                        <a:buNone/>
                      </a:pPr>
                      <a:r>
                        <a:rPr lang="en-US" sz="800" dirty="0">
                          <a:solidFill>
                            <a:srgbClr val="6B6965"/>
                          </a:solidFill>
                          <a:latin typeface="Jost" pitchFamily="34" charset="0"/>
                          <a:ea typeface="Jost" pitchFamily="34" charset="-122"/>
                          <a:cs typeface="Jost" pitchFamily="34" charset="-120"/>
                        </a:rPr>
                        <a:t>Utilities, software, member platform</a:t>
                      </a:r>
                      <a:endParaRPr lang="en-US" sz="800" dirty="0">
                        <a:latin typeface="Jost" charset="0"/>
                        <a:ea typeface="Jost" charset="0"/>
                        <a:cs typeface="Jost" charset="0"/>
                      </a:endParaRPr>
                    </a:p>
                  </a:txBody>
                  <a:tcPr marL="16459" marR="16459" marT="16459" marB="16459"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800" dirty="0">
                          <a:solidFill>
                            <a:srgbClr val="6B6965"/>
                          </a:solidFill>
                          <a:latin typeface="Jost" pitchFamily="34" charset="0"/>
                          <a:ea typeface="Jost" pitchFamily="34" charset="-122"/>
                          <a:cs typeface="Jost" pitchFamily="34" charset="-120"/>
                        </a:rPr>
                        <a:t>-$16,000</a:t>
                      </a:r>
                      <a:endParaRPr lang="en-US" sz="800" dirty="0">
                        <a:latin typeface="Jost" charset="0"/>
                        <a:ea typeface="Jost" charset="0"/>
                        <a:cs typeface="Jost" charset="0"/>
                      </a:endParaRPr>
                    </a:p>
                  </a:txBody>
                  <a:tcPr marL="16459" marR="16459" marT="16459" marB="16459"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800" dirty="0">
                          <a:solidFill>
                            <a:srgbClr val="6B6965"/>
                          </a:solidFill>
                          <a:latin typeface="Jost" pitchFamily="34" charset="0"/>
                          <a:ea typeface="Jost" pitchFamily="34" charset="-122"/>
                          <a:cs typeface="Jost" pitchFamily="34" charset="-120"/>
                        </a:rPr>
                        <a:t>3%</a:t>
                      </a:r>
                      <a:endParaRPr lang="en-US" sz="800" dirty="0">
                        <a:latin typeface="Jost" charset="0"/>
                        <a:ea typeface="Jost" charset="0"/>
                        <a:cs typeface="Jost" charset="0"/>
                      </a:endParaRPr>
                    </a:p>
                  </a:txBody>
                  <a:tcPr marL="16459" marR="16459" marT="16459" marB="16459"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73736">
                <a:tc>
                  <a:txBody>
                    <a:bodyPr/>
                    <a:lstStyle/>
                    <a:p>
                      <a:pPr algn="l" indent="0" marL="0">
                        <a:buNone/>
                      </a:pPr>
                      <a:r>
                        <a:rPr lang="en-US" sz="800" dirty="0">
                          <a:solidFill>
                            <a:srgbClr val="6B6965"/>
                          </a:solidFill>
                          <a:latin typeface="Jost" pitchFamily="34" charset="0"/>
                          <a:ea typeface="Jost" pitchFamily="34" charset="-122"/>
                          <a:cs typeface="Jost" pitchFamily="34" charset="-120"/>
                        </a:rPr>
                        <a:t>Licensing and compliance</a:t>
                      </a:r>
                      <a:endParaRPr lang="en-US" sz="800" dirty="0">
                        <a:latin typeface="Jost" charset="0"/>
                        <a:ea typeface="Jost" charset="0"/>
                        <a:cs typeface="Jost" charset="0"/>
                      </a:endParaRPr>
                    </a:p>
                  </a:txBody>
                  <a:tcPr marL="16459" marR="16459" marT="16459" marB="16459"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800" dirty="0">
                          <a:solidFill>
                            <a:srgbClr val="6B6965"/>
                          </a:solidFill>
                          <a:latin typeface="Jost" pitchFamily="34" charset="0"/>
                          <a:ea typeface="Jost" pitchFamily="34" charset="-122"/>
                          <a:cs typeface="Jost" pitchFamily="34" charset="-120"/>
                        </a:rPr>
                        <a:t>-$1,610</a:t>
                      </a:r>
                      <a:endParaRPr lang="en-US" sz="800" dirty="0">
                        <a:latin typeface="Jost" charset="0"/>
                        <a:ea typeface="Jost" charset="0"/>
                        <a:cs typeface="Jost" charset="0"/>
                      </a:endParaRPr>
                    </a:p>
                  </a:txBody>
                  <a:tcPr marL="16459" marR="16459" marT="16459" marB="16459"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800" dirty="0">
                          <a:solidFill>
                            <a:srgbClr val="6B6965"/>
                          </a:solidFill>
                          <a:latin typeface="Jost" pitchFamily="34" charset="0"/>
                          <a:ea typeface="Jost" pitchFamily="34" charset="-122"/>
                          <a:cs typeface="Jost" pitchFamily="34" charset="-120"/>
                        </a:rPr>
                        <a:t>0%</a:t>
                      </a:r>
                      <a:endParaRPr lang="en-US" sz="800" dirty="0">
                        <a:latin typeface="Jost" charset="0"/>
                        <a:ea typeface="Jost" charset="0"/>
                        <a:cs typeface="Jost" charset="0"/>
                      </a:endParaRPr>
                    </a:p>
                  </a:txBody>
                  <a:tcPr marL="16459" marR="16459" marT="16459" marB="16459"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73736">
                <a:tc>
                  <a:txBody>
                    <a:bodyPr/>
                    <a:lstStyle/>
                    <a:p>
                      <a:pPr algn="l" indent="0" marL="0">
                        <a:buNone/>
                      </a:pPr>
                      <a:r>
                        <a:rPr lang="en-US" sz="800" dirty="0">
                          <a:solidFill>
                            <a:srgbClr val="6B6965"/>
                          </a:solidFill>
                          <a:latin typeface="Jost" pitchFamily="34" charset="0"/>
                          <a:ea typeface="Jost" pitchFamily="34" charset="-122"/>
                          <a:cs typeface="Jost" pitchFamily="34" charset="-120"/>
                        </a:rPr>
                        <a:t>Total fixed overhead</a:t>
                      </a:r>
                      <a:endParaRPr lang="en-US" sz="800" dirty="0">
                        <a:latin typeface="Jost" charset="0"/>
                        <a:ea typeface="Jost" charset="0"/>
                        <a:cs typeface="Jost" charset="0"/>
                      </a:endParaRPr>
                    </a:p>
                  </a:txBody>
                  <a:tcPr marL="16459" marR="16459" marT="16459" marB="16459"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800" dirty="0">
                          <a:solidFill>
                            <a:srgbClr val="6B6965"/>
                          </a:solidFill>
                          <a:latin typeface="Jost" pitchFamily="34" charset="0"/>
                          <a:ea typeface="Jost" pitchFamily="34" charset="-122"/>
                          <a:cs typeface="Jost" pitchFamily="34" charset="-120"/>
                        </a:rPr>
                        <a:t>-$207,673</a:t>
                      </a:r>
                      <a:endParaRPr lang="en-US" sz="800" dirty="0">
                        <a:latin typeface="Jost" charset="0"/>
                        <a:ea typeface="Jost" charset="0"/>
                        <a:cs typeface="Jost" charset="0"/>
                      </a:endParaRPr>
                    </a:p>
                  </a:txBody>
                  <a:tcPr marL="16459" marR="16459" marT="16459" marB="16459"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800" dirty="0">
                          <a:solidFill>
                            <a:srgbClr val="6B6965"/>
                          </a:solidFill>
                          <a:latin typeface="Jost" pitchFamily="34" charset="0"/>
                          <a:ea typeface="Jost" pitchFamily="34" charset="-122"/>
                          <a:cs typeface="Jost" pitchFamily="34" charset="-120"/>
                        </a:rPr>
                        <a:t>35%</a:t>
                      </a:r>
                      <a:endParaRPr lang="en-US" sz="800" dirty="0">
                        <a:latin typeface="Jost" charset="0"/>
                        <a:ea typeface="Jost" charset="0"/>
                        <a:cs typeface="Jost" charset="0"/>
                      </a:endParaRPr>
                    </a:p>
                  </a:txBody>
                  <a:tcPr marL="16459" marR="16459" marT="16459" marB="16459"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73736">
                <a:tc>
                  <a:txBody>
                    <a:bodyPr/>
                    <a:lstStyle/>
                    <a:p>
                      <a:pPr algn="l" indent="0" marL="0">
                        <a:buNone/>
                      </a:pPr>
                      <a:r>
                        <a:rPr lang="en-US" sz="800" dirty="0">
                          <a:solidFill>
                            <a:srgbClr val="B08D57"/>
                          </a:solidFill>
                          <a:latin typeface="Jost" pitchFamily="34" charset="0"/>
                          <a:ea typeface="Jost" pitchFamily="34" charset="-122"/>
                          <a:cs typeface="Jost" pitchFamily="34" charset="-120"/>
                        </a:rPr>
                        <a:t>Operating income</a:t>
                      </a:r>
                      <a:endParaRPr lang="en-US" sz="800" dirty="0">
                        <a:latin typeface="Jost" charset="0"/>
                        <a:ea typeface="Jost" charset="0"/>
                        <a:cs typeface="Jost" charset="0"/>
                      </a:endParaRPr>
                    </a:p>
                  </a:txBody>
                  <a:tcPr marL="16459" marR="16459" marT="16459" marB="16459"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800" dirty="0">
                          <a:solidFill>
                            <a:srgbClr val="B08D57"/>
                          </a:solidFill>
                          <a:latin typeface="Jost" pitchFamily="34" charset="0"/>
                          <a:ea typeface="Jost" pitchFamily="34" charset="-122"/>
                          <a:cs typeface="Jost" pitchFamily="34" charset="-120"/>
                        </a:rPr>
                        <a:t>$224,801</a:t>
                      </a:r>
                      <a:endParaRPr lang="en-US" sz="800" dirty="0">
                        <a:latin typeface="Jost" charset="0"/>
                        <a:ea typeface="Jost" charset="0"/>
                        <a:cs typeface="Jost" charset="0"/>
                      </a:endParaRPr>
                    </a:p>
                  </a:txBody>
                  <a:tcPr marL="16459" marR="16459" marT="16459" marB="16459"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800" dirty="0">
                          <a:solidFill>
                            <a:srgbClr val="B08D57"/>
                          </a:solidFill>
                          <a:latin typeface="Jost" pitchFamily="34" charset="0"/>
                          <a:ea typeface="Jost" pitchFamily="34" charset="-122"/>
                          <a:cs typeface="Jost" pitchFamily="34" charset="-120"/>
                        </a:rPr>
                        <a:t>38%</a:t>
                      </a:r>
                      <a:endParaRPr lang="en-US" sz="800" dirty="0">
                        <a:latin typeface="Jost" charset="0"/>
                        <a:ea typeface="Jost" charset="0"/>
                        <a:cs typeface="Jost" charset="0"/>
                      </a:endParaRPr>
                    </a:p>
                  </a:txBody>
                  <a:tcPr marL="16459" marR="16459" marT="16459" marB="16459"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bl>
          </a:graphicData>
        </a:graphic>
      </p:graphicFrame>
      <p:sp>
        <p:nvSpPr>
          <p:cNvPr id="6" name="Text 3"/>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B6965"/>
                </a:solidFill>
                <a:latin typeface="Jost" pitchFamily="34" charset="0"/>
                <a:ea typeface="Jost" pitchFamily="34" charset="-122"/>
                <a:cs typeface="Jost" pitchFamily="34" charset="-120"/>
              </a:rPr>
              <a:t>L&amp;K WELLNESS  ·  PRIVATE INVESTMENT BRIEF  ·  CONFIDENTIAL</a:t>
            </a:r>
            <a:endParaRPr lang="en-US" sz="700" dirty="0"/>
          </a:p>
        </p:txBody>
      </p:sp>
      <p:sp>
        <p:nvSpPr>
          <p:cNvPr id="7" name="Text 4"/>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B6965"/>
                </a:solidFill>
                <a:latin typeface="Jost" pitchFamily="34" charset="0"/>
                <a:ea typeface="Jost" pitchFamily="34" charset="-122"/>
                <a:cs typeface="Jost" pitchFamily="34" charset="-120"/>
              </a:rPr>
              <a:t>22</a:t>
            </a:r>
            <a:endParaRPr lang="en-US" sz="7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B08D57"/>
                </a:solidFill>
                <a:latin typeface="Jost" pitchFamily="34" charset="0"/>
                <a:ea typeface="Jost" pitchFamily="34" charset="-122"/>
                <a:cs typeface="Jost" pitchFamily="34" charset="-120"/>
              </a:rPr>
              <a:t>SENSITIVITY</a:t>
            </a:r>
            <a:endParaRPr lang="en-US" sz="900" dirty="0"/>
          </a:p>
        </p:txBody>
      </p:sp>
      <p:sp>
        <p:nvSpPr>
          <p:cNvPr id="3" name="Shape 1"/>
          <p:cNvSpPr/>
          <p:nvPr/>
        </p:nvSpPr>
        <p:spPr>
          <a:xfrm>
            <a:off x="502920" y="557784"/>
            <a:ext cx="566928" cy="12802"/>
          </a:xfrm>
          <a:prstGeom prst="rect">
            <a:avLst/>
          </a:prstGeom>
          <a:solidFill>
            <a:srgbClr val="B08D57"/>
          </a:solidFill>
          <a:ln w="12700">
            <a:solidFill>
              <a:srgbClr val="B08D57"/>
            </a:solidFill>
            <a:prstDash val="solid"/>
          </a:ln>
        </p:spPr>
      </p:sp>
      <p:sp>
        <p:nvSpPr>
          <p:cNvPr id="4" name="Text 2"/>
          <p:cNvSpPr/>
          <p:nvPr/>
        </p:nvSpPr>
        <p:spPr>
          <a:xfrm>
            <a:off x="502920" y="621792"/>
            <a:ext cx="8138160" cy="548640"/>
          </a:xfrm>
          <a:prstGeom prst="rect">
            <a:avLst/>
          </a:prstGeom>
          <a:noFill/>
          <a:ln/>
        </p:spPr>
        <p:txBody>
          <a:bodyPr wrap="square" rtlCol="0" anchor="t"/>
          <a:lstStyle/>
          <a:p>
            <a:pPr indent="0" marL="0">
              <a:buNone/>
            </a:pPr>
            <a:r>
              <a:rPr lang="en-US" sz="2600" spc="400" kern="0" dirty="0">
                <a:solidFill>
                  <a:srgbClr val="EDE7DE"/>
                </a:solidFill>
                <a:latin typeface="Cormorant Garamond" pitchFamily="34" charset="0"/>
                <a:ea typeface="Cormorant Garamond" pitchFamily="34" charset="-122"/>
                <a:cs typeface="Cormorant Garamond" pitchFamily="34" charset="-120"/>
              </a:rPr>
              <a:t>HOW WRONG CAN WE AFFORD TO BE?</a:t>
            </a:r>
            <a:endParaRPr lang="en-US" sz="2600" dirty="0"/>
          </a:p>
        </p:txBody>
      </p:sp>
      <p:sp>
        <p:nvSpPr>
          <p:cNvPr id="5" name="Text 3"/>
          <p:cNvSpPr/>
          <p:nvPr/>
        </p:nvSpPr>
        <p:spPr>
          <a:xfrm>
            <a:off x="502920" y="1115568"/>
            <a:ext cx="7487107" cy="457200"/>
          </a:xfrm>
          <a:prstGeom prst="rect">
            <a:avLst/>
          </a:prstGeom>
          <a:noFill/>
          <a:ln/>
        </p:spPr>
        <p:txBody>
          <a:bodyPr wrap="square" rtlCol="0" anchor="t"/>
          <a:lstStyle/>
          <a:p>
            <a:pPr indent="0" marL="0">
              <a:lnSpc>
                <a:spcPct val="120000"/>
              </a:lnSpc>
              <a:buNone/>
            </a:pPr>
            <a:r>
              <a:rPr lang="en-US" sz="1050" dirty="0">
                <a:solidFill>
                  <a:srgbClr val="C9BCA9"/>
                </a:solidFill>
                <a:latin typeface="Jost" pitchFamily="34" charset="0"/>
                <a:ea typeface="Jost" pitchFamily="34" charset="-122"/>
                <a:cs typeface="Jost" pitchFamily="34" charset="-120"/>
              </a:rPr>
              <a:t>Volume flexed against the base case with fixed overhead held constant, which is the conservative treatment.</a:t>
            </a:r>
            <a:endParaRPr lang="en-US" sz="1050" dirty="0"/>
          </a:p>
        </p:txBody>
      </p:sp>
      <p:sp>
        <p:nvSpPr>
          <p:cNvPr id="6" name="Shape 4"/>
          <p:cNvSpPr/>
          <p:nvPr/>
        </p:nvSpPr>
        <p:spPr>
          <a:xfrm>
            <a:off x="502920" y="1737360"/>
            <a:ext cx="2602992" cy="2788920"/>
          </a:xfrm>
          <a:prstGeom prst="rect">
            <a:avLst/>
          </a:prstGeom>
          <a:solidFill>
            <a:srgbClr val="1C1C1E"/>
          </a:solidFill>
          <a:ln w="9525">
            <a:solidFill>
              <a:srgbClr val="271F13"/>
            </a:solidFill>
            <a:prstDash val="solid"/>
          </a:ln>
        </p:spPr>
      </p:sp>
      <p:sp>
        <p:nvSpPr>
          <p:cNvPr id="7" name="Text 5"/>
          <p:cNvSpPr/>
          <p:nvPr/>
        </p:nvSpPr>
        <p:spPr>
          <a:xfrm>
            <a:off x="649224" y="1865376"/>
            <a:ext cx="2310384" cy="182880"/>
          </a:xfrm>
          <a:prstGeom prst="rect">
            <a:avLst/>
          </a:prstGeom>
          <a:noFill/>
          <a:ln/>
        </p:spPr>
        <p:txBody>
          <a:bodyPr wrap="square" rtlCol="0" anchor="ctr"/>
          <a:lstStyle/>
          <a:p>
            <a:pPr indent="0" marL="0">
              <a:buNone/>
            </a:pPr>
            <a:r>
              <a:rPr lang="en-US" sz="750" spc="200" kern="0" dirty="0">
                <a:solidFill>
                  <a:srgbClr val="B08D57"/>
                </a:solidFill>
                <a:latin typeface="Jost" pitchFamily="34" charset="0"/>
                <a:ea typeface="Jost" pitchFamily="34" charset="-122"/>
                <a:cs typeface="Jost" pitchFamily="34" charset="-120"/>
              </a:rPr>
              <a:t>LOW</a:t>
            </a:r>
            <a:endParaRPr lang="en-US" sz="750" dirty="0"/>
          </a:p>
        </p:txBody>
      </p:sp>
      <p:sp>
        <p:nvSpPr>
          <p:cNvPr id="8" name="Text 6"/>
          <p:cNvSpPr/>
          <p:nvPr/>
        </p:nvSpPr>
        <p:spPr>
          <a:xfrm>
            <a:off x="649224" y="2084832"/>
            <a:ext cx="2310384" cy="384048"/>
          </a:xfrm>
          <a:prstGeom prst="rect">
            <a:avLst/>
          </a:prstGeom>
          <a:noFill/>
          <a:ln/>
        </p:spPr>
        <p:txBody>
          <a:bodyPr wrap="square" rtlCol="0" anchor="t"/>
          <a:lstStyle/>
          <a:p>
            <a:pPr indent="0" marL="0">
              <a:buNone/>
            </a:pPr>
            <a:r>
              <a:rPr lang="en-US" sz="2200" dirty="0">
                <a:solidFill>
                  <a:srgbClr val="B08D57"/>
                </a:solidFill>
                <a:latin typeface="Cormorant Garamond" pitchFamily="34" charset="0"/>
                <a:ea typeface="Cormorant Garamond" pitchFamily="34" charset="-122"/>
                <a:cs typeface="Cormorant Garamond" pitchFamily="34" charset="-120"/>
              </a:rPr>
              <a:t>$1.24M / yr</a:t>
            </a:r>
            <a:endParaRPr lang="en-US" sz="2200" dirty="0"/>
          </a:p>
        </p:txBody>
      </p:sp>
      <p:sp>
        <p:nvSpPr>
          <p:cNvPr id="9" name="Text 7"/>
          <p:cNvSpPr/>
          <p:nvPr/>
        </p:nvSpPr>
        <p:spPr>
          <a:xfrm>
            <a:off x="649224" y="2505456"/>
            <a:ext cx="2310384" cy="365760"/>
          </a:xfrm>
          <a:prstGeom prst="rect">
            <a:avLst/>
          </a:prstGeom>
          <a:noFill/>
          <a:ln/>
        </p:spPr>
        <p:txBody>
          <a:bodyPr wrap="square" rtlCol="0" anchor="t"/>
          <a:lstStyle/>
          <a:p>
            <a:pPr indent="0" marL="0">
              <a:lnSpc>
                <a:spcPct val="115000"/>
              </a:lnSpc>
              <a:buNone/>
            </a:pPr>
            <a:r>
              <a:rPr lang="en-US" sz="850" dirty="0">
                <a:solidFill>
                  <a:srgbClr val="C9BCA9"/>
                </a:solidFill>
                <a:latin typeface="Jost" pitchFamily="34" charset="0"/>
                <a:ea typeface="Jost" pitchFamily="34" charset="-122"/>
                <a:cs typeface="Jost" pitchFamily="34" charset="-120"/>
              </a:rPr>
              <a:t>Slow member ramp, 72% of base volume</a:t>
            </a:r>
            <a:endParaRPr lang="en-US" sz="850" dirty="0"/>
          </a:p>
        </p:txBody>
      </p:sp>
      <p:sp>
        <p:nvSpPr>
          <p:cNvPr id="10" name="Shape 8"/>
          <p:cNvSpPr/>
          <p:nvPr/>
        </p:nvSpPr>
        <p:spPr>
          <a:xfrm>
            <a:off x="649224" y="3273552"/>
            <a:ext cx="2310384" cy="5486"/>
          </a:xfrm>
          <a:prstGeom prst="rect">
            <a:avLst/>
          </a:prstGeom>
          <a:solidFill>
            <a:srgbClr val="271F13"/>
          </a:solidFill>
          <a:ln w="12700">
            <a:solidFill>
              <a:srgbClr val="271F13"/>
            </a:solidFill>
            <a:prstDash val="solid"/>
          </a:ln>
        </p:spPr>
      </p:sp>
      <p:sp>
        <p:nvSpPr>
          <p:cNvPr id="11" name="Text 9"/>
          <p:cNvSpPr/>
          <p:nvPr/>
        </p:nvSpPr>
        <p:spPr>
          <a:xfrm>
            <a:off x="649224" y="2999232"/>
            <a:ext cx="1270711" cy="256032"/>
          </a:xfrm>
          <a:prstGeom prst="rect">
            <a:avLst/>
          </a:prstGeom>
          <a:noFill/>
          <a:ln/>
        </p:spPr>
        <p:txBody>
          <a:bodyPr wrap="square" rtlCol="0" anchor="ctr"/>
          <a:lstStyle/>
          <a:p>
            <a:pPr indent="0" marL="0">
              <a:buNone/>
            </a:pPr>
            <a:r>
              <a:rPr lang="en-US" sz="850" dirty="0">
                <a:solidFill>
                  <a:srgbClr val="C9BCA9"/>
                </a:solidFill>
                <a:latin typeface="Jost" pitchFamily="34" charset="0"/>
                <a:ea typeface="Jost" pitchFamily="34" charset="-122"/>
                <a:cs typeface="Jost" pitchFamily="34" charset="-120"/>
              </a:rPr>
              <a:t>Revenue / mo</a:t>
            </a:r>
            <a:endParaRPr lang="en-US" sz="850" dirty="0"/>
          </a:p>
        </p:txBody>
      </p:sp>
      <p:sp>
        <p:nvSpPr>
          <p:cNvPr id="12" name="Text 10"/>
          <p:cNvSpPr/>
          <p:nvPr/>
        </p:nvSpPr>
        <p:spPr>
          <a:xfrm>
            <a:off x="1688897" y="2999232"/>
            <a:ext cx="1270711" cy="256032"/>
          </a:xfrm>
          <a:prstGeom prst="rect">
            <a:avLst/>
          </a:prstGeom>
          <a:noFill/>
          <a:ln/>
        </p:spPr>
        <p:txBody>
          <a:bodyPr wrap="square" rtlCol="0" anchor="ctr"/>
          <a:lstStyle/>
          <a:p>
            <a:pPr algn="r" indent="0" marL="0">
              <a:buNone/>
            </a:pPr>
            <a:r>
              <a:rPr lang="en-US" sz="850" dirty="0">
                <a:solidFill>
                  <a:srgbClr val="EDE7DE"/>
                </a:solidFill>
                <a:latin typeface="Jost" pitchFamily="34" charset="0"/>
                <a:ea typeface="Jost" pitchFamily="34" charset="-122"/>
                <a:cs typeface="Jost" pitchFamily="34" charset="-120"/>
              </a:rPr>
              <a:t>$430,586</a:t>
            </a:r>
            <a:endParaRPr lang="en-US" sz="850" dirty="0"/>
          </a:p>
        </p:txBody>
      </p:sp>
      <p:sp>
        <p:nvSpPr>
          <p:cNvPr id="13" name="Shape 11"/>
          <p:cNvSpPr/>
          <p:nvPr/>
        </p:nvSpPr>
        <p:spPr>
          <a:xfrm>
            <a:off x="649224" y="3584448"/>
            <a:ext cx="2310384" cy="5486"/>
          </a:xfrm>
          <a:prstGeom prst="rect">
            <a:avLst/>
          </a:prstGeom>
          <a:solidFill>
            <a:srgbClr val="271F13"/>
          </a:solidFill>
          <a:ln w="12700">
            <a:solidFill>
              <a:srgbClr val="271F13"/>
            </a:solidFill>
            <a:prstDash val="solid"/>
          </a:ln>
        </p:spPr>
      </p:sp>
      <p:sp>
        <p:nvSpPr>
          <p:cNvPr id="14" name="Text 12"/>
          <p:cNvSpPr/>
          <p:nvPr/>
        </p:nvSpPr>
        <p:spPr>
          <a:xfrm>
            <a:off x="649224" y="3310128"/>
            <a:ext cx="1270711" cy="256032"/>
          </a:xfrm>
          <a:prstGeom prst="rect">
            <a:avLst/>
          </a:prstGeom>
          <a:noFill/>
          <a:ln/>
        </p:spPr>
        <p:txBody>
          <a:bodyPr wrap="square" rtlCol="0" anchor="ctr"/>
          <a:lstStyle/>
          <a:p>
            <a:pPr indent="0" marL="0">
              <a:buNone/>
            </a:pPr>
            <a:r>
              <a:rPr lang="en-US" sz="850" dirty="0">
                <a:solidFill>
                  <a:srgbClr val="C9BCA9"/>
                </a:solidFill>
                <a:latin typeface="Jost" pitchFamily="34" charset="0"/>
                <a:ea typeface="Jost" pitchFamily="34" charset="-122"/>
                <a:cs typeface="Jost" pitchFamily="34" charset="-120"/>
              </a:rPr>
              <a:t>Net after COGS</a:t>
            </a:r>
            <a:endParaRPr lang="en-US" sz="850" dirty="0"/>
          </a:p>
        </p:txBody>
      </p:sp>
      <p:sp>
        <p:nvSpPr>
          <p:cNvPr id="15" name="Text 13"/>
          <p:cNvSpPr/>
          <p:nvPr/>
        </p:nvSpPr>
        <p:spPr>
          <a:xfrm>
            <a:off x="1688897" y="3310128"/>
            <a:ext cx="1270711" cy="256032"/>
          </a:xfrm>
          <a:prstGeom prst="rect">
            <a:avLst/>
          </a:prstGeom>
          <a:noFill/>
          <a:ln/>
        </p:spPr>
        <p:txBody>
          <a:bodyPr wrap="square" rtlCol="0" anchor="ctr"/>
          <a:lstStyle/>
          <a:p>
            <a:pPr algn="r" indent="0" marL="0">
              <a:buNone/>
            </a:pPr>
            <a:r>
              <a:rPr lang="en-US" sz="850" dirty="0">
                <a:solidFill>
                  <a:srgbClr val="EDE7DE"/>
                </a:solidFill>
                <a:latin typeface="Jost" pitchFamily="34" charset="0"/>
                <a:ea typeface="Jost" pitchFamily="34" charset="-122"/>
                <a:cs typeface="Jost" pitchFamily="34" charset="-120"/>
              </a:rPr>
              <a:t>$311,381</a:t>
            </a:r>
            <a:endParaRPr lang="en-US" sz="850" dirty="0"/>
          </a:p>
        </p:txBody>
      </p:sp>
      <p:sp>
        <p:nvSpPr>
          <p:cNvPr id="16" name="Shape 14"/>
          <p:cNvSpPr/>
          <p:nvPr/>
        </p:nvSpPr>
        <p:spPr>
          <a:xfrm>
            <a:off x="649224" y="3895344"/>
            <a:ext cx="2310384" cy="5486"/>
          </a:xfrm>
          <a:prstGeom prst="rect">
            <a:avLst/>
          </a:prstGeom>
          <a:solidFill>
            <a:srgbClr val="271F13"/>
          </a:solidFill>
          <a:ln w="12700">
            <a:solidFill>
              <a:srgbClr val="271F13"/>
            </a:solidFill>
            <a:prstDash val="solid"/>
          </a:ln>
        </p:spPr>
      </p:sp>
      <p:sp>
        <p:nvSpPr>
          <p:cNvPr id="17" name="Text 15"/>
          <p:cNvSpPr/>
          <p:nvPr/>
        </p:nvSpPr>
        <p:spPr>
          <a:xfrm>
            <a:off x="649224" y="3621024"/>
            <a:ext cx="1270711" cy="256032"/>
          </a:xfrm>
          <a:prstGeom prst="rect">
            <a:avLst/>
          </a:prstGeom>
          <a:noFill/>
          <a:ln/>
        </p:spPr>
        <p:txBody>
          <a:bodyPr wrap="square" rtlCol="0" anchor="ctr"/>
          <a:lstStyle/>
          <a:p>
            <a:pPr indent="0" marL="0">
              <a:buNone/>
            </a:pPr>
            <a:r>
              <a:rPr lang="en-US" sz="850" dirty="0">
                <a:solidFill>
                  <a:srgbClr val="C9BCA9"/>
                </a:solidFill>
                <a:latin typeface="Jost" pitchFamily="34" charset="0"/>
                <a:ea typeface="Jost" pitchFamily="34" charset="-122"/>
                <a:cs typeface="Jost" pitchFamily="34" charset="-120"/>
              </a:rPr>
              <a:t>Operating / mo</a:t>
            </a:r>
            <a:endParaRPr lang="en-US" sz="850" dirty="0"/>
          </a:p>
        </p:txBody>
      </p:sp>
      <p:sp>
        <p:nvSpPr>
          <p:cNvPr id="18" name="Text 16"/>
          <p:cNvSpPr/>
          <p:nvPr/>
        </p:nvSpPr>
        <p:spPr>
          <a:xfrm>
            <a:off x="1688897" y="3621024"/>
            <a:ext cx="1270711" cy="256032"/>
          </a:xfrm>
          <a:prstGeom prst="rect">
            <a:avLst/>
          </a:prstGeom>
          <a:noFill/>
          <a:ln/>
        </p:spPr>
        <p:txBody>
          <a:bodyPr wrap="square" rtlCol="0" anchor="ctr"/>
          <a:lstStyle/>
          <a:p>
            <a:pPr algn="r" indent="0" marL="0">
              <a:buNone/>
            </a:pPr>
            <a:r>
              <a:rPr lang="en-US" sz="850" dirty="0">
                <a:solidFill>
                  <a:srgbClr val="EDE7DE"/>
                </a:solidFill>
                <a:latin typeface="Jost" pitchFamily="34" charset="0"/>
                <a:ea typeface="Jost" pitchFamily="34" charset="-122"/>
                <a:cs typeface="Jost" pitchFamily="34" charset="-120"/>
              </a:rPr>
              <a:t>$103,708</a:t>
            </a:r>
            <a:endParaRPr lang="en-US" sz="850" dirty="0"/>
          </a:p>
        </p:txBody>
      </p:sp>
      <p:sp>
        <p:nvSpPr>
          <p:cNvPr id="19" name="Shape 17"/>
          <p:cNvSpPr/>
          <p:nvPr/>
        </p:nvSpPr>
        <p:spPr>
          <a:xfrm>
            <a:off x="649224" y="4206240"/>
            <a:ext cx="2310384" cy="5486"/>
          </a:xfrm>
          <a:prstGeom prst="rect">
            <a:avLst/>
          </a:prstGeom>
          <a:solidFill>
            <a:srgbClr val="271F13"/>
          </a:solidFill>
          <a:ln w="12700">
            <a:solidFill>
              <a:srgbClr val="271F13"/>
            </a:solidFill>
            <a:prstDash val="solid"/>
          </a:ln>
        </p:spPr>
      </p:sp>
      <p:sp>
        <p:nvSpPr>
          <p:cNvPr id="20" name="Text 18"/>
          <p:cNvSpPr/>
          <p:nvPr/>
        </p:nvSpPr>
        <p:spPr>
          <a:xfrm>
            <a:off x="649224" y="3931920"/>
            <a:ext cx="1270711" cy="256032"/>
          </a:xfrm>
          <a:prstGeom prst="rect">
            <a:avLst/>
          </a:prstGeom>
          <a:noFill/>
          <a:ln/>
        </p:spPr>
        <p:txBody>
          <a:bodyPr wrap="square" rtlCol="0" anchor="ctr"/>
          <a:lstStyle/>
          <a:p>
            <a:pPr indent="0" marL="0">
              <a:buNone/>
            </a:pPr>
            <a:r>
              <a:rPr lang="en-US" sz="850" dirty="0">
                <a:solidFill>
                  <a:srgbClr val="C9BCA9"/>
                </a:solidFill>
                <a:latin typeface="Jost" pitchFamily="34" charset="0"/>
                <a:ea typeface="Jost" pitchFamily="34" charset="-122"/>
                <a:cs typeface="Jost" pitchFamily="34" charset="-120"/>
              </a:rPr>
              <a:t>Yield on equity</a:t>
            </a:r>
            <a:endParaRPr lang="en-US" sz="850" dirty="0"/>
          </a:p>
        </p:txBody>
      </p:sp>
      <p:sp>
        <p:nvSpPr>
          <p:cNvPr id="21" name="Text 19"/>
          <p:cNvSpPr/>
          <p:nvPr/>
        </p:nvSpPr>
        <p:spPr>
          <a:xfrm>
            <a:off x="1688897" y="3931920"/>
            <a:ext cx="1270711" cy="256032"/>
          </a:xfrm>
          <a:prstGeom prst="rect">
            <a:avLst/>
          </a:prstGeom>
          <a:noFill/>
          <a:ln/>
        </p:spPr>
        <p:txBody>
          <a:bodyPr wrap="square" rtlCol="0" anchor="ctr"/>
          <a:lstStyle/>
          <a:p>
            <a:pPr algn="r" indent="0" marL="0">
              <a:buNone/>
            </a:pPr>
            <a:r>
              <a:rPr lang="en-US" sz="850" dirty="0">
                <a:solidFill>
                  <a:srgbClr val="EDE7DE"/>
                </a:solidFill>
                <a:latin typeface="Jost" pitchFamily="34" charset="0"/>
                <a:ea typeface="Jost" pitchFamily="34" charset="-122"/>
                <a:cs typeface="Jost" pitchFamily="34" charset="-120"/>
              </a:rPr>
              <a:t>26.2%</a:t>
            </a:r>
            <a:endParaRPr lang="en-US" sz="850" dirty="0"/>
          </a:p>
        </p:txBody>
      </p:sp>
      <p:sp>
        <p:nvSpPr>
          <p:cNvPr id="22" name="Shape 20"/>
          <p:cNvSpPr/>
          <p:nvPr/>
        </p:nvSpPr>
        <p:spPr>
          <a:xfrm>
            <a:off x="3270504" y="1737360"/>
            <a:ext cx="2602992" cy="2788920"/>
          </a:xfrm>
          <a:prstGeom prst="rect">
            <a:avLst/>
          </a:prstGeom>
          <a:solidFill>
            <a:srgbClr val="1C1C1E"/>
          </a:solidFill>
          <a:ln w="9525">
            <a:solidFill>
              <a:srgbClr val="B08D57"/>
            </a:solidFill>
            <a:prstDash val="solid"/>
          </a:ln>
        </p:spPr>
      </p:sp>
      <p:sp>
        <p:nvSpPr>
          <p:cNvPr id="23" name="Text 21"/>
          <p:cNvSpPr/>
          <p:nvPr/>
        </p:nvSpPr>
        <p:spPr>
          <a:xfrm>
            <a:off x="3416808" y="1865376"/>
            <a:ext cx="2310384" cy="182880"/>
          </a:xfrm>
          <a:prstGeom prst="rect">
            <a:avLst/>
          </a:prstGeom>
          <a:noFill/>
          <a:ln/>
        </p:spPr>
        <p:txBody>
          <a:bodyPr wrap="square" rtlCol="0" anchor="ctr"/>
          <a:lstStyle/>
          <a:p>
            <a:pPr indent="0" marL="0">
              <a:buNone/>
            </a:pPr>
            <a:r>
              <a:rPr lang="en-US" sz="750" spc="200" kern="0" dirty="0">
                <a:solidFill>
                  <a:srgbClr val="B08D57"/>
                </a:solidFill>
                <a:latin typeface="Jost" pitchFamily="34" charset="0"/>
                <a:ea typeface="Jost" pitchFamily="34" charset="-122"/>
                <a:cs typeface="Jost" pitchFamily="34" charset="-120"/>
              </a:rPr>
              <a:t>BASE CASE</a:t>
            </a:r>
            <a:endParaRPr lang="en-US" sz="750" dirty="0"/>
          </a:p>
        </p:txBody>
      </p:sp>
      <p:sp>
        <p:nvSpPr>
          <p:cNvPr id="24" name="Text 22"/>
          <p:cNvSpPr/>
          <p:nvPr/>
        </p:nvSpPr>
        <p:spPr>
          <a:xfrm>
            <a:off x="3416808" y="2084832"/>
            <a:ext cx="2310384" cy="384048"/>
          </a:xfrm>
          <a:prstGeom prst="rect">
            <a:avLst/>
          </a:prstGeom>
          <a:noFill/>
          <a:ln/>
        </p:spPr>
        <p:txBody>
          <a:bodyPr wrap="square" rtlCol="0" anchor="t"/>
          <a:lstStyle/>
          <a:p>
            <a:pPr indent="0" marL="0">
              <a:buNone/>
            </a:pPr>
            <a:r>
              <a:rPr lang="en-US" sz="2200" dirty="0">
                <a:solidFill>
                  <a:srgbClr val="B08D57"/>
                </a:solidFill>
                <a:latin typeface="Cormorant Garamond" pitchFamily="34" charset="0"/>
                <a:ea typeface="Cormorant Garamond" pitchFamily="34" charset="-122"/>
                <a:cs typeface="Cormorant Garamond" pitchFamily="34" charset="-120"/>
              </a:rPr>
              <a:t>$2.70M / yr</a:t>
            </a:r>
            <a:endParaRPr lang="en-US" sz="2200" dirty="0"/>
          </a:p>
        </p:txBody>
      </p:sp>
      <p:sp>
        <p:nvSpPr>
          <p:cNvPr id="25" name="Text 23"/>
          <p:cNvSpPr/>
          <p:nvPr/>
        </p:nvSpPr>
        <p:spPr>
          <a:xfrm>
            <a:off x="3416808" y="2505456"/>
            <a:ext cx="2310384" cy="365760"/>
          </a:xfrm>
          <a:prstGeom prst="rect">
            <a:avLst/>
          </a:prstGeom>
          <a:noFill/>
          <a:ln/>
        </p:spPr>
        <p:txBody>
          <a:bodyPr wrap="square" rtlCol="0" anchor="t"/>
          <a:lstStyle/>
          <a:p>
            <a:pPr indent="0" marL="0">
              <a:lnSpc>
                <a:spcPct val="115000"/>
              </a:lnSpc>
              <a:buNone/>
            </a:pPr>
            <a:r>
              <a:rPr lang="en-US" sz="850" dirty="0">
                <a:solidFill>
                  <a:srgbClr val="C9BCA9"/>
                </a:solidFill>
                <a:latin typeface="Jost" pitchFamily="34" charset="0"/>
                <a:ea typeface="Jost" pitchFamily="34" charset="-122"/>
                <a:cs typeface="Jost" pitchFamily="34" charset="-120"/>
              </a:rPr>
              <a:t>Stated assumptions at stabilization</a:t>
            </a:r>
            <a:endParaRPr lang="en-US" sz="850" dirty="0"/>
          </a:p>
        </p:txBody>
      </p:sp>
      <p:sp>
        <p:nvSpPr>
          <p:cNvPr id="26" name="Shape 24"/>
          <p:cNvSpPr/>
          <p:nvPr/>
        </p:nvSpPr>
        <p:spPr>
          <a:xfrm>
            <a:off x="3416808" y="3273552"/>
            <a:ext cx="2310384" cy="5486"/>
          </a:xfrm>
          <a:prstGeom prst="rect">
            <a:avLst/>
          </a:prstGeom>
          <a:solidFill>
            <a:srgbClr val="271F13"/>
          </a:solidFill>
          <a:ln w="12700">
            <a:solidFill>
              <a:srgbClr val="271F13"/>
            </a:solidFill>
            <a:prstDash val="solid"/>
          </a:ln>
        </p:spPr>
      </p:sp>
      <p:sp>
        <p:nvSpPr>
          <p:cNvPr id="27" name="Text 25"/>
          <p:cNvSpPr/>
          <p:nvPr/>
        </p:nvSpPr>
        <p:spPr>
          <a:xfrm>
            <a:off x="3416808" y="2999232"/>
            <a:ext cx="1270711" cy="256032"/>
          </a:xfrm>
          <a:prstGeom prst="rect">
            <a:avLst/>
          </a:prstGeom>
          <a:noFill/>
          <a:ln/>
        </p:spPr>
        <p:txBody>
          <a:bodyPr wrap="square" rtlCol="0" anchor="ctr"/>
          <a:lstStyle/>
          <a:p>
            <a:pPr indent="0" marL="0">
              <a:buNone/>
            </a:pPr>
            <a:r>
              <a:rPr lang="en-US" sz="850" dirty="0">
                <a:solidFill>
                  <a:srgbClr val="C9BCA9"/>
                </a:solidFill>
                <a:latin typeface="Jost" pitchFamily="34" charset="0"/>
                <a:ea typeface="Jost" pitchFamily="34" charset="-122"/>
                <a:cs typeface="Jost" pitchFamily="34" charset="-120"/>
              </a:rPr>
              <a:t>Revenue / mo</a:t>
            </a:r>
            <a:endParaRPr lang="en-US" sz="850" dirty="0"/>
          </a:p>
        </p:txBody>
      </p:sp>
      <p:sp>
        <p:nvSpPr>
          <p:cNvPr id="28" name="Text 26"/>
          <p:cNvSpPr/>
          <p:nvPr/>
        </p:nvSpPr>
        <p:spPr>
          <a:xfrm>
            <a:off x="4456481" y="2999232"/>
            <a:ext cx="1270711" cy="256032"/>
          </a:xfrm>
          <a:prstGeom prst="rect">
            <a:avLst/>
          </a:prstGeom>
          <a:noFill/>
          <a:ln/>
        </p:spPr>
        <p:txBody>
          <a:bodyPr wrap="square" rtlCol="0" anchor="ctr"/>
          <a:lstStyle/>
          <a:p>
            <a:pPr algn="r" indent="0" marL="0">
              <a:buNone/>
            </a:pPr>
            <a:r>
              <a:rPr lang="en-US" sz="850" dirty="0">
                <a:solidFill>
                  <a:srgbClr val="EDE7DE"/>
                </a:solidFill>
                <a:latin typeface="Jost" pitchFamily="34" charset="0"/>
                <a:ea typeface="Jost" pitchFamily="34" charset="-122"/>
                <a:cs typeface="Jost" pitchFamily="34" charset="-120"/>
              </a:rPr>
              <a:t>$598,036</a:t>
            </a:r>
            <a:endParaRPr lang="en-US" sz="850" dirty="0"/>
          </a:p>
        </p:txBody>
      </p:sp>
      <p:sp>
        <p:nvSpPr>
          <p:cNvPr id="29" name="Shape 27"/>
          <p:cNvSpPr/>
          <p:nvPr/>
        </p:nvSpPr>
        <p:spPr>
          <a:xfrm>
            <a:off x="3416808" y="3584448"/>
            <a:ext cx="2310384" cy="5486"/>
          </a:xfrm>
          <a:prstGeom prst="rect">
            <a:avLst/>
          </a:prstGeom>
          <a:solidFill>
            <a:srgbClr val="271F13"/>
          </a:solidFill>
          <a:ln w="12700">
            <a:solidFill>
              <a:srgbClr val="271F13"/>
            </a:solidFill>
            <a:prstDash val="solid"/>
          </a:ln>
        </p:spPr>
      </p:sp>
      <p:sp>
        <p:nvSpPr>
          <p:cNvPr id="30" name="Text 28"/>
          <p:cNvSpPr/>
          <p:nvPr/>
        </p:nvSpPr>
        <p:spPr>
          <a:xfrm>
            <a:off x="3416808" y="3310128"/>
            <a:ext cx="1270711" cy="256032"/>
          </a:xfrm>
          <a:prstGeom prst="rect">
            <a:avLst/>
          </a:prstGeom>
          <a:noFill/>
          <a:ln/>
        </p:spPr>
        <p:txBody>
          <a:bodyPr wrap="square" rtlCol="0" anchor="ctr"/>
          <a:lstStyle/>
          <a:p>
            <a:pPr indent="0" marL="0">
              <a:buNone/>
            </a:pPr>
            <a:r>
              <a:rPr lang="en-US" sz="850" dirty="0">
                <a:solidFill>
                  <a:srgbClr val="C9BCA9"/>
                </a:solidFill>
                <a:latin typeface="Jost" pitchFamily="34" charset="0"/>
                <a:ea typeface="Jost" pitchFamily="34" charset="-122"/>
                <a:cs typeface="Jost" pitchFamily="34" charset="-120"/>
              </a:rPr>
              <a:t>Net after COGS</a:t>
            </a:r>
            <a:endParaRPr lang="en-US" sz="850" dirty="0"/>
          </a:p>
        </p:txBody>
      </p:sp>
      <p:sp>
        <p:nvSpPr>
          <p:cNvPr id="31" name="Text 29"/>
          <p:cNvSpPr/>
          <p:nvPr/>
        </p:nvSpPr>
        <p:spPr>
          <a:xfrm>
            <a:off x="4456481" y="3310128"/>
            <a:ext cx="1270711" cy="256032"/>
          </a:xfrm>
          <a:prstGeom prst="rect">
            <a:avLst/>
          </a:prstGeom>
          <a:noFill/>
          <a:ln/>
        </p:spPr>
        <p:txBody>
          <a:bodyPr wrap="square" rtlCol="0" anchor="ctr"/>
          <a:lstStyle/>
          <a:p>
            <a:pPr algn="r" indent="0" marL="0">
              <a:buNone/>
            </a:pPr>
            <a:r>
              <a:rPr lang="en-US" sz="850" dirty="0">
                <a:solidFill>
                  <a:srgbClr val="EDE7DE"/>
                </a:solidFill>
                <a:latin typeface="Jost" pitchFamily="34" charset="0"/>
                <a:ea typeface="Jost" pitchFamily="34" charset="-122"/>
                <a:cs typeface="Jost" pitchFamily="34" charset="-120"/>
              </a:rPr>
              <a:t>$432,473</a:t>
            </a:r>
            <a:endParaRPr lang="en-US" sz="850" dirty="0"/>
          </a:p>
        </p:txBody>
      </p:sp>
      <p:sp>
        <p:nvSpPr>
          <p:cNvPr id="32" name="Shape 30"/>
          <p:cNvSpPr/>
          <p:nvPr/>
        </p:nvSpPr>
        <p:spPr>
          <a:xfrm>
            <a:off x="3416808" y="3895344"/>
            <a:ext cx="2310384" cy="5486"/>
          </a:xfrm>
          <a:prstGeom prst="rect">
            <a:avLst/>
          </a:prstGeom>
          <a:solidFill>
            <a:srgbClr val="271F13"/>
          </a:solidFill>
          <a:ln w="12700">
            <a:solidFill>
              <a:srgbClr val="271F13"/>
            </a:solidFill>
            <a:prstDash val="solid"/>
          </a:ln>
        </p:spPr>
      </p:sp>
      <p:sp>
        <p:nvSpPr>
          <p:cNvPr id="33" name="Text 31"/>
          <p:cNvSpPr/>
          <p:nvPr/>
        </p:nvSpPr>
        <p:spPr>
          <a:xfrm>
            <a:off x="3416808" y="3621024"/>
            <a:ext cx="1270711" cy="256032"/>
          </a:xfrm>
          <a:prstGeom prst="rect">
            <a:avLst/>
          </a:prstGeom>
          <a:noFill/>
          <a:ln/>
        </p:spPr>
        <p:txBody>
          <a:bodyPr wrap="square" rtlCol="0" anchor="ctr"/>
          <a:lstStyle/>
          <a:p>
            <a:pPr indent="0" marL="0">
              <a:buNone/>
            </a:pPr>
            <a:r>
              <a:rPr lang="en-US" sz="850" dirty="0">
                <a:solidFill>
                  <a:srgbClr val="C9BCA9"/>
                </a:solidFill>
                <a:latin typeface="Jost" pitchFamily="34" charset="0"/>
                <a:ea typeface="Jost" pitchFamily="34" charset="-122"/>
                <a:cs typeface="Jost" pitchFamily="34" charset="-120"/>
              </a:rPr>
              <a:t>Operating / mo</a:t>
            </a:r>
            <a:endParaRPr lang="en-US" sz="850" dirty="0"/>
          </a:p>
        </p:txBody>
      </p:sp>
      <p:sp>
        <p:nvSpPr>
          <p:cNvPr id="34" name="Text 32"/>
          <p:cNvSpPr/>
          <p:nvPr/>
        </p:nvSpPr>
        <p:spPr>
          <a:xfrm>
            <a:off x="4456481" y="3621024"/>
            <a:ext cx="1270711" cy="256032"/>
          </a:xfrm>
          <a:prstGeom prst="rect">
            <a:avLst/>
          </a:prstGeom>
          <a:noFill/>
          <a:ln/>
        </p:spPr>
        <p:txBody>
          <a:bodyPr wrap="square" rtlCol="0" anchor="ctr"/>
          <a:lstStyle/>
          <a:p>
            <a:pPr algn="r" indent="0" marL="0">
              <a:buNone/>
            </a:pPr>
            <a:r>
              <a:rPr lang="en-US" sz="850" dirty="0">
                <a:solidFill>
                  <a:srgbClr val="EDE7DE"/>
                </a:solidFill>
                <a:latin typeface="Jost" pitchFamily="34" charset="0"/>
                <a:ea typeface="Jost" pitchFamily="34" charset="-122"/>
                <a:cs typeface="Jost" pitchFamily="34" charset="-120"/>
              </a:rPr>
              <a:t>$224,801</a:t>
            </a:r>
            <a:endParaRPr lang="en-US" sz="850" dirty="0"/>
          </a:p>
        </p:txBody>
      </p:sp>
      <p:sp>
        <p:nvSpPr>
          <p:cNvPr id="35" name="Shape 33"/>
          <p:cNvSpPr/>
          <p:nvPr/>
        </p:nvSpPr>
        <p:spPr>
          <a:xfrm>
            <a:off x="3416808" y="4206240"/>
            <a:ext cx="2310384" cy="5486"/>
          </a:xfrm>
          <a:prstGeom prst="rect">
            <a:avLst/>
          </a:prstGeom>
          <a:solidFill>
            <a:srgbClr val="271F13"/>
          </a:solidFill>
          <a:ln w="12700">
            <a:solidFill>
              <a:srgbClr val="271F13"/>
            </a:solidFill>
            <a:prstDash val="solid"/>
          </a:ln>
        </p:spPr>
      </p:sp>
      <p:sp>
        <p:nvSpPr>
          <p:cNvPr id="36" name="Text 34"/>
          <p:cNvSpPr/>
          <p:nvPr/>
        </p:nvSpPr>
        <p:spPr>
          <a:xfrm>
            <a:off x="3416808" y="3931920"/>
            <a:ext cx="1270711" cy="256032"/>
          </a:xfrm>
          <a:prstGeom prst="rect">
            <a:avLst/>
          </a:prstGeom>
          <a:noFill/>
          <a:ln/>
        </p:spPr>
        <p:txBody>
          <a:bodyPr wrap="square" rtlCol="0" anchor="ctr"/>
          <a:lstStyle/>
          <a:p>
            <a:pPr indent="0" marL="0">
              <a:buNone/>
            </a:pPr>
            <a:r>
              <a:rPr lang="en-US" sz="850" dirty="0">
                <a:solidFill>
                  <a:srgbClr val="C9BCA9"/>
                </a:solidFill>
                <a:latin typeface="Jost" pitchFamily="34" charset="0"/>
                <a:ea typeface="Jost" pitchFamily="34" charset="-122"/>
                <a:cs typeface="Jost" pitchFamily="34" charset="-120"/>
              </a:rPr>
              <a:t>Yield on equity</a:t>
            </a:r>
            <a:endParaRPr lang="en-US" sz="850" dirty="0"/>
          </a:p>
        </p:txBody>
      </p:sp>
      <p:sp>
        <p:nvSpPr>
          <p:cNvPr id="37" name="Text 35"/>
          <p:cNvSpPr/>
          <p:nvPr/>
        </p:nvSpPr>
        <p:spPr>
          <a:xfrm>
            <a:off x="4456481" y="3931920"/>
            <a:ext cx="1270711" cy="256032"/>
          </a:xfrm>
          <a:prstGeom prst="rect">
            <a:avLst/>
          </a:prstGeom>
          <a:noFill/>
          <a:ln/>
        </p:spPr>
        <p:txBody>
          <a:bodyPr wrap="square" rtlCol="0" anchor="ctr"/>
          <a:lstStyle/>
          <a:p>
            <a:pPr algn="r" indent="0" marL="0">
              <a:buNone/>
            </a:pPr>
            <a:r>
              <a:rPr lang="en-US" sz="850" dirty="0">
                <a:solidFill>
                  <a:srgbClr val="EDE7DE"/>
                </a:solidFill>
                <a:latin typeface="Jost" pitchFamily="34" charset="0"/>
                <a:ea typeface="Jost" pitchFamily="34" charset="-122"/>
                <a:cs typeface="Jost" pitchFamily="34" charset="-120"/>
              </a:rPr>
              <a:t>56.8%</a:t>
            </a:r>
            <a:endParaRPr lang="en-US" sz="850" dirty="0"/>
          </a:p>
        </p:txBody>
      </p:sp>
      <p:sp>
        <p:nvSpPr>
          <p:cNvPr id="38" name="Shape 36"/>
          <p:cNvSpPr/>
          <p:nvPr/>
        </p:nvSpPr>
        <p:spPr>
          <a:xfrm>
            <a:off x="6038088" y="1737360"/>
            <a:ext cx="2602992" cy="2788920"/>
          </a:xfrm>
          <a:prstGeom prst="rect">
            <a:avLst/>
          </a:prstGeom>
          <a:solidFill>
            <a:srgbClr val="1C1C1E"/>
          </a:solidFill>
          <a:ln w="9525">
            <a:solidFill>
              <a:srgbClr val="271F13"/>
            </a:solidFill>
            <a:prstDash val="solid"/>
          </a:ln>
        </p:spPr>
      </p:sp>
      <p:sp>
        <p:nvSpPr>
          <p:cNvPr id="39" name="Text 37"/>
          <p:cNvSpPr/>
          <p:nvPr/>
        </p:nvSpPr>
        <p:spPr>
          <a:xfrm>
            <a:off x="6184392" y="1865376"/>
            <a:ext cx="2310384" cy="182880"/>
          </a:xfrm>
          <a:prstGeom prst="rect">
            <a:avLst/>
          </a:prstGeom>
          <a:noFill/>
          <a:ln/>
        </p:spPr>
        <p:txBody>
          <a:bodyPr wrap="square" rtlCol="0" anchor="ctr"/>
          <a:lstStyle/>
          <a:p>
            <a:pPr indent="0" marL="0">
              <a:buNone/>
            </a:pPr>
            <a:r>
              <a:rPr lang="en-US" sz="750" spc="200" kern="0" dirty="0">
                <a:solidFill>
                  <a:srgbClr val="B08D57"/>
                </a:solidFill>
                <a:latin typeface="Jost" pitchFamily="34" charset="0"/>
                <a:ea typeface="Jost" pitchFamily="34" charset="-122"/>
                <a:cs typeface="Jost" pitchFamily="34" charset="-120"/>
              </a:rPr>
              <a:t>UPSIDE</a:t>
            </a:r>
            <a:endParaRPr lang="en-US" sz="750" dirty="0"/>
          </a:p>
        </p:txBody>
      </p:sp>
      <p:sp>
        <p:nvSpPr>
          <p:cNvPr id="40" name="Text 38"/>
          <p:cNvSpPr/>
          <p:nvPr/>
        </p:nvSpPr>
        <p:spPr>
          <a:xfrm>
            <a:off x="6184392" y="2084832"/>
            <a:ext cx="2310384" cy="384048"/>
          </a:xfrm>
          <a:prstGeom prst="rect">
            <a:avLst/>
          </a:prstGeom>
          <a:noFill/>
          <a:ln/>
        </p:spPr>
        <p:txBody>
          <a:bodyPr wrap="square" rtlCol="0" anchor="t"/>
          <a:lstStyle/>
          <a:p>
            <a:pPr indent="0" marL="0">
              <a:buNone/>
            </a:pPr>
            <a:r>
              <a:rPr lang="en-US" sz="2200" dirty="0">
                <a:solidFill>
                  <a:srgbClr val="B08D57"/>
                </a:solidFill>
                <a:latin typeface="Cormorant Garamond" pitchFamily="34" charset="0"/>
                <a:ea typeface="Cormorant Garamond" pitchFamily="34" charset="-122"/>
                <a:cs typeface="Cormorant Garamond" pitchFamily="34" charset="-120"/>
              </a:rPr>
              <a:t>$4.15M / yr</a:t>
            </a:r>
            <a:endParaRPr lang="en-US" sz="2200" dirty="0"/>
          </a:p>
        </p:txBody>
      </p:sp>
      <p:sp>
        <p:nvSpPr>
          <p:cNvPr id="41" name="Text 39"/>
          <p:cNvSpPr/>
          <p:nvPr/>
        </p:nvSpPr>
        <p:spPr>
          <a:xfrm>
            <a:off x="6184392" y="2505456"/>
            <a:ext cx="2310384" cy="365760"/>
          </a:xfrm>
          <a:prstGeom prst="rect">
            <a:avLst/>
          </a:prstGeom>
          <a:noFill/>
          <a:ln/>
        </p:spPr>
        <p:txBody>
          <a:bodyPr wrap="square" rtlCol="0" anchor="t"/>
          <a:lstStyle/>
          <a:p>
            <a:pPr indent="0" marL="0">
              <a:lnSpc>
                <a:spcPct val="115000"/>
              </a:lnSpc>
              <a:buNone/>
            </a:pPr>
            <a:r>
              <a:rPr lang="en-US" sz="850" dirty="0">
                <a:solidFill>
                  <a:srgbClr val="C9BCA9"/>
                </a:solidFill>
                <a:latin typeface="Jost" pitchFamily="34" charset="0"/>
                <a:ea typeface="Jost" pitchFamily="34" charset="-122"/>
                <a:cs typeface="Jost" pitchFamily="34" charset="-120"/>
              </a:rPr>
              <a:t>Waitlist demand, 128% of base volume</a:t>
            </a:r>
            <a:endParaRPr lang="en-US" sz="850" dirty="0"/>
          </a:p>
        </p:txBody>
      </p:sp>
      <p:sp>
        <p:nvSpPr>
          <p:cNvPr id="42" name="Shape 40"/>
          <p:cNvSpPr/>
          <p:nvPr/>
        </p:nvSpPr>
        <p:spPr>
          <a:xfrm>
            <a:off x="6184392" y="3273552"/>
            <a:ext cx="2310384" cy="5486"/>
          </a:xfrm>
          <a:prstGeom prst="rect">
            <a:avLst/>
          </a:prstGeom>
          <a:solidFill>
            <a:srgbClr val="271F13"/>
          </a:solidFill>
          <a:ln w="12700">
            <a:solidFill>
              <a:srgbClr val="271F13"/>
            </a:solidFill>
            <a:prstDash val="solid"/>
          </a:ln>
        </p:spPr>
      </p:sp>
      <p:sp>
        <p:nvSpPr>
          <p:cNvPr id="43" name="Text 41"/>
          <p:cNvSpPr/>
          <p:nvPr/>
        </p:nvSpPr>
        <p:spPr>
          <a:xfrm>
            <a:off x="6184392" y="2999232"/>
            <a:ext cx="1270711" cy="256032"/>
          </a:xfrm>
          <a:prstGeom prst="rect">
            <a:avLst/>
          </a:prstGeom>
          <a:noFill/>
          <a:ln/>
        </p:spPr>
        <p:txBody>
          <a:bodyPr wrap="square" rtlCol="0" anchor="ctr"/>
          <a:lstStyle/>
          <a:p>
            <a:pPr indent="0" marL="0">
              <a:buNone/>
            </a:pPr>
            <a:r>
              <a:rPr lang="en-US" sz="850" dirty="0">
                <a:solidFill>
                  <a:srgbClr val="C9BCA9"/>
                </a:solidFill>
                <a:latin typeface="Jost" pitchFamily="34" charset="0"/>
                <a:ea typeface="Jost" pitchFamily="34" charset="-122"/>
                <a:cs typeface="Jost" pitchFamily="34" charset="-120"/>
              </a:rPr>
              <a:t>Revenue / mo</a:t>
            </a:r>
            <a:endParaRPr lang="en-US" sz="850" dirty="0"/>
          </a:p>
        </p:txBody>
      </p:sp>
      <p:sp>
        <p:nvSpPr>
          <p:cNvPr id="44" name="Text 42"/>
          <p:cNvSpPr/>
          <p:nvPr/>
        </p:nvSpPr>
        <p:spPr>
          <a:xfrm>
            <a:off x="7224065" y="2999232"/>
            <a:ext cx="1270711" cy="256032"/>
          </a:xfrm>
          <a:prstGeom prst="rect">
            <a:avLst/>
          </a:prstGeom>
          <a:noFill/>
          <a:ln/>
        </p:spPr>
        <p:txBody>
          <a:bodyPr wrap="square" rtlCol="0" anchor="ctr"/>
          <a:lstStyle/>
          <a:p>
            <a:pPr algn="r" indent="0" marL="0">
              <a:buNone/>
            </a:pPr>
            <a:r>
              <a:rPr lang="en-US" sz="850" dirty="0">
                <a:solidFill>
                  <a:srgbClr val="EDE7DE"/>
                </a:solidFill>
                <a:latin typeface="Jost" pitchFamily="34" charset="0"/>
                <a:ea typeface="Jost" pitchFamily="34" charset="-122"/>
                <a:cs typeface="Jost" pitchFamily="34" charset="-120"/>
              </a:rPr>
              <a:t>$765,486</a:t>
            </a:r>
            <a:endParaRPr lang="en-US" sz="850" dirty="0"/>
          </a:p>
        </p:txBody>
      </p:sp>
      <p:sp>
        <p:nvSpPr>
          <p:cNvPr id="45" name="Shape 43"/>
          <p:cNvSpPr/>
          <p:nvPr/>
        </p:nvSpPr>
        <p:spPr>
          <a:xfrm>
            <a:off x="6184392" y="3584448"/>
            <a:ext cx="2310384" cy="5486"/>
          </a:xfrm>
          <a:prstGeom prst="rect">
            <a:avLst/>
          </a:prstGeom>
          <a:solidFill>
            <a:srgbClr val="271F13"/>
          </a:solidFill>
          <a:ln w="12700">
            <a:solidFill>
              <a:srgbClr val="271F13"/>
            </a:solidFill>
            <a:prstDash val="solid"/>
          </a:ln>
        </p:spPr>
      </p:sp>
      <p:sp>
        <p:nvSpPr>
          <p:cNvPr id="46" name="Text 44"/>
          <p:cNvSpPr/>
          <p:nvPr/>
        </p:nvSpPr>
        <p:spPr>
          <a:xfrm>
            <a:off x="6184392" y="3310128"/>
            <a:ext cx="1270711" cy="256032"/>
          </a:xfrm>
          <a:prstGeom prst="rect">
            <a:avLst/>
          </a:prstGeom>
          <a:noFill/>
          <a:ln/>
        </p:spPr>
        <p:txBody>
          <a:bodyPr wrap="square" rtlCol="0" anchor="ctr"/>
          <a:lstStyle/>
          <a:p>
            <a:pPr indent="0" marL="0">
              <a:buNone/>
            </a:pPr>
            <a:r>
              <a:rPr lang="en-US" sz="850" dirty="0">
                <a:solidFill>
                  <a:srgbClr val="C9BCA9"/>
                </a:solidFill>
                <a:latin typeface="Jost" pitchFamily="34" charset="0"/>
                <a:ea typeface="Jost" pitchFamily="34" charset="-122"/>
                <a:cs typeface="Jost" pitchFamily="34" charset="-120"/>
              </a:rPr>
              <a:t>Net after COGS</a:t>
            </a:r>
            <a:endParaRPr lang="en-US" sz="850" dirty="0"/>
          </a:p>
        </p:txBody>
      </p:sp>
      <p:sp>
        <p:nvSpPr>
          <p:cNvPr id="47" name="Text 45"/>
          <p:cNvSpPr/>
          <p:nvPr/>
        </p:nvSpPr>
        <p:spPr>
          <a:xfrm>
            <a:off x="7224065" y="3310128"/>
            <a:ext cx="1270711" cy="256032"/>
          </a:xfrm>
          <a:prstGeom prst="rect">
            <a:avLst/>
          </a:prstGeom>
          <a:noFill/>
          <a:ln/>
        </p:spPr>
        <p:txBody>
          <a:bodyPr wrap="square" rtlCol="0" anchor="ctr"/>
          <a:lstStyle/>
          <a:p>
            <a:pPr algn="r" indent="0" marL="0">
              <a:buNone/>
            </a:pPr>
            <a:r>
              <a:rPr lang="en-US" sz="850" dirty="0">
                <a:solidFill>
                  <a:srgbClr val="EDE7DE"/>
                </a:solidFill>
                <a:latin typeface="Jost" pitchFamily="34" charset="0"/>
                <a:ea typeface="Jost" pitchFamily="34" charset="-122"/>
                <a:cs typeface="Jost" pitchFamily="34" charset="-120"/>
              </a:rPr>
              <a:t>$553,566</a:t>
            </a:r>
            <a:endParaRPr lang="en-US" sz="850" dirty="0"/>
          </a:p>
        </p:txBody>
      </p:sp>
      <p:sp>
        <p:nvSpPr>
          <p:cNvPr id="48" name="Shape 46"/>
          <p:cNvSpPr/>
          <p:nvPr/>
        </p:nvSpPr>
        <p:spPr>
          <a:xfrm>
            <a:off x="6184392" y="3895344"/>
            <a:ext cx="2310384" cy="5486"/>
          </a:xfrm>
          <a:prstGeom prst="rect">
            <a:avLst/>
          </a:prstGeom>
          <a:solidFill>
            <a:srgbClr val="271F13"/>
          </a:solidFill>
          <a:ln w="12700">
            <a:solidFill>
              <a:srgbClr val="271F13"/>
            </a:solidFill>
            <a:prstDash val="solid"/>
          </a:ln>
        </p:spPr>
      </p:sp>
      <p:sp>
        <p:nvSpPr>
          <p:cNvPr id="49" name="Text 47"/>
          <p:cNvSpPr/>
          <p:nvPr/>
        </p:nvSpPr>
        <p:spPr>
          <a:xfrm>
            <a:off x="6184392" y="3621024"/>
            <a:ext cx="1270711" cy="256032"/>
          </a:xfrm>
          <a:prstGeom prst="rect">
            <a:avLst/>
          </a:prstGeom>
          <a:noFill/>
          <a:ln/>
        </p:spPr>
        <p:txBody>
          <a:bodyPr wrap="square" rtlCol="0" anchor="ctr"/>
          <a:lstStyle/>
          <a:p>
            <a:pPr indent="0" marL="0">
              <a:buNone/>
            </a:pPr>
            <a:r>
              <a:rPr lang="en-US" sz="850" dirty="0">
                <a:solidFill>
                  <a:srgbClr val="C9BCA9"/>
                </a:solidFill>
                <a:latin typeface="Jost" pitchFamily="34" charset="0"/>
                <a:ea typeface="Jost" pitchFamily="34" charset="-122"/>
                <a:cs typeface="Jost" pitchFamily="34" charset="-120"/>
              </a:rPr>
              <a:t>Operating / mo</a:t>
            </a:r>
            <a:endParaRPr lang="en-US" sz="850" dirty="0"/>
          </a:p>
        </p:txBody>
      </p:sp>
      <p:sp>
        <p:nvSpPr>
          <p:cNvPr id="50" name="Text 48"/>
          <p:cNvSpPr/>
          <p:nvPr/>
        </p:nvSpPr>
        <p:spPr>
          <a:xfrm>
            <a:off x="7224065" y="3621024"/>
            <a:ext cx="1270711" cy="256032"/>
          </a:xfrm>
          <a:prstGeom prst="rect">
            <a:avLst/>
          </a:prstGeom>
          <a:noFill/>
          <a:ln/>
        </p:spPr>
        <p:txBody>
          <a:bodyPr wrap="square" rtlCol="0" anchor="ctr"/>
          <a:lstStyle/>
          <a:p>
            <a:pPr algn="r" indent="0" marL="0">
              <a:buNone/>
            </a:pPr>
            <a:r>
              <a:rPr lang="en-US" sz="850" dirty="0">
                <a:solidFill>
                  <a:srgbClr val="EDE7DE"/>
                </a:solidFill>
                <a:latin typeface="Jost" pitchFamily="34" charset="0"/>
                <a:ea typeface="Jost" pitchFamily="34" charset="-122"/>
                <a:cs typeface="Jost" pitchFamily="34" charset="-120"/>
              </a:rPr>
              <a:t>$345,893</a:t>
            </a:r>
            <a:endParaRPr lang="en-US" sz="850" dirty="0"/>
          </a:p>
        </p:txBody>
      </p:sp>
      <p:sp>
        <p:nvSpPr>
          <p:cNvPr id="51" name="Shape 49"/>
          <p:cNvSpPr/>
          <p:nvPr/>
        </p:nvSpPr>
        <p:spPr>
          <a:xfrm>
            <a:off x="6184392" y="4206240"/>
            <a:ext cx="2310384" cy="5486"/>
          </a:xfrm>
          <a:prstGeom prst="rect">
            <a:avLst/>
          </a:prstGeom>
          <a:solidFill>
            <a:srgbClr val="271F13"/>
          </a:solidFill>
          <a:ln w="12700">
            <a:solidFill>
              <a:srgbClr val="271F13"/>
            </a:solidFill>
            <a:prstDash val="solid"/>
          </a:ln>
        </p:spPr>
      </p:sp>
      <p:sp>
        <p:nvSpPr>
          <p:cNvPr id="52" name="Text 50"/>
          <p:cNvSpPr/>
          <p:nvPr/>
        </p:nvSpPr>
        <p:spPr>
          <a:xfrm>
            <a:off x="6184392" y="3931920"/>
            <a:ext cx="1270711" cy="256032"/>
          </a:xfrm>
          <a:prstGeom prst="rect">
            <a:avLst/>
          </a:prstGeom>
          <a:noFill/>
          <a:ln/>
        </p:spPr>
        <p:txBody>
          <a:bodyPr wrap="square" rtlCol="0" anchor="ctr"/>
          <a:lstStyle/>
          <a:p>
            <a:pPr indent="0" marL="0">
              <a:buNone/>
            </a:pPr>
            <a:r>
              <a:rPr lang="en-US" sz="850" dirty="0">
                <a:solidFill>
                  <a:srgbClr val="C9BCA9"/>
                </a:solidFill>
                <a:latin typeface="Jost" pitchFamily="34" charset="0"/>
                <a:ea typeface="Jost" pitchFamily="34" charset="-122"/>
                <a:cs typeface="Jost" pitchFamily="34" charset="-120"/>
              </a:rPr>
              <a:t>Yield on equity</a:t>
            </a:r>
            <a:endParaRPr lang="en-US" sz="850" dirty="0"/>
          </a:p>
        </p:txBody>
      </p:sp>
      <p:sp>
        <p:nvSpPr>
          <p:cNvPr id="53" name="Text 51"/>
          <p:cNvSpPr/>
          <p:nvPr/>
        </p:nvSpPr>
        <p:spPr>
          <a:xfrm>
            <a:off x="7224065" y="3931920"/>
            <a:ext cx="1270711" cy="256032"/>
          </a:xfrm>
          <a:prstGeom prst="rect">
            <a:avLst/>
          </a:prstGeom>
          <a:noFill/>
          <a:ln/>
        </p:spPr>
        <p:txBody>
          <a:bodyPr wrap="square" rtlCol="0" anchor="ctr"/>
          <a:lstStyle/>
          <a:p>
            <a:pPr algn="r" indent="0" marL="0">
              <a:buNone/>
            </a:pPr>
            <a:r>
              <a:rPr lang="en-US" sz="850" dirty="0">
                <a:solidFill>
                  <a:srgbClr val="EDE7DE"/>
                </a:solidFill>
                <a:latin typeface="Jost" pitchFamily="34" charset="0"/>
                <a:ea typeface="Jost" pitchFamily="34" charset="-122"/>
                <a:cs typeface="Jost" pitchFamily="34" charset="-120"/>
              </a:rPr>
              <a:t>87.4%</a:t>
            </a:r>
            <a:endParaRPr lang="en-US" sz="850" dirty="0"/>
          </a:p>
        </p:txBody>
      </p:sp>
      <p:sp>
        <p:nvSpPr>
          <p:cNvPr id="54" name="Text 52"/>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B6965"/>
                </a:solidFill>
                <a:latin typeface="Jost" pitchFamily="34" charset="0"/>
                <a:ea typeface="Jost" pitchFamily="34" charset="-122"/>
                <a:cs typeface="Jost" pitchFamily="34" charset="-120"/>
              </a:rPr>
              <a:t>L&amp;K WELLNESS  ·  PRIVATE INVESTMENT BRIEF  ·  CONFIDENTIAL</a:t>
            </a:r>
            <a:endParaRPr lang="en-US" sz="700" dirty="0"/>
          </a:p>
        </p:txBody>
      </p:sp>
      <p:sp>
        <p:nvSpPr>
          <p:cNvPr id="55" name="Text 53"/>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B6965"/>
                </a:solidFill>
                <a:latin typeface="Jost" pitchFamily="34" charset="0"/>
                <a:ea typeface="Jost" pitchFamily="34" charset="-122"/>
                <a:cs typeface="Jost" pitchFamily="34" charset="-120"/>
              </a:rPr>
              <a:t>23</a:t>
            </a:r>
            <a:endParaRPr lang="en-US" sz="7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B08D57"/>
                </a:solidFill>
                <a:latin typeface="Jost" pitchFamily="34" charset="0"/>
                <a:ea typeface="Jost" pitchFamily="34" charset="-122"/>
                <a:cs typeface="Jost" pitchFamily="34" charset="-120"/>
              </a:rPr>
              <a:t>THE ASK</a:t>
            </a:r>
            <a:endParaRPr lang="en-US" sz="900" dirty="0"/>
          </a:p>
        </p:txBody>
      </p:sp>
      <p:sp>
        <p:nvSpPr>
          <p:cNvPr id="3" name="Shape 1"/>
          <p:cNvSpPr/>
          <p:nvPr/>
        </p:nvSpPr>
        <p:spPr>
          <a:xfrm>
            <a:off x="502920" y="557784"/>
            <a:ext cx="566928" cy="12802"/>
          </a:xfrm>
          <a:prstGeom prst="rect">
            <a:avLst/>
          </a:prstGeom>
          <a:solidFill>
            <a:srgbClr val="B08D57"/>
          </a:solidFill>
          <a:ln w="12700">
            <a:solidFill>
              <a:srgbClr val="B08D57"/>
            </a:solidFill>
            <a:prstDash val="solid"/>
          </a:ln>
        </p:spPr>
      </p:sp>
      <p:sp>
        <p:nvSpPr>
          <p:cNvPr id="4" name="Text 2"/>
          <p:cNvSpPr/>
          <p:nvPr/>
        </p:nvSpPr>
        <p:spPr>
          <a:xfrm>
            <a:off x="502920" y="621792"/>
            <a:ext cx="8138160" cy="548640"/>
          </a:xfrm>
          <a:prstGeom prst="rect">
            <a:avLst/>
          </a:prstGeom>
          <a:noFill/>
          <a:ln/>
        </p:spPr>
        <p:txBody>
          <a:bodyPr wrap="square" rtlCol="0" anchor="t"/>
          <a:lstStyle/>
          <a:p>
            <a:pPr indent="0" marL="0">
              <a:buNone/>
            </a:pPr>
            <a:r>
              <a:rPr lang="en-US" sz="2600" spc="400" kern="0" dirty="0">
                <a:solidFill>
                  <a:srgbClr val="EDE7DE"/>
                </a:solidFill>
                <a:latin typeface="Cormorant Garamond" pitchFamily="34" charset="0"/>
                <a:ea typeface="Cormorant Garamond" pitchFamily="34" charset="-122"/>
                <a:cs typeface="Cormorant Garamond" pitchFamily="34" charset="-120"/>
              </a:rPr>
              <a:t>$4.75M FOR 30%, RATCHETED</a:t>
            </a:r>
            <a:endParaRPr lang="en-US" sz="2600" dirty="0"/>
          </a:p>
        </p:txBody>
      </p:sp>
      <p:sp>
        <p:nvSpPr>
          <p:cNvPr id="5" name="Shape 3"/>
          <p:cNvSpPr/>
          <p:nvPr/>
        </p:nvSpPr>
        <p:spPr>
          <a:xfrm>
            <a:off x="502920" y="1234440"/>
            <a:ext cx="1924812" cy="841248"/>
          </a:xfrm>
          <a:prstGeom prst="rect">
            <a:avLst/>
          </a:prstGeom>
          <a:solidFill>
            <a:srgbClr val="1C1C1E"/>
          </a:solidFill>
          <a:ln w="9525">
            <a:solidFill>
              <a:srgbClr val="271F13"/>
            </a:solidFill>
            <a:prstDash val="solid"/>
          </a:ln>
        </p:spPr>
      </p:sp>
      <p:sp>
        <p:nvSpPr>
          <p:cNvPr id="6" name="Text 4"/>
          <p:cNvSpPr/>
          <p:nvPr/>
        </p:nvSpPr>
        <p:spPr>
          <a:xfrm>
            <a:off x="649224" y="1362456"/>
            <a:ext cx="1632204" cy="310896"/>
          </a:xfrm>
          <a:prstGeom prst="rect">
            <a:avLst/>
          </a:prstGeom>
          <a:noFill/>
          <a:ln/>
        </p:spPr>
        <p:txBody>
          <a:bodyPr wrap="square" rtlCol="0" anchor="t"/>
          <a:lstStyle/>
          <a:p>
            <a:pPr indent="0" marL="0">
              <a:buNone/>
            </a:pPr>
            <a:r>
              <a:rPr lang="en-US" sz="1800" dirty="0">
                <a:solidFill>
                  <a:srgbClr val="B08D57"/>
                </a:solidFill>
                <a:latin typeface="Cormorant Garamond" pitchFamily="34" charset="0"/>
                <a:ea typeface="Cormorant Garamond" pitchFamily="34" charset="-122"/>
                <a:cs typeface="Cormorant Garamond" pitchFamily="34" charset="-120"/>
              </a:rPr>
              <a:t>$4,750,000</a:t>
            </a:r>
            <a:endParaRPr lang="en-US" sz="1800" dirty="0"/>
          </a:p>
        </p:txBody>
      </p:sp>
      <p:sp>
        <p:nvSpPr>
          <p:cNvPr id="7" name="Text 5"/>
          <p:cNvSpPr/>
          <p:nvPr/>
        </p:nvSpPr>
        <p:spPr>
          <a:xfrm>
            <a:off x="649224" y="1691640"/>
            <a:ext cx="1632204" cy="274320"/>
          </a:xfrm>
          <a:prstGeom prst="rect">
            <a:avLst/>
          </a:prstGeom>
          <a:noFill/>
          <a:ln/>
        </p:spPr>
        <p:txBody>
          <a:bodyPr wrap="square" rtlCol="0" anchor="t"/>
          <a:lstStyle/>
          <a:p>
            <a:pPr indent="0" marL="0">
              <a:lnSpc>
                <a:spcPct val="120000"/>
              </a:lnSpc>
              <a:buNone/>
            </a:pPr>
            <a:r>
              <a:rPr lang="en-US" sz="800" dirty="0">
                <a:solidFill>
                  <a:srgbClr val="C9BCA9"/>
                </a:solidFill>
                <a:latin typeface="Jost" pitchFamily="34" charset="0"/>
                <a:ea typeface="Jost" pitchFamily="34" charset="-122"/>
                <a:cs typeface="Jost" pitchFamily="34" charset="-120"/>
              </a:rPr>
              <a:t>Total raise, all equity</a:t>
            </a:r>
            <a:endParaRPr lang="en-US" sz="800" dirty="0"/>
          </a:p>
        </p:txBody>
      </p:sp>
      <p:sp>
        <p:nvSpPr>
          <p:cNvPr id="8" name="Shape 6"/>
          <p:cNvSpPr/>
          <p:nvPr/>
        </p:nvSpPr>
        <p:spPr>
          <a:xfrm>
            <a:off x="2574036" y="1234440"/>
            <a:ext cx="1924812" cy="841248"/>
          </a:xfrm>
          <a:prstGeom prst="rect">
            <a:avLst/>
          </a:prstGeom>
          <a:solidFill>
            <a:srgbClr val="1C1C1E"/>
          </a:solidFill>
          <a:ln w="9525">
            <a:solidFill>
              <a:srgbClr val="271F13"/>
            </a:solidFill>
            <a:prstDash val="solid"/>
          </a:ln>
        </p:spPr>
      </p:sp>
      <p:sp>
        <p:nvSpPr>
          <p:cNvPr id="9" name="Text 7"/>
          <p:cNvSpPr/>
          <p:nvPr/>
        </p:nvSpPr>
        <p:spPr>
          <a:xfrm>
            <a:off x="2720340" y="1362456"/>
            <a:ext cx="1632204" cy="310896"/>
          </a:xfrm>
          <a:prstGeom prst="rect">
            <a:avLst/>
          </a:prstGeom>
          <a:noFill/>
          <a:ln/>
        </p:spPr>
        <p:txBody>
          <a:bodyPr wrap="square" rtlCol="0" anchor="t"/>
          <a:lstStyle/>
          <a:p>
            <a:pPr indent="0" marL="0">
              <a:buNone/>
            </a:pPr>
            <a:r>
              <a:rPr lang="en-US" sz="1800" dirty="0">
                <a:solidFill>
                  <a:srgbClr val="B08D57"/>
                </a:solidFill>
                <a:latin typeface="Cormorant Garamond" pitchFamily="34" charset="0"/>
                <a:ea typeface="Cormorant Garamond" pitchFamily="34" charset="-122"/>
                <a:cs typeface="Cormorant Garamond" pitchFamily="34" charset="-120"/>
              </a:rPr>
              <a:t>30%</a:t>
            </a:r>
            <a:endParaRPr lang="en-US" sz="1800" dirty="0"/>
          </a:p>
        </p:txBody>
      </p:sp>
      <p:sp>
        <p:nvSpPr>
          <p:cNvPr id="10" name="Text 8"/>
          <p:cNvSpPr/>
          <p:nvPr/>
        </p:nvSpPr>
        <p:spPr>
          <a:xfrm>
            <a:off x="2720340" y="1691640"/>
            <a:ext cx="1632204" cy="274320"/>
          </a:xfrm>
          <a:prstGeom prst="rect">
            <a:avLst/>
          </a:prstGeom>
          <a:noFill/>
          <a:ln/>
        </p:spPr>
        <p:txBody>
          <a:bodyPr wrap="square" rtlCol="0" anchor="t"/>
          <a:lstStyle/>
          <a:p>
            <a:pPr indent="0" marL="0">
              <a:lnSpc>
                <a:spcPct val="120000"/>
              </a:lnSpc>
              <a:buNone/>
            </a:pPr>
            <a:r>
              <a:rPr lang="en-US" sz="800" dirty="0">
                <a:solidFill>
                  <a:srgbClr val="C9BCA9"/>
                </a:solidFill>
                <a:latin typeface="Jost" pitchFamily="34" charset="0"/>
                <a:ea typeface="Jost" pitchFamily="34" charset="-122"/>
                <a:cs typeface="Jost" pitchFamily="34" charset="-120"/>
              </a:rPr>
              <a:t>Starting stake</a:t>
            </a:r>
            <a:endParaRPr lang="en-US" sz="800" dirty="0"/>
          </a:p>
        </p:txBody>
      </p:sp>
      <p:sp>
        <p:nvSpPr>
          <p:cNvPr id="11" name="Shape 9"/>
          <p:cNvSpPr/>
          <p:nvPr/>
        </p:nvSpPr>
        <p:spPr>
          <a:xfrm>
            <a:off x="4645152" y="1234440"/>
            <a:ext cx="1924812" cy="841248"/>
          </a:xfrm>
          <a:prstGeom prst="rect">
            <a:avLst/>
          </a:prstGeom>
          <a:solidFill>
            <a:srgbClr val="1C1C1E"/>
          </a:solidFill>
          <a:ln w="9525">
            <a:solidFill>
              <a:srgbClr val="271F13"/>
            </a:solidFill>
            <a:prstDash val="solid"/>
          </a:ln>
        </p:spPr>
      </p:sp>
      <p:sp>
        <p:nvSpPr>
          <p:cNvPr id="12" name="Text 10"/>
          <p:cNvSpPr/>
          <p:nvPr/>
        </p:nvSpPr>
        <p:spPr>
          <a:xfrm>
            <a:off x="4791456" y="1362456"/>
            <a:ext cx="1632204" cy="310896"/>
          </a:xfrm>
          <a:prstGeom prst="rect">
            <a:avLst/>
          </a:prstGeom>
          <a:noFill/>
          <a:ln/>
        </p:spPr>
        <p:txBody>
          <a:bodyPr wrap="square" rtlCol="0" anchor="t"/>
          <a:lstStyle/>
          <a:p>
            <a:pPr indent="0" marL="0">
              <a:buNone/>
            </a:pPr>
            <a:r>
              <a:rPr lang="en-US" sz="1800" dirty="0">
                <a:solidFill>
                  <a:srgbClr val="B08D57"/>
                </a:solidFill>
                <a:latin typeface="Cormorant Garamond" pitchFamily="34" charset="0"/>
                <a:ea typeface="Cormorant Garamond" pitchFamily="34" charset="-122"/>
                <a:cs typeface="Cormorant Garamond" pitchFamily="34" charset="-120"/>
              </a:rPr>
              <a:t>$11,083,333</a:t>
            </a:r>
            <a:endParaRPr lang="en-US" sz="1800" dirty="0"/>
          </a:p>
        </p:txBody>
      </p:sp>
      <p:sp>
        <p:nvSpPr>
          <p:cNvPr id="13" name="Text 11"/>
          <p:cNvSpPr/>
          <p:nvPr/>
        </p:nvSpPr>
        <p:spPr>
          <a:xfrm>
            <a:off x="4791456" y="1691640"/>
            <a:ext cx="1632204" cy="274320"/>
          </a:xfrm>
          <a:prstGeom prst="rect">
            <a:avLst/>
          </a:prstGeom>
          <a:noFill/>
          <a:ln/>
        </p:spPr>
        <p:txBody>
          <a:bodyPr wrap="square" rtlCol="0" anchor="t"/>
          <a:lstStyle/>
          <a:p>
            <a:pPr indent="0" marL="0">
              <a:lnSpc>
                <a:spcPct val="120000"/>
              </a:lnSpc>
              <a:buNone/>
            </a:pPr>
            <a:r>
              <a:rPr lang="en-US" sz="800" dirty="0">
                <a:solidFill>
                  <a:srgbClr val="C9BCA9"/>
                </a:solidFill>
                <a:latin typeface="Jost" pitchFamily="34" charset="0"/>
                <a:ea typeface="Jost" pitchFamily="34" charset="-122"/>
                <a:cs typeface="Jost" pitchFamily="34" charset="-120"/>
              </a:rPr>
              <a:t>Pre-money valuation</a:t>
            </a:r>
            <a:endParaRPr lang="en-US" sz="800" dirty="0"/>
          </a:p>
        </p:txBody>
      </p:sp>
      <p:sp>
        <p:nvSpPr>
          <p:cNvPr id="14" name="Shape 12"/>
          <p:cNvSpPr/>
          <p:nvPr/>
        </p:nvSpPr>
        <p:spPr>
          <a:xfrm>
            <a:off x="6716268" y="1234440"/>
            <a:ext cx="1924812" cy="841248"/>
          </a:xfrm>
          <a:prstGeom prst="rect">
            <a:avLst/>
          </a:prstGeom>
          <a:solidFill>
            <a:srgbClr val="1C1C1E"/>
          </a:solidFill>
          <a:ln w="9525">
            <a:solidFill>
              <a:srgbClr val="271F13"/>
            </a:solidFill>
            <a:prstDash val="solid"/>
          </a:ln>
        </p:spPr>
      </p:sp>
      <p:sp>
        <p:nvSpPr>
          <p:cNvPr id="15" name="Text 13"/>
          <p:cNvSpPr/>
          <p:nvPr/>
        </p:nvSpPr>
        <p:spPr>
          <a:xfrm>
            <a:off x="6862572" y="1362456"/>
            <a:ext cx="1632204" cy="310896"/>
          </a:xfrm>
          <a:prstGeom prst="rect">
            <a:avLst/>
          </a:prstGeom>
          <a:noFill/>
          <a:ln/>
        </p:spPr>
        <p:txBody>
          <a:bodyPr wrap="square" rtlCol="0" anchor="t"/>
          <a:lstStyle/>
          <a:p>
            <a:pPr indent="0" marL="0">
              <a:buNone/>
            </a:pPr>
            <a:r>
              <a:rPr lang="en-US" sz="1800" dirty="0">
                <a:solidFill>
                  <a:srgbClr val="B08D57"/>
                </a:solidFill>
                <a:latin typeface="Cormorant Garamond" pitchFamily="34" charset="0"/>
                <a:ea typeface="Cormorant Garamond" pitchFamily="34" charset="-122"/>
                <a:cs typeface="Cormorant Garamond" pitchFamily="34" charset="-120"/>
              </a:rPr>
              <a:t>$15,833,333</a:t>
            </a:r>
            <a:endParaRPr lang="en-US" sz="1800" dirty="0"/>
          </a:p>
        </p:txBody>
      </p:sp>
      <p:sp>
        <p:nvSpPr>
          <p:cNvPr id="16" name="Text 14"/>
          <p:cNvSpPr/>
          <p:nvPr/>
        </p:nvSpPr>
        <p:spPr>
          <a:xfrm>
            <a:off x="6862572" y="1691640"/>
            <a:ext cx="1632204" cy="274320"/>
          </a:xfrm>
          <a:prstGeom prst="rect">
            <a:avLst/>
          </a:prstGeom>
          <a:noFill/>
          <a:ln/>
        </p:spPr>
        <p:txBody>
          <a:bodyPr wrap="square" rtlCol="0" anchor="t"/>
          <a:lstStyle/>
          <a:p>
            <a:pPr indent="0" marL="0">
              <a:lnSpc>
                <a:spcPct val="120000"/>
              </a:lnSpc>
              <a:buNone/>
            </a:pPr>
            <a:r>
              <a:rPr lang="en-US" sz="800" dirty="0">
                <a:solidFill>
                  <a:srgbClr val="C9BCA9"/>
                </a:solidFill>
                <a:latin typeface="Jost" pitchFamily="34" charset="0"/>
                <a:ea typeface="Jost" pitchFamily="34" charset="-122"/>
                <a:cs typeface="Jost" pitchFamily="34" charset="-120"/>
              </a:rPr>
              <a:t>Post-money valuation</a:t>
            </a:r>
            <a:endParaRPr lang="en-US" sz="800" dirty="0"/>
          </a:p>
        </p:txBody>
      </p:sp>
      <p:sp>
        <p:nvSpPr>
          <p:cNvPr id="17" name="Text 15"/>
          <p:cNvSpPr/>
          <p:nvPr/>
        </p:nvSpPr>
        <p:spPr>
          <a:xfrm>
            <a:off x="502920" y="2148840"/>
            <a:ext cx="8138160" cy="438912"/>
          </a:xfrm>
          <a:prstGeom prst="rect">
            <a:avLst/>
          </a:prstGeom>
          <a:noFill/>
          <a:ln/>
        </p:spPr>
        <p:txBody>
          <a:bodyPr wrap="square" rtlCol="0" anchor="t"/>
          <a:lstStyle/>
          <a:p>
            <a:pPr indent="0" marL="0">
              <a:lnSpc>
                <a:spcPct val="115000"/>
              </a:lnSpc>
              <a:buNone/>
            </a:pPr>
            <a:r>
              <a:rPr lang="en-US" sz="800" dirty="0">
                <a:solidFill>
                  <a:srgbClr val="C9BCA9"/>
                </a:solidFill>
                <a:latin typeface="Jost" pitchFamily="34" charset="0"/>
                <a:ea typeface="Jost" pitchFamily="34" charset="-122"/>
                <a:cs typeface="Jost" pitchFamily="34" charset="-120"/>
              </a:rPr>
              <a:t>The whole project is funded with equity, so no lender sits ahead of the investor. The stake starts at 30% and ratchets toward 40% if trailing operating income at stabilization comes in under $2.2M, set out overleaf. At base case the round prices at 5.87x operating income, inside the published range for a single location under a strong operator. Indicative terms, subject to definitive documents.</a:t>
            </a:r>
            <a:endParaRPr lang="en-US" sz="800" dirty="0"/>
          </a:p>
        </p:txBody>
      </p:sp>
      <p:sp>
        <p:nvSpPr>
          <p:cNvPr id="18" name="Text 16"/>
          <p:cNvSpPr/>
          <p:nvPr/>
        </p:nvSpPr>
        <p:spPr>
          <a:xfrm>
            <a:off x="502920" y="2651760"/>
            <a:ext cx="8138160" cy="182880"/>
          </a:xfrm>
          <a:prstGeom prst="rect">
            <a:avLst/>
          </a:prstGeom>
          <a:noFill/>
          <a:ln/>
        </p:spPr>
        <p:txBody>
          <a:bodyPr wrap="square" rtlCol="0" anchor="ctr"/>
          <a:lstStyle/>
          <a:p>
            <a:pPr indent="0" marL="0">
              <a:buNone/>
            </a:pPr>
            <a:r>
              <a:rPr lang="en-US" sz="750" spc="200" kern="0" dirty="0">
                <a:solidFill>
                  <a:srgbClr val="B08D57"/>
                </a:solidFill>
                <a:latin typeface="Jost" pitchFamily="34" charset="0"/>
                <a:ea typeface="Jost" pitchFamily="34" charset="-122"/>
                <a:cs typeface="Jost" pitchFamily="34" charset="-120"/>
              </a:rPr>
              <a:t>USE OF FUNDS</a:t>
            </a:r>
            <a:endParaRPr lang="en-US" sz="750" dirty="0"/>
          </a:p>
        </p:txBody>
      </p:sp>
      <p:graphicFrame>
        <p:nvGraphicFramePr>
          <p:cNvPr id="25" name="Table 0"/>
          <p:cNvGraphicFramePr>
            <a:graphicFrameLocks noGrp="1"/>
          </p:cNvGraphicFramePr>
          <p:nvPr>
            <p:extLst>
              <p:ext uri="{D42A27DB-BD31-4B8C-83A1-F6EECF244321}">
                <p14:modId xmlns:p14="http://schemas.microsoft.com/office/powerpoint/2010/main" val="1579011935"/>
              </p:ext>
            </p:extLst>
          </p:nvPr>
        </p:nvGraphicFramePr>
        <p:xfrm>
          <a:off x="502920" y="2862072"/>
          <a:ext cx="8138160" cy="914400"/>
        </p:xfrm>
        <a:graphic>
          <a:graphicData uri="http://schemas.openxmlformats.org/drawingml/2006/table">
            <a:tbl>
              <a:tblPr/>
              <a:tblGrid>
                <a:gridCol w="4937760"/>
                <a:gridCol w="1600200"/>
                <a:gridCol w="1600200"/>
              </a:tblGrid>
              <a:tr h="150876">
                <a:tc>
                  <a:txBody>
                    <a:bodyPr/>
                    <a:lstStyle/>
                    <a:p>
                      <a:pPr algn="l" indent="0" marL="0">
                        <a:buNone/>
                      </a:pPr>
                      <a:r>
                        <a:rPr lang="en-US" sz="750" spc="140" kern="0" dirty="0">
                          <a:solidFill>
                            <a:srgbClr val="B08D57"/>
                          </a:solidFill>
                          <a:latin typeface="Jost" pitchFamily="34" charset="0"/>
                          <a:ea typeface="Jost" pitchFamily="34" charset="-122"/>
                          <a:cs typeface="Jost" pitchFamily="34" charset="-120"/>
                        </a:rPr>
                        <a:t>USE OF FUNDS</a:t>
                      </a:r>
                      <a:endParaRPr lang="en-US" sz="750" dirty="0">
                        <a:latin typeface="Jost" charset="0"/>
                        <a:ea typeface="Jost" charset="0"/>
                        <a:cs typeface="Jost" charset="0"/>
                      </a:endParaRPr>
                    </a:p>
                  </a:txBody>
                  <a:tcPr marL="13716" marR="13716" marT="13716" marB="13716" anchor="ctr">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000000"/>
                    </a:solidFill>
                  </a:tcPr>
                </a:tc>
                <a:tc>
                  <a:txBody>
                    <a:bodyPr/>
                    <a:lstStyle/>
                    <a:p>
                      <a:pPr algn="r" indent="0" marL="0">
                        <a:buNone/>
                      </a:pPr>
                      <a:r>
                        <a:rPr lang="en-US" sz="750" spc="140" kern="0" dirty="0">
                          <a:solidFill>
                            <a:srgbClr val="B08D57"/>
                          </a:solidFill>
                          <a:latin typeface="Jost" pitchFamily="34" charset="0"/>
                          <a:ea typeface="Jost" pitchFamily="34" charset="-122"/>
                          <a:cs typeface="Jost" pitchFamily="34" charset="-120"/>
                        </a:rPr>
                        <a:t>AMOUNT</a:t>
                      </a:r>
                      <a:endParaRPr lang="en-US" sz="750" dirty="0">
                        <a:latin typeface="Jost" charset="0"/>
                        <a:ea typeface="Jost" charset="0"/>
                        <a:cs typeface="Jost" charset="0"/>
                      </a:endParaRPr>
                    </a:p>
                  </a:txBody>
                  <a:tcPr marL="13716" marR="13716" marT="13716" marB="13716" anchor="ctr">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000000"/>
                    </a:solidFill>
                  </a:tcPr>
                </a:tc>
                <a:tc>
                  <a:txBody>
                    <a:bodyPr/>
                    <a:lstStyle/>
                    <a:p>
                      <a:pPr algn="r" indent="0" marL="0">
                        <a:buNone/>
                      </a:pPr>
                      <a:r>
                        <a:rPr lang="en-US" sz="750" spc="140" kern="0" dirty="0">
                          <a:solidFill>
                            <a:srgbClr val="B08D57"/>
                          </a:solidFill>
                          <a:latin typeface="Jost" pitchFamily="34" charset="0"/>
                          <a:ea typeface="Jost" pitchFamily="34" charset="-122"/>
                          <a:cs typeface="Jost" pitchFamily="34" charset="-120"/>
                        </a:rPr>
                        <a:t>% OF PROJECT</a:t>
                      </a:r>
                      <a:endParaRPr lang="en-US" sz="750" dirty="0">
                        <a:latin typeface="Jost" charset="0"/>
                        <a:ea typeface="Jost" charset="0"/>
                        <a:cs typeface="Jost" charset="0"/>
                      </a:endParaRPr>
                    </a:p>
                  </a:txBody>
                  <a:tcPr marL="13716" marR="13716" marT="13716" marB="13716" anchor="ctr">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000000"/>
                    </a:solidFill>
                  </a:tcPr>
                </a:tc>
              </a:tr>
              <a:tr h="150876">
                <a:tc>
                  <a:txBody>
                    <a:bodyPr/>
                    <a:lstStyle/>
                    <a:p>
                      <a:pPr algn="l" indent="0" marL="0">
                        <a:buNone/>
                      </a:pPr>
                      <a:r>
                        <a:rPr lang="en-US" sz="750" dirty="0">
                          <a:solidFill>
                            <a:srgbClr val="EDE7DE"/>
                          </a:solidFill>
                          <a:latin typeface="Jost" pitchFamily="34" charset="0"/>
                          <a:ea typeface="Jost" pitchFamily="34" charset="-122"/>
                          <a:cs typeface="Jost" pitchFamily="34" charset="-120"/>
                        </a:rPr>
                        <a:t>Buildout and tenant improvements (4,925 SF @ $250/SF)</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$1,231,250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26%</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50876">
                <a:tc>
                  <a:txBody>
                    <a:bodyPr/>
                    <a:lstStyle/>
                    <a:p>
                      <a:pPr algn="l" indent="0" marL="0">
                        <a:buNone/>
                      </a:pPr>
                      <a:r>
                        <a:rPr lang="en-US" sz="750" dirty="0">
                          <a:solidFill>
                            <a:srgbClr val="EDE7DE"/>
                          </a:solidFill>
                          <a:latin typeface="Jost" pitchFamily="34" charset="0"/>
                          <a:ea typeface="Jost" pitchFamily="34" charset="-122"/>
                          <a:cs typeface="Jost" pitchFamily="34" charset="-120"/>
                        </a:rPr>
                        <a:t>Wet areas: 2 saunas, 2 plunges, steam, drainage, ventilation</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$465,000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10%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50876">
                <a:tc>
                  <a:txBody>
                    <a:bodyPr/>
                    <a:lstStyle/>
                    <a:p>
                      <a:pPr algn="l" indent="0" marL="0">
                        <a:buNone/>
                      </a:pPr>
                      <a:r>
                        <a:rPr lang="en-US" sz="750" dirty="0">
                          <a:solidFill>
                            <a:srgbClr val="EDE7DE"/>
                          </a:solidFill>
                          <a:latin typeface="Jost" pitchFamily="34" charset="0"/>
                          <a:ea typeface="Jost" pitchFamily="34" charset="-122"/>
                          <a:cs typeface="Jost" pitchFamily="34" charset="-120"/>
                        </a:rPr>
                        <a:t>Medical and aesthetic equipment (purchased)</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$780,000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16%</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50876">
                <a:tc>
                  <a:txBody>
                    <a:bodyPr/>
                    <a:lstStyle/>
                    <a:p>
                      <a:pPr algn="l" indent="0" marL="0">
                        <a:buNone/>
                      </a:pPr>
                      <a:r>
                        <a:rPr lang="en-US" sz="750" dirty="0">
                          <a:solidFill>
                            <a:srgbClr val="EDE7DE"/>
                          </a:solidFill>
                          <a:latin typeface="Jost" pitchFamily="34" charset="0"/>
                          <a:ea typeface="Jost" pitchFamily="34" charset="-122"/>
                          <a:cs typeface="Jost" pitchFamily="34" charset="-120"/>
                        </a:rPr>
                        <a:t>Recovery technology: HBOT purchased, Ammortal deposit</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$165,950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3%</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50876">
                <a:tc>
                  <a:txBody>
                    <a:bodyPr/>
                    <a:lstStyle/>
                    <a:p>
                      <a:pPr algn="l" indent="0" marL="0">
                        <a:buNone/>
                      </a:pPr>
                      <a:r>
                        <a:rPr lang="en-US" sz="750" dirty="0">
                          <a:solidFill>
                            <a:srgbClr val="EDE7DE"/>
                          </a:solidFill>
                          <a:latin typeface="Jost" pitchFamily="34" charset="0"/>
                          <a:ea typeface="Jost" pitchFamily="34" charset="-122"/>
                          <a:cs typeface="Jost" pitchFamily="34" charset="-120"/>
                        </a:rPr>
                        <a:t>GE iDXA bone densitometer, purchased</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$25,000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1%</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50876">
                <a:tc>
                  <a:txBody>
                    <a:bodyPr/>
                    <a:lstStyle/>
                    <a:p>
                      <a:pPr algn="l" indent="0" marL="0">
                        <a:buNone/>
                      </a:pPr>
                      <a:r>
                        <a:rPr lang="en-US" sz="750" dirty="0">
                          <a:solidFill>
                            <a:srgbClr val="EDE7DE"/>
                          </a:solidFill>
                          <a:latin typeface="Jost" pitchFamily="34" charset="0"/>
                          <a:ea typeface="Jost" pitchFamily="34" charset="-122"/>
                          <a:cs typeface="Jost" pitchFamily="34" charset="-120"/>
                        </a:rPr>
                        <a:t>FF&amp;E, lounge, millwork, retail</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$430,000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9%</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50876">
                <a:tc>
                  <a:txBody>
                    <a:bodyPr/>
                    <a:lstStyle/>
                    <a:p>
                      <a:pPr algn="l" indent="0" marL="0">
                        <a:buNone/>
                      </a:pPr>
                      <a:r>
                        <a:rPr lang="en-US" sz="750" dirty="0">
                          <a:solidFill>
                            <a:srgbClr val="EDE7DE"/>
                          </a:solidFill>
                          <a:latin typeface="Jost" pitchFamily="34" charset="0"/>
                          <a:ea typeface="Jost" pitchFamily="34" charset="-122"/>
                          <a:cs typeface="Jost" pitchFamily="34" charset="-120"/>
                        </a:rPr>
                        <a:t>Pre-opening: licensing, legal, insurance, hiring</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$310,000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7%</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50876">
                <a:tc>
                  <a:txBody>
                    <a:bodyPr/>
                    <a:lstStyle/>
                    <a:p>
                      <a:pPr algn="l" indent="0" marL="0">
                        <a:buNone/>
                      </a:pPr>
                      <a:r>
                        <a:rPr lang="en-US" sz="750" dirty="0">
                          <a:solidFill>
                            <a:srgbClr val="EDE7DE"/>
                          </a:solidFill>
                          <a:latin typeface="Jost" pitchFamily="34" charset="0"/>
                          <a:ea typeface="Jost" pitchFamily="34" charset="-122"/>
                          <a:cs typeface="Jost" pitchFamily="34" charset="-120"/>
                        </a:rPr>
                        <a:t>Brand, launch, founding member campaign</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$237,000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5%</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50876">
                <a:tc>
                  <a:txBody>
                    <a:bodyPr/>
                    <a:lstStyle/>
                    <a:p>
                      <a:pPr algn="l" indent="0" marL="0">
                        <a:buNone/>
                      </a:pPr>
                      <a:r>
                        <a:rPr lang="en-US" sz="750" dirty="0">
                          <a:solidFill>
                            <a:srgbClr val="EDE7DE"/>
                          </a:solidFill>
                          <a:latin typeface="Jost" pitchFamily="34" charset="0"/>
                          <a:ea typeface="Jost" pitchFamily="34" charset="-122"/>
                          <a:cs typeface="Jost" pitchFamily="34" charset="-120"/>
                        </a:rPr>
                        <a:t>Working capital reserve</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$1,105,800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23%</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50876">
                <a:tc>
                  <a:txBody>
                    <a:bodyPr/>
                    <a:lstStyle/>
                    <a:p>
                      <a:pPr algn="l" indent="0" marL="0">
                        <a:buNone/>
                      </a:pPr>
                      <a:r>
                        <a:rPr lang="en-US" sz="750" dirty="0">
                          <a:solidFill>
                            <a:srgbClr val="B08D57"/>
                          </a:solidFill>
                          <a:latin typeface="Jost" pitchFamily="34" charset="0"/>
                          <a:ea typeface="Jost" pitchFamily="34" charset="-122"/>
                          <a:cs typeface="Jost" pitchFamily="34" charset="-120"/>
                        </a:rPr>
                        <a:t>Total project cost</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B08D57"/>
                          </a:solidFill>
                          <a:latin typeface="Jost" pitchFamily="34" charset="0"/>
                          <a:ea typeface="Jost" pitchFamily="34" charset="-122"/>
                          <a:cs typeface="Jost" pitchFamily="34" charset="-120"/>
                        </a:rPr>
                        <a:t>$4,750,000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B08D57"/>
                          </a:solidFill>
                          <a:latin typeface="Jost" pitchFamily="34" charset="0"/>
                          <a:ea typeface="Jost" pitchFamily="34" charset="-122"/>
                          <a:cs typeface="Jost" pitchFamily="34" charset="-120"/>
                        </a:rPr>
                        <a:t>100%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bl>
          </a:graphicData>
        </a:graphic>
      </p:graphicFrame>
      <p:sp>
        <p:nvSpPr>
          <p:cNvPr id="20" name="Text 17"/>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B6965"/>
                </a:solidFill>
                <a:latin typeface="Jost" pitchFamily="34" charset="0"/>
                <a:ea typeface="Jost" pitchFamily="34" charset="-122"/>
                <a:cs typeface="Jost" pitchFamily="34" charset="-120"/>
              </a:rPr>
              <a:t>L&amp;K WELLNESS  ·  PRIVATE INVESTMENT BRIEF  ·  CONFIDENTIAL</a:t>
            </a:r>
            <a:endParaRPr lang="en-US" sz="700" dirty="0"/>
          </a:p>
        </p:txBody>
      </p:sp>
      <p:sp>
        <p:nvSpPr>
          <p:cNvPr id="21" name="Text 18"/>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B6965"/>
                </a:solidFill>
                <a:latin typeface="Jost" pitchFamily="34" charset="0"/>
                <a:ea typeface="Jost" pitchFamily="34" charset="-122"/>
                <a:cs typeface="Jost" pitchFamily="34" charset="-120"/>
              </a:rPr>
              <a:t>24</a:t>
            </a:r>
            <a:endParaRPr lang="en-US" sz="7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B08D57"/>
                </a:solidFill>
                <a:latin typeface="Jost" pitchFamily="34" charset="0"/>
                <a:ea typeface="Jost" pitchFamily="34" charset="-122"/>
                <a:cs typeface="Jost" pitchFamily="34" charset="-120"/>
              </a:rPr>
              <a:t>STRUCTURE</a:t>
            </a:r>
            <a:endParaRPr lang="en-US" sz="900" dirty="0"/>
          </a:p>
        </p:txBody>
      </p:sp>
      <p:sp>
        <p:nvSpPr>
          <p:cNvPr id="3" name="Shape 1"/>
          <p:cNvSpPr/>
          <p:nvPr/>
        </p:nvSpPr>
        <p:spPr>
          <a:xfrm>
            <a:off x="502920" y="557784"/>
            <a:ext cx="566928" cy="12802"/>
          </a:xfrm>
          <a:prstGeom prst="rect">
            <a:avLst/>
          </a:prstGeom>
          <a:solidFill>
            <a:srgbClr val="B08D57"/>
          </a:solidFill>
          <a:ln w="12700">
            <a:solidFill>
              <a:srgbClr val="B08D57"/>
            </a:solidFill>
            <a:prstDash val="solid"/>
          </a:ln>
        </p:spPr>
      </p:sp>
      <p:sp>
        <p:nvSpPr>
          <p:cNvPr id="4" name="Text 2"/>
          <p:cNvSpPr/>
          <p:nvPr/>
        </p:nvSpPr>
        <p:spPr>
          <a:xfrm>
            <a:off x="502920" y="621792"/>
            <a:ext cx="8138160" cy="548640"/>
          </a:xfrm>
          <a:prstGeom prst="rect">
            <a:avLst/>
          </a:prstGeom>
          <a:noFill/>
          <a:ln/>
        </p:spPr>
        <p:txBody>
          <a:bodyPr wrap="square" rtlCol="0" anchor="t"/>
          <a:lstStyle/>
          <a:p>
            <a:pPr indent="0" marL="0">
              <a:buNone/>
            </a:pPr>
            <a:r>
              <a:rPr lang="en-US" sz="2600" spc="400" kern="0" dirty="0">
                <a:solidFill>
                  <a:srgbClr val="EDE7DE"/>
                </a:solidFill>
                <a:latin typeface="Cormorant Garamond" pitchFamily="34" charset="0"/>
                <a:ea typeface="Cormorant Garamond" pitchFamily="34" charset="-122"/>
                <a:cs typeface="Cormorant Garamond" pitchFamily="34" charset="-120"/>
              </a:rPr>
              <a:t>ALIGNED DOWNSIDE PROTECTION</a:t>
            </a:r>
            <a:endParaRPr lang="en-US" sz="2600" dirty="0"/>
          </a:p>
        </p:txBody>
      </p:sp>
      <p:sp>
        <p:nvSpPr>
          <p:cNvPr id="5" name="Text 3"/>
          <p:cNvSpPr/>
          <p:nvPr/>
        </p:nvSpPr>
        <p:spPr>
          <a:xfrm>
            <a:off x="502920" y="1115568"/>
            <a:ext cx="7487107" cy="457200"/>
          </a:xfrm>
          <a:prstGeom prst="rect">
            <a:avLst/>
          </a:prstGeom>
          <a:noFill/>
          <a:ln/>
        </p:spPr>
        <p:txBody>
          <a:bodyPr wrap="square" rtlCol="0" anchor="t"/>
          <a:lstStyle/>
          <a:p>
            <a:pPr indent="0" marL="0">
              <a:lnSpc>
                <a:spcPct val="120000"/>
              </a:lnSpc>
              <a:buNone/>
            </a:pPr>
            <a:r>
              <a:rPr lang="en-US" sz="1050" dirty="0">
                <a:solidFill>
                  <a:srgbClr val="C9BCA9"/>
                </a:solidFill>
                <a:latin typeface="Jost" pitchFamily="34" charset="0"/>
                <a:ea typeface="Jost" pitchFamily="34" charset="-122"/>
                <a:cs typeface="Jost" pitchFamily="34" charset="-120"/>
              </a:rPr>
              <a:t>The stake is priced against delivery. If the business underperforms, the investor owns more of it.</a:t>
            </a:r>
            <a:endParaRPr lang="en-US" sz="1050" dirty="0"/>
          </a:p>
        </p:txBody>
      </p:sp>
      <p:sp>
        <p:nvSpPr>
          <p:cNvPr id="6" name="Text 4"/>
          <p:cNvSpPr/>
          <p:nvPr/>
        </p:nvSpPr>
        <p:spPr>
          <a:xfrm>
            <a:off x="502920" y="1691640"/>
            <a:ext cx="8138160" cy="1097280"/>
          </a:xfrm>
          <a:prstGeom prst="rect">
            <a:avLst/>
          </a:prstGeom>
          <a:noFill/>
          <a:ln/>
        </p:spPr>
        <p:txBody>
          <a:bodyPr wrap="square" rtlCol="0" anchor="t"/>
          <a:lstStyle/>
          <a:p>
            <a:pPr marL="342900" indent="-342900">
              <a:lnSpc>
                <a:spcPct val="130000"/>
              </a:lnSpc>
              <a:buSzPct val="100000"/>
              <a:buChar char="•"/>
            </a:pPr>
            <a:r>
              <a:rPr lang="en-US" sz="950" dirty="0">
                <a:solidFill>
                  <a:srgbClr val="C9BCA9"/>
                </a:solidFill>
                <a:latin typeface="Jost" pitchFamily="34" charset="0"/>
                <a:ea typeface="Jost" pitchFamily="34" charset="-122"/>
                <a:cs typeface="Jost" pitchFamily="34" charset="-120"/>
              </a:rPr>
              <a:t>Investors start at 30%, priced against base-case stabilized operating income of $2.70M a year.</a:t>
            </a:r>
            <a:endParaRPr lang="en-US" sz="950" dirty="0"/>
          </a:p>
          <a:p>
            <a:pPr marL="342900" indent="-342900">
              <a:lnSpc>
                <a:spcPct val="130000"/>
              </a:lnSpc>
              <a:buSzPct val="100000"/>
              <a:buChar char="•"/>
            </a:pPr>
            <a:r>
              <a:rPr lang="en-US" sz="950" dirty="0">
                <a:solidFill>
                  <a:srgbClr val="C9BCA9"/>
                </a:solidFill>
                <a:latin typeface="Jost" pitchFamily="34" charset="0"/>
                <a:ea typeface="Jost" pitchFamily="34" charset="-122"/>
                <a:cs typeface="Jost" pitchFamily="34" charset="-120"/>
              </a:rPr>
              <a:t>If trailing twelve-month operating income at stabilization lands below $2,200,000, ownership steps up on a straight line toward a hard cap of 40%, reached at the low case of $1,244,500.</a:t>
            </a:r>
            <a:endParaRPr lang="en-US" sz="950" dirty="0"/>
          </a:p>
          <a:p>
            <a:pPr marL="342900" indent="-342900">
              <a:lnSpc>
                <a:spcPct val="130000"/>
              </a:lnSpc>
              <a:buSzPct val="100000"/>
              <a:buChar char="•"/>
            </a:pPr>
            <a:r>
              <a:rPr lang="en-US" sz="950" dirty="0">
                <a:solidFill>
                  <a:srgbClr val="C9BCA9"/>
                </a:solidFill>
                <a:latin typeface="Jost" pitchFamily="34" charset="0"/>
                <a:ea typeface="Jost" pitchFamily="34" charset="-122"/>
                <a:cs typeface="Jost" pitchFamily="34" charset="-120"/>
              </a:rPr>
              <a:t>At or above base case the investor stays at 30% and the founder keeps the upside. The ratchet only moves one way.</a:t>
            </a:r>
            <a:endParaRPr lang="en-US" sz="950" dirty="0"/>
          </a:p>
        </p:txBody>
      </p:sp>
      <p:graphicFrame>
        <p:nvGraphicFramePr>
          <p:cNvPr id="26" name="Table 0"/>
          <p:cNvGraphicFramePr>
            <a:graphicFrameLocks noGrp="1"/>
          </p:cNvGraphicFramePr>
          <p:nvPr>
            <p:extLst>
              <p:ext uri="{D42A27DB-BD31-4B8C-83A1-F6EECF244321}">
                <p14:modId xmlns:p14="http://schemas.microsoft.com/office/powerpoint/2010/main" val="1579011935"/>
              </p:ext>
            </p:extLst>
          </p:nvPr>
        </p:nvGraphicFramePr>
        <p:xfrm>
          <a:off x="502920" y="2880360"/>
          <a:ext cx="8138160" cy="914400"/>
        </p:xfrm>
        <a:graphic>
          <a:graphicData uri="http://schemas.openxmlformats.org/drawingml/2006/table">
            <a:tbl>
              <a:tblPr/>
              <a:tblGrid>
                <a:gridCol w="1371600"/>
                <a:gridCol w="1828800"/>
                <a:gridCol w="1645920"/>
                <a:gridCol w="1645920"/>
                <a:gridCol w="1645920"/>
              </a:tblGrid>
              <a:tr h="256032">
                <a:tc>
                  <a:txBody>
                    <a:bodyPr/>
                    <a:lstStyle/>
                    <a:p>
                      <a:pPr algn="l" indent="0" marL="0">
                        <a:buNone/>
                      </a:pPr>
                      <a:r>
                        <a:rPr lang="en-US" sz="750" spc="140" kern="0" dirty="0">
                          <a:solidFill>
                            <a:srgbClr val="B08D57"/>
                          </a:solidFill>
                          <a:latin typeface="Jost" pitchFamily="34" charset="0"/>
                          <a:ea typeface="Jost" pitchFamily="34" charset="-122"/>
                          <a:cs typeface="Jost" pitchFamily="34" charset="-120"/>
                        </a:rPr>
                        <a:t>SCENARIO</a:t>
                      </a:r>
                      <a:endParaRPr lang="en-US" sz="750" dirty="0">
                        <a:latin typeface="Jost" charset="0"/>
                        <a:ea typeface="Jost" charset="0"/>
                        <a:cs typeface="Jost" charset="0"/>
                      </a:endParaRPr>
                    </a:p>
                  </a:txBody>
                  <a:tcPr marL="36576" marR="36576" marT="36576" marB="36576" anchor="ctr">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000000"/>
                    </a:solidFill>
                  </a:tcPr>
                </a:tc>
                <a:tc>
                  <a:txBody>
                    <a:bodyPr/>
                    <a:lstStyle/>
                    <a:p>
                      <a:pPr algn="l" indent="0" marL="0">
                        <a:buNone/>
                      </a:pPr>
                      <a:r>
                        <a:rPr lang="en-US" sz="750" spc="140" kern="0" dirty="0">
                          <a:solidFill>
                            <a:srgbClr val="B08D57"/>
                          </a:solidFill>
                          <a:latin typeface="Jost" pitchFamily="34" charset="0"/>
                          <a:ea typeface="Jost" pitchFamily="34" charset="-122"/>
                          <a:cs typeface="Jost" pitchFamily="34" charset="-120"/>
                        </a:rPr>
                        <a:t>OPERATING INCOME /YR</a:t>
                      </a:r>
                      <a:endParaRPr lang="en-US" sz="750" dirty="0">
                        <a:latin typeface="Jost" charset="0"/>
                        <a:ea typeface="Jost" charset="0"/>
                        <a:cs typeface="Jost" charset="0"/>
                      </a:endParaRPr>
                    </a:p>
                  </a:txBody>
                  <a:tcPr marL="36576" marR="36576" marT="36576" marB="36576" anchor="ctr">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000000"/>
                    </a:solidFill>
                  </a:tcPr>
                </a:tc>
                <a:tc>
                  <a:txBody>
                    <a:bodyPr/>
                    <a:lstStyle/>
                    <a:p>
                      <a:pPr algn="r" indent="0" marL="0">
                        <a:buNone/>
                      </a:pPr>
                      <a:r>
                        <a:rPr lang="en-US" sz="750" spc="140" kern="0" dirty="0">
                          <a:solidFill>
                            <a:srgbClr val="B08D57"/>
                          </a:solidFill>
                          <a:latin typeface="Jost" pitchFamily="34" charset="0"/>
                          <a:ea typeface="Jost" pitchFamily="34" charset="-122"/>
                          <a:cs typeface="Jost" pitchFamily="34" charset="-120"/>
                        </a:rPr>
                        <a:t>INVESTOR OWNERSHIP</a:t>
                      </a:r>
                      <a:endParaRPr lang="en-US" sz="750" dirty="0">
                        <a:latin typeface="Jost" charset="0"/>
                        <a:ea typeface="Jost" charset="0"/>
                        <a:cs typeface="Jost" charset="0"/>
                      </a:endParaRPr>
                    </a:p>
                  </a:txBody>
                  <a:tcPr marL="36576" marR="36576" marT="36576" marB="36576" anchor="ctr">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000000"/>
                    </a:solidFill>
                  </a:tcPr>
                </a:tc>
                <a:tc>
                  <a:txBody>
                    <a:bodyPr/>
                    <a:lstStyle/>
                    <a:p>
                      <a:pPr algn="r" indent="0" marL="0">
                        <a:buNone/>
                      </a:pPr>
                      <a:r>
                        <a:rPr lang="en-US" sz="750" spc="140" kern="0" dirty="0">
                          <a:solidFill>
                            <a:srgbClr val="B08D57"/>
                          </a:solidFill>
                          <a:latin typeface="Jost" pitchFamily="34" charset="0"/>
                          <a:ea typeface="Jost" pitchFamily="34" charset="-122"/>
                          <a:cs typeface="Jost" pitchFamily="34" charset="-120"/>
                        </a:rPr>
                        <a:t>INVESTOR CASH /YR</a:t>
                      </a:r>
                      <a:endParaRPr lang="en-US" sz="750" dirty="0">
                        <a:latin typeface="Jost" charset="0"/>
                        <a:ea typeface="Jost" charset="0"/>
                        <a:cs typeface="Jost" charset="0"/>
                      </a:endParaRPr>
                    </a:p>
                  </a:txBody>
                  <a:tcPr marL="36576" marR="36576" marT="36576" marB="36576" anchor="ctr">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000000"/>
                    </a:solidFill>
                  </a:tcPr>
                </a:tc>
                <a:tc>
                  <a:txBody>
                    <a:bodyPr/>
                    <a:lstStyle/>
                    <a:p>
                      <a:pPr algn="r" indent="0" marL="0">
                        <a:buNone/>
                      </a:pPr>
                      <a:r>
                        <a:rPr lang="en-US" sz="750" spc="140" kern="0" dirty="0">
                          <a:solidFill>
                            <a:srgbClr val="B08D57"/>
                          </a:solidFill>
                          <a:latin typeface="Jost" pitchFamily="34" charset="0"/>
                          <a:ea typeface="Jost" pitchFamily="34" charset="-122"/>
                          <a:cs typeface="Jost" pitchFamily="34" charset="-120"/>
                        </a:rPr>
                        <a:t>FOUNDER RETAINED /YR</a:t>
                      </a:r>
                      <a:endParaRPr lang="en-US" sz="750" dirty="0">
                        <a:latin typeface="Jost" charset="0"/>
                        <a:ea typeface="Jost" charset="0"/>
                        <a:cs typeface="Jost" charset="0"/>
                      </a:endParaRPr>
                    </a:p>
                  </a:txBody>
                  <a:tcPr marL="36576" marR="36576" marT="36576" marB="36576" anchor="ctr">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000000"/>
                    </a:solidFill>
                  </a:tcPr>
                </a:tc>
              </a:tr>
              <a:tr h="256032">
                <a:tc>
                  <a:txBody>
                    <a:bodyPr/>
                    <a:lstStyle/>
                    <a:p>
                      <a:pPr algn="l" indent="0" marL="0">
                        <a:buNone/>
                      </a:pPr>
                      <a:r>
                        <a:rPr lang="en-US" sz="900" dirty="0">
                          <a:solidFill>
                            <a:srgbClr val="EDE7DE"/>
                          </a:solidFill>
                          <a:latin typeface="Jost" pitchFamily="34" charset="0"/>
                          <a:ea typeface="Jost" pitchFamily="34" charset="-122"/>
                          <a:cs typeface="Jost" pitchFamily="34" charset="-120"/>
                        </a:rPr>
                        <a:t>Low case</a:t>
                      </a:r>
                      <a:endParaRPr lang="en-US" sz="90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l" indent="0" marL="0">
                        <a:buNone/>
                      </a:pPr>
                      <a:r>
                        <a:rPr lang="en-US" sz="900" dirty="0">
                          <a:solidFill>
                            <a:srgbClr val="C9BCA9"/>
                          </a:solidFill>
                          <a:latin typeface="Jost" pitchFamily="34" charset="0"/>
                          <a:ea typeface="Jost" pitchFamily="34" charset="-122"/>
                          <a:cs typeface="Jost" pitchFamily="34" charset="-120"/>
                        </a:rPr>
                        <a:t>$1,244,500</a:t>
                      </a:r>
                      <a:endParaRPr lang="en-US" sz="90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900" dirty="0">
                          <a:solidFill>
                            <a:srgbClr val="B08D57"/>
                          </a:solidFill>
                          <a:latin typeface="Jost" pitchFamily="34" charset="0"/>
                          <a:ea typeface="Jost" pitchFamily="34" charset="-122"/>
                          <a:cs typeface="Jost" pitchFamily="34" charset="-120"/>
                        </a:rPr>
                        <a:t>40%</a:t>
                      </a:r>
                      <a:endParaRPr lang="en-US" sz="90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900" dirty="0">
                          <a:solidFill>
                            <a:srgbClr val="C9BCA9"/>
                          </a:solidFill>
                          <a:latin typeface="Jost" pitchFamily="34" charset="0"/>
                          <a:ea typeface="Jost" pitchFamily="34" charset="-122"/>
                          <a:cs typeface="Jost" pitchFamily="34" charset="-120"/>
                        </a:rPr>
                        <a:t>$497,800</a:t>
                      </a:r>
                      <a:endParaRPr lang="en-US" sz="90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900" dirty="0">
                          <a:solidFill>
                            <a:srgbClr val="C9BCA9"/>
                          </a:solidFill>
                          <a:latin typeface="Jost" pitchFamily="34" charset="0"/>
                          <a:ea typeface="Jost" pitchFamily="34" charset="-122"/>
                          <a:cs typeface="Jost" pitchFamily="34" charset="-120"/>
                        </a:rPr>
                        <a:t>$746,700</a:t>
                      </a:r>
                      <a:endParaRPr lang="en-US" sz="90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256032">
                <a:tc>
                  <a:txBody>
                    <a:bodyPr/>
                    <a:lstStyle/>
                    <a:p>
                      <a:pPr algn="l" indent="0" marL="0">
                        <a:buNone/>
                      </a:pPr>
                      <a:r>
                        <a:rPr lang="en-US" sz="900" dirty="0">
                          <a:solidFill>
                            <a:srgbClr val="EDE7DE"/>
                          </a:solidFill>
                          <a:latin typeface="Jost" pitchFamily="34" charset="0"/>
                          <a:ea typeface="Jost" pitchFamily="34" charset="-122"/>
                          <a:cs typeface="Jost" pitchFamily="34" charset="-120"/>
                        </a:rPr>
                        <a:t>Base case</a:t>
                      </a:r>
                      <a:endParaRPr lang="en-US" sz="90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l" indent="0" marL="0">
                        <a:buNone/>
                      </a:pPr>
                      <a:r>
                        <a:rPr lang="en-US" sz="900" dirty="0">
                          <a:solidFill>
                            <a:srgbClr val="C9BCA9"/>
                          </a:solidFill>
                          <a:latin typeface="Jost" pitchFamily="34" charset="0"/>
                          <a:ea typeface="Jost" pitchFamily="34" charset="-122"/>
                          <a:cs typeface="Jost" pitchFamily="34" charset="-120"/>
                        </a:rPr>
                        <a:t>$2,697,611</a:t>
                      </a:r>
                      <a:endParaRPr lang="en-US" sz="90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900" dirty="0">
                          <a:solidFill>
                            <a:srgbClr val="C9BCA9"/>
                          </a:solidFill>
                          <a:latin typeface="Jost" pitchFamily="34" charset="0"/>
                          <a:ea typeface="Jost" pitchFamily="34" charset="-122"/>
                          <a:cs typeface="Jost" pitchFamily="34" charset="-120"/>
                        </a:rPr>
                        <a:t>30%</a:t>
                      </a:r>
                      <a:endParaRPr lang="en-US" sz="90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900" dirty="0">
                          <a:solidFill>
                            <a:srgbClr val="C9BCA9"/>
                          </a:solidFill>
                          <a:latin typeface="Jost" pitchFamily="34" charset="0"/>
                          <a:ea typeface="Jost" pitchFamily="34" charset="-122"/>
                          <a:cs typeface="Jost" pitchFamily="34" charset="-120"/>
                        </a:rPr>
                        <a:t>$809,283</a:t>
                      </a:r>
                      <a:endParaRPr lang="en-US" sz="90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900" dirty="0">
                          <a:solidFill>
                            <a:srgbClr val="C9BCA9"/>
                          </a:solidFill>
                          <a:latin typeface="Jost" pitchFamily="34" charset="0"/>
                          <a:ea typeface="Jost" pitchFamily="34" charset="-122"/>
                          <a:cs typeface="Jost" pitchFamily="34" charset="-120"/>
                        </a:rPr>
                        <a:t>$1,888,328</a:t>
                      </a:r>
                      <a:endParaRPr lang="en-US" sz="90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256032">
                <a:tc>
                  <a:txBody>
                    <a:bodyPr/>
                    <a:lstStyle/>
                    <a:p>
                      <a:pPr algn="l" indent="0" marL="0">
                        <a:buNone/>
                      </a:pPr>
                      <a:r>
                        <a:rPr lang="en-US" sz="900" dirty="0">
                          <a:solidFill>
                            <a:srgbClr val="EDE7DE"/>
                          </a:solidFill>
                          <a:latin typeface="Jost" pitchFamily="34" charset="0"/>
                          <a:ea typeface="Jost" pitchFamily="34" charset="-122"/>
                          <a:cs typeface="Jost" pitchFamily="34" charset="-120"/>
                        </a:rPr>
                        <a:t>Upside case</a:t>
                      </a:r>
                      <a:endParaRPr lang="en-US" sz="90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l" indent="0" marL="0">
                        <a:buNone/>
                      </a:pPr>
                      <a:r>
                        <a:rPr lang="en-US" sz="900" dirty="0">
                          <a:solidFill>
                            <a:srgbClr val="C9BCA9"/>
                          </a:solidFill>
                          <a:latin typeface="Jost" pitchFamily="34" charset="0"/>
                          <a:ea typeface="Jost" pitchFamily="34" charset="-122"/>
                          <a:cs typeface="Jost" pitchFamily="34" charset="-120"/>
                        </a:rPr>
                        <a:t>$4,150,722</a:t>
                      </a:r>
                      <a:endParaRPr lang="en-US" sz="90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900" dirty="0">
                          <a:solidFill>
                            <a:srgbClr val="C9BCA9"/>
                          </a:solidFill>
                          <a:latin typeface="Jost" pitchFamily="34" charset="0"/>
                          <a:ea typeface="Jost" pitchFamily="34" charset="-122"/>
                          <a:cs typeface="Jost" pitchFamily="34" charset="-120"/>
                        </a:rPr>
                        <a:t>30%</a:t>
                      </a:r>
                      <a:endParaRPr lang="en-US" sz="90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900" dirty="0">
                          <a:solidFill>
                            <a:srgbClr val="C9BCA9"/>
                          </a:solidFill>
                          <a:latin typeface="Jost" pitchFamily="34" charset="0"/>
                          <a:ea typeface="Jost" pitchFamily="34" charset="-122"/>
                          <a:cs typeface="Jost" pitchFamily="34" charset="-120"/>
                        </a:rPr>
                        <a:t>$1,245,217</a:t>
                      </a:r>
                      <a:endParaRPr lang="en-US" sz="90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900" dirty="0">
                          <a:solidFill>
                            <a:srgbClr val="C9BCA9"/>
                          </a:solidFill>
                          <a:latin typeface="Jost" pitchFamily="34" charset="0"/>
                          <a:ea typeface="Jost" pitchFamily="34" charset="-122"/>
                          <a:cs typeface="Jost" pitchFamily="34" charset="-120"/>
                        </a:rPr>
                        <a:t>$2,905,505</a:t>
                      </a:r>
                      <a:endParaRPr lang="en-US" sz="90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bl>
          </a:graphicData>
        </a:graphic>
      </p:graphicFrame>
      <p:sp>
        <p:nvSpPr>
          <p:cNvPr id="8" name="Text 5"/>
          <p:cNvSpPr/>
          <p:nvPr/>
        </p:nvSpPr>
        <p:spPr>
          <a:xfrm>
            <a:off x="502920" y="4023360"/>
            <a:ext cx="8138160" cy="566928"/>
          </a:xfrm>
          <a:prstGeom prst="rect">
            <a:avLst/>
          </a:prstGeom>
          <a:noFill/>
          <a:ln/>
        </p:spPr>
        <p:txBody>
          <a:bodyPr wrap="square" rtlCol="0" anchor="t"/>
          <a:lstStyle/>
          <a:p>
            <a:pPr indent="0" marL="0">
              <a:lnSpc>
                <a:spcPct val="120000"/>
              </a:lnSpc>
              <a:buNone/>
            </a:pPr>
            <a:r>
              <a:rPr lang="en-US" sz="800" dirty="0">
                <a:solidFill>
                  <a:srgbClr val="6B6965"/>
                </a:solidFill>
                <a:latin typeface="Jost" pitchFamily="34" charset="0"/>
                <a:ea typeface="Jost" pitchFamily="34" charset="-122"/>
                <a:cs typeface="Jost" pitchFamily="34" charset="-120"/>
              </a:rPr>
              <a:t>In valuation terms the ratchet is exactly a halving of the pre-money, $11,083,333 to $7,125,000. It cushions the downside without making the investor whole: at the low case 40% of $1.24M is $497,800, still below the $809,283 that 30% of base case pays. Indicative terms, subject to definitive documents.</a:t>
            </a:r>
            <a:endParaRPr lang="en-US" sz="800" dirty="0"/>
          </a:p>
        </p:txBody>
      </p:sp>
      <p:sp>
        <p:nvSpPr>
          <p:cNvPr id="9" name="Text 6"/>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B6965"/>
                </a:solidFill>
                <a:latin typeface="Jost" pitchFamily="34" charset="0"/>
                <a:ea typeface="Jost" pitchFamily="34" charset="-122"/>
                <a:cs typeface="Jost" pitchFamily="34" charset="-120"/>
              </a:rPr>
              <a:t>L&amp;K WELLNESS  ·  PRIVATE INVESTMENT BRIEF  ·  CONFIDENTIAL</a:t>
            </a:r>
            <a:endParaRPr lang="en-US" sz="700" dirty="0"/>
          </a:p>
        </p:txBody>
      </p:sp>
      <p:sp>
        <p:nvSpPr>
          <p:cNvPr id="10" name="Text 7"/>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B6965"/>
                </a:solidFill>
                <a:latin typeface="Jost" pitchFamily="34" charset="0"/>
                <a:ea typeface="Jost" pitchFamily="34" charset="-122"/>
                <a:cs typeface="Jost" pitchFamily="34" charset="-120"/>
              </a:rPr>
              <a:t>25</a:t>
            </a:r>
            <a:endParaRPr lang="en-US" sz="7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B08D57"/>
                </a:solidFill>
                <a:latin typeface="Jost" pitchFamily="34" charset="0"/>
                <a:ea typeface="Jost" pitchFamily="34" charset="-122"/>
                <a:cs typeface="Jost" pitchFamily="34" charset="-120"/>
              </a:rPr>
              <a:t>CAPITAL AND RETURNS</a:t>
            </a:r>
            <a:endParaRPr lang="en-US" sz="900" dirty="0"/>
          </a:p>
        </p:txBody>
      </p:sp>
      <p:sp>
        <p:nvSpPr>
          <p:cNvPr id="3" name="Shape 1"/>
          <p:cNvSpPr/>
          <p:nvPr/>
        </p:nvSpPr>
        <p:spPr>
          <a:xfrm>
            <a:off x="502920" y="557784"/>
            <a:ext cx="566928" cy="12802"/>
          </a:xfrm>
          <a:prstGeom prst="rect">
            <a:avLst/>
          </a:prstGeom>
          <a:solidFill>
            <a:srgbClr val="B08D57"/>
          </a:solidFill>
          <a:ln w="12700">
            <a:solidFill>
              <a:srgbClr val="B08D57"/>
            </a:solidFill>
            <a:prstDash val="solid"/>
          </a:ln>
        </p:spPr>
      </p:sp>
      <p:sp>
        <p:nvSpPr>
          <p:cNvPr id="4" name="Text 2"/>
          <p:cNvSpPr/>
          <p:nvPr/>
        </p:nvSpPr>
        <p:spPr>
          <a:xfrm>
            <a:off x="502920" y="621792"/>
            <a:ext cx="8138160" cy="548640"/>
          </a:xfrm>
          <a:prstGeom prst="rect">
            <a:avLst/>
          </a:prstGeom>
          <a:noFill/>
          <a:ln/>
        </p:spPr>
        <p:txBody>
          <a:bodyPr wrap="square" rtlCol="0" anchor="t"/>
          <a:lstStyle/>
          <a:p>
            <a:pPr indent="0" marL="0">
              <a:buNone/>
            </a:pPr>
            <a:r>
              <a:rPr lang="en-US" sz="2600" spc="400" kern="0" dirty="0">
                <a:solidFill>
                  <a:srgbClr val="EDE7DE"/>
                </a:solidFill>
                <a:latin typeface="Cormorant Garamond" pitchFamily="34" charset="0"/>
                <a:ea typeface="Cormorant Garamond" pitchFamily="34" charset="-122"/>
                <a:cs typeface="Cormorant Garamond" pitchFamily="34" charset="-120"/>
              </a:rPr>
              <a:t>FUNDED ENTIRELY WITH EQUITY</a:t>
            </a:r>
            <a:endParaRPr lang="en-US" sz="2600" dirty="0"/>
          </a:p>
        </p:txBody>
      </p:sp>
      <p:graphicFrame>
        <p:nvGraphicFramePr>
          <p:cNvPr id="27" name="Table 0"/>
          <p:cNvGraphicFramePr>
            <a:graphicFrameLocks noGrp="1"/>
          </p:cNvGraphicFramePr>
          <p:nvPr>
            <p:extLst>
              <p:ext uri="{D42A27DB-BD31-4B8C-83A1-F6EECF244321}">
                <p14:modId xmlns:p14="http://schemas.microsoft.com/office/powerpoint/2010/main" val="1579011935"/>
              </p:ext>
            </p:extLst>
          </p:nvPr>
        </p:nvGraphicFramePr>
        <p:xfrm>
          <a:off x="502920" y="1280160"/>
          <a:ext cx="4023360" cy="914400"/>
        </p:xfrm>
        <a:graphic>
          <a:graphicData uri="http://schemas.openxmlformats.org/drawingml/2006/table">
            <a:tbl>
              <a:tblPr/>
              <a:tblGrid>
                <a:gridCol w="2514600"/>
                <a:gridCol w="1508760"/>
              </a:tblGrid>
              <a:tr h="210312">
                <a:tc>
                  <a:txBody>
                    <a:bodyPr/>
                    <a:lstStyle/>
                    <a:p>
                      <a:pPr algn="l" indent="0" marL="0">
                        <a:buNone/>
                      </a:pPr>
                      <a:r>
                        <a:rPr lang="en-US" sz="750" spc="140" kern="0" dirty="0">
                          <a:solidFill>
                            <a:srgbClr val="B08D57"/>
                          </a:solidFill>
                          <a:latin typeface="Jost" pitchFamily="34" charset="0"/>
                          <a:ea typeface="Jost" pitchFamily="34" charset="-122"/>
                          <a:cs typeface="Jost" pitchFamily="34" charset="-120"/>
                        </a:rPr>
                        <a:t>CAPITAL STRUCTURE</a:t>
                      </a:r>
                      <a:endParaRPr lang="en-US" sz="750" dirty="0">
                        <a:latin typeface="Jost" charset="0"/>
                        <a:ea typeface="Jost" charset="0"/>
                        <a:cs typeface="Jost" charset="0"/>
                      </a:endParaRPr>
                    </a:p>
                  </a:txBody>
                  <a:tcPr marL="36576" marR="36576" marT="36576" marB="36576" anchor="ctr">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000000"/>
                    </a:solidFill>
                  </a:tcPr>
                </a:tc>
                <a:tc>
                  <a:txBody>
                    <a:bodyPr/>
                    <a:lstStyle/>
                    <a:p>
                      <a:pPr algn="r" indent="0" marL="0">
                        <a:buNone/>
                      </a:pPr>
                      <a:r>
                        <a:rPr lang="en-US" sz="750" spc="140" kern="0" dirty="0">
                          <a:solidFill>
                            <a:srgbClr val="B08D57"/>
                          </a:solidFill>
                          <a:latin typeface="Jost" pitchFamily="34" charset="0"/>
                          <a:ea typeface="Jost" pitchFamily="34" charset="-122"/>
                          <a:cs typeface="Jost" pitchFamily="34" charset="-120"/>
                        </a:rPr>
                        <a:t>VALUE</a:t>
                      </a:r>
                      <a:endParaRPr lang="en-US" sz="750" dirty="0">
                        <a:latin typeface="Jost" charset="0"/>
                        <a:ea typeface="Jost" charset="0"/>
                        <a:cs typeface="Jost" charset="0"/>
                      </a:endParaRPr>
                    </a:p>
                  </a:txBody>
                  <a:tcPr marL="36576" marR="36576" marT="36576" marB="36576" anchor="ctr">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000000"/>
                    </a:solidFill>
                  </a:tcPr>
                </a:tc>
              </a:tr>
              <a:tr h="210312">
                <a:tc>
                  <a:txBody>
                    <a:bodyPr/>
                    <a:lstStyle/>
                    <a:p>
                      <a:pPr algn="l" indent="0" marL="0">
                        <a:buNone/>
                      </a:pPr>
                      <a:r>
                        <a:rPr lang="en-US" sz="850" dirty="0">
                          <a:solidFill>
                            <a:srgbClr val="EDE7DE"/>
                          </a:solidFill>
                          <a:latin typeface="Jost" pitchFamily="34" charset="0"/>
                          <a:ea typeface="Jost" pitchFamily="34" charset="-122"/>
                          <a:cs typeface="Jost" pitchFamily="34" charset="-120"/>
                        </a:rPr>
                        <a:t>Total project cost</a:t>
                      </a:r>
                      <a:endParaRPr lang="en-US" sz="85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850" dirty="0">
                          <a:solidFill>
                            <a:srgbClr val="C9BCA9"/>
                          </a:solidFill>
                          <a:latin typeface="Jost" pitchFamily="34" charset="0"/>
                          <a:ea typeface="Jost" pitchFamily="34" charset="-122"/>
                          <a:cs typeface="Jost" pitchFamily="34" charset="-120"/>
                        </a:rPr>
                        <a:t>$4,750,000</a:t>
                      </a:r>
                      <a:endParaRPr lang="en-US" sz="85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210312">
                <a:tc>
                  <a:txBody>
                    <a:bodyPr/>
                    <a:lstStyle/>
                    <a:p>
                      <a:pPr algn="l" indent="0" marL="0">
                        <a:buNone/>
                      </a:pPr>
                      <a:r>
                        <a:rPr lang="en-US" sz="850" dirty="0">
                          <a:solidFill>
                            <a:srgbClr val="EDE7DE"/>
                          </a:solidFill>
                          <a:latin typeface="Jost" pitchFamily="34" charset="0"/>
                          <a:ea typeface="Jost" pitchFamily="34" charset="-122"/>
                          <a:cs typeface="Jost" pitchFamily="34" charset="-120"/>
                        </a:rPr>
                        <a:t>Senior debt</a:t>
                      </a:r>
                      <a:endParaRPr lang="en-US" sz="85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850" dirty="0">
                          <a:solidFill>
                            <a:srgbClr val="C9BCA9"/>
                          </a:solidFill>
                          <a:latin typeface="Jost" pitchFamily="34" charset="0"/>
                          <a:ea typeface="Jost" pitchFamily="34" charset="-122"/>
                          <a:cs typeface="Jost" pitchFamily="34" charset="-120"/>
                        </a:rPr>
                        <a:t>None</a:t>
                      </a:r>
                      <a:endParaRPr lang="en-US" sz="85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210312">
                <a:tc>
                  <a:txBody>
                    <a:bodyPr/>
                    <a:lstStyle/>
                    <a:p>
                      <a:pPr algn="l" indent="0" marL="0">
                        <a:buNone/>
                      </a:pPr>
                      <a:r>
                        <a:rPr lang="en-US" sz="850" dirty="0">
                          <a:solidFill>
                            <a:srgbClr val="EDE7DE"/>
                          </a:solidFill>
                          <a:latin typeface="Jost" pitchFamily="34" charset="0"/>
                          <a:ea typeface="Jost" pitchFamily="34" charset="-122"/>
                          <a:cs typeface="Jost" pitchFamily="34" charset="-120"/>
                        </a:rPr>
                        <a:t>Starting stake</a:t>
                      </a:r>
                      <a:endParaRPr lang="en-US" sz="85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850" dirty="0">
                          <a:solidFill>
                            <a:srgbClr val="C9BCA9"/>
                          </a:solidFill>
                          <a:latin typeface="Jost" pitchFamily="34" charset="0"/>
                          <a:ea typeface="Jost" pitchFamily="34" charset="-122"/>
                          <a:cs typeface="Jost" pitchFamily="34" charset="-120"/>
                        </a:rPr>
                        <a:t>30%</a:t>
                      </a:r>
                      <a:endParaRPr lang="en-US" sz="85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210312">
                <a:tc>
                  <a:txBody>
                    <a:bodyPr/>
                    <a:lstStyle/>
                    <a:p>
                      <a:pPr algn="l" indent="0" marL="0">
                        <a:buNone/>
                      </a:pPr>
                      <a:r>
                        <a:rPr lang="en-US" sz="850" dirty="0">
                          <a:solidFill>
                            <a:srgbClr val="EDE7DE"/>
                          </a:solidFill>
                          <a:latin typeface="Jost" pitchFamily="34" charset="0"/>
                          <a:ea typeface="Jost" pitchFamily="34" charset="-122"/>
                          <a:cs typeface="Jost" pitchFamily="34" charset="-120"/>
                        </a:rPr>
                        <a:t>Pre-money valuation</a:t>
                      </a:r>
                      <a:endParaRPr lang="en-US" sz="85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850" dirty="0">
                          <a:solidFill>
                            <a:srgbClr val="C9BCA9"/>
                          </a:solidFill>
                          <a:latin typeface="Jost" pitchFamily="34" charset="0"/>
                          <a:ea typeface="Jost" pitchFamily="34" charset="-122"/>
                          <a:cs typeface="Jost" pitchFamily="34" charset="-120"/>
                        </a:rPr>
                        <a:t>$11,083,333</a:t>
                      </a:r>
                      <a:endParaRPr lang="en-US" sz="85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210312">
                <a:tc>
                  <a:txBody>
                    <a:bodyPr/>
                    <a:lstStyle/>
                    <a:p>
                      <a:pPr algn="l" indent="0" marL="0">
                        <a:buNone/>
                      </a:pPr>
                      <a:r>
                        <a:rPr lang="en-US" sz="850" dirty="0">
                          <a:solidFill>
                            <a:srgbClr val="EDE7DE"/>
                          </a:solidFill>
                          <a:latin typeface="Jost" pitchFamily="34" charset="0"/>
                          <a:ea typeface="Jost" pitchFamily="34" charset="-122"/>
                          <a:cs typeface="Jost" pitchFamily="34" charset="-120"/>
                        </a:rPr>
                        <a:t>Post-money valuation</a:t>
                      </a:r>
                      <a:endParaRPr lang="en-US" sz="85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850" dirty="0">
                          <a:solidFill>
                            <a:srgbClr val="C9BCA9"/>
                          </a:solidFill>
                          <a:latin typeface="Jost" pitchFamily="34" charset="0"/>
                          <a:ea typeface="Jost" pitchFamily="34" charset="-122"/>
                          <a:cs typeface="Jost" pitchFamily="34" charset="-120"/>
                        </a:rPr>
                        <a:t>$15,833,333</a:t>
                      </a:r>
                      <a:endParaRPr lang="en-US" sz="85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210312">
                <a:tc>
                  <a:txBody>
                    <a:bodyPr/>
                    <a:lstStyle/>
                    <a:p>
                      <a:pPr algn="l" indent="0" marL="0">
                        <a:buNone/>
                      </a:pPr>
                      <a:r>
                        <a:rPr lang="en-US" sz="850" dirty="0">
                          <a:solidFill>
                            <a:srgbClr val="EDE7DE"/>
                          </a:solidFill>
                          <a:latin typeface="Jost" pitchFamily="34" charset="0"/>
                          <a:ea typeface="Jost" pitchFamily="34" charset="-122"/>
                          <a:cs typeface="Jost" pitchFamily="34" charset="-120"/>
                        </a:rPr>
                        <a:t>Entry multiple, base case</a:t>
                      </a:r>
                      <a:endParaRPr lang="en-US" sz="85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850" dirty="0">
                          <a:solidFill>
                            <a:srgbClr val="C9BCA9"/>
                          </a:solidFill>
                          <a:latin typeface="Jost" pitchFamily="34" charset="0"/>
                          <a:ea typeface="Jost" pitchFamily="34" charset="-122"/>
                          <a:cs typeface="Jost" pitchFamily="34" charset="-120"/>
                        </a:rPr>
                        <a:t>5.87x operating income</a:t>
                      </a:r>
                      <a:endParaRPr lang="en-US" sz="85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210312">
                <a:tc>
                  <a:txBody>
                    <a:bodyPr/>
                    <a:lstStyle/>
                    <a:p>
                      <a:pPr algn="l" indent="0" marL="0">
                        <a:buNone/>
                      </a:pPr>
                      <a:r>
                        <a:rPr lang="en-US" sz="850" dirty="0">
                          <a:solidFill>
                            <a:srgbClr val="EDE7DE"/>
                          </a:solidFill>
                          <a:latin typeface="Jost" pitchFamily="34" charset="0"/>
                          <a:ea typeface="Jost" pitchFamily="34" charset="-122"/>
                          <a:cs typeface="Jost" pitchFamily="34" charset="-120"/>
                        </a:rPr>
                        <a:t>Working capital reserve</a:t>
                      </a:r>
                      <a:endParaRPr lang="en-US" sz="85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850" dirty="0">
                          <a:solidFill>
                            <a:srgbClr val="C9BCA9"/>
                          </a:solidFill>
                          <a:latin typeface="Jost" pitchFamily="34" charset="0"/>
                          <a:ea typeface="Jost" pitchFamily="34" charset="-122"/>
                          <a:cs typeface="Jost" pitchFamily="34" charset="-120"/>
                        </a:rPr>
                        <a:t>$1,105,800</a:t>
                      </a:r>
                      <a:endParaRPr lang="en-US" sz="85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210312">
                <a:tc>
                  <a:txBody>
                    <a:bodyPr/>
                    <a:lstStyle/>
                    <a:p>
                      <a:pPr algn="l" indent="0" marL="0">
                        <a:buNone/>
                      </a:pPr>
                      <a:r>
                        <a:rPr lang="en-US" sz="850" dirty="0">
                          <a:solidFill>
                            <a:srgbClr val="EDE7DE"/>
                          </a:solidFill>
                          <a:latin typeface="Jost" pitchFamily="34" charset="0"/>
                          <a:ea typeface="Jost" pitchFamily="34" charset="-122"/>
                          <a:cs typeface="Jost" pitchFamily="34" charset="-120"/>
                        </a:rPr>
                        <a:t>Modeled cash trough</a:t>
                      </a:r>
                      <a:endParaRPr lang="en-US" sz="85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850" dirty="0">
                          <a:solidFill>
                            <a:srgbClr val="C9BCA9"/>
                          </a:solidFill>
                          <a:latin typeface="Jost" pitchFamily="34" charset="0"/>
                          <a:ea typeface="Jost" pitchFamily="34" charset="-122"/>
                          <a:cs typeface="Jost" pitchFamily="34" charset="-120"/>
                        </a:rPr>
                        <a:t>$42,467 at month 9</a:t>
                      </a:r>
                      <a:endParaRPr lang="en-US" sz="85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210312">
                <a:tc>
                  <a:txBody>
                    <a:bodyPr/>
                    <a:lstStyle/>
                    <a:p>
                      <a:pPr algn="l" indent="0" marL="0">
                        <a:buNone/>
                      </a:pPr>
                      <a:r>
                        <a:rPr lang="en-US" sz="850" dirty="0">
                          <a:solidFill>
                            <a:srgbClr val="EDE7DE"/>
                          </a:solidFill>
                          <a:latin typeface="Jost" pitchFamily="34" charset="0"/>
                          <a:ea typeface="Jost" pitchFamily="34" charset="-122"/>
                          <a:cs typeface="Jost" pitchFamily="34" charset="-120"/>
                        </a:rPr>
                        <a:t>Equity payback</a:t>
                      </a:r>
                      <a:endParaRPr lang="en-US" sz="85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850" dirty="0">
                          <a:solidFill>
                            <a:srgbClr val="C9BCA9"/>
                          </a:solidFill>
                          <a:latin typeface="Jost" pitchFamily="34" charset="0"/>
                          <a:ea typeface="Jost" pitchFamily="34" charset="-122"/>
                          <a:cs typeface="Jost" pitchFamily="34" charset="-120"/>
                        </a:rPr>
                        <a:t>month 37, extrapolated</a:t>
                      </a:r>
                      <a:endParaRPr lang="en-US" sz="85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bl>
          </a:graphicData>
        </a:graphic>
      </p:graphicFrame>
      <p:graphicFrame>
        <p:nvGraphicFramePr>
          <p:cNvPr id="53" name="Table 1"/>
          <p:cNvGraphicFramePr>
            <a:graphicFrameLocks noGrp="1"/>
          </p:cNvGraphicFramePr>
          <p:nvPr>
            <p:extLst>
              <p:ext uri="{D42A27DB-BD31-4B8C-83A1-F6EECF244321}">
                <p14:modId xmlns:p14="http://schemas.microsoft.com/office/powerpoint/2010/main" val="1579011935"/>
              </p:ext>
            </p:extLst>
          </p:nvPr>
        </p:nvGraphicFramePr>
        <p:xfrm>
          <a:off x="4800600" y="1280160"/>
          <a:ext cx="3840480" cy="914400"/>
        </p:xfrm>
        <a:graphic>
          <a:graphicData uri="http://schemas.openxmlformats.org/drawingml/2006/table">
            <a:tbl>
              <a:tblPr/>
              <a:tblGrid>
                <a:gridCol w="777240"/>
                <a:gridCol w="1234440"/>
                <a:gridCol w="731520"/>
                <a:gridCol w="1097280"/>
              </a:tblGrid>
              <a:tr h="246888">
                <a:tc>
                  <a:txBody>
                    <a:bodyPr/>
                    <a:lstStyle/>
                    <a:p>
                      <a:pPr algn="l" indent="0" marL="0">
                        <a:buNone/>
                      </a:pPr>
                      <a:r>
                        <a:rPr lang="en-US" sz="750" spc="140" kern="0" dirty="0">
                          <a:solidFill>
                            <a:srgbClr val="B08D57"/>
                          </a:solidFill>
                          <a:latin typeface="Jost" pitchFamily="34" charset="0"/>
                          <a:ea typeface="Jost" pitchFamily="34" charset="-122"/>
                          <a:cs typeface="Jost" pitchFamily="34" charset="-120"/>
                        </a:rPr>
                        <a:t>CASE</a:t>
                      </a:r>
                      <a:endParaRPr lang="en-US" sz="750" dirty="0">
                        <a:latin typeface="Jost" charset="0"/>
                        <a:ea typeface="Jost" charset="0"/>
                        <a:cs typeface="Jost" charset="0"/>
                      </a:endParaRPr>
                    </a:p>
                  </a:txBody>
                  <a:tcPr marL="36576" marR="36576" marT="36576" marB="36576" anchor="ctr">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000000"/>
                    </a:solidFill>
                  </a:tcPr>
                </a:tc>
                <a:tc>
                  <a:txBody>
                    <a:bodyPr/>
                    <a:lstStyle/>
                    <a:p>
                      <a:pPr algn="l" indent="0" marL="0">
                        <a:buNone/>
                      </a:pPr>
                      <a:r>
                        <a:rPr lang="en-US" sz="750" spc="140" kern="0" dirty="0">
                          <a:solidFill>
                            <a:srgbClr val="B08D57"/>
                          </a:solidFill>
                          <a:latin typeface="Jost" pitchFamily="34" charset="0"/>
                          <a:ea typeface="Jost" pitchFamily="34" charset="-122"/>
                          <a:cs typeface="Jost" pitchFamily="34" charset="-120"/>
                        </a:rPr>
                        <a:t>INVESTOR CASH /YR</a:t>
                      </a:r>
                      <a:endParaRPr lang="en-US" sz="750" dirty="0">
                        <a:latin typeface="Jost" charset="0"/>
                        <a:ea typeface="Jost" charset="0"/>
                        <a:cs typeface="Jost" charset="0"/>
                      </a:endParaRPr>
                    </a:p>
                  </a:txBody>
                  <a:tcPr marL="36576" marR="36576" marT="36576" marB="36576" anchor="ctr">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000000"/>
                    </a:solidFill>
                  </a:tcPr>
                </a:tc>
                <a:tc>
                  <a:txBody>
                    <a:bodyPr/>
                    <a:lstStyle/>
                    <a:p>
                      <a:pPr algn="r" indent="0" marL="0">
                        <a:buNone/>
                      </a:pPr>
                      <a:r>
                        <a:rPr lang="en-US" sz="750" spc="140" kern="0" dirty="0">
                          <a:solidFill>
                            <a:srgbClr val="B08D57"/>
                          </a:solidFill>
                          <a:latin typeface="Jost" pitchFamily="34" charset="0"/>
                          <a:ea typeface="Jost" pitchFamily="34" charset="-122"/>
                          <a:cs typeface="Jost" pitchFamily="34" charset="-120"/>
                        </a:rPr>
                        <a:t>YIELD</a:t>
                      </a:r>
                      <a:endParaRPr lang="en-US" sz="750" dirty="0">
                        <a:latin typeface="Jost" charset="0"/>
                        <a:ea typeface="Jost" charset="0"/>
                        <a:cs typeface="Jost" charset="0"/>
                      </a:endParaRPr>
                    </a:p>
                  </a:txBody>
                  <a:tcPr marL="36576" marR="36576" marT="36576" marB="36576" anchor="ctr">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000000"/>
                    </a:solidFill>
                  </a:tcPr>
                </a:tc>
                <a:tc>
                  <a:txBody>
                    <a:bodyPr/>
                    <a:lstStyle/>
                    <a:p>
                      <a:pPr algn="r" indent="0" marL="0">
                        <a:buNone/>
                      </a:pPr>
                      <a:r>
                        <a:rPr lang="en-US" sz="750" spc="140" kern="0" dirty="0">
                          <a:solidFill>
                            <a:srgbClr val="B08D57"/>
                          </a:solidFill>
                          <a:latin typeface="Jost" pitchFamily="34" charset="0"/>
                          <a:ea typeface="Jost" pitchFamily="34" charset="-122"/>
                          <a:cs typeface="Jost" pitchFamily="34" charset="-120"/>
                        </a:rPr>
                        <a:t>AFTER RESERVE</a:t>
                      </a:r>
                      <a:endParaRPr lang="en-US" sz="750" dirty="0">
                        <a:latin typeface="Jost" charset="0"/>
                        <a:ea typeface="Jost" charset="0"/>
                        <a:cs typeface="Jost" charset="0"/>
                      </a:endParaRPr>
                    </a:p>
                  </a:txBody>
                  <a:tcPr marL="36576" marR="36576" marT="36576" marB="36576" anchor="ctr">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000000"/>
                    </a:solidFill>
                  </a:tcPr>
                </a:tc>
              </a:tr>
              <a:tr h="246888">
                <a:tc>
                  <a:txBody>
                    <a:bodyPr/>
                    <a:lstStyle/>
                    <a:p>
                      <a:pPr algn="l" indent="0" marL="0">
                        <a:buNone/>
                      </a:pPr>
                      <a:r>
                        <a:rPr lang="en-US" sz="900" dirty="0">
                          <a:solidFill>
                            <a:srgbClr val="EDE7DE"/>
                          </a:solidFill>
                          <a:latin typeface="Jost" pitchFamily="34" charset="0"/>
                          <a:ea typeface="Jost" pitchFamily="34" charset="-122"/>
                          <a:cs typeface="Jost" pitchFamily="34" charset="-120"/>
                        </a:rPr>
                        <a:t>Low</a:t>
                      </a:r>
                      <a:endParaRPr lang="en-US" sz="90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l" indent="0" marL="0">
                        <a:buNone/>
                      </a:pPr>
                      <a:r>
                        <a:rPr lang="en-US" sz="900" dirty="0">
                          <a:solidFill>
                            <a:srgbClr val="C9BCA9"/>
                          </a:solidFill>
                          <a:latin typeface="Jost" pitchFamily="34" charset="0"/>
                          <a:ea typeface="Jost" pitchFamily="34" charset="-122"/>
                          <a:cs typeface="Jost" pitchFamily="34" charset="-120"/>
                        </a:rPr>
                        <a:t>$497,800</a:t>
                      </a:r>
                      <a:endParaRPr lang="en-US" sz="90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900" dirty="0">
                          <a:solidFill>
                            <a:srgbClr val="C9BCA9"/>
                          </a:solidFill>
                          <a:latin typeface="Jost" pitchFamily="34" charset="0"/>
                          <a:ea typeface="Jost" pitchFamily="34" charset="-122"/>
                          <a:cs typeface="Jost" pitchFamily="34" charset="-120"/>
                        </a:rPr>
                        <a:t>10.5%</a:t>
                      </a:r>
                      <a:endParaRPr lang="en-US" sz="90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900" dirty="0">
                          <a:solidFill>
                            <a:srgbClr val="C9BCA9"/>
                          </a:solidFill>
                          <a:latin typeface="Jost" pitchFamily="34" charset="0"/>
                          <a:ea typeface="Jost" pitchFamily="34" charset="-122"/>
                          <a:cs typeface="Jost" pitchFamily="34" charset="-120"/>
                        </a:rPr>
                        <a:t>7.9%</a:t>
                      </a:r>
                      <a:endParaRPr lang="en-US" sz="90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246888">
                <a:tc>
                  <a:txBody>
                    <a:bodyPr/>
                    <a:lstStyle/>
                    <a:p>
                      <a:pPr algn="l" indent="0" marL="0">
                        <a:buNone/>
                      </a:pPr>
                      <a:r>
                        <a:rPr lang="en-US" sz="900" dirty="0">
                          <a:solidFill>
                            <a:srgbClr val="EDE7DE"/>
                          </a:solidFill>
                          <a:latin typeface="Jost" pitchFamily="34" charset="0"/>
                          <a:ea typeface="Jost" pitchFamily="34" charset="-122"/>
                          <a:cs typeface="Jost" pitchFamily="34" charset="-120"/>
                        </a:rPr>
                        <a:t>Base</a:t>
                      </a:r>
                      <a:endParaRPr lang="en-US" sz="90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l" indent="0" marL="0">
                        <a:buNone/>
                      </a:pPr>
                      <a:r>
                        <a:rPr lang="en-US" sz="900" dirty="0">
                          <a:solidFill>
                            <a:srgbClr val="C9BCA9"/>
                          </a:solidFill>
                          <a:latin typeface="Jost" pitchFamily="34" charset="0"/>
                          <a:ea typeface="Jost" pitchFamily="34" charset="-122"/>
                          <a:cs typeface="Jost" pitchFamily="34" charset="-120"/>
                        </a:rPr>
                        <a:t>$809,283</a:t>
                      </a:r>
                      <a:endParaRPr lang="en-US" sz="90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900" dirty="0">
                          <a:solidFill>
                            <a:srgbClr val="C9BCA9"/>
                          </a:solidFill>
                          <a:latin typeface="Jost" pitchFamily="34" charset="0"/>
                          <a:ea typeface="Jost" pitchFamily="34" charset="-122"/>
                          <a:cs typeface="Jost" pitchFamily="34" charset="-120"/>
                        </a:rPr>
                        <a:t>17.0%</a:t>
                      </a:r>
                      <a:endParaRPr lang="en-US" sz="90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900" dirty="0">
                          <a:solidFill>
                            <a:srgbClr val="C9BCA9"/>
                          </a:solidFill>
                          <a:latin typeface="Jost" pitchFamily="34" charset="0"/>
                          <a:ea typeface="Jost" pitchFamily="34" charset="-122"/>
                          <a:cs typeface="Jost" pitchFamily="34" charset="-120"/>
                        </a:rPr>
                        <a:t>12.8%</a:t>
                      </a:r>
                      <a:endParaRPr lang="en-US" sz="90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246888">
                <a:tc>
                  <a:txBody>
                    <a:bodyPr/>
                    <a:lstStyle/>
                    <a:p>
                      <a:pPr algn="l" indent="0" marL="0">
                        <a:buNone/>
                      </a:pPr>
                      <a:r>
                        <a:rPr lang="en-US" sz="900" dirty="0">
                          <a:solidFill>
                            <a:srgbClr val="EDE7DE"/>
                          </a:solidFill>
                          <a:latin typeface="Jost" pitchFamily="34" charset="0"/>
                          <a:ea typeface="Jost" pitchFamily="34" charset="-122"/>
                          <a:cs typeface="Jost" pitchFamily="34" charset="-120"/>
                        </a:rPr>
                        <a:t>Upside</a:t>
                      </a:r>
                      <a:endParaRPr lang="en-US" sz="90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l" indent="0" marL="0">
                        <a:buNone/>
                      </a:pPr>
                      <a:r>
                        <a:rPr lang="en-US" sz="900" dirty="0">
                          <a:solidFill>
                            <a:srgbClr val="C9BCA9"/>
                          </a:solidFill>
                          <a:latin typeface="Jost" pitchFamily="34" charset="0"/>
                          <a:ea typeface="Jost" pitchFamily="34" charset="-122"/>
                          <a:cs typeface="Jost" pitchFamily="34" charset="-120"/>
                        </a:rPr>
                        <a:t>$1,245,217</a:t>
                      </a:r>
                      <a:endParaRPr lang="en-US" sz="90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900" dirty="0">
                          <a:solidFill>
                            <a:srgbClr val="C9BCA9"/>
                          </a:solidFill>
                          <a:latin typeface="Jost" pitchFamily="34" charset="0"/>
                          <a:ea typeface="Jost" pitchFamily="34" charset="-122"/>
                          <a:cs typeface="Jost" pitchFamily="34" charset="-120"/>
                        </a:rPr>
                        <a:t>26.2%</a:t>
                      </a:r>
                      <a:endParaRPr lang="en-US" sz="90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900" dirty="0">
                          <a:solidFill>
                            <a:srgbClr val="C9BCA9"/>
                          </a:solidFill>
                          <a:latin typeface="Jost" pitchFamily="34" charset="0"/>
                          <a:ea typeface="Jost" pitchFamily="34" charset="-122"/>
                          <a:cs typeface="Jost" pitchFamily="34" charset="-120"/>
                        </a:rPr>
                        <a:t>19.7%</a:t>
                      </a:r>
                      <a:endParaRPr lang="en-US" sz="90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bl>
          </a:graphicData>
        </a:graphic>
      </p:graphicFrame>
      <p:sp>
        <p:nvSpPr>
          <p:cNvPr id="7" name="Text 3"/>
          <p:cNvSpPr/>
          <p:nvPr/>
        </p:nvSpPr>
        <p:spPr>
          <a:xfrm>
            <a:off x="4800600" y="2487168"/>
            <a:ext cx="3977640" cy="384048"/>
          </a:xfrm>
          <a:prstGeom prst="rect">
            <a:avLst/>
          </a:prstGeom>
          <a:noFill/>
          <a:ln/>
        </p:spPr>
        <p:txBody>
          <a:bodyPr wrap="square" rtlCol="0" anchor="t"/>
          <a:lstStyle/>
          <a:p>
            <a:pPr indent="0" marL="0">
              <a:lnSpc>
                <a:spcPct val="115000"/>
              </a:lnSpc>
              <a:buNone/>
            </a:pPr>
            <a:r>
              <a:rPr lang="en-US" sz="900" dirty="0">
                <a:solidFill>
                  <a:srgbClr val="EDE7DE"/>
                </a:solidFill>
                <a:latin typeface="Jost" pitchFamily="34" charset="0"/>
                <a:ea typeface="Jost" pitchFamily="34" charset="-122"/>
                <a:cs typeface="Jost" pitchFamily="34" charset="-120"/>
              </a:rPr>
              <a:t>Founder and operator retains 70% at base case, $1,888,328 a year, and 60% if the ratchet reaches its cap.</a:t>
            </a:r>
            <a:endParaRPr lang="en-US" sz="900" dirty="0"/>
          </a:p>
        </p:txBody>
      </p:sp>
      <p:sp>
        <p:nvSpPr>
          <p:cNvPr id="8" name="Text 4"/>
          <p:cNvSpPr/>
          <p:nvPr/>
        </p:nvSpPr>
        <p:spPr>
          <a:xfrm>
            <a:off x="4800600" y="2889504"/>
            <a:ext cx="3977640" cy="685800"/>
          </a:xfrm>
          <a:prstGeom prst="rect">
            <a:avLst/>
          </a:prstGeom>
          <a:noFill/>
          <a:ln/>
        </p:spPr>
        <p:txBody>
          <a:bodyPr wrap="square" rtlCol="0" anchor="t"/>
          <a:lstStyle/>
          <a:p>
            <a:pPr indent="0" marL="0">
              <a:lnSpc>
                <a:spcPct val="115000"/>
              </a:lnSpc>
              <a:buNone/>
            </a:pPr>
            <a:r>
              <a:rPr lang="en-US" sz="750" dirty="0">
                <a:solidFill>
                  <a:srgbClr val="C9BCA9"/>
                </a:solidFill>
                <a:latin typeface="Jost" pitchFamily="34" charset="0"/>
                <a:ea typeface="Jost" pitchFamily="34" charset="-122"/>
                <a:cs typeface="Jost" pitchFamily="34" charset="-120"/>
              </a:rPr>
              <a:t>Yield is the investor share of operating income against the $4.75M invested, assuming it is distributed in full. After reserve holds back 25% of operating income as retained cash for the second location, which is what the pro-rata page depends on. Both are before tax and before maintenance capital.</a:t>
            </a:r>
            <a:endParaRPr lang="en-US" sz="750" dirty="0"/>
          </a:p>
        </p:txBody>
      </p:sp>
      <p:sp>
        <p:nvSpPr>
          <p:cNvPr id="9" name="Text 5"/>
          <p:cNvSpPr/>
          <p:nvPr/>
        </p:nvSpPr>
        <p:spPr>
          <a:xfrm>
            <a:off x="502920" y="3840480"/>
            <a:ext cx="8138160" cy="731520"/>
          </a:xfrm>
          <a:prstGeom prst="rect">
            <a:avLst/>
          </a:prstGeom>
          <a:noFill/>
          <a:ln/>
        </p:spPr>
        <p:txBody>
          <a:bodyPr wrap="square" rtlCol="0" anchor="t"/>
          <a:lstStyle/>
          <a:p>
            <a:pPr indent="0" marL="0">
              <a:lnSpc>
                <a:spcPct val="120000"/>
              </a:lnSpc>
              <a:buNone/>
            </a:pPr>
            <a:r>
              <a:rPr lang="en-US" sz="750" dirty="0">
                <a:solidFill>
                  <a:srgbClr val="6B6965"/>
                </a:solidFill>
                <a:latin typeface="Jost" pitchFamily="34" charset="0"/>
                <a:ea typeface="Jost" pitchFamily="34" charset="-122"/>
                <a:cs typeface="Jost" pitchFamily="34" charset="-120"/>
              </a:rPr>
              <a:t>Cumulative cash across the modelled 36 months is $4,589,439, including the $540,000 of founding-member prepayments collected during construction. No internal rate of return is projected here: the paths by which an investor realises value, and the published multiples the strategic case rests on, are set out two pages on. Every figure on this page is indicative and subject to definitive documents.</a:t>
            </a:r>
            <a:endParaRPr lang="en-US" sz="750" dirty="0"/>
          </a:p>
        </p:txBody>
      </p:sp>
      <p:sp>
        <p:nvSpPr>
          <p:cNvPr id="10" name="Text 6"/>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B6965"/>
                </a:solidFill>
                <a:latin typeface="Jost" pitchFamily="34" charset="0"/>
                <a:ea typeface="Jost" pitchFamily="34" charset="-122"/>
                <a:cs typeface="Jost" pitchFamily="34" charset="-120"/>
              </a:rPr>
              <a:t>L&amp;K WELLNESS  ·  PRIVATE INVESTMENT BRIEF  ·  CONFIDENTIAL</a:t>
            </a:r>
            <a:endParaRPr lang="en-US" sz="700" dirty="0"/>
          </a:p>
        </p:txBody>
      </p:sp>
      <p:sp>
        <p:nvSpPr>
          <p:cNvPr id="11" name="Text 7"/>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B6965"/>
                </a:solidFill>
                <a:latin typeface="Jost" pitchFamily="34" charset="0"/>
                <a:ea typeface="Jost" pitchFamily="34" charset="-122"/>
                <a:cs typeface="Jost" pitchFamily="34" charset="-120"/>
              </a:rPr>
              <a:t>26</a:t>
            </a:r>
            <a:endParaRPr lang="en-US" sz="7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B08D57"/>
                </a:solidFill>
                <a:latin typeface="Jost" pitchFamily="34" charset="0"/>
                <a:ea typeface="Jost" pitchFamily="34" charset="-122"/>
                <a:cs typeface="Jost" pitchFamily="34" charset="-120"/>
              </a:rPr>
              <a:t>FOLLOW-ON RIGHTS</a:t>
            </a:r>
            <a:endParaRPr lang="en-US" sz="900" dirty="0"/>
          </a:p>
        </p:txBody>
      </p:sp>
      <p:sp>
        <p:nvSpPr>
          <p:cNvPr id="3" name="Shape 1"/>
          <p:cNvSpPr/>
          <p:nvPr/>
        </p:nvSpPr>
        <p:spPr>
          <a:xfrm>
            <a:off x="502920" y="557784"/>
            <a:ext cx="566928" cy="12802"/>
          </a:xfrm>
          <a:prstGeom prst="rect">
            <a:avLst/>
          </a:prstGeom>
          <a:solidFill>
            <a:srgbClr val="B08D57"/>
          </a:solidFill>
          <a:ln w="12700">
            <a:solidFill>
              <a:srgbClr val="B08D57"/>
            </a:solidFill>
            <a:prstDash val="solid"/>
          </a:ln>
        </p:spPr>
      </p:sp>
      <p:sp>
        <p:nvSpPr>
          <p:cNvPr id="4" name="Text 2"/>
          <p:cNvSpPr/>
          <p:nvPr/>
        </p:nvSpPr>
        <p:spPr>
          <a:xfrm>
            <a:off x="502920" y="621792"/>
            <a:ext cx="8138160" cy="548640"/>
          </a:xfrm>
          <a:prstGeom prst="rect">
            <a:avLst/>
          </a:prstGeom>
          <a:noFill/>
          <a:ln/>
        </p:spPr>
        <p:txBody>
          <a:bodyPr wrap="square" rtlCol="0" anchor="t"/>
          <a:lstStyle/>
          <a:p>
            <a:pPr indent="0" marL="0">
              <a:buNone/>
            </a:pPr>
            <a:r>
              <a:rPr lang="en-US" sz="2600" spc="400" kern="0" dirty="0">
                <a:solidFill>
                  <a:srgbClr val="EDE7DE"/>
                </a:solidFill>
                <a:latin typeface="Cormorant Garamond" pitchFamily="34" charset="0"/>
                <a:ea typeface="Cormorant Garamond" pitchFamily="34" charset="-122"/>
                <a:cs typeface="Cormorant Garamond" pitchFamily="34" charset="-120"/>
              </a:rPr>
              <a:t>INVESTING BEYOND LOCATION ONE</a:t>
            </a:r>
            <a:endParaRPr lang="en-US" sz="2600" dirty="0"/>
          </a:p>
        </p:txBody>
      </p:sp>
      <p:sp>
        <p:nvSpPr>
          <p:cNvPr id="5" name="Text 3"/>
          <p:cNvSpPr/>
          <p:nvPr/>
        </p:nvSpPr>
        <p:spPr>
          <a:xfrm>
            <a:off x="502920" y="1115568"/>
            <a:ext cx="7487107" cy="457200"/>
          </a:xfrm>
          <a:prstGeom prst="rect">
            <a:avLst/>
          </a:prstGeom>
          <a:noFill/>
          <a:ln/>
        </p:spPr>
        <p:txBody>
          <a:bodyPr wrap="square" rtlCol="0" anchor="t"/>
          <a:lstStyle/>
          <a:p>
            <a:pPr indent="0" marL="0">
              <a:lnSpc>
                <a:spcPct val="120000"/>
              </a:lnSpc>
              <a:buNone/>
            </a:pPr>
            <a:r>
              <a:rPr lang="en-US" sz="1050" dirty="0">
                <a:solidFill>
                  <a:srgbClr val="C9BCA9"/>
                </a:solidFill>
                <a:latin typeface="Jost" pitchFamily="34" charset="0"/>
                <a:ea typeface="Jost" pitchFamily="34" charset="-122"/>
                <a:cs typeface="Jost" pitchFamily="34" charset="-120"/>
              </a:rPr>
              <a:t>Playa Vista is the first building, and the terms treat it that way.</a:t>
            </a:r>
            <a:endParaRPr lang="en-US" sz="1050" dirty="0"/>
          </a:p>
        </p:txBody>
      </p:sp>
      <p:sp>
        <p:nvSpPr>
          <p:cNvPr id="6" name="Text 4"/>
          <p:cNvSpPr/>
          <p:nvPr/>
        </p:nvSpPr>
        <p:spPr>
          <a:xfrm>
            <a:off x="502920" y="1737360"/>
            <a:ext cx="8138160" cy="2286000"/>
          </a:xfrm>
          <a:prstGeom prst="rect">
            <a:avLst/>
          </a:prstGeom>
          <a:noFill/>
          <a:ln/>
        </p:spPr>
        <p:txBody>
          <a:bodyPr wrap="square" rtlCol="0" anchor="t"/>
          <a:lstStyle/>
          <a:p>
            <a:pPr marL="342900" indent="-342900">
              <a:lnSpc>
                <a:spcPct val="130000"/>
              </a:lnSpc>
              <a:buSzPct val="100000"/>
              <a:buChar char="•"/>
            </a:pPr>
            <a:r>
              <a:rPr lang="en-US" sz="1050" dirty="0">
                <a:solidFill>
                  <a:srgbClr val="C9BCA9"/>
                </a:solidFill>
                <a:latin typeface="Jost" pitchFamily="34" charset="0"/>
                <a:ea typeface="Jost" pitchFamily="34" charset="-122"/>
                <a:cs typeface="Jost" pitchFamily="34" charset="-120"/>
              </a:rPr>
              <a:t>Location 1 is the proof of concept. It has to open, fill and stabilize before anything else is contemplated, and every figure in this brief describes that one building.</a:t>
            </a:r>
            <a:endParaRPr lang="en-US" sz="1050" dirty="0"/>
          </a:p>
          <a:p>
            <a:pPr marL="342900" indent="-342900">
              <a:lnSpc>
                <a:spcPct val="130000"/>
              </a:lnSpc>
              <a:buSzPct val="100000"/>
              <a:buChar char="•"/>
            </a:pPr>
            <a:r>
              <a:rPr lang="en-US" sz="1050" dirty="0">
                <a:solidFill>
                  <a:srgbClr val="C9BCA9"/>
                </a:solidFill>
                <a:latin typeface="Jost" pitchFamily="34" charset="0"/>
                <a:ea typeface="Jost" pitchFamily="34" charset="-122"/>
                <a:cs typeface="Jost" pitchFamily="34" charset="-120"/>
              </a:rPr>
              <a:t>Round 1 investors receive pro-rata rights, not obligations, to invest in future locations at the same or improved terms, in proportion to their original stake. A 30% holder can maintain 30% of the platform without being required to.</a:t>
            </a:r>
            <a:endParaRPr lang="en-US" sz="1050" dirty="0"/>
          </a:p>
          <a:p>
            <a:pPr marL="342900" indent="-342900">
              <a:lnSpc>
                <a:spcPct val="130000"/>
              </a:lnSpc>
              <a:buSzPct val="100000"/>
              <a:buChar char="•"/>
            </a:pPr>
            <a:r>
              <a:rPr lang="en-US" sz="1050" dirty="0">
                <a:solidFill>
                  <a:srgbClr val="C9BCA9"/>
                </a:solidFill>
                <a:latin typeface="Jost" pitchFamily="34" charset="0"/>
                <a:ea typeface="Jost" pitchFamily="34" charset="-122"/>
                <a:cs typeface="Jost" pitchFamily="34" charset="-120"/>
              </a:rPr>
              <a:t>Future locations target comparable high-income coastal and Westside markets, and only once Location 1 reaches stabilization.</a:t>
            </a:r>
            <a:endParaRPr lang="en-US" sz="1050" dirty="0"/>
          </a:p>
          <a:p>
            <a:pPr marL="342900" indent="-342900">
              <a:lnSpc>
                <a:spcPct val="130000"/>
              </a:lnSpc>
              <a:buSzPct val="100000"/>
              <a:buChar char="•"/>
            </a:pPr>
            <a:r>
              <a:rPr lang="en-US" sz="1050" dirty="0">
                <a:solidFill>
                  <a:srgbClr val="C9BCA9"/>
                </a:solidFill>
                <a:latin typeface="Jost" pitchFamily="34" charset="0"/>
                <a:ea typeface="Jost" pitchFamily="34" charset="-122"/>
                <a:cs typeface="Jost" pitchFamily="34" charset="-120"/>
              </a:rPr>
              <a:t>The 25% expansion reserve on the capital page is what funds that optionality out of operating cash rather than out of a second raise. An investor who would rather take the cash can read the full-distribution column instead; the two are shown side by side because this is the actual trade.</a:t>
            </a:r>
            <a:endParaRPr lang="en-US" sz="1050" dirty="0"/>
          </a:p>
        </p:txBody>
      </p:sp>
      <p:sp>
        <p:nvSpPr>
          <p:cNvPr id="7" name="Text 5"/>
          <p:cNvSpPr/>
          <p:nvPr/>
        </p:nvSpPr>
        <p:spPr>
          <a:xfrm>
            <a:off x="502920" y="4160520"/>
            <a:ext cx="8138160" cy="411480"/>
          </a:xfrm>
          <a:prstGeom prst="rect">
            <a:avLst/>
          </a:prstGeom>
          <a:noFill/>
          <a:ln/>
        </p:spPr>
        <p:txBody>
          <a:bodyPr wrap="square" rtlCol="0" anchor="t"/>
          <a:lstStyle/>
          <a:p>
            <a:pPr indent="0" marL="0">
              <a:lnSpc>
                <a:spcPct val="120000"/>
              </a:lnSpc>
              <a:buNone/>
            </a:pPr>
            <a:r>
              <a:rPr lang="en-US" sz="800" dirty="0">
                <a:solidFill>
                  <a:srgbClr val="6B6965"/>
                </a:solidFill>
                <a:latin typeface="Jost" pitchFamily="34" charset="0"/>
                <a:ea typeface="Jost" pitchFamily="34" charset="-122"/>
                <a:cs typeface="Jost" pitchFamily="34" charset="-120"/>
              </a:rPr>
              <a:t>No location beyond Playa Vista exists today. Pro-rata rights are a mechanism, not a pipeline, and are indicative terms subject to definitive documents.</a:t>
            </a:r>
            <a:endParaRPr lang="en-US" sz="800" dirty="0"/>
          </a:p>
        </p:txBody>
      </p:sp>
      <p:sp>
        <p:nvSpPr>
          <p:cNvPr id="8" name="Text 6"/>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B6965"/>
                </a:solidFill>
                <a:latin typeface="Jost" pitchFamily="34" charset="0"/>
                <a:ea typeface="Jost" pitchFamily="34" charset="-122"/>
                <a:cs typeface="Jost" pitchFamily="34" charset="-120"/>
              </a:rPr>
              <a:t>L&amp;K WELLNESS  ·  PRIVATE INVESTMENT BRIEF  ·  CONFIDENTIAL</a:t>
            </a:r>
            <a:endParaRPr lang="en-US" sz="700" dirty="0"/>
          </a:p>
        </p:txBody>
      </p:sp>
      <p:sp>
        <p:nvSpPr>
          <p:cNvPr id="9" name="Text 7"/>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B6965"/>
                </a:solidFill>
                <a:latin typeface="Jost" pitchFamily="34" charset="0"/>
                <a:ea typeface="Jost" pitchFamily="34" charset="-122"/>
                <a:cs typeface="Jost" pitchFamily="34" charset="-120"/>
              </a:rPr>
              <a:t>27</a:t>
            </a:r>
            <a:endParaRPr lang="en-US" sz="7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B08D57"/>
                </a:solidFill>
                <a:latin typeface="Jost" pitchFamily="34" charset="0"/>
                <a:ea typeface="Jost" pitchFamily="34" charset="-122"/>
                <a:cs typeface="Jost" pitchFamily="34" charset="-120"/>
              </a:rPr>
              <a:t>EXIT</a:t>
            </a:r>
            <a:endParaRPr lang="en-US" sz="900" dirty="0"/>
          </a:p>
        </p:txBody>
      </p:sp>
      <p:sp>
        <p:nvSpPr>
          <p:cNvPr id="3" name="Shape 1"/>
          <p:cNvSpPr/>
          <p:nvPr/>
        </p:nvSpPr>
        <p:spPr>
          <a:xfrm>
            <a:off x="502920" y="557784"/>
            <a:ext cx="566928" cy="12802"/>
          </a:xfrm>
          <a:prstGeom prst="rect">
            <a:avLst/>
          </a:prstGeom>
          <a:solidFill>
            <a:srgbClr val="B08D57"/>
          </a:solidFill>
          <a:ln w="12700">
            <a:solidFill>
              <a:srgbClr val="B08D57"/>
            </a:solidFill>
            <a:prstDash val="solid"/>
          </a:ln>
        </p:spPr>
      </p:sp>
      <p:sp>
        <p:nvSpPr>
          <p:cNvPr id="4" name="Text 2"/>
          <p:cNvSpPr/>
          <p:nvPr/>
        </p:nvSpPr>
        <p:spPr>
          <a:xfrm>
            <a:off x="502920" y="621792"/>
            <a:ext cx="8138160" cy="548640"/>
          </a:xfrm>
          <a:prstGeom prst="rect">
            <a:avLst/>
          </a:prstGeom>
          <a:noFill/>
          <a:ln/>
        </p:spPr>
        <p:txBody>
          <a:bodyPr wrap="square" rtlCol="0" anchor="t"/>
          <a:lstStyle/>
          <a:p>
            <a:pPr indent="0" marL="0">
              <a:buNone/>
            </a:pPr>
            <a:r>
              <a:rPr lang="en-US" sz="2600" spc="400" kern="0" dirty="0">
                <a:solidFill>
                  <a:srgbClr val="EDE7DE"/>
                </a:solidFill>
                <a:latin typeface="Cormorant Garamond" pitchFamily="34" charset="0"/>
                <a:ea typeface="Cormorant Garamond" pitchFamily="34" charset="-122"/>
                <a:cs typeface="Cormorant Garamond" pitchFamily="34" charset="-120"/>
              </a:rPr>
              <a:t>HOW INVESTORS REALIZE VALUE</a:t>
            </a:r>
            <a:endParaRPr lang="en-US" sz="2600" dirty="0"/>
          </a:p>
        </p:txBody>
      </p:sp>
      <p:sp>
        <p:nvSpPr>
          <p:cNvPr id="5" name="Text 3"/>
          <p:cNvSpPr/>
          <p:nvPr/>
        </p:nvSpPr>
        <p:spPr>
          <a:xfrm>
            <a:off x="502920" y="1115568"/>
            <a:ext cx="7487107" cy="457200"/>
          </a:xfrm>
          <a:prstGeom prst="rect">
            <a:avLst/>
          </a:prstGeom>
          <a:noFill/>
          <a:ln/>
        </p:spPr>
        <p:txBody>
          <a:bodyPr wrap="square" rtlCol="0" anchor="t"/>
          <a:lstStyle/>
          <a:p>
            <a:pPr indent="0" marL="0">
              <a:lnSpc>
                <a:spcPct val="120000"/>
              </a:lnSpc>
              <a:buNone/>
            </a:pPr>
            <a:r>
              <a:rPr lang="en-US" sz="1050" dirty="0">
                <a:solidFill>
                  <a:srgbClr val="C9BCA9"/>
                </a:solidFill>
                <a:latin typeface="Jost" pitchFamily="34" charset="0"/>
                <a:ea typeface="Jost" pitchFamily="34" charset="-122"/>
                <a:cs typeface="Jost" pitchFamily="34" charset="-120"/>
              </a:rPr>
              <a:t>Three paths, in the order they are most likely to matter.</a:t>
            </a:r>
            <a:endParaRPr lang="en-US" sz="1050" dirty="0"/>
          </a:p>
        </p:txBody>
      </p:sp>
      <p:graphicFrame>
        <p:nvGraphicFramePr>
          <p:cNvPr id="29" name="Table 0"/>
          <p:cNvGraphicFramePr>
            <a:graphicFrameLocks noGrp="1"/>
          </p:cNvGraphicFramePr>
          <p:nvPr>
            <p:extLst>
              <p:ext uri="{D42A27DB-BD31-4B8C-83A1-F6EECF244321}">
                <p14:modId xmlns:p14="http://schemas.microsoft.com/office/powerpoint/2010/main" val="1579011935"/>
              </p:ext>
            </p:extLst>
          </p:nvPr>
        </p:nvGraphicFramePr>
        <p:xfrm>
          <a:off x="502920" y="1737360"/>
          <a:ext cx="4114800" cy="914400"/>
        </p:xfrm>
        <a:graphic>
          <a:graphicData uri="http://schemas.openxmlformats.org/drawingml/2006/table">
            <a:tbl>
              <a:tblPr/>
              <a:tblGrid>
                <a:gridCol w="1234440"/>
                <a:gridCol w="2880360"/>
              </a:tblGrid>
              <a:tr h="530352">
                <a:tc>
                  <a:txBody>
                    <a:bodyPr/>
                    <a:lstStyle/>
                    <a:p>
                      <a:pPr algn="l" indent="0" marL="0">
                        <a:buNone/>
                      </a:pPr>
                      <a:r>
                        <a:rPr lang="en-US" sz="750" spc="140" kern="0" dirty="0">
                          <a:solidFill>
                            <a:srgbClr val="B08D57"/>
                          </a:solidFill>
                          <a:latin typeface="Jost" pitchFamily="34" charset="0"/>
                          <a:ea typeface="Jost" pitchFamily="34" charset="-122"/>
                          <a:cs typeface="Jost" pitchFamily="34" charset="-120"/>
                        </a:rPr>
                        <a:t>PATH</a:t>
                      </a:r>
                      <a:endParaRPr lang="en-US" sz="750" dirty="0">
                        <a:latin typeface="Jost" charset="0"/>
                        <a:ea typeface="Jost" charset="0"/>
                        <a:cs typeface="Jost" charset="0"/>
                      </a:endParaRPr>
                    </a:p>
                  </a:txBody>
                  <a:tcPr marL="36576" marR="36576" marT="36576" marB="36576" anchor="ctr">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000000"/>
                    </a:solidFill>
                  </a:tcPr>
                </a:tc>
                <a:tc>
                  <a:txBody>
                    <a:bodyPr/>
                    <a:lstStyle/>
                    <a:p>
                      <a:pPr algn="l" indent="0" marL="0">
                        <a:buNone/>
                      </a:pPr>
                      <a:r>
                        <a:rPr lang="en-US" sz="750" spc="140" kern="0" dirty="0">
                          <a:solidFill>
                            <a:srgbClr val="B08D57"/>
                          </a:solidFill>
                          <a:latin typeface="Jost" pitchFamily="34" charset="0"/>
                          <a:ea typeface="Jost" pitchFamily="34" charset="-122"/>
                          <a:cs typeface="Jost" pitchFamily="34" charset="-120"/>
                        </a:rPr>
                        <a:t>HOW IT WORKS</a:t>
                      </a:r>
                      <a:endParaRPr lang="en-US" sz="750" dirty="0">
                        <a:latin typeface="Jost" charset="0"/>
                        <a:ea typeface="Jost" charset="0"/>
                        <a:cs typeface="Jost" charset="0"/>
                      </a:endParaRPr>
                    </a:p>
                  </a:txBody>
                  <a:tcPr marL="36576" marR="36576" marT="36576" marB="36576" anchor="ctr">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000000"/>
                    </a:solidFill>
                  </a:tcPr>
                </a:tc>
              </a:tr>
              <a:tr h="530352">
                <a:tc>
                  <a:txBody>
                    <a:bodyPr/>
                    <a:lstStyle/>
                    <a:p>
                      <a:pPr algn="l" indent="0" marL="0">
                        <a:buNone/>
                      </a:pPr>
                      <a:r>
                        <a:rPr lang="en-US" sz="800" dirty="0">
                          <a:solidFill>
                            <a:srgbClr val="EDE7DE"/>
                          </a:solidFill>
                          <a:latin typeface="Jost" pitchFamily="34" charset="0"/>
                          <a:ea typeface="Jost" pitchFamily="34" charset="-122"/>
                          <a:cs typeface="Jost" pitchFamily="34" charset="-120"/>
                        </a:rPr>
                        <a:t>Buyback</a:t>
                      </a:r>
                      <a:endParaRPr lang="en-US" sz="80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l" indent="0" marL="0">
                        <a:buNone/>
                      </a:pPr>
                      <a:r>
                        <a:rPr lang="en-US" sz="800" dirty="0">
                          <a:solidFill>
                            <a:srgbClr val="C9BCA9"/>
                          </a:solidFill>
                          <a:latin typeface="Jost" pitchFamily="34" charset="0"/>
                          <a:ea typeface="Jost" pitchFamily="34" charset="-122"/>
                          <a:cs typeface="Jost" pitchFamily="34" charset="-120"/>
                        </a:rPr>
                        <a:t>The company holds a right, not an obligation, to repurchase investor equity in a defined window in years 3 to 5, priced off a formula tied to trailing twelve-month operating income at a multiple agreed in the definitive documents.</a:t>
                      </a:r>
                      <a:endParaRPr lang="en-US" sz="80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530352">
                <a:tc>
                  <a:txBody>
                    <a:bodyPr/>
                    <a:lstStyle/>
                    <a:p>
                      <a:pPr algn="l" indent="0" marL="0">
                        <a:buNone/>
                      </a:pPr>
                      <a:r>
                        <a:rPr lang="en-US" sz="800" dirty="0">
                          <a:solidFill>
                            <a:srgbClr val="EDE7DE"/>
                          </a:solidFill>
                          <a:latin typeface="Jost" pitchFamily="34" charset="0"/>
                          <a:ea typeface="Jost" pitchFamily="34" charset="-122"/>
                          <a:cs typeface="Jost" pitchFamily="34" charset="-120"/>
                        </a:rPr>
                        <a:t>Right of first refusal</a:t>
                      </a:r>
                      <a:endParaRPr lang="en-US" sz="80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l" indent="0" marL="0">
                        <a:buNone/>
                      </a:pPr>
                      <a:r>
                        <a:rPr lang="en-US" sz="800" dirty="0">
                          <a:solidFill>
                            <a:srgbClr val="C9BCA9"/>
                          </a:solidFill>
                          <a:latin typeface="Jost" pitchFamily="34" charset="0"/>
                          <a:ea typeface="Jost" pitchFamily="34" charset="-122"/>
                          <a:cs typeface="Jost" pitchFamily="34" charset="-120"/>
                        </a:rPr>
                        <a:t>If a third-party offer for the business is received, existing investors get the first right to match it before any outside sale proceeds.</a:t>
                      </a:r>
                      <a:endParaRPr lang="en-US" sz="80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530352">
                <a:tc>
                  <a:txBody>
                    <a:bodyPr/>
                    <a:lstStyle/>
                    <a:p>
                      <a:pPr algn="l" indent="0" marL="0">
                        <a:buNone/>
                      </a:pPr>
                      <a:r>
                        <a:rPr lang="en-US" sz="800" dirty="0">
                          <a:solidFill>
                            <a:srgbClr val="EDE7DE"/>
                          </a:solidFill>
                          <a:latin typeface="Jost" pitchFamily="34" charset="0"/>
                          <a:ea typeface="Jost" pitchFamily="34" charset="-122"/>
                          <a:cs typeface="Jost" pitchFamily="34" charset="-120"/>
                        </a:rPr>
                        <a:t>Strategic sale</a:t>
                      </a:r>
                      <a:endParaRPr lang="en-US" sz="80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l" indent="0" marL="0">
                        <a:buNone/>
                      </a:pPr>
                      <a:r>
                        <a:rPr lang="en-US" sz="800" dirty="0">
                          <a:solidFill>
                            <a:srgbClr val="C9BCA9"/>
                          </a:solidFill>
                          <a:latin typeface="Jost" pitchFamily="34" charset="0"/>
                          <a:ea typeface="Jost" pitchFamily="34" charset="-122"/>
                          <a:cs typeface="Jost" pitchFamily="34" charset="-120"/>
                        </a:rPr>
                        <a:t>The primary long-term path. Multi-location platforms trade at materially higher multiples than single-location assets, so the value of building a second and third location is realised at exit rather than only in operating cash.</a:t>
                      </a:r>
                      <a:endParaRPr lang="en-US" sz="80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bl>
          </a:graphicData>
        </a:graphic>
      </p:graphicFrame>
      <p:graphicFrame>
        <p:nvGraphicFramePr>
          <p:cNvPr id="57" name="Table 1"/>
          <p:cNvGraphicFramePr>
            <a:graphicFrameLocks noGrp="1"/>
          </p:cNvGraphicFramePr>
          <p:nvPr>
            <p:extLst>
              <p:ext uri="{D42A27DB-BD31-4B8C-83A1-F6EECF244321}">
                <p14:modId xmlns:p14="http://schemas.microsoft.com/office/powerpoint/2010/main" val="1579011935"/>
              </p:ext>
            </p:extLst>
          </p:nvPr>
        </p:nvGraphicFramePr>
        <p:xfrm>
          <a:off x="4800600" y="1737360"/>
          <a:ext cx="3840480" cy="914400"/>
        </p:xfrm>
        <a:graphic>
          <a:graphicData uri="http://schemas.openxmlformats.org/drawingml/2006/table">
            <a:tbl>
              <a:tblPr/>
              <a:tblGrid>
                <a:gridCol w="2697480"/>
                <a:gridCol w="1143000"/>
              </a:tblGrid>
              <a:tr h="274320">
                <a:tc>
                  <a:txBody>
                    <a:bodyPr/>
                    <a:lstStyle/>
                    <a:p>
                      <a:pPr algn="l" indent="0" marL="0">
                        <a:buNone/>
                      </a:pPr>
                      <a:r>
                        <a:rPr lang="en-US" sz="750" spc="140" kern="0" dirty="0">
                          <a:solidFill>
                            <a:srgbClr val="B08D57"/>
                          </a:solidFill>
                          <a:latin typeface="Jost" pitchFamily="34" charset="0"/>
                          <a:ea typeface="Jost" pitchFamily="34" charset="-122"/>
                          <a:cs typeface="Jost" pitchFamily="34" charset="-120"/>
                        </a:rPr>
                        <a:t>PUBLISHED EBITDA MULTIPLES</a:t>
                      </a:r>
                      <a:endParaRPr lang="en-US" sz="750" dirty="0">
                        <a:latin typeface="Jost" charset="0"/>
                        <a:ea typeface="Jost" charset="0"/>
                        <a:cs typeface="Jost" charset="0"/>
                      </a:endParaRPr>
                    </a:p>
                  </a:txBody>
                  <a:tcPr marL="36576" marR="36576" marT="36576" marB="36576" anchor="ctr">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000000"/>
                    </a:solidFill>
                  </a:tcPr>
                </a:tc>
                <a:tc>
                  <a:txBody>
                    <a:bodyPr/>
                    <a:lstStyle/>
                    <a:p>
                      <a:pPr algn="l" indent="0" marL="0">
                        <a:buNone/>
                      </a:pPr>
                      <a:r>
                        <a:rPr lang="en-US" sz="750" spc="140" kern="0" dirty="0">
                          <a:solidFill>
                            <a:srgbClr val="B08D57"/>
                          </a:solidFill>
                          <a:latin typeface="Jost" pitchFamily="34" charset="0"/>
                          <a:ea typeface="Jost" pitchFamily="34" charset="-122"/>
                          <a:cs typeface="Jost" pitchFamily="34" charset="-120"/>
                        </a:rPr>
                        <a:t>RANGE</a:t>
                      </a:r>
                      <a:endParaRPr lang="en-US" sz="750" dirty="0">
                        <a:latin typeface="Jost" charset="0"/>
                        <a:ea typeface="Jost" charset="0"/>
                        <a:cs typeface="Jost" charset="0"/>
                      </a:endParaRPr>
                    </a:p>
                  </a:txBody>
                  <a:tcPr marL="36576" marR="36576" marT="36576" marB="36576" anchor="ctr">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000000"/>
                    </a:solidFill>
                  </a:tcPr>
                </a:tc>
              </a:tr>
              <a:tr h="274320">
                <a:tc>
                  <a:txBody>
                    <a:bodyPr/>
                    <a:lstStyle/>
                    <a:p>
                      <a:pPr algn="l" indent="0" marL="0">
                        <a:buNone/>
                      </a:pPr>
                      <a:r>
                        <a:rPr lang="en-US" sz="800" dirty="0">
                          <a:solidFill>
                            <a:srgbClr val="EDE7DE"/>
                          </a:solidFill>
                          <a:latin typeface="Jost" pitchFamily="34" charset="0"/>
                          <a:ea typeface="Jost" pitchFamily="34" charset="-122"/>
                          <a:cs typeface="Jost" pitchFamily="34" charset="-120"/>
                        </a:rPr>
                        <a:t>Single location, owner is primary provider</a:t>
                      </a:r>
                      <a:endParaRPr lang="en-US" sz="80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l" indent="0" marL="0">
                        <a:buNone/>
                      </a:pPr>
                      <a:r>
                        <a:rPr lang="en-US" sz="800" dirty="0">
                          <a:solidFill>
                            <a:srgbClr val="C9BCA9"/>
                          </a:solidFill>
                          <a:latin typeface="Jost" pitchFamily="34" charset="0"/>
                          <a:ea typeface="Jost" pitchFamily="34" charset="-122"/>
                          <a:cs typeface="Jost" pitchFamily="34" charset="-120"/>
                        </a:rPr>
                        <a:t>3.5x to 5.0x</a:t>
                      </a:r>
                      <a:endParaRPr lang="en-US" sz="80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274320">
                <a:tc>
                  <a:txBody>
                    <a:bodyPr/>
                    <a:lstStyle/>
                    <a:p>
                      <a:pPr algn="l" indent="0" marL="0">
                        <a:buNone/>
                      </a:pPr>
                      <a:r>
                        <a:rPr lang="en-US" sz="800" dirty="0">
                          <a:solidFill>
                            <a:srgbClr val="EDE7DE"/>
                          </a:solidFill>
                          <a:latin typeface="Jost" pitchFamily="34" charset="0"/>
                          <a:ea typeface="Jost" pitchFamily="34" charset="-122"/>
                          <a:cs typeface="Jost" pitchFamily="34" charset="-120"/>
                        </a:rPr>
                        <a:t>Single location, strong operator with SOPs</a:t>
                      </a:r>
                      <a:endParaRPr lang="en-US" sz="80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l" indent="0" marL="0">
                        <a:buNone/>
                      </a:pPr>
                      <a:r>
                        <a:rPr lang="en-US" sz="800" dirty="0">
                          <a:solidFill>
                            <a:srgbClr val="C9BCA9"/>
                          </a:solidFill>
                          <a:latin typeface="Jost" pitchFamily="34" charset="0"/>
                          <a:ea typeface="Jost" pitchFamily="34" charset="-122"/>
                          <a:cs typeface="Jost" pitchFamily="34" charset="-120"/>
                        </a:rPr>
                        <a:t>5.0x to 6.5x</a:t>
                      </a:r>
                      <a:endParaRPr lang="en-US" sz="80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274320">
                <a:tc>
                  <a:txBody>
                    <a:bodyPr/>
                    <a:lstStyle/>
                    <a:p>
                      <a:pPr algn="l" indent="0" marL="0">
                        <a:buNone/>
                      </a:pPr>
                      <a:r>
                        <a:rPr lang="en-US" sz="800" dirty="0">
                          <a:solidFill>
                            <a:srgbClr val="EDE7DE"/>
                          </a:solidFill>
                          <a:latin typeface="Jost" pitchFamily="34" charset="0"/>
                          <a:ea typeface="Jost" pitchFamily="34" charset="-122"/>
                          <a:cs typeface="Jost" pitchFamily="34" charset="-120"/>
                        </a:rPr>
                        <a:t>Multi-location, two or more with management</a:t>
                      </a:r>
                      <a:endParaRPr lang="en-US" sz="80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l" indent="0" marL="0">
                        <a:buNone/>
                      </a:pPr>
                      <a:r>
                        <a:rPr lang="en-US" sz="800" dirty="0">
                          <a:solidFill>
                            <a:srgbClr val="C9BCA9"/>
                          </a:solidFill>
                          <a:latin typeface="Jost" pitchFamily="34" charset="0"/>
                          <a:ea typeface="Jost" pitchFamily="34" charset="-122"/>
                          <a:cs typeface="Jost" pitchFamily="34" charset="-120"/>
                        </a:rPr>
                        <a:t>6.0x to 7.5x</a:t>
                      </a:r>
                      <a:endParaRPr lang="en-US" sz="80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274320">
                <a:tc>
                  <a:txBody>
                    <a:bodyPr/>
                    <a:lstStyle/>
                    <a:p>
                      <a:pPr algn="l" indent="0" marL="0">
                        <a:buNone/>
                      </a:pPr>
                      <a:r>
                        <a:rPr lang="en-US" sz="800" dirty="0">
                          <a:solidFill>
                            <a:srgbClr val="EDE7DE"/>
                          </a:solidFill>
                          <a:latin typeface="Jost" pitchFamily="34" charset="0"/>
                          <a:ea typeface="Jost" pitchFamily="34" charset="-122"/>
                          <a:cs typeface="Jost" pitchFamily="34" charset="-120"/>
                        </a:rPr>
                        <a:t>Multi-location, provider bench and recurring revenue</a:t>
                      </a:r>
                      <a:endParaRPr lang="en-US" sz="80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l" indent="0" marL="0">
                        <a:buNone/>
                      </a:pPr>
                      <a:r>
                        <a:rPr lang="en-US" sz="800" dirty="0">
                          <a:solidFill>
                            <a:srgbClr val="B08D57"/>
                          </a:solidFill>
                          <a:latin typeface="Jost" pitchFamily="34" charset="0"/>
                          <a:ea typeface="Jost" pitchFamily="34" charset="-122"/>
                          <a:cs typeface="Jost" pitchFamily="34" charset="-120"/>
                        </a:rPr>
                        <a:t>7.0x to 9.0x</a:t>
                      </a:r>
                      <a:endParaRPr lang="en-US" sz="80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274320">
                <a:tc>
                  <a:txBody>
                    <a:bodyPr/>
                    <a:lstStyle/>
                    <a:p>
                      <a:pPr algn="l" indent="0" marL="0">
                        <a:buNone/>
                      </a:pPr>
                      <a:r>
                        <a:rPr lang="en-US" sz="800" dirty="0">
                          <a:solidFill>
                            <a:srgbClr val="EDE7DE"/>
                          </a:solidFill>
                          <a:latin typeface="Jost" pitchFamily="34" charset="0"/>
                          <a:ea typeface="Jost" pitchFamily="34" charset="-122"/>
                          <a:cs typeface="Jost" pitchFamily="34" charset="-120"/>
                        </a:rPr>
                        <a:t>Membership revenue premium</a:t>
                      </a:r>
                      <a:endParaRPr lang="en-US" sz="80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l" indent="0" marL="0">
                        <a:buNone/>
                      </a:pPr>
                      <a:r>
                        <a:rPr lang="en-US" sz="800" dirty="0">
                          <a:solidFill>
                            <a:srgbClr val="C9BCA9"/>
                          </a:solidFill>
                          <a:latin typeface="Jost" pitchFamily="34" charset="0"/>
                          <a:ea typeface="Jost" pitchFamily="34" charset="-122"/>
                          <a:cs typeface="Jost" pitchFamily="34" charset="-120"/>
                        </a:rPr>
                        <a:t>+0.5x to 1.0x</a:t>
                      </a:r>
                      <a:endParaRPr lang="en-US" sz="80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bl>
          </a:graphicData>
        </a:graphic>
      </p:graphicFrame>
      <p:sp>
        <p:nvSpPr>
          <p:cNvPr id="8" name="Text 4"/>
          <p:cNvSpPr/>
          <p:nvPr/>
        </p:nvSpPr>
        <p:spPr>
          <a:xfrm>
            <a:off x="4800600" y="3493008"/>
            <a:ext cx="3977640" cy="384048"/>
          </a:xfrm>
          <a:prstGeom prst="rect">
            <a:avLst/>
          </a:prstGeom>
          <a:noFill/>
          <a:ln/>
        </p:spPr>
        <p:txBody>
          <a:bodyPr wrap="square" rtlCol="0" anchor="t"/>
          <a:lstStyle/>
          <a:p>
            <a:pPr indent="0" marL="0">
              <a:lnSpc>
                <a:spcPct val="115000"/>
              </a:lnSpc>
              <a:buNone/>
            </a:pPr>
            <a:r>
              <a:rPr lang="en-US" sz="850" dirty="0">
                <a:solidFill>
                  <a:srgbClr val="EDE7DE"/>
                </a:solidFill>
                <a:latin typeface="Jost" pitchFamily="34" charset="0"/>
                <a:ea typeface="Jost" pitchFamily="34" charset="-122"/>
                <a:cs typeface="Jost" pitchFamily="34" charset="-120"/>
              </a:rPr>
              <a:t>L&amp;K runs 41.9% of revenue from memberships and access, above the 30% to 40% band that source names as a premium driver.</a:t>
            </a:r>
            <a:endParaRPr lang="en-US" sz="850" dirty="0"/>
          </a:p>
        </p:txBody>
      </p:sp>
      <p:sp>
        <p:nvSpPr>
          <p:cNvPr id="9" name="Text 5"/>
          <p:cNvSpPr/>
          <p:nvPr/>
        </p:nvSpPr>
        <p:spPr>
          <a:xfrm>
            <a:off x="502920" y="4023360"/>
            <a:ext cx="8138160" cy="548640"/>
          </a:xfrm>
          <a:prstGeom prst="rect">
            <a:avLst/>
          </a:prstGeom>
          <a:noFill/>
          <a:ln/>
        </p:spPr>
        <p:txBody>
          <a:bodyPr wrap="square" rtlCol="0" anchor="t"/>
          <a:lstStyle/>
          <a:p>
            <a:pPr indent="0" marL="0">
              <a:lnSpc>
                <a:spcPct val="120000"/>
              </a:lnSpc>
              <a:buNone/>
            </a:pPr>
            <a:r>
              <a:rPr lang="en-US" sz="700" dirty="0">
                <a:solidFill>
                  <a:srgbClr val="6B6965"/>
                </a:solidFill>
                <a:latin typeface="Jost" pitchFamily="34" charset="0"/>
                <a:ea typeface="Jost" pitchFamily="34" charset="-122"/>
                <a:cs typeface="Jost" pitchFamily="34" charset="-120"/>
              </a:rPr>
              <a:t>Multiples: Breakwater M&amp;A, 20 February 2026. https://www.breakwaterma.com/blog/medical-spa-valuation-multiples-2026  ·  Industry M&amp;A comparables, not company projections. The entry price on this round is 5.87x base-case operating income, inside the single-location band above and below every multi-location band.</a:t>
            </a:r>
            <a:endParaRPr lang="en-US" sz="700" dirty="0"/>
          </a:p>
        </p:txBody>
      </p:sp>
      <p:sp>
        <p:nvSpPr>
          <p:cNvPr id="10" name="Text 6"/>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B6965"/>
                </a:solidFill>
                <a:latin typeface="Jost" pitchFamily="34" charset="0"/>
                <a:ea typeface="Jost" pitchFamily="34" charset="-122"/>
                <a:cs typeface="Jost" pitchFamily="34" charset="-120"/>
              </a:rPr>
              <a:t>L&amp;K WELLNESS  ·  PRIVATE INVESTMENT BRIEF  ·  CONFIDENTIAL</a:t>
            </a:r>
            <a:endParaRPr lang="en-US" sz="700" dirty="0"/>
          </a:p>
        </p:txBody>
      </p:sp>
      <p:sp>
        <p:nvSpPr>
          <p:cNvPr id="11" name="Text 7"/>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B6965"/>
                </a:solidFill>
                <a:latin typeface="Jost" pitchFamily="34" charset="0"/>
                <a:ea typeface="Jost" pitchFamily="34" charset="-122"/>
                <a:cs typeface="Jost" pitchFamily="34" charset="-120"/>
              </a:rPr>
              <a:t>28</a:t>
            </a:r>
            <a:endParaRPr lang="en-US" sz="7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B08D57"/>
                </a:solidFill>
                <a:latin typeface="Jost" pitchFamily="34" charset="0"/>
                <a:ea typeface="Jost" pitchFamily="34" charset="-122"/>
                <a:cs typeface="Jost" pitchFamily="34" charset="-120"/>
              </a:rPr>
              <a:t>DISCLOSURES</a:t>
            </a:r>
            <a:endParaRPr lang="en-US" sz="900" dirty="0"/>
          </a:p>
        </p:txBody>
      </p:sp>
      <p:sp>
        <p:nvSpPr>
          <p:cNvPr id="3" name="Shape 1"/>
          <p:cNvSpPr/>
          <p:nvPr/>
        </p:nvSpPr>
        <p:spPr>
          <a:xfrm>
            <a:off x="502920" y="557784"/>
            <a:ext cx="566928" cy="12802"/>
          </a:xfrm>
          <a:prstGeom prst="rect">
            <a:avLst/>
          </a:prstGeom>
          <a:solidFill>
            <a:srgbClr val="B08D57"/>
          </a:solidFill>
          <a:ln w="12700">
            <a:solidFill>
              <a:srgbClr val="B08D57"/>
            </a:solidFill>
            <a:prstDash val="solid"/>
          </a:ln>
        </p:spPr>
      </p:sp>
      <p:sp>
        <p:nvSpPr>
          <p:cNvPr id="4" name="Text 2"/>
          <p:cNvSpPr/>
          <p:nvPr/>
        </p:nvSpPr>
        <p:spPr>
          <a:xfrm>
            <a:off x="502920" y="621792"/>
            <a:ext cx="8138160" cy="548640"/>
          </a:xfrm>
          <a:prstGeom prst="rect">
            <a:avLst/>
          </a:prstGeom>
          <a:noFill/>
          <a:ln/>
        </p:spPr>
        <p:txBody>
          <a:bodyPr wrap="square" rtlCol="0" anchor="t"/>
          <a:lstStyle/>
          <a:p>
            <a:pPr indent="0" marL="0">
              <a:buNone/>
            </a:pPr>
            <a:r>
              <a:rPr lang="en-US" sz="2600" spc="400" kern="0" dirty="0">
                <a:solidFill>
                  <a:srgbClr val="EDE7DE"/>
                </a:solidFill>
                <a:latin typeface="Cormorant Garamond" pitchFamily="34" charset="0"/>
                <a:ea typeface="Cormorant Garamond" pitchFamily="34" charset="-122"/>
                <a:cs typeface="Cormorant Garamond" pitchFamily="34" charset="-120"/>
              </a:rPr>
              <a:t>FLAGGED BEFORE YOU ASK</a:t>
            </a:r>
            <a:endParaRPr lang="en-US" sz="2600" dirty="0"/>
          </a:p>
        </p:txBody>
      </p:sp>
      <p:sp>
        <p:nvSpPr>
          <p:cNvPr id="5" name="Text 3"/>
          <p:cNvSpPr/>
          <p:nvPr/>
        </p:nvSpPr>
        <p:spPr>
          <a:xfrm>
            <a:off x="502920" y="1325880"/>
            <a:ext cx="8138160" cy="3246120"/>
          </a:xfrm>
          <a:prstGeom prst="rect">
            <a:avLst/>
          </a:prstGeom>
          <a:noFill/>
          <a:ln/>
        </p:spPr>
        <p:txBody>
          <a:bodyPr wrap="square" rtlCol="0" anchor="t"/>
          <a:lstStyle/>
          <a:p>
            <a:pPr marL="342900" indent="-342900">
              <a:lnSpc>
                <a:spcPct val="130000"/>
              </a:lnSpc>
              <a:buSzPct val="100000"/>
              <a:buChar char="•"/>
            </a:pPr>
            <a:r>
              <a:rPr lang="en-US" sz="900" dirty="0">
                <a:solidFill>
                  <a:srgbClr val="C9BCA9"/>
                </a:solidFill>
                <a:latin typeface="Jost" pitchFamily="34" charset="0"/>
                <a:ea typeface="Jost" pitchFamily="34" charset="-122"/>
                <a:cs typeface="Jost" pitchFamily="34" charset="-120"/>
              </a:rPr>
              <a:t>Year 1 operating income is negative. Six of those months are construction and the rest are the opening ramp. There is no debt service to carry through it, and the $1,105,800 working capital reserve inside use of funds is sized against a modeled cash trough of $42,467 at month 9.</a:t>
            </a:r>
            <a:endParaRPr lang="en-US" sz="900" dirty="0"/>
          </a:p>
          <a:p>
            <a:pPr marL="342900" indent="-342900">
              <a:lnSpc>
                <a:spcPct val="130000"/>
              </a:lnSpc>
              <a:buSzPct val="100000"/>
              <a:buChar char="•"/>
            </a:pPr>
            <a:r>
              <a:rPr lang="en-US" sz="900" dirty="0">
                <a:solidFill>
                  <a:srgbClr val="C9BCA9"/>
                </a:solidFill>
                <a:latin typeface="Jost" pitchFamily="34" charset="0"/>
                <a:ea typeface="Jost" pitchFamily="34" charset="-122"/>
                <a:cs typeface="Jost" pitchFamily="34" charset="-120"/>
              </a:rPr>
              <a:t>The reserve is deliberately larger than the trough it covers, 26.0 times over. With no lender there is no mandated reserve and no covenant to cure, so the cushion is a choice: it funds a materially slower ramp than the one modeled without a second raise. It is idle cash and we are naming it rather than leaving it to be found.</a:t>
            </a:r>
            <a:endParaRPr lang="en-US" sz="900" dirty="0"/>
          </a:p>
          <a:p>
            <a:pPr marL="342900" indent="-342900">
              <a:lnSpc>
                <a:spcPct val="130000"/>
              </a:lnSpc>
              <a:buSzPct val="100000"/>
              <a:buChar char="•"/>
            </a:pPr>
            <a:r>
              <a:rPr lang="en-US" sz="900" dirty="0">
                <a:solidFill>
                  <a:srgbClr val="C9BCA9"/>
                </a:solidFill>
                <a:latin typeface="Jost" pitchFamily="34" charset="0"/>
                <a:ea typeface="Jost" pitchFamily="34" charset="-122"/>
                <a:cs typeface="Jost" pitchFamily="34" charset="-120"/>
              </a:rPr>
              <a:t>The ratchet cushions the downside without making the investor whole. At the low case 40% of $1.24M pays $497,800, which is still less than the $809,283 that 30% of base case pays. Every ownership percentage, valuation and buyback term in this brief is indicative and subject to definitive documents.</a:t>
            </a:r>
            <a:endParaRPr lang="en-US" sz="900" dirty="0"/>
          </a:p>
          <a:p>
            <a:pPr marL="342900" indent="-342900">
              <a:lnSpc>
                <a:spcPct val="130000"/>
              </a:lnSpc>
              <a:buSzPct val="100000"/>
              <a:buChar char="•"/>
            </a:pPr>
            <a:r>
              <a:rPr lang="en-US" sz="900" dirty="0">
                <a:solidFill>
                  <a:srgbClr val="C9BCA9"/>
                </a:solidFill>
                <a:latin typeface="Jost" pitchFamily="34" charset="0"/>
                <a:ea typeface="Jost" pitchFamily="34" charset="-122"/>
                <a:cs typeface="Jost" pitchFamily="34" charset="-120"/>
              </a:rPr>
              <a:t>The multi-location expansion and platform exit thesis represent optionality this structure creates, not a guaranteed roadmap. No location beyond Playa Vista currently exists, and all forward-looking multiples are sourced from industry M&amp;A comparables, not company-specific projections.</a:t>
            </a:r>
            <a:endParaRPr lang="en-US" sz="900" dirty="0"/>
          </a:p>
          <a:p>
            <a:pPr marL="342900" indent="-342900">
              <a:lnSpc>
                <a:spcPct val="130000"/>
              </a:lnSpc>
              <a:buSzPct val="100000"/>
              <a:buChar char="•"/>
            </a:pPr>
            <a:r>
              <a:rPr lang="en-US" sz="900" dirty="0">
                <a:solidFill>
                  <a:srgbClr val="C9BCA9"/>
                </a:solidFill>
                <a:latin typeface="Jost" pitchFamily="34" charset="0"/>
                <a:ea typeface="Jost" pitchFamily="34" charset="-122"/>
                <a:cs typeface="Jost" pitchFamily="34" charset="-120"/>
              </a:rPr>
              <a:t>Volume is flexed to 72% of base in the low case and the business still produces $1.24M of annual operating income, with fixed overhead held constant. That is the conservative treatment: in a genuine downside you would cut staff before you cut the lease.</a:t>
            </a:r>
            <a:endParaRPr lang="en-US" sz="900" dirty="0"/>
          </a:p>
          <a:p>
            <a:pPr marL="342900" indent="-342900">
              <a:lnSpc>
                <a:spcPct val="130000"/>
              </a:lnSpc>
              <a:buSzPct val="100000"/>
              <a:buChar char="•"/>
            </a:pPr>
            <a:r>
              <a:rPr lang="en-US" sz="900" dirty="0">
                <a:solidFill>
                  <a:srgbClr val="C9BCA9"/>
                </a:solidFill>
                <a:latin typeface="Jost" pitchFamily="34" charset="0"/>
                <a:ea typeface="Jost" pitchFamily="34" charset="-122"/>
                <a:cs typeface="Jost" pitchFamily="34" charset="-120"/>
              </a:rPr>
              <a:t>All forward-looking figures are projections on the stated assumptions and are not guarantees. Market and demographic figures carry their sources; anything unsourced was cut rather than estimated.</a:t>
            </a:r>
            <a:endParaRPr lang="en-US" sz="900" dirty="0"/>
          </a:p>
        </p:txBody>
      </p:sp>
      <p:sp>
        <p:nvSpPr>
          <p:cNvPr id="6" name="Text 4"/>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B6965"/>
                </a:solidFill>
                <a:latin typeface="Jost" pitchFamily="34" charset="0"/>
                <a:ea typeface="Jost" pitchFamily="34" charset="-122"/>
                <a:cs typeface="Jost" pitchFamily="34" charset="-120"/>
              </a:rPr>
              <a:t>L&amp;K WELLNESS  ·  PRIVATE INVESTMENT BRIEF  ·  CONFIDENTIAL</a:t>
            </a:r>
            <a:endParaRPr lang="en-US" sz="700" dirty="0"/>
          </a:p>
        </p:txBody>
      </p:sp>
      <p:sp>
        <p:nvSpPr>
          <p:cNvPr id="7" name="Text 5"/>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B6965"/>
                </a:solidFill>
                <a:latin typeface="Jost" pitchFamily="34" charset="0"/>
                <a:ea typeface="Jost" pitchFamily="34" charset="-122"/>
                <a:cs typeface="Jost" pitchFamily="34" charset="-120"/>
              </a:rPr>
              <a:t>29</a:t>
            </a:r>
            <a:endParaRPr lang="en-US" sz="7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B08D57"/>
                </a:solidFill>
                <a:latin typeface="Jost" pitchFamily="34" charset="0"/>
                <a:ea typeface="Jost" pitchFamily="34" charset="-122"/>
                <a:cs typeface="Jost" pitchFamily="34" charset="-120"/>
              </a:rPr>
              <a:t>TIMELINE</a:t>
            </a:r>
            <a:endParaRPr lang="en-US" sz="900" dirty="0"/>
          </a:p>
        </p:txBody>
      </p:sp>
      <p:sp>
        <p:nvSpPr>
          <p:cNvPr id="3" name="Shape 1"/>
          <p:cNvSpPr/>
          <p:nvPr/>
        </p:nvSpPr>
        <p:spPr>
          <a:xfrm>
            <a:off x="502920" y="557784"/>
            <a:ext cx="566928" cy="12802"/>
          </a:xfrm>
          <a:prstGeom prst="rect">
            <a:avLst/>
          </a:prstGeom>
          <a:solidFill>
            <a:srgbClr val="B08D57"/>
          </a:solidFill>
          <a:ln w="12700">
            <a:solidFill>
              <a:srgbClr val="B08D57"/>
            </a:solidFill>
            <a:prstDash val="solid"/>
          </a:ln>
        </p:spPr>
      </p:sp>
      <p:sp>
        <p:nvSpPr>
          <p:cNvPr id="4" name="Text 2"/>
          <p:cNvSpPr/>
          <p:nvPr/>
        </p:nvSpPr>
        <p:spPr>
          <a:xfrm>
            <a:off x="502920" y="621792"/>
            <a:ext cx="8138160" cy="548640"/>
          </a:xfrm>
          <a:prstGeom prst="rect">
            <a:avLst/>
          </a:prstGeom>
          <a:noFill/>
          <a:ln/>
        </p:spPr>
        <p:txBody>
          <a:bodyPr wrap="square" rtlCol="0" anchor="t"/>
          <a:lstStyle/>
          <a:p>
            <a:pPr indent="0" marL="0">
              <a:buNone/>
            </a:pPr>
            <a:r>
              <a:rPr lang="en-US" sz="2600" spc="400" kern="0" dirty="0">
                <a:solidFill>
                  <a:srgbClr val="EDE7DE"/>
                </a:solidFill>
                <a:latin typeface="Cormorant Garamond" pitchFamily="34" charset="0"/>
                <a:ea typeface="Cormorant Garamond" pitchFamily="34" charset="-122"/>
                <a:cs typeface="Cormorant Garamond" pitchFamily="34" charset="-120"/>
              </a:rPr>
              <a:t>FROM SIGNATURE TO STABILIZATION</a:t>
            </a:r>
            <a:endParaRPr lang="en-US" sz="2600" dirty="0"/>
          </a:p>
        </p:txBody>
      </p:sp>
      <p:sp>
        <p:nvSpPr>
          <p:cNvPr id="5" name="Shape 3"/>
          <p:cNvSpPr/>
          <p:nvPr/>
        </p:nvSpPr>
        <p:spPr>
          <a:xfrm>
            <a:off x="502920" y="1627632"/>
            <a:ext cx="1525219" cy="12802"/>
          </a:xfrm>
          <a:prstGeom prst="rect">
            <a:avLst/>
          </a:prstGeom>
          <a:solidFill>
            <a:srgbClr val="271F13"/>
          </a:solidFill>
          <a:ln w="12700">
            <a:solidFill>
              <a:srgbClr val="271F13"/>
            </a:solidFill>
            <a:prstDash val="solid"/>
          </a:ln>
        </p:spPr>
      </p:sp>
      <p:sp>
        <p:nvSpPr>
          <p:cNvPr id="6" name="Shape 4"/>
          <p:cNvSpPr/>
          <p:nvPr/>
        </p:nvSpPr>
        <p:spPr>
          <a:xfrm>
            <a:off x="502920" y="1586484"/>
            <a:ext cx="91440" cy="91440"/>
          </a:xfrm>
          <a:prstGeom prst="ellipse">
            <a:avLst/>
          </a:prstGeom>
          <a:solidFill>
            <a:srgbClr val="B08D57"/>
          </a:solidFill>
          <a:ln w="12700">
            <a:solidFill>
              <a:srgbClr val="B08D57"/>
            </a:solidFill>
            <a:prstDash val="solid"/>
          </a:ln>
        </p:spPr>
      </p:sp>
      <p:sp>
        <p:nvSpPr>
          <p:cNvPr id="7" name="Text 5"/>
          <p:cNvSpPr/>
          <p:nvPr/>
        </p:nvSpPr>
        <p:spPr>
          <a:xfrm>
            <a:off x="502920" y="1783080"/>
            <a:ext cx="1525219" cy="182880"/>
          </a:xfrm>
          <a:prstGeom prst="rect">
            <a:avLst/>
          </a:prstGeom>
          <a:noFill/>
          <a:ln/>
        </p:spPr>
        <p:txBody>
          <a:bodyPr wrap="square" rtlCol="0" anchor="ctr"/>
          <a:lstStyle/>
          <a:p>
            <a:pPr indent="0" marL="0">
              <a:buNone/>
            </a:pPr>
            <a:r>
              <a:rPr lang="en-US" sz="750" spc="160" kern="0" dirty="0">
                <a:solidFill>
                  <a:srgbClr val="B08D57"/>
                </a:solidFill>
                <a:latin typeface="Jost" pitchFamily="34" charset="0"/>
                <a:ea typeface="Jost" pitchFamily="34" charset="-122"/>
                <a:cs typeface="Jost" pitchFamily="34" charset="-120"/>
              </a:rPr>
              <a:t>MONTH 0 TO 3</a:t>
            </a:r>
            <a:endParaRPr lang="en-US" sz="750" dirty="0"/>
          </a:p>
        </p:txBody>
      </p:sp>
      <p:sp>
        <p:nvSpPr>
          <p:cNvPr id="8" name="Text 6"/>
          <p:cNvSpPr/>
          <p:nvPr/>
        </p:nvSpPr>
        <p:spPr>
          <a:xfrm>
            <a:off x="502920" y="1975104"/>
            <a:ext cx="1525219" cy="274320"/>
          </a:xfrm>
          <a:prstGeom prst="rect">
            <a:avLst/>
          </a:prstGeom>
          <a:noFill/>
          <a:ln/>
        </p:spPr>
        <p:txBody>
          <a:bodyPr wrap="square" rtlCol="0" anchor="t"/>
          <a:lstStyle/>
          <a:p>
            <a:pPr indent="0" marL="0">
              <a:buNone/>
            </a:pPr>
            <a:r>
              <a:rPr lang="en-US" sz="1400" dirty="0">
                <a:solidFill>
                  <a:srgbClr val="EDE7DE"/>
                </a:solidFill>
                <a:latin typeface="Cormorant Garamond" pitchFamily="34" charset="0"/>
                <a:ea typeface="Cormorant Garamond" pitchFamily="34" charset="-122"/>
                <a:cs typeface="Cormorant Garamond" pitchFamily="34" charset="-120"/>
              </a:rPr>
              <a:t>Close and design</a:t>
            </a:r>
            <a:endParaRPr lang="en-US" sz="1400" dirty="0"/>
          </a:p>
        </p:txBody>
      </p:sp>
      <p:sp>
        <p:nvSpPr>
          <p:cNvPr id="9" name="Text 7"/>
          <p:cNvSpPr/>
          <p:nvPr/>
        </p:nvSpPr>
        <p:spPr>
          <a:xfrm>
            <a:off x="502920" y="2286000"/>
            <a:ext cx="1525219" cy="1371600"/>
          </a:xfrm>
          <a:prstGeom prst="rect">
            <a:avLst/>
          </a:prstGeom>
          <a:noFill/>
          <a:ln/>
        </p:spPr>
        <p:txBody>
          <a:bodyPr wrap="square" rtlCol="0" anchor="t"/>
          <a:lstStyle/>
          <a:p>
            <a:pPr indent="0" marL="0">
              <a:lnSpc>
                <a:spcPct val="120000"/>
              </a:lnSpc>
              <a:buNone/>
            </a:pPr>
            <a:r>
              <a:rPr lang="en-US" sz="850" dirty="0">
                <a:solidFill>
                  <a:srgbClr val="C9BCA9"/>
                </a:solidFill>
                <a:latin typeface="Jost" pitchFamily="34" charset="0"/>
                <a:ea typeface="Jost" pitchFamily="34" charset="-122"/>
                <a:cs typeface="Jost" pitchFamily="34" charset="-120"/>
              </a:rPr>
              <a:t>Funds close, lease executed, architect and contractor engaged, permits filed. Founding member campaign opens.</a:t>
            </a:r>
            <a:endParaRPr lang="en-US" sz="850" dirty="0"/>
          </a:p>
        </p:txBody>
      </p:sp>
      <p:sp>
        <p:nvSpPr>
          <p:cNvPr id="10" name="Shape 8"/>
          <p:cNvSpPr/>
          <p:nvPr/>
        </p:nvSpPr>
        <p:spPr>
          <a:xfrm>
            <a:off x="2156155" y="1627632"/>
            <a:ext cx="1525219" cy="12802"/>
          </a:xfrm>
          <a:prstGeom prst="rect">
            <a:avLst/>
          </a:prstGeom>
          <a:solidFill>
            <a:srgbClr val="271F13"/>
          </a:solidFill>
          <a:ln w="12700">
            <a:solidFill>
              <a:srgbClr val="271F13"/>
            </a:solidFill>
            <a:prstDash val="solid"/>
          </a:ln>
        </p:spPr>
      </p:sp>
      <p:sp>
        <p:nvSpPr>
          <p:cNvPr id="11" name="Shape 9"/>
          <p:cNvSpPr/>
          <p:nvPr/>
        </p:nvSpPr>
        <p:spPr>
          <a:xfrm>
            <a:off x="2156155" y="1586484"/>
            <a:ext cx="91440" cy="91440"/>
          </a:xfrm>
          <a:prstGeom prst="ellipse">
            <a:avLst/>
          </a:prstGeom>
          <a:solidFill>
            <a:srgbClr val="B08D57"/>
          </a:solidFill>
          <a:ln w="12700">
            <a:solidFill>
              <a:srgbClr val="B08D57"/>
            </a:solidFill>
            <a:prstDash val="solid"/>
          </a:ln>
        </p:spPr>
      </p:sp>
      <p:sp>
        <p:nvSpPr>
          <p:cNvPr id="12" name="Text 10"/>
          <p:cNvSpPr/>
          <p:nvPr/>
        </p:nvSpPr>
        <p:spPr>
          <a:xfrm>
            <a:off x="2156155" y="1783080"/>
            <a:ext cx="1525219" cy="182880"/>
          </a:xfrm>
          <a:prstGeom prst="rect">
            <a:avLst/>
          </a:prstGeom>
          <a:noFill/>
          <a:ln/>
        </p:spPr>
        <p:txBody>
          <a:bodyPr wrap="square" rtlCol="0" anchor="ctr"/>
          <a:lstStyle/>
          <a:p>
            <a:pPr indent="0" marL="0">
              <a:buNone/>
            </a:pPr>
            <a:r>
              <a:rPr lang="en-US" sz="750" spc="160" kern="0" dirty="0">
                <a:solidFill>
                  <a:srgbClr val="B08D57"/>
                </a:solidFill>
                <a:latin typeface="Jost" pitchFamily="34" charset="0"/>
                <a:ea typeface="Jost" pitchFamily="34" charset="-122"/>
                <a:cs typeface="Jost" pitchFamily="34" charset="-120"/>
              </a:rPr>
              <a:t>MONTH 3 TO 6</a:t>
            </a:r>
            <a:endParaRPr lang="en-US" sz="750" dirty="0"/>
          </a:p>
        </p:txBody>
      </p:sp>
      <p:sp>
        <p:nvSpPr>
          <p:cNvPr id="13" name="Text 11"/>
          <p:cNvSpPr/>
          <p:nvPr/>
        </p:nvSpPr>
        <p:spPr>
          <a:xfrm>
            <a:off x="2156155" y="1975104"/>
            <a:ext cx="1525219" cy="274320"/>
          </a:xfrm>
          <a:prstGeom prst="rect">
            <a:avLst/>
          </a:prstGeom>
          <a:noFill/>
          <a:ln/>
        </p:spPr>
        <p:txBody>
          <a:bodyPr wrap="square" rtlCol="0" anchor="t"/>
          <a:lstStyle/>
          <a:p>
            <a:pPr indent="0" marL="0">
              <a:buNone/>
            </a:pPr>
            <a:r>
              <a:rPr lang="en-US" sz="1400" dirty="0">
                <a:solidFill>
                  <a:srgbClr val="EDE7DE"/>
                </a:solidFill>
                <a:latin typeface="Cormorant Garamond" pitchFamily="34" charset="0"/>
                <a:ea typeface="Cormorant Garamond" pitchFamily="34" charset="-122"/>
                <a:cs typeface="Cormorant Garamond" pitchFamily="34" charset="-120"/>
              </a:rPr>
              <a:t>Build</a:t>
            </a:r>
            <a:endParaRPr lang="en-US" sz="1400" dirty="0"/>
          </a:p>
        </p:txBody>
      </p:sp>
      <p:sp>
        <p:nvSpPr>
          <p:cNvPr id="14" name="Text 12"/>
          <p:cNvSpPr/>
          <p:nvPr/>
        </p:nvSpPr>
        <p:spPr>
          <a:xfrm>
            <a:off x="2156155" y="2286000"/>
            <a:ext cx="1525219" cy="1371600"/>
          </a:xfrm>
          <a:prstGeom prst="rect">
            <a:avLst/>
          </a:prstGeom>
          <a:noFill/>
          <a:ln/>
        </p:spPr>
        <p:txBody>
          <a:bodyPr wrap="square" rtlCol="0" anchor="t"/>
          <a:lstStyle/>
          <a:p>
            <a:pPr indent="0" marL="0">
              <a:lnSpc>
                <a:spcPct val="120000"/>
              </a:lnSpc>
              <a:buNone/>
            </a:pPr>
            <a:r>
              <a:rPr lang="en-US" sz="850" dirty="0">
                <a:solidFill>
                  <a:srgbClr val="C9BCA9"/>
                </a:solidFill>
                <a:latin typeface="Jost" pitchFamily="34" charset="0"/>
                <a:ea typeface="Jost" pitchFamily="34" charset="-122"/>
                <a:cs typeface="Jost" pitchFamily="34" charset="-120"/>
              </a:rPr>
              <a:t>Buildout, wet-area rough-in, equipment ordered. Medical director and injector recruited and credentialed.</a:t>
            </a:r>
            <a:endParaRPr lang="en-US" sz="850" dirty="0"/>
          </a:p>
        </p:txBody>
      </p:sp>
      <p:sp>
        <p:nvSpPr>
          <p:cNvPr id="15" name="Shape 13"/>
          <p:cNvSpPr/>
          <p:nvPr/>
        </p:nvSpPr>
        <p:spPr>
          <a:xfrm>
            <a:off x="3809390" y="1627632"/>
            <a:ext cx="1525219" cy="12802"/>
          </a:xfrm>
          <a:prstGeom prst="rect">
            <a:avLst/>
          </a:prstGeom>
          <a:solidFill>
            <a:srgbClr val="271F13"/>
          </a:solidFill>
          <a:ln w="12700">
            <a:solidFill>
              <a:srgbClr val="271F13"/>
            </a:solidFill>
            <a:prstDash val="solid"/>
          </a:ln>
        </p:spPr>
      </p:sp>
      <p:sp>
        <p:nvSpPr>
          <p:cNvPr id="16" name="Shape 14"/>
          <p:cNvSpPr/>
          <p:nvPr/>
        </p:nvSpPr>
        <p:spPr>
          <a:xfrm>
            <a:off x="3809390" y="1586484"/>
            <a:ext cx="91440" cy="91440"/>
          </a:xfrm>
          <a:prstGeom prst="ellipse">
            <a:avLst/>
          </a:prstGeom>
          <a:solidFill>
            <a:srgbClr val="B08D57"/>
          </a:solidFill>
          <a:ln w="12700">
            <a:solidFill>
              <a:srgbClr val="B08D57"/>
            </a:solidFill>
            <a:prstDash val="solid"/>
          </a:ln>
        </p:spPr>
      </p:sp>
      <p:sp>
        <p:nvSpPr>
          <p:cNvPr id="17" name="Text 15"/>
          <p:cNvSpPr/>
          <p:nvPr/>
        </p:nvSpPr>
        <p:spPr>
          <a:xfrm>
            <a:off x="3809390" y="1783080"/>
            <a:ext cx="1525219" cy="182880"/>
          </a:xfrm>
          <a:prstGeom prst="rect">
            <a:avLst/>
          </a:prstGeom>
          <a:noFill/>
          <a:ln/>
        </p:spPr>
        <p:txBody>
          <a:bodyPr wrap="square" rtlCol="0" anchor="ctr"/>
          <a:lstStyle/>
          <a:p>
            <a:pPr indent="0" marL="0">
              <a:buNone/>
            </a:pPr>
            <a:r>
              <a:rPr lang="en-US" sz="750" spc="160" kern="0" dirty="0">
                <a:solidFill>
                  <a:srgbClr val="B08D57"/>
                </a:solidFill>
                <a:latin typeface="Jost" pitchFamily="34" charset="0"/>
                <a:ea typeface="Jost" pitchFamily="34" charset="-122"/>
                <a:cs typeface="Jost" pitchFamily="34" charset="-120"/>
              </a:rPr>
              <a:t>MONTH 7</a:t>
            </a:r>
            <a:endParaRPr lang="en-US" sz="750" dirty="0"/>
          </a:p>
        </p:txBody>
      </p:sp>
      <p:sp>
        <p:nvSpPr>
          <p:cNvPr id="18" name="Text 16"/>
          <p:cNvSpPr/>
          <p:nvPr/>
        </p:nvSpPr>
        <p:spPr>
          <a:xfrm>
            <a:off x="3809390" y="1975104"/>
            <a:ext cx="1525219" cy="274320"/>
          </a:xfrm>
          <a:prstGeom prst="rect">
            <a:avLst/>
          </a:prstGeom>
          <a:noFill/>
          <a:ln/>
        </p:spPr>
        <p:txBody>
          <a:bodyPr wrap="square" rtlCol="0" anchor="t"/>
          <a:lstStyle/>
          <a:p>
            <a:pPr indent="0" marL="0">
              <a:buNone/>
            </a:pPr>
            <a:r>
              <a:rPr lang="en-US" sz="1400" dirty="0">
                <a:solidFill>
                  <a:srgbClr val="EDE7DE"/>
                </a:solidFill>
                <a:latin typeface="Cormorant Garamond" pitchFamily="34" charset="0"/>
                <a:ea typeface="Cormorant Garamond" pitchFamily="34" charset="-122"/>
                <a:cs typeface="Cormorant Garamond" pitchFamily="34" charset="-120"/>
              </a:rPr>
              <a:t>Open</a:t>
            </a:r>
            <a:endParaRPr lang="en-US" sz="1400" dirty="0"/>
          </a:p>
        </p:txBody>
      </p:sp>
      <p:sp>
        <p:nvSpPr>
          <p:cNvPr id="19" name="Text 17"/>
          <p:cNvSpPr/>
          <p:nvPr/>
        </p:nvSpPr>
        <p:spPr>
          <a:xfrm>
            <a:off x="3809390" y="2286000"/>
            <a:ext cx="1525219" cy="1371600"/>
          </a:xfrm>
          <a:prstGeom prst="rect">
            <a:avLst/>
          </a:prstGeom>
          <a:noFill/>
          <a:ln/>
        </p:spPr>
        <p:txBody>
          <a:bodyPr wrap="square" rtlCol="0" anchor="t"/>
          <a:lstStyle/>
          <a:p>
            <a:pPr indent="0" marL="0">
              <a:lnSpc>
                <a:spcPct val="120000"/>
              </a:lnSpc>
              <a:buNone/>
            </a:pPr>
            <a:r>
              <a:rPr lang="en-US" sz="850" dirty="0">
                <a:solidFill>
                  <a:srgbClr val="C9BCA9"/>
                </a:solidFill>
                <a:latin typeface="Jost" pitchFamily="34" charset="0"/>
                <a:ea typeface="Jost" pitchFamily="34" charset="-122"/>
                <a:cs typeface="Jost" pitchFamily="34" charset="-120"/>
              </a:rPr>
              <a:t>Doors open to founding members first, public booking the same week. Clinic and club launch together.</a:t>
            </a:r>
            <a:endParaRPr lang="en-US" sz="850" dirty="0"/>
          </a:p>
        </p:txBody>
      </p:sp>
      <p:sp>
        <p:nvSpPr>
          <p:cNvPr id="20" name="Shape 18"/>
          <p:cNvSpPr/>
          <p:nvPr/>
        </p:nvSpPr>
        <p:spPr>
          <a:xfrm>
            <a:off x="5462626" y="1627632"/>
            <a:ext cx="1525219" cy="12802"/>
          </a:xfrm>
          <a:prstGeom prst="rect">
            <a:avLst/>
          </a:prstGeom>
          <a:solidFill>
            <a:srgbClr val="271F13"/>
          </a:solidFill>
          <a:ln w="12700">
            <a:solidFill>
              <a:srgbClr val="271F13"/>
            </a:solidFill>
            <a:prstDash val="solid"/>
          </a:ln>
        </p:spPr>
      </p:sp>
      <p:sp>
        <p:nvSpPr>
          <p:cNvPr id="21" name="Shape 19"/>
          <p:cNvSpPr/>
          <p:nvPr/>
        </p:nvSpPr>
        <p:spPr>
          <a:xfrm>
            <a:off x="5462626" y="1586484"/>
            <a:ext cx="91440" cy="91440"/>
          </a:xfrm>
          <a:prstGeom prst="ellipse">
            <a:avLst/>
          </a:prstGeom>
          <a:solidFill>
            <a:srgbClr val="B08D57"/>
          </a:solidFill>
          <a:ln w="12700">
            <a:solidFill>
              <a:srgbClr val="B08D57"/>
            </a:solidFill>
            <a:prstDash val="solid"/>
          </a:ln>
        </p:spPr>
      </p:sp>
      <p:sp>
        <p:nvSpPr>
          <p:cNvPr id="22" name="Text 20"/>
          <p:cNvSpPr/>
          <p:nvPr/>
        </p:nvSpPr>
        <p:spPr>
          <a:xfrm>
            <a:off x="5462626" y="1783080"/>
            <a:ext cx="1525219" cy="182880"/>
          </a:xfrm>
          <a:prstGeom prst="rect">
            <a:avLst/>
          </a:prstGeom>
          <a:noFill/>
          <a:ln/>
        </p:spPr>
        <p:txBody>
          <a:bodyPr wrap="square" rtlCol="0" anchor="ctr"/>
          <a:lstStyle/>
          <a:p>
            <a:pPr indent="0" marL="0">
              <a:buNone/>
            </a:pPr>
            <a:r>
              <a:rPr lang="en-US" sz="750" spc="160" kern="0" dirty="0">
                <a:solidFill>
                  <a:srgbClr val="B08D57"/>
                </a:solidFill>
                <a:latin typeface="Jost" pitchFamily="34" charset="0"/>
                <a:ea typeface="Jost" pitchFamily="34" charset="-122"/>
                <a:cs typeface="Jost" pitchFamily="34" charset="-120"/>
              </a:rPr>
              <a:t>MONTH 8 TO 14</a:t>
            </a:r>
            <a:endParaRPr lang="en-US" sz="750" dirty="0"/>
          </a:p>
        </p:txBody>
      </p:sp>
      <p:sp>
        <p:nvSpPr>
          <p:cNvPr id="23" name="Text 21"/>
          <p:cNvSpPr/>
          <p:nvPr/>
        </p:nvSpPr>
        <p:spPr>
          <a:xfrm>
            <a:off x="5462626" y="1975104"/>
            <a:ext cx="1525219" cy="274320"/>
          </a:xfrm>
          <a:prstGeom prst="rect">
            <a:avLst/>
          </a:prstGeom>
          <a:noFill/>
          <a:ln/>
        </p:spPr>
        <p:txBody>
          <a:bodyPr wrap="square" rtlCol="0" anchor="t"/>
          <a:lstStyle/>
          <a:p>
            <a:pPr indent="0" marL="0">
              <a:buNone/>
            </a:pPr>
            <a:r>
              <a:rPr lang="en-US" sz="1400" dirty="0">
                <a:solidFill>
                  <a:srgbClr val="EDE7DE"/>
                </a:solidFill>
                <a:latin typeface="Cormorant Garamond" pitchFamily="34" charset="0"/>
                <a:ea typeface="Cormorant Garamond" pitchFamily="34" charset="-122"/>
                <a:cs typeface="Cormorant Garamond" pitchFamily="34" charset="-120"/>
              </a:rPr>
              <a:t>Fill</a:t>
            </a:r>
            <a:endParaRPr lang="en-US" sz="1400" dirty="0"/>
          </a:p>
        </p:txBody>
      </p:sp>
      <p:sp>
        <p:nvSpPr>
          <p:cNvPr id="24" name="Text 22"/>
          <p:cNvSpPr/>
          <p:nvPr/>
        </p:nvSpPr>
        <p:spPr>
          <a:xfrm>
            <a:off x="5462626" y="2286000"/>
            <a:ext cx="1525219" cy="1371600"/>
          </a:xfrm>
          <a:prstGeom prst="rect">
            <a:avLst/>
          </a:prstGeom>
          <a:noFill/>
          <a:ln/>
        </p:spPr>
        <p:txBody>
          <a:bodyPr wrap="square" rtlCol="0" anchor="t"/>
          <a:lstStyle/>
          <a:p>
            <a:pPr indent="0" marL="0">
              <a:lnSpc>
                <a:spcPct val="120000"/>
              </a:lnSpc>
              <a:buNone/>
            </a:pPr>
            <a:r>
              <a:rPr lang="en-US" sz="850" dirty="0">
                <a:solidFill>
                  <a:srgbClr val="C9BCA9"/>
                </a:solidFill>
                <a:latin typeface="Jost" pitchFamily="34" charset="0"/>
                <a:ea typeface="Jost" pitchFamily="34" charset="-122"/>
                <a:cs typeface="Jost" pitchFamily="34" charset="-120"/>
              </a:rPr>
              <a:t>Membership ramp, events programming, referral engine from the open clinic. Operating breakeven lands here.</a:t>
            </a:r>
            <a:endParaRPr lang="en-US" sz="850" dirty="0"/>
          </a:p>
        </p:txBody>
      </p:sp>
      <p:sp>
        <p:nvSpPr>
          <p:cNvPr id="25" name="Shape 23"/>
          <p:cNvSpPr/>
          <p:nvPr/>
        </p:nvSpPr>
        <p:spPr>
          <a:xfrm>
            <a:off x="7115861" y="1627632"/>
            <a:ext cx="1525219" cy="12802"/>
          </a:xfrm>
          <a:prstGeom prst="rect">
            <a:avLst/>
          </a:prstGeom>
          <a:solidFill>
            <a:srgbClr val="271F13"/>
          </a:solidFill>
          <a:ln w="12700">
            <a:solidFill>
              <a:srgbClr val="271F13"/>
            </a:solidFill>
            <a:prstDash val="solid"/>
          </a:ln>
        </p:spPr>
      </p:sp>
      <p:sp>
        <p:nvSpPr>
          <p:cNvPr id="26" name="Shape 24"/>
          <p:cNvSpPr/>
          <p:nvPr/>
        </p:nvSpPr>
        <p:spPr>
          <a:xfrm>
            <a:off x="7115861" y="1586484"/>
            <a:ext cx="91440" cy="91440"/>
          </a:xfrm>
          <a:prstGeom prst="ellipse">
            <a:avLst/>
          </a:prstGeom>
          <a:solidFill>
            <a:srgbClr val="B08D57"/>
          </a:solidFill>
          <a:ln w="12700">
            <a:solidFill>
              <a:srgbClr val="B08D57"/>
            </a:solidFill>
            <a:prstDash val="solid"/>
          </a:ln>
        </p:spPr>
      </p:sp>
      <p:sp>
        <p:nvSpPr>
          <p:cNvPr id="27" name="Text 25"/>
          <p:cNvSpPr/>
          <p:nvPr/>
        </p:nvSpPr>
        <p:spPr>
          <a:xfrm>
            <a:off x="7115861" y="1783080"/>
            <a:ext cx="1525219" cy="182880"/>
          </a:xfrm>
          <a:prstGeom prst="rect">
            <a:avLst/>
          </a:prstGeom>
          <a:noFill/>
          <a:ln/>
        </p:spPr>
        <p:txBody>
          <a:bodyPr wrap="square" rtlCol="0" anchor="ctr"/>
          <a:lstStyle/>
          <a:p>
            <a:pPr indent="0" marL="0">
              <a:buNone/>
            </a:pPr>
            <a:r>
              <a:rPr lang="en-US" sz="750" spc="160" kern="0" dirty="0">
                <a:solidFill>
                  <a:srgbClr val="B08D57"/>
                </a:solidFill>
                <a:latin typeface="Jost" pitchFamily="34" charset="0"/>
                <a:ea typeface="Jost" pitchFamily="34" charset="-122"/>
                <a:cs typeface="Jost" pitchFamily="34" charset="-120"/>
              </a:rPr>
              <a:t>MONTH 15 TO 36</a:t>
            </a:r>
            <a:endParaRPr lang="en-US" sz="750" dirty="0"/>
          </a:p>
        </p:txBody>
      </p:sp>
      <p:sp>
        <p:nvSpPr>
          <p:cNvPr id="28" name="Text 26"/>
          <p:cNvSpPr/>
          <p:nvPr/>
        </p:nvSpPr>
        <p:spPr>
          <a:xfrm>
            <a:off x="7115861" y="1975104"/>
            <a:ext cx="1525219" cy="274320"/>
          </a:xfrm>
          <a:prstGeom prst="rect">
            <a:avLst/>
          </a:prstGeom>
          <a:noFill/>
          <a:ln/>
        </p:spPr>
        <p:txBody>
          <a:bodyPr wrap="square" rtlCol="0" anchor="t"/>
          <a:lstStyle/>
          <a:p>
            <a:pPr indent="0" marL="0">
              <a:buNone/>
            </a:pPr>
            <a:r>
              <a:rPr lang="en-US" sz="1400" dirty="0">
                <a:solidFill>
                  <a:srgbClr val="EDE7DE"/>
                </a:solidFill>
                <a:latin typeface="Cormorant Garamond" pitchFamily="34" charset="0"/>
                <a:ea typeface="Cormorant Garamond" pitchFamily="34" charset="-122"/>
                <a:cs typeface="Cormorant Garamond" pitchFamily="34" charset="-120"/>
              </a:rPr>
              <a:t>Stabilize</a:t>
            </a:r>
            <a:endParaRPr lang="en-US" sz="1400" dirty="0"/>
          </a:p>
        </p:txBody>
      </p:sp>
      <p:sp>
        <p:nvSpPr>
          <p:cNvPr id="29" name="Text 27"/>
          <p:cNvSpPr/>
          <p:nvPr/>
        </p:nvSpPr>
        <p:spPr>
          <a:xfrm>
            <a:off x="7115861" y="2286000"/>
            <a:ext cx="1525219" cy="1371600"/>
          </a:xfrm>
          <a:prstGeom prst="rect">
            <a:avLst/>
          </a:prstGeom>
          <a:noFill/>
          <a:ln/>
        </p:spPr>
        <p:txBody>
          <a:bodyPr wrap="square" rtlCol="0" anchor="t"/>
          <a:lstStyle/>
          <a:p>
            <a:pPr indent="0" marL="0">
              <a:lnSpc>
                <a:spcPct val="120000"/>
              </a:lnSpc>
              <a:buNone/>
            </a:pPr>
            <a:r>
              <a:rPr lang="en-US" sz="850" dirty="0">
                <a:solidFill>
                  <a:srgbClr val="C9BCA9"/>
                </a:solidFill>
                <a:latin typeface="Jost" pitchFamily="34" charset="0"/>
                <a:ea typeface="Jost" pitchFamily="34" charset="-122"/>
                <a:cs typeface="Jost" pitchFamily="34" charset="-120"/>
              </a:rPr>
              <a:t>Caps approached on Resident and Longevity. Waitlist opens.</a:t>
            </a:r>
            <a:endParaRPr lang="en-US" sz="850" dirty="0"/>
          </a:p>
        </p:txBody>
      </p:sp>
      <p:sp>
        <p:nvSpPr>
          <p:cNvPr id="30" name="Text 28"/>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B6965"/>
                </a:solidFill>
                <a:latin typeface="Jost" pitchFamily="34" charset="0"/>
                <a:ea typeface="Jost" pitchFamily="34" charset="-122"/>
                <a:cs typeface="Jost" pitchFamily="34" charset="-120"/>
              </a:rPr>
              <a:t>L&amp;K WELLNESS  ·  PRIVATE INVESTMENT BRIEF  ·  CONFIDENTIAL</a:t>
            </a:r>
            <a:endParaRPr lang="en-US" sz="700" dirty="0"/>
          </a:p>
        </p:txBody>
      </p:sp>
      <p:sp>
        <p:nvSpPr>
          <p:cNvPr id="31" name="Text 29"/>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B6965"/>
                </a:solidFill>
                <a:latin typeface="Jost" pitchFamily="34" charset="0"/>
                <a:ea typeface="Jost" pitchFamily="34" charset="-122"/>
                <a:cs typeface="Jost" pitchFamily="34" charset="-120"/>
              </a:rPr>
              <a:t>30</a:t>
            </a:r>
            <a:endParaRPr lang="en-US" sz="7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B08D57"/>
                </a:solidFill>
                <a:latin typeface="Jost" pitchFamily="34" charset="0"/>
                <a:ea typeface="Jost" pitchFamily="34" charset="-122"/>
                <a:cs typeface="Jost" pitchFamily="34" charset="-120"/>
              </a:rPr>
              <a:t>MEET THE TEAM</a:t>
            </a:r>
            <a:endParaRPr lang="en-US" sz="900" dirty="0"/>
          </a:p>
        </p:txBody>
      </p:sp>
      <p:sp>
        <p:nvSpPr>
          <p:cNvPr id="3" name="Shape 1"/>
          <p:cNvSpPr/>
          <p:nvPr/>
        </p:nvSpPr>
        <p:spPr>
          <a:xfrm>
            <a:off x="502920" y="557784"/>
            <a:ext cx="566928" cy="12802"/>
          </a:xfrm>
          <a:prstGeom prst="rect">
            <a:avLst/>
          </a:prstGeom>
          <a:solidFill>
            <a:srgbClr val="B08D57"/>
          </a:solidFill>
          <a:ln w="12700">
            <a:solidFill>
              <a:srgbClr val="B08D57"/>
            </a:solidFill>
            <a:prstDash val="solid"/>
          </a:ln>
        </p:spPr>
      </p:sp>
      <p:sp>
        <p:nvSpPr>
          <p:cNvPr id="4" name="Text 2"/>
          <p:cNvSpPr/>
          <p:nvPr/>
        </p:nvSpPr>
        <p:spPr>
          <a:xfrm>
            <a:off x="502920" y="621792"/>
            <a:ext cx="8138160" cy="548640"/>
          </a:xfrm>
          <a:prstGeom prst="rect">
            <a:avLst/>
          </a:prstGeom>
          <a:noFill/>
          <a:ln/>
        </p:spPr>
        <p:txBody>
          <a:bodyPr wrap="square" rtlCol="0" anchor="t"/>
          <a:lstStyle/>
          <a:p>
            <a:pPr indent="0" marL="0">
              <a:buNone/>
            </a:pPr>
            <a:r>
              <a:rPr lang="en-US" sz="2600" spc="400" kern="0" dirty="0">
                <a:solidFill>
                  <a:srgbClr val="EDE7DE"/>
                </a:solidFill>
                <a:latin typeface="Cormorant Garamond" pitchFamily="34" charset="0"/>
                <a:ea typeface="Cormorant Garamond" pitchFamily="34" charset="-122"/>
                <a:cs typeface="Cormorant Garamond" pitchFamily="34" charset="-120"/>
              </a:rPr>
              <a:t>MEET THE FOUNDERS</a:t>
            </a:r>
            <a:endParaRPr lang="en-US" sz="2600" dirty="0"/>
          </a:p>
        </p:txBody>
      </p:sp>
      <p:sp>
        <p:nvSpPr>
          <p:cNvPr id="5" name="Text 3"/>
          <p:cNvSpPr/>
          <p:nvPr/>
        </p:nvSpPr>
        <p:spPr>
          <a:xfrm>
            <a:off x="502920" y="1115568"/>
            <a:ext cx="7487107" cy="457200"/>
          </a:xfrm>
          <a:prstGeom prst="rect">
            <a:avLst/>
          </a:prstGeom>
          <a:noFill/>
          <a:ln/>
        </p:spPr>
        <p:txBody>
          <a:bodyPr wrap="square" rtlCol="0" anchor="t"/>
          <a:lstStyle/>
          <a:p>
            <a:pPr indent="0" marL="0">
              <a:lnSpc>
                <a:spcPct val="120000"/>
              </a:lnSpc>
              <a:buNone/>
            </a:pPr>
            <a:r>
              <a:rPr lang="en-US" sz="1050" dirty="0">
                <a:solidFill>
                  <a:srgbClr val="C9BCA9"/>
                </a:solidFill>
                <a:latin typeface="Jost" pitchFamily="34" charset="0"/>
                <a:ea typeface="Jost" pitchFamily="34" charset="-122"/>
                <a:cs typeface="Jost" pitchFamily="34" charset="-120"/>
              </a:rPr>
              <a:t>L&amp;K Wellness is led by two co-founders.</a:t>
            </a:r>
            <a:endParaRPr lang="en-US" sz="1050" dirty="0"/>
          </a:p>
        </p:txBody>
      </p:sp>
      <p:sp>
        <p:nvSpPr>
          <p:cNvPr id="6" name="Shape 4"/>
          <p:cNvSpPr/>
          <p:nvPr/>
        </p:nvSpPr>
        <p:spPr>
          <a:xfrm>
            <a:off x="502920" y="1691640"/>
            <a:ext cx="3995928" cy="2487168"/>
          </a:xfrm>
          <a:prstGeom prst="rect">
            <a:avLst/>
          </a:prstGeom>
          <a:solidFill>
            <a:srgbClr val="1C1C1E"/>
          </a:solidFill>
          <a:ln w="9525">
            <a:solidFill>
              <a:srgbClr val="271F13"/>
            </a:solidFill>
            <a:prstDash val="solid"/>
          </a:ln>
        </p:spPr>
      </p:sp>
      <p:sp>
        <p:nvSpPr>
          <p:cNvPr id="7" name="Text 5"/>
          <p:cNvSpPr/>
          <p:nvPr/>
        </p:nvSpPr>
        <p:spPr>
          <a:xfrm>
            <a:off x="649224" y="1819656"/>
            <a:ext cx="3703320" cy="182880"/>
          </a:xfrm>
          <a:prstGeom prst="rect">
            <a:avLst/>
          </a:prstGeom>
          <a:noFill/>
          <a:ln/>
        </p:spPr>
        <p:txBody>
          <a:bodyPr wrap="square" rtlCol="0" anchor="ctr"/>
          <a:lstStyle/>
          <a:p>
            <a:pPr indent="0" marL="0">
              <a:buNone/>
            </a:pPr>
            <a:r>
              <a:rPr lang="en-US" sz="750" spc="200" kern="0" dirty="0">
                <a:solidFill>
                  <a:srgbClr val="B08D57"/>
                </a:solidFill>
                <a:latin typeface="Jost" pitchFamily="34" charset="0"/>
                <a:ea typeface="Jost" pitchFamily="34" charset="-122"/>
                <a:cs typeface="Jost" pitchFamily="34" charset="-120"/>
              </a:rPr>
              <a:t>HEALTHCARE ADMINISTRATION AND DEVELOPMENT</a:t>
            </a:r>
            <a:endParaRPr lang="en-US" sz="750" dirty="0"/>
          </a:p>
        </p:txBody>
      </p:sp>
      <p:sp>
        <p:nvSpPr>
          <p:cNvPr id="8" name="Text 6"/>
          <p:cNvSpPr/>
          <p:nvPr/>
        </p:nvSpPr>
        <p:spPr>
          <a:xfrm>
            <a:off x="649224" y="2039112"/>
            <a:ext cx="3703320" cy="292608"/>
          </a:xfrm>
          <a:prstGeom prst="rect">
            <a:avLst/>
          </a:prstGeom>
          <a:noFill/>
          <a:ln/>
        </p:spPr>
        <p:txBody>
          <a:bodyPr wrap="square" rtlCol="0" anchor="t"/>
          <a:lstStyle/>
          <a:p>
            <a:pPr indent="0" marL="0">
              <a:lnSpc>
                <a:spcPct val="110000"/>
              </a:lnSpc>
              <a:buNone/>
            </a:pPr>
            <a:r>
              <a:rPr lang="en-US" sz="1300" dirty="0">
                <a:solidFill>
                  <a:srgbClr val="EDE7DE"/>
                </a:solidFill>
                <a:latin typeface="Jost" pitchFamily="34" charset="0"/>
                <a:ea typeface="Jost" pitchFamily="34" charset="-122"/>
                <a:cs typeface="Jost" pitchFamily="34" charset="-120"/>
              </a:rPr>
              <a:t>Co-founder</a:t>
            </a:r>
            <a:endParaRPr lang="en-US" sz="1300" dirty="0"/>
          </a:p>
        </p:txBody>
      </p:sp>
      <p:sp>
        <p:nvSpPr>
          <p:cNvPr id="9" name="Text 7"/>
          <p:cNvSpPr/>
          <p:nvPr/>
        </p:nvSpPr>
        <p:spPr>
          <a:xfrm>
            <a:off x="649224" y="2368296"/>
            <a:ext cx="3703320" cy="1700784"/>
          </a:xfrm>
          <a:prstGeom prst="rect">
            <a:avLst/>
          </a:prstGeom>
          <a:noFill/>
          <a:ln/>
        </p:spPr>
        <p:txBody>
          <a:bodyPr wrap="square" rtlCol="0" anchor="t"/>
          <a:lstStyle/>
          <a:p>
            <a:pPr indent="0" marL="0">
              <a:lnSpc>
                <a:spcPct val="120000"/>
              </a:lnSpc>
              <a:buNone/>
            </a:pPr>
            <a:r>
              <a:rPr lang="en-US" sz="850" dirty="0">
                <a:solidFill>
                  <a:srgbClr val="C9BCA9"/>
                </a:solidFill>
                <a:latin typeface="Jost" pitchFamily="34" charset="0"/>
                <a:ea typeface="Jost" pitchFamily="34" charset="-122"/>
                <a:cs typeface="Jost" pitchFamily="34" charset="-120"/>
              </a:rPr>
              <a:t>One has spent over 14 years in executive leadership of a Joint Commission-accredited, multispecialty outpatient surgery center and medical clinic in Los Angeles. Roles included overseeing operations, finance, and practice management and development, as well as administration for a team of board-certified surgeons across orthopedics, spine, pain management, plastic surgery, and general surgery. That healthcare administration and development background brings licensed-facility discipline to the longevity club model.</a:t>
            </a:r>
            <a:endParaRPr lang="en-US" sz="850" dirty="0"/>
          </a:p>
        </p:txBody>
      </p:sp>
      <p:sp>
        <p:nvSpPr>
          <p:cNvPr id="10" name="Shape 8"/>
          <p:cNvSpPr/>
          <p:nvPr/>
        </p:nvSpPr>
        <p:spPr>
          <a:xfrm>
            <a:off x="4645152" y="1691640"/>
            <a:ext cx="3995928" cy="2487168"/>
          </a:xfrm>
          <a:prstGeom prst="rect">
            <a:avLst/>
          </a:prstGeom>
          <a:solidFill>
            <a:srgbClr val="1C1C1E"/>
          </a:solidFill>
          <a:ln w="9525">
            <a:solidFill>
              <a:srgbClr val="271F13"/>
            </a:solidFill>
            <a:prstDash val="solid"/>
          </a:ln>
        </p:spPr>
      </p:sp>
      <p:sp>
        <p:nvSpPr>
          <p:cNvPr id="11" name="Text 9"/>
          <p:cNvSpPr/>
          <p:nvPr/>
        </p:nvSpPr>
        <p:spPr>
          <a:xfrm>
            <a:off x="4791456" y="1819656"/>
            <a:ext cx="3703320" cy="182880"/>
          </a:xfrm>
          <a:prstGeom prst="rect">
            <a:avLst/>
          </a:prstGeom>
          <a:noFill/>
          <a:ln/>
        </p:spPr>
        <p:txBody>
          <a:bodyPr wrap="square" rtlCol="0" anchor="ctr"/>
          <a:lstStyle/>
          <a:p>
            <a:pPr indent="0" marL="0">
              <a:buNone/>
            </a:pPr>
            <a:r>
              <a:rPr lang="en-US" sz="750" spc="200" kern="0" dirty="0">
                <a:solidFill>
                  <a:srgbClr val="B08D57"/>
                </a:solidFill>
                <a:latin typeface="Jost" pitchFamily="34" charset="0"/>
                <a:ea typeface="Jost" pitchFamily="34" charset="-122"/>
                <a:cs typeface="Jost" pitchFamily="34" charset="-120"/>
              </a:rPr>
              <a:t>BRAND, CAPITAL AND MEMBERSHIP GROWTH</a:t>
            </a:r>
            <a:endParaRPr lang="en-US" sz="750" dirty="0"/>
          </a:p>
        </p:txBody>
      </p:sp>
      <p:sp>
        <p:nvSpPr>
          <p:cNvPr id="12" name="Text 10"/>
          <p:cNvSpPr/>
          <p:nvPr/>
        </p:nvSpPr>
        <p:spPr>
          <a:xfrm>
            <a:off x="4791456" y="2039112"/>
            <a:ext cx="3703320" cy="292608"/>
          </a:xfrm>
          <a:prstGeom prst="rect">
            <a:avLst/>
          </a:prstGeom>
          <a:noFill/>
          <a:ln/>
        </p:spPr>
        <p:txBody>
          <a:bodyPr wrap="square" rtlCol="0" anchor="t"/>
          <a:lstStyle/>
          <a:p>
            <a:pPr indent="0" marL="0">
              <a:lnSpc>
                <a:spcPct val="110000"/>
              </a:lnSpc>
              <a:buNone/>
            </a:pPr>
            <a:r>
              <a:rPr lang="en-US" sz="1300" dirty="0">
                <a:solidFill>
                  <a:srgbClr val="EDE7DE"/>
                </a:solidFill>
                <a:latin typeface="Jost" pitchFamily="34" charset="0"/>
                <a:ea typeface="Jost" pitchFamily="34" charset="-122"/>
                <a:cs typeface="Jost" pitchFamily="34" charset="-120"/>
              </a:rPr>
              <a:t>Co-founder</a:t>
            </a:r>
            <a:endParaRPr lang="en-US" sz="1300" dirty="0"/>
          </a:p>
        </p:txBody>
      </p:sp>
      <p:sp>
        <p:nvSpPr>
          <p:cNvPr id="13" name="Text 11"/>
          <p:cNvSpPr/>
          <p:nvPr/>
        </p:nvSpPr>
        <p:spPr>
          <a:xfrm>
            <a:off x="4791456" y="2368296"/>
            <a:ext cx="3703320" cy="1700784"/>
          </a:xfrm>
          <a:prstGeom prst="rect">
            <a:avLst/>
          </a:prstGeom>
          <a:noFill/>
          <a:ln/>
        </p:spPr>
        <p:txBody>
          <a:bodyPr wrap="square" rtlCol="0" anchor="t"/>
          <a:lstStyle/>
          <a:p>
            <a:pPr indent="0" marL="0">
              <a:lnSpc>
                <a:spcPct val="120000"/>
              </a:lnSpc>
              <a:buNone/>
            </a:pPr>
            <a:r>
              <a:rPr lang="en-US" sz="850" dirty="0">
                <a:solidFill>
                  <a:srgbClr val="C9BCA9"/>
                </a:solidFill>
                <a:latin typeface="Jost" pitchFamily="34" charset="0"/>
                <a:ea typeface="Jost" pitchFamily="34" charset="-122"/>
                <a:cs typeface="Jost" pitchFamily="34" charset="-120"/>
              </a:rPr>
              <a:t>The other founder is a former professional athlete turned film producer, with deep experience in capital raising and marketing, along with strong connections within LA’s entertainment and fitness community. This background will be essential in driving the club’s brand and membership growth.</a:t>
            </a:r>
            <a:endParaRPr lang="en-US" sz="850" dirty="0"/>
          </a:p>
        </p:txBody>
      </p:sp>
      <p:sp>
        <p:nvSpPr>
          <p:cNvPr id="14" name="Text 12"/>
          <p:cNvSpPr/>
          <p:nvPr/>
        </p:nvSpPr>
        <p:spPr>
          <a:xfrm>
            <a:off x="502920" y="4242816"/>
            <a:ext cx="8138160" cy="365760"/>
          </a:xfrm>
          <a:prstGeom prst="rect">
            <a:avLst/>
          </a:prstGeom>
          <a:noFill/>
          <a:ln/>
        </p:spPr>
        <p:txBody>
          <a:bodyPr wrap="square" rtlCol="0" anchor="t"/>
          <a:lstStyle/>
          <a:p>
            <a:pPr indent="0" marL="0">
              <a:buNone/>
            </a:pPr>
            <a:r>
              <a:rPr lang="en-US" sz="950" dirty="0">
                <a:solidFill>
                  <a:srgbClr val="EDE7DE"/>
                </a:solidFill>
                <a:latin typeface="Jost" pitchFamily="34" charset="0"/>
                <a:ea typeface="Jost" pitchFamily="34" charset="-122"/>
                <a:cs typeface="Jost" pitchFamily="34" charset="-120"/>
              </a:rPr>
              <a:t>Ownership operates an existing surgical practice in Culver City, so this is not a first venture.</a:t>
            </a:r>
            <a:endParaRPr lang="en-US" sz="950" dirty="0"/>
          </a:p>
        </p:txBody>
      </p:sp>
      <p:sp>
        <p:nvSpPr>
          <p:cNvPr id="15" name="Text 13"/>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B6965"/>
                </a:solidFill>
                <a:latin typeface="Jost" pitchFamily="34" charset="0"/>
                <a:ea typeface="Jost" pitchFamily="34" charset="-122"/>
                <a:cs typeface="Jost" pitchFamily="34" charset="-120"/>
              </a:rPr>
              <a:t>L&amp;K WELLNESS  ·  PRIVATE INVESTMENT BRIEF  ·  CONFIDENTIAL</a:t>
            </a:r>
            <a:endParaRPr lang="en-US" sz="700" dirty="0"/>
          </a:p>
        </p:txBody>
      </p:sp>
      <p:sp>
        <p:nvSpPr>
          <p:cNvPr id="16" name="Text 14"/>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B6965"/>
                </a:solidFill>
                <a:latin typeface="Jost" pitchFamily="34" charset="0"/>
                <a:ea typeface="Jost" pitchFamily="34" charset="-122"/>
                <a:cs typeface="Jost" pitchFamily="34" charset="-120"/>
              </a:rPr>
              <a:t>31</a:t>
            </a:r>
            <a:endParaRPr lang="en-US" sz="7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B08D57"/>
                </a:solidFill>
                <a:latin typeface="Jost" pitchFamily="34" charset="0"/>
                <a:ea typeface="Jost" pitchFamily="34" charset="-122"/>
                <a:cs typeface="Jost" pitchFamily="34" charset="-120"/>
              </a:rPr>
              <a:t>MEET THE TEAM</a:t>
            </a:r>
            <a:endParaRPr lang="en-US" sz="900" dirty="0"/>
          </a:p>
        </p:txBody>
      </p:sp>
      <p:sp>
        <p:nvSpPr>
          <p:cNvPr id="3" name="Shape 1"/>
          <p:cNvSpPr/>
          <p:nvPr/>
        </p:nvSpPr>
        <p:spPr>
          <a:xfrm>
            <a:off x="502920" y="557784"/>
            <a:ext cx="566928" cy="12802"/>
          </a:xfrm>
          <a:prstGeom prst="rect">
            <a:avLst/>
          </a:prstGeom>
          <a:solidFill>
            <a:srgbClr val="B08D57"/>
          </a:solidFill>
          <a:ln w="12700">
            <a:solidFill>
              <a:srgbClr val="B08D57"/>
            </a:solidFill>
            <a:prstDash val="solid"/>
          </a:ln>
        </p:spPr>
      </p:sp>
      <p:sp>
        <p:nvSpPr>
          <p:cNvPr id="4" name="Text 2"/>
          <p:cNvSpPr/>
          <p:nvPr/>
        </p:nvSpPr>
        <p:spPr>
          <a:xfrm>
            <a:off x="502920" y="621792"/>
            <a:ext cx="8138160" cy="548640"/>
          </a:xfrm>
          <a:prstGeom prst="rect">
            <a:avLst/>
          </a:prstGeom>
          <a:noFill/>
          <a:ln/>
        </p:spPr>
        <p:txBody>
          <a:bodyPr wrap="square" rtlCol="0" anchor="t"/>
          <a:lstStyle/>
          <a:p>
            <a:pPr indent="0" marL="0">
              <a:buNone/>
            </a:pPr>
            <a:r>
              <a:rPr lang="en-US" sz="2600" spc="400" kern="0" dirty="0">
                <a:solidFill>
                  <a:srgbClr val="EDE7DE"/>
                </a:solidFill>
                <a:latin typeface="Cormorant Garamond" pitchFamily="34" charset="0"/>
                <a:ea typeface="Cormorant Garamond" pitchFamily="34" charset="-122"/>
                <a:cs typeface="Cormorant Garamond" pitchFamily="34" charset="-120"/>
              </a:rPr>
              <a:t>THE OPERATING TEAM IS IN PLACE</a:t>
            </a:r>
            <a:endParaRPr lang="en-US" sz="2600" dirty="0"/>
          </a:p>
        </p:txBody>
      </p:sp>
      <p:sp>
        <p:nvSpPr>
          <p:cNvPr id="5" name="Text 3"/>
          <p:cNvSpPr/>
          <p:nvPr/>
        </p:nvSpPr>
        <p:spPr>
          <a:xfrm>
            <a:off x="502920" y="1115568"/>
            <a:ext cx="7487107" cy="457200"/>
          </a:xfrm>
          <a:prstGeom prst="rect">
            <a:avLst/>
          </a:prstGeom>
          <a:noFill/>
          <a:ln/>
        </p:spPr>
        <p:txBody>
          <a:bodyPr wrap="square" rtlCol="0" anchor="t"/>
          <a:lstStyle/>
          <a:p>
            <a:pPr indent="0" marL="0">
              <a:lnSpc>
                <a:spcPct val="120000"/>
              </a:lnSpc>
              <a:buNone/>
            </a:pPr>
            <a:r>
              <a:rPr lang="en-US" sz="1050" dirty="0">
                <a:solidFill>
                  <a:srgbClr val="C9BCA9"/>
                </a:solidFill>
                <a:latin typeface="Jost" pitchFamily="34" charset="0"/>
                <a:ea typeface="Jost" pitchFamily="34" charset="-122"/>
                <a:cs typeface="Jost" pitchFamily="34" charset="-120"/>
              </a:rPr>
              <a:t>Clinical, aesthetic, longevity and hospitality leadership are all seated. No key role is open at opening.</a:t>
            </a:r>
            <a:endParaRPr lang="en-US" sz="1050" dirty="0"/>
          </a:p>
        </p:txBody>
      </p:sp>
      <p:graphicFrame>
        <p:nvGraphicFramePr>
          <p:cNvPr id="33" name="Table 0"/>
          <p:cNvGraphicFramePr>
            <a:graphicFrameLocks noGrp="1"/>
          </p:cNvGraphicFramePr>
          <p:nvPr>
            <p:extLst>
              <p:ext uri="{D42A27DB-BD31-4B8C-83A1-F6EECF244321}">
                <p14:modId xmlns:p14="http://schemas.microsoft.com/office/powerpoint/2010/main" val="1579011935"/>
              </p:ext>
            </p:extLst>
          </p:nvPr>
        </p:nvGraphicFramePr>
        <p:xfrm>
          <a:off x="502920" y="1691640"/>
          <a:ext cx="4937760" cy="914400"/>
        </p:xfrm>
        <a:graphic>
          <a:graphicData uri="http://schemas.openxmlformats.org/drawingml/2006/table">
            <a:tbl>
              <a:tblPr/>
              <a:tblGrid>
                <a:gridCol w="1645920"/>
                <a:gridCol w="2560320"/>
                <a:gridCol w="731520"/>
              </a:tblGrid>
              <a:tr h="329184">
                <a:tc>
                  <a:txBody>
                    <a:bodyPr/>
                    <a:lstStyle/>
                    <a:p>
                      <a:pPr algn="l" indent="0" marL="0">
                        <a:buNone/>
                      </a:pPr>
                      <a:r>
                        <a:rPr lang="en-US" sz="750" spc="140" kern="0" dirty="0">
                          <a:solidFill>
                            <a:srgbClr val="B08D57"/>
                          </a:solidFill>
                          <a:latin typeface="Jost" pitchFamily="34" charset="0"/>
                          <a:ea typeface="Jost" pitchFamily="34" charset="-122"/>
                          <a:cs typeface="Jost" pitchFamily="34" charset="-120"/>
                        </a:rPr>
                        <a:t>SEAT</a:t>
                      </a:r>
                      <a:endParaRPr lang="en-US" sz="750" dirty="0">
                        <a:latin typeface="Jost" charset="0"/>
                        <a:ea typeface="Jost" charset="0"/>
                        <a:cs typeface="Jost" charset="0"/>
                      </a:endParaRPr>
                    </a:p>
                  </a:txBody>
                  <a:tcPr marL="36576" marR="36576" marT="36576" marB="36576" anchor="ctr">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000000"/>
                    </a:solidFill>
                  </a:tcPr>
                </a:tc>
                <a:tc>
                  <a:txBody>
                    <a:bodyPr/>
                    <a:lstStyle/>
                    <a:p>
                      <a:pPr algn="l" indent="0" marL="0">
                        <a:buNone/>
                      </a:pPr>
                      <a:r>
                        <a:rPr lang="en-US" sz="750" spc="140" kern="0" dirty="0">
                          <a:solidFill>
                            <a:srgbClr val="B08D57"/>
                          </a:solidFill>
                          <a:latin typeface="Jost" pitchFamily="34" charset="0"/>
                          <a:ea typeface="Jost" pitchFamily="34" charset="-122"/>
                          <a:cs typeface="Jost" pitchFamily="34" charset="-120"/>
                        </a:rPr>
                        <a:t>RESPONSIBILITY</a:t>
                      </a:r>
                      <a:endParaRPr lang="en-US" sz="750" dirty="0">
                        <a:latin typeface="Jost" charset="0"/>
                        <a:ea typeface="Jost" charset="0"/>
                        <a:cs typeface="Jost" charset="0"/>
                      </a:endParaRPr>
                    </a:p>
                  </a:txBody>
                  <a:tcPr marL="36576" marR="36576" marT="36576" marB="36576" anchor="ctr">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000000"/>
                    </a:solidFill>
                  </a:tcPr>
                </a:tc>
                <a:tc>
                  <a:txBody>
                    <a:bodyPr/>
                    <a:lstStyle/>
                    <a:p>
                      <a:pPr algn="l" indent="0" marL="0">
                        <a:buNone/>
                      </a:pPr>
                      <a:r>
                        <a:rPr lang="en-US" sz="750" spc="140" kern="0" dirty="0">
                          <a:solidFill>
                            <a:srgbClr val="B08D57"/>
                          </a:solidFill>
                          <a:latin typeface="Jost" pitchFamily="34" charset="0"/>
                          <a:ea typeface="Jost" pitchFamily="34" charset="-122"/>
                          <a:cs typeface="Jost" pitchFamily="34" charset="-120"/>
                        </a:rPr>
                        <a:t>STATUS</a:t>
                      </a:r>
                      <a:endParaRPr lang="en-US" sz="750" dirty="0">
                        <a:latin typeface="Jost" charset="0"/>
                        <a:ea typeface="Jost" charset="0"/>
                        <a:cs typeface="Jost" charset="0"/>
                      </a:endParaRPr>
                    </a:p>
                  </a:txBody>
                  <a:tcPr marL="36576" marR="36576" marT="36576" marB="36576" anchor="ctr">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000000"/>
                    </a:solidFill>
                  </a:tcPr>
                </a:tc>
              </a:tr>
              <a:tr h="329184">
                <a:tc>
                  <a:txBody>
                    <a:bodyPr/>
                    <a:lstStyle/>
                    <a:p>
                      <a:pPr algn="l" indent="0" marL="0">
                        <a:buNone/>
                      </a:pPr>
                      <a:r>
                        <a:rPr lang="en-US" sz="800" dirty="0">
                          <a:solidFill>
                            <a:srgbClr val="EDE7DE"/>
                          </a:solidFill>
                          <a:latin typeface="Jost" pitchFamily="34" charset="0"/>
                          <a:ea typeface="Jost" pitchFamily="34" charset="-122"/>
                          <a:cs typeface="Jost" pitchFamily="34" charset="-120"/>
                        </a:rPr>
                        <a:t>Founder &amp; Operator</a:t>
                      </a:r>
                      <a:endParaRPr lang="en-US" sz="80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l" indent="0" marL="0">
                        <a:buNone/>
                      </a:pPr>
                      <a:r>
                        <a:rPr lang="en-US" sz="800" dirty="0">
                          <a:solidFill>
                            <a:srgbClr val="C9BCA9"/>
                          </a:solidFill>
                          <a:latin typeface="Jost" pitchFamily="34" charset="0"/>
                          <a:ea typeface="Jost" pitchFamily="34" charset="-122"/>
                          <a:cs typeface="Jost" pitchFamily="34" charset="-120"/>
                        </a:rPr>
                        <a:t>Operations, brand, capital, compliance</a:t>
                      </a:r>
                      <a:endParaRPr lang="en-US" sz="80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l" indent="0" marL="0">
                        <a:buNone/>
                      </a:pPr>
                      <a:r>
                        <a:rPr lang="en-US" sz="800" dirty="0">
                          <a:solidFill>
                            <a:srgbClr val="6B6965"/>
                          </a:solidFill>
                          <a:latin typeface="Jost" pitchFamily="34" charset="0"/>
                          <a:ea typeface="Jost" pitchFamily="34" charset="-122"/>
                          <a:cs typeface="Jost" pitchFamily="34" charset="-120"/>
                        </a:rPr>
                        <a:t>In place</a:t>
                      </a:r>
                      <a:endParaRPr lang="en-US" sz="80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329184">
                <a:tc>
                  <a:txBody>
                    <a:bodyPr/>
                    <a:lstStyle/>
                    <a:p>
                      <a:pPr algn="l" indent="0" marL="0">
                        <a:buNone/>
                      </a:pPr>
                      <a:r>
                        <a:rPr lang="en-US" sz="800" dirty="0">
                          <a:solidFill>
                            <a:srgbClr val="EDE7DE"/>
                          </a:solidFill>
                          <a:latin typeface="Jost" pitchFamily="34" charset="0"/>
                          <a:ea typeface="Jost" pitchFamily="34" charset="-122"/>
                          <a:cs typeface="Jost" pitchFamily="34" charset="-120"/>
                        </a:rPr>
                        <a:t>Medical Director (MD/DO)</a:t>
                      </a:r>
                      <a:endParaRPr lang="en-US" sz="80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l" indent="0" marL="0">
                        <a:buNone/>
                      </a:pPr>
                      <a:r>
                        <a:rPr lang="en-US" sz="800" dirty="0">
                          <a:solidFill>
                            <a:srgbClr val="C9BCA9"/>
                          </a:solidFill>
                          <a:latin typeface="Jost" pitchFamily="34" charset="0"/>
                          <a:ea typeface="Jost" pitchFamily="34" charset="-122"/>
                          <a:cs typeface="Jost" pitchFamily="34" charset="-120"/>
                        </a:rPr>
                        <a:t>Clinical oversight, protocols, standing orders</a:t>
                      </a:r>
                      <a:endParaRPr lang="en-US" sz="80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l" indent="0" marL="0">
                        <a:buNone/>
                      </a:pPr>
                      <a:r>
                        <a:rPr lang="en-US" sz="800" dirty="0">
                          <a:solidFill>
                            <a:srgbClr val="6B6965"/>
                          </a:solidFill>
                          <a:latin typeface="Jost" pitchFamily="34" charset="0"/>
                          <a:ea typeface="Jost" pitchFamily="34" charset="-122"/>
                          <a:cs typeface="Jost" pitchFamily="34" charset="-120"/>
                        </a:rPr>
                        <a:t>In place</a:t>
                      </a:r>
                      <a:endParaRPr lang="en-US" sz="80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329184">
                <a:tc>
                  <a:txBody>
                    <a:bodyPr/>
                    <a:lstStyle/>
                    <a:p>
                      <a:pPr algn="l" indent="0" marL="0">
                        <a:buNone/>
                      </a:pPr>
                      <a:r>
                        <a:rPr lang="en-US" sz="800" dirty="0">
                          <a:solidFill>
                            <a:srgbClr val="EDE7DE"/>
                          </a:solidFill>
                          <a:latin typeface="Jost" pitchFamily="34" charset="0"/>
                          <a:ea typeface="Jost" pitchFamily="34" charset="-122"/>
                          <a:cs typeface="Jost" pitchFamily="34" charset="-120"/>
                        </a:rPr>
                        <a:t>Aesthetics Injector (NP or PA)</a:t>
                      </a:r>
                      <a:endParaRPr lang="en-US" sz="80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l" indent="0" marL="0">
                        <a:buNone/>
                      </a:pPr>
                      <a:r>
                        <a:rPr lang="en-US" sz="800" dirty="0">
                          <a:solidFill>
                            <a:srgbClr val="C9BCA9"/>
                          </a:solidFill>
                          <a:latin typeface="Jost" pitchFamily="34" charset="0"/>
                          <a:ea typeface="Jost" pitchFamily="34" charset="-122"/>
                          <a:cs typeface="Jost" pitchFamily="34" charset="-120"/>
                        </a:rPr>
                        <a:t>Neuromodulators, filler, energy devices</a:t>
                      </a:r>
                      <a:endParaRPr lang="en-US" sz="80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l" indent="0" marL="0">
                        <a:buNone/>
                      </a:pPr>
                      <a:r>
                        <a:rPr lang="en-US" sz="800" dirty="0">
                          <a:solidFill>
                            <a:srgbClr val="6B6965"/>
                          </a:solidFill>
                          <a:latin typeface="Jost" pitchFamily="34" charset="0"/>
                          <a:ea typeface="Jost" pitchFamily="34" charset="-122"/>
                          <a:cs typeface="Jost" pitchFamily="34" charset="-120"/>
                        </a:rPr>
                        <a:t>In place</a:t>
                      </a:r>
                      <a:endParaRPr lang="en-US" sz="80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329184">
                <a:tc>
                  <a:txBody>
                    <a:bodyPr/>
                    <a:lstStyle/>
                    <a:p>
                      <a:pPr algn="l" indent="0" marL="0">
                        <a:buNone/>
                      </a:pPr>
                      <a:r>
                        <a:rPr lang="en-US" sz="800" dirty="0">
                          <a:solidFill>
                            <a:srgbClr val="EDE7DE"/>
                          </a:solidFill>
                          <a:latin typeface="Jost" pitchFamily="34" charset="0"/>
                          <a:ea typeface="Jost" pitchFamily="34" charset="-122"/>
                          <a:cs typeface="Jost" pitchFamily="34" charset="-120"/>
                        </a:rPr>
                        <a:t>Longevity Clinical Lead</a:t>
                      </a:r>
                      <a:endParaRPr lang="en-US" sz="80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l" indent="0" marL="0">
                        <a:buNone/>
                      </a:pPr>
                      <a:r>
                        <a:rPr lang="en-US" sz="800" dirty="0">
                          <a:solidFill>
                            <a:srgbClr val="C9BCA9"/>
                          </a:solidFill>
                          <a:latin typeface="Jost" pitchFamily="34" charset="0"/>
                          <a:ea typeface="Jost" pitchFamily="34" charset="-122"/>
                          <a:cs typeface="Jost" pitchFamily="34" charset="-120"/>
                        </a:rPr>
                        <a:t>Therapeutic medications, GLP-1 and biomarker programs</a:t>
                      </a:r>
                      <a:endParaRPr lang="en-US" sz="80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l" indent="0" marL="0">
                        <a:buNone/>
                      </a:pPr>
                      <a:r>
                        <a:rPr lang="en-US" sz="800" dirty="0">
                          <a:solidFill>
                            <a:srgbClr val="6B6965"/>
                          </a:solidFill>
                          <a:latin typeface="Jost" pitchFamily="34" charset="0"/>
                          <a:ea typeface="Jost" pitchFamily="34" charset="-122"/>
                          <a:cs typeface="Jost" pitchFamily="34" charset="-120"/>
                        </a:rPr>
                        <a:t>In place</a:t>
                      </a:r>
                      <a:endParaRPr lang="en-US" sz="80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329184">
                <a:tc>
                  <a:txBody>
                    <a:bodyPr/>
                    <a:lstStyle/>
                    <a:p>
                      <a:pPr algn="l" indent="0" marL="0">
                        <a:buNone/>
                      </a:pPr>
                      <a:r>
                        <a:rPr lang="en-US" sz="800" dirty="0">
                          <a:solidFill>
                            <a:srgbClr val="EDE7DE"/>
                          </a:solidFill>
                          <a:latin typeface="Jost" pitchFamily="34" charset="0"/>
                          <a:ea typeface="Jost" pitchFamily="34" charset="-122"/>
                          <a:cs typeface="Jost" pitchFamily="34" charset="-120"/>
                        </a:rPr>
                        <a:t>Club General Manager</a:t>
                      </a:r>
                      <a:endParaRPr lang="en-US" sz="80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l" indent="0" marL="0">
                        <a:buNone/>
                      </a:pPr>
                      <a:r>
                        <a:rPr lang="en-US" sz="800" dirty="0">
                          <a:solidFill>
                            <a:srgbClr val="C9BCA9"/>
                          </a:solidFill>
                          <a:latin typeface="Jost" pitchFamily="34" charset="0"/>
                          <a:ea typeface="Jost" pitchFamily="34" charset="-122"/>
                          <a:cs typeface="Jost" pitchFamily="34" charset="-120"/>
                        </a:rPr>
                        <a:t>Membership, events, hospitality, retention</a:t>
                      </a:r>
                      <a:endParaRPr lang="en-US" sz="80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l" indent="0" marL="0">
                        <a:buNone/>
                      </a:pPr>
                      <a:r>
                        <a:rPr lang="en-US" sz="800" dirty="0">
                          <a:solidFill>
                            <a:srgbClr val="6B6965"/>
                          </a:solidFill>
                          <a:latin typeface="Jost" pitchFamily="34" charset="0"/>
                          <a:ea typeface="Jost" pitchFamily="34" charset="-122"/>
                          <a:cs typeface="Jost" pitchFamily="34" charset="-120"/>
                        </a:rPr>
                        <a:t>In place</a:t>
                      </a:r>
                      <a:endParaRPr lang="en-US" sz="80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329184">
                <a:tc>
                  <a:txBody>
                    <a:bodyPr/>
                    <a:lstStyle/>
                    <a:p>
                      <a:pPr algn="l" indent="0" marL="0">
                        <a:buNone/>
                      </a:pPr>
                      <a:r>
                        <a:rPr lang="en-US" sz="800" dirty="0">
                          <a:solidFill>
                            <a:srgbClr val="EDE7DE"/>
                          </a:solidFill>
                          <a:latin typeface="Jost" pitchFamily="34" charset="0"/>
                          <a:ea typeface="Jost" pitchFamily="34" charset="-122"/>
                          <a:cs typeface="Jost" pitchFamily="34" charset="-120"/>
                        </a:rPr>
                        <a:t>Registered Nurses (2)</a:t>
                      </a:r>
                      <a:endParaRPr lang="en-US" sz="80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l" indent="0" marL="0">
                        <a:buNone/>
                      </a:pPr>
                      <a:r>
                        <a:rPr lang="en-US" sz="800" dirty="0">
                          <a:solidFill>
                            <a:srgbClr val="C9BCA9"/>
                          </a:solidFill>
                          <a:latin typeface="Jost" pitchFamily="34" charset="0"/>
                          <a:ea typeface="Jost" pitchFamily="34" charset="-122"/>
                          <a:cs typeface="Jost" pitchFamily="34" charset="-120"/>
                        </a:rPr>
                        <a:t>IV therapy, regenerative, recovery floor</a:t>
                      </a:r>
                      <a:endParaRPr lang="en-US" sz="80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l" indent="0" marL="0">
                        <a:buNone/>
                      </a:pPr>
                      <a:r>
                        <a:rPr lang="en-US" sz="800" dirty="0">
                          <a:solidFill>
                            <a:srgbClr val="6B6965"/>
                          </a:solidFill>
                          <a:latin typeface="Jost" pitchFamily="34" charset="0"/>
                          <a:ea typeface="Jost" pitchFamily="34" charset="-122"/>
                          <a:cs typeface="Jost" pitchFamily="34" charset="-120"/>
                        </a:rPr>
                        <a:t>In place</a:t>
                      </a:r>
                      <a:endParaRPr lang="en-US" sz="80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bl>
          </a:graphicData>
        </a:graphic>
      </p:graphicFrame>
      <p:sp>
        <p:nvSpPr>
          <p:cNvPr id="7" name="Shape 4"/>
          <p:cNvSpPr/>
          <p:nvPr/>
        </p:nvSpPr>
        <p:spPr>
          <a:xfrm>
            <a:off x="5641848" y="1691640"/>
            <a:ext cx="2999232" cy="2331720"/>
          </a:xfrm>
          <a:prstGeom prst="rect">
            <a:avLst/>
          </a:prstGeom>
          <a:solidFill>
            <a:srgbClr val="1C1C1E"/>
          </a:solidFill>
          <a:ln w="9525">
            <a:solidFill>
              <a:srgbClr val="271F13"/>
            </a:solidFill>
            <a:prstDash val="solid"/>
          </a:ln>
        </p:spPr>
      </p:sp>
      <p:sp>
        <p:nvSpPr>
          <p:cNvPr id="8" name="Text 5"/>
          <p:cNvSpPr/>
          <p:nvPr/>
        </p:nvSpPr>
        <p:spPr>
          <a:xfrm>
            <a:off x="5788152" y="1819656"/>
            <a:ext cx="2706624" cy="182880"/>
          </a:xfrm>
          <a:prstGeom prst="rect">
            <a:avLst/>
          </a:prstGeom>
          <a:noFill/>
          <a:ln/>
        </p:spPr>
        <p:txBody>
          <a:bodyPr wrap="square" rtlCol="0" anchor="ctr"/>
          <a:lstStyle/>
          <a:p>
            <a:pPr indent="0" marL="0">
              <a:buNone/>
            </a:pPr>
            <a:r>
              <a:rPr lang="en-US" sz="750" spc="200" kern="0" dirty="0">
                <a:solidFill>
                  <a:srgbClr val="B08D57"/>
                </a:solidFill>
                <a:latin typeface="Jost" pitchFamily="34" charset="0"/>
                <a:ea typeface="Jost" pitchFamily="34" charset="-122"/>
                <a:cs typeface="Jost" pitchFamily="34" charset="-120"/>
              </a:rPr>
              <a:t>MEDICAL LEADERSHIP</a:t>
            </a:r>
            <a:endParaRPr lang="en-US" sz="750" dirty="0"/>
          </a:p>
        </p:txBody>
      </p:sp>
      <p:sp>
        <p:nvSpPr>
          <p:cNvPr id="9" name="Text 6"/>
          <p:cNvSpPr/>
          <p:nvPr/>
        </p:nvSpPr>
        <p:spPr>
          <a:xfrm>
            <a:off x="5788152" y="2039112"/>
            <a:ext cx="2706624" cy="1874520"/>
          </a:xfrm>
          <a:prstGeom prst="rect">
            <a:avLst/>
          </a:prstGeom>
          <a:noFill/>
          <a:ln/>
        </p:spPr>
        <p:txBody>
          <a:bodyPr wrap="square" rtlCol="0" anchor="t"/>
          <a:lstStyle/>
          <a:p>
            <a:pPr indent="0" marL="0">
              <a:lnSpc>
                <a:spcPct val="120000"/>
              </a:lnSpc>
              <a:buNone/>
            </a:pPr>
            <a:r>
              <a:rPr lang="en-US" sz="850" dirty="0">
                <a:solidFill>
                  <a:srgbClr val="C9BCA9"/>
                </a:solidFill>
                <a:latin typeface="Jost" pitchFamily="34" charset="0"/>
                <a:ea typeface="Jost" pitchFamily="34" charset="-122"/>
                <a:cs typeface="Jost" pitchFamily="34" charset="-120"/>
              </a:rPr>
              <a:t>All care is physician-directed, led hands-on by board-certified specialists in pain management, sports medicine, orthopedics, and plastic surgery, supported by NPs and RNs. This clinical structure sets L&amp;K apart from the medical spas and wellness centers already in overabundance across this healthcare sector.</a:t>
            </a:r>
            <a:endParaRPr lang="en-US" sz="850" dirty="0"/>
          </a:p>
        </p:txBody>
      </p:sp>
      <p:sp>
        <p:nvSpPr>
          <p:cNvPr id="10" name="Text 7"/>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B6965"/>
                </a:solidFill>
                <a:latin typeface="Jost" pitchFamily="34" charset="0"/>
                <a:ea typeface="Jost" pitchFamily="34" charset="-122"/>
                <a:cs typeface="Jost" pitchFamily="34" charset="-120"/>
              </a:rPr>
              <a:t>L&amp;K WELLNESS  ·  PRIVATE INVESTMENT BRIEF  ·  CONFIDENTIAL</a:t>
            </a:r>
            <a:endParaRPr lang="en-US" sz="700" dirty="0"/>
          </a:p>
        </p:txBody>
      </p:sp>
      <p:sp>
        <p:nvSpPr>
          <p:cNvPr id="11" name="Text 8"/>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B6965"/>
                </a:solidFill>
                <a:latin typeface="Jost" pitchFamily="34" charset="0"/>
                <a:ea typeface="Jost" pitchFamily="34" charset="-122"/>
                <a:cs typeface="Jost" pitchFamily="34" charset="-120"/>
              </a:rPr>
              <a:t>32</a:t>
            </a:r>
            <a:endParaRPr lang="en-US" sz="7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B08D57"/>
                </a:solidFill>
                <a:latin typeface="Jost" pitchFamily="34" charset="0"/>
                <a:ea typeface="Jost" pitchFamily="34" charset="-122"/>
                <a:cs typeface="Jost" pitchFamily="34" charset="-120"/>
              </a:rPr>
              <a:t>RISKS</a:t>
            </a:r>
            <a:endParaRPr lang="en-US" sz="900" dirty="0"/>
          </a:p>
        </p:txBody>
      </p:sp>
      <p:sp>
        <p:nvSpPr>
          <p:cNvPr id="3" name="Shape 1"/>
          <p:cNvSpPr/>
          <p:nvPr/>
        </p:nvSpPr>
        <p:spPr>
          <a:xfrm>
            <a:off x="502920" y="557784"/>
            <a:ext cx="566928" cy="12802"/>
          </a:xfrm>
          <a:prstGeom prst="rect">
            <a:avLst/>
          </a:prstGeom>
          <a:solidFill>
            <a:srgbClr val="B08D57"/>
          </a:solidFill>
          <a:ln w="12700">
            <a:solidFill>
              <a:srgbClr val="B08D57"/>
            </a:solidFill>
            <a:prstDash val="solid"/>
          </a:ln>
        </p:spPr>
      </p:sp>
      <p:sp>
        <p:nvSpPr>
          <p:cNvPr id="4" name="Text 2"/>
          <p:cNvSpPr/>
          <p:nvPr/>
        </p:nvSpPr>
        <p:spPr>
          <a:xfrm>
            <a:off x="502920" y="621792"/>
            <a:ext cx="8138160" cy="548640"/>
          </a:xfrm>
          <a:prstGeom prst="rect">
            <a:avLst/>
          </a:prstGeom>
          <a:noFill/>
          <a:ln/>
        </p:spPr>
        <p:txBody>
          <a:bodyPr wrap="square" rtlCol="0" anchor="t"/>
          <a:lstStyle/>
          <a:p>
            <a:pPr indent="0" marL="0">
              <a:buNone/>
            </a:pPr>
            <a:r>
              <a:rPr lang="en-US" sz="2600" spc="400" kern="0" dirty="0">
                <a:solidFill>
                  <a:srgbClr val="EDE7DE"/>
                </a:solidFill>
                <a:latin typeface="Cormorant Garamond" pitchFamily="34" charset="0"/>
                <a:ea typeface="Cormorant Garamond" pitchFamily="34" charset="-122"/>
                <a:cs typeface="Cormorant Garamond" pitchFamily="34" charset="-120"/>
              </a:rPr>
              <a:t>WHAT COULD GO WRONG</a:t>
            </a:r>
            <a:endParaRPr lang="en-US" sz="2600" dirty="0"/>
          </a:p>
        </p:txBody>
      </p:sp>
      <p:graphicFrame>
        <p:nvGraphicFramePr>
          <p:cNvPr id="34" name="Table 0"/>
          <p:cNvGraphicFramePr>
            <a:graphicFrameLocks noGrp="1"/>
          </p:cNvGraphicFramePr>
          <p:nvPr>
            <p:extLst>
              <p:ext uri="{D42A27DB-BD31-4B8C-83A1-F6EECF244321}">
                <p14:modId xmlns:p14="http://schemas.microsoft.com/office/powerpoint/2010/main" val="1579011935"/>
              </p:ext>
            </p:extLst>
          </p:nvPr>
        </p:nvGraphicFramePr>
        <p:xfrm>
          <a:off x="502920" y="1261872"/>
          <a:ext cx="8138160" cy="914400"/>
        </p:xfrm>
        <a:graphic>
          <a:graphicData uri="http://schemas.openxmlformats.org/drawingml/2006/table">
            <a:tbl>
              <a:tblPr/>
              <a:tblGrid>
                <a:gridCol w="2743200"/>
                <a:gridCol w="5394960"/>
              </a:tblGrid>
              <a:tr h="384048">
                <a:tc>
                  <a:txBody>
                    <a:bodyPr/>
                    <a:lstStyle/>
                    <a:p>
                      <a:pPr algn="l" indent="0" marL="0">
                        <a:buNone/>
                      </a:pPr>
                      <a:r>
                        <a:rPr lang="en-US" sz="750" spc="140" kern="0" dirty="0">
                          <a:solidFill>
                            <a:srgbClr val="B08D57"/>
                          </a:solidFill>
                          <a:latin typeface="Jost" pitchFamily="34" charset="0"/>
                          <a:ea typeface="Jost" pitchFamily="34" charset="-122"/>
                          <a:cs typeface="Jost" pitchFamily="34" charset="-120"/>
                        </a:rPr>
                        <a:t>RISK</a:t>
                      </a:r>
                      <a:endParaRPr lang="en-US" sz="750" dirty="0">
                        <a:latin typeface="Jost" charset="0"/>
                        <a:ea typeface="Jost" charset="0"/>
                        <a:cs typeface="Jost" charset="0"/>
                      </a:endParaRPr>
                    </a:p>
                  </a:txBody>
                  <a:tcPr marL="27432" marR="27432" marT="27432" marB="27432" anchor="ctr">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000000"/>
                    </a:solidFill>
                  </a:tcPr>
                </a:tc>
                <a:tc>
                  <a:txBody>
                    <a:bodyPr/>
                    <a:lstStyle/>
                    <a:p>
                      <a:pPr algn="l" indent="0" marL="0">
                        <a:buNone/>
                      </a:pPr>
                      <a:r>
                        <a:rPr lang="en-US" sz="750" spc="140" kern="0" dirty="0">
                          <a:solidFill>
                            <a:srgbClr val="B08D57"/>
                          </a:solidFill>
                          <a:latin typeface="Jost" pitchFamily="34" charset="0"/>
                          <a:ea typeface="Jost" pitchFamily="34" charset="-122"/>
                          <a:cs typeface="Jost" pitchFamily="34" charset="-120"/>
                        </a:rPr>
                        <a:t>MITIGATION</a:t>
                      </a:r>
                      <a:endParaRPr lang="en-US" sz="750" dirty="0">
                        <a:latin typeface="Jost" charset="0"/>
                        <a:ea typeface="Jost" charset="0"/>
                        <a:cs typeface="Jost" charset="0"/>
                      </a:endParaRPr>
                    </a:p>
                  </a:txBody>
                  <a:tcPr marL="27432" marR="27432" marT="27432" marB="27432" anchor="ctr">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000000"/>
                    </a:solidFill>
                  </a:tcPr>
                </a:tc>
              </a:tr>
              <a:tr h="384048">
                <a:tc>
                  <a:txBody>
                    <a:bodyPr/>
                    <a:lstStyle/>
                    <a:p>
                      <a:pPr algn="l" indent="0" marL="0">
                        <a:buNone/>
                      </a:pPr>
                      <a:r>
                        <a:rPr lang="en-US" sz="800" dirty="0">
                          <a:solidFill>
                            <a:srgbClr val="EDE7DE"/>
                          </a:solidFill>
                          <a:latin typeface="Jost" pitchFamily="34" charset="0"/>
                          <a:ea typeface="Jost" pitchFamily="34" charset="-122"/>
                          <a:cs typeface="Jost" pitchFamily="34" charset="-120"/>
                        </a:rPr>
                        <a:t>Membership fills slower than modeled.</a:t>
                      </a:r>
                      <a:endParaRPr lang="en-US" sz="800" dirty="0">
                        <a:latin typeface="Jost" charset="0"/>
                        <a:ea typeface="Jost" charset="0"/>
                        <a:cs typeface="Jost" charset="0"/>
                      </a:endParaRPr>
                    </a:p>
                  </a:txBody>
                  <a:tcPr marL="27432" marR="27432" marT="27432" marB="27432"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l" indent="0" marL="0">
                        <a:buNone/>
                      </a:pPr>
                      <a:r>
                        <a:rPr lang="en-US" sz="800" dirty="0">
                          <a:solidFill>
                            <a:srgbClr val="C9BCA9"/>
                          </a:solidFill>
                          <a:latin typeface="Jost" pitchFamily="34" charset="0"/>
                          <a:ea typeface="Jost" pitchFamily="34" charset="-122"/>
                          <a:cs typeface="Jost" pitchFamily="34" charset="-120"/>
                        </a:rPr>
                        <a:t>The clinic is open to non-members from day one, so revenue does not depend on the club filling. The low case flexes volume to 72% of base and still produces positive operating income.</a:t>
                      </a:r>
                      <a:endParaRPr lang="en-US" sz="800" dirty="0">
                        <a:latin typeface="Jost" charset="0"/>
                        <a:ea typeface="Jost" charset="0"/>
                        <a:cs typeface="Jost" charset="0"/>
                      </a:endParaRPr>
                    </a:p>
                  </a:txBody>
                  <a:tcPr marL="27432" marR="27432" marT="27432" marB="27432"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384048">
                <a:tc>
                  <a:txBody>
                    <a:bodyPr/>
                    <a:lstStyle/>
                    <a:p>
                      <a:pPr algn="l" indent="0" marL="0">
                        <a:buNone/>
                      </a:pPr>
                      <a:r>
                        <a:rPr lang="en-US" sz="800" dirty="0">
                          <a:solidFill>
                            <a:srgbClr val="EDE7DE"/>
                          </a:solidFill>
                          <a:latin typeface="Jost" pitchFamily="34" charset="0"/>
                          <a:ea typeface="Jost" pitchFamily="34" charset="-122"/>
                          <a:cs typeface="Jost" pitchFamily="34" charset="-120"/>
                        </a:rPr>
                        <a:t>Members redeem more than their fees cover.</a:t>
                      </a:r>
                      <a:endParaRPr lang="en-US" sz="800" dirty="0">
                        <a:latin typeface="Jost" charset="0"/>
                        <a:ea typeface="Jost" charset="0"/>
                        <a:cs typeface="Jost" charset="0"/>
                      </a:endParaRPr>
                    </a:p>
                  </a:txBody>
                  <a:tcPr marL="27432" marR="27432" marT="27432" marB="27432"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l" indent="0" marL="0">
                        <a:buNone/>
                      </a:pPr>
                      <a:r>
                        <a:rPr lang="en-US" sz="800" dirty="0">
                          <a:solidFill>
                            <a:srgbClr val="C9BCA9"/>
                          </a:solidFill>
                          <a:latin typeface="Jost" pitchFamily="34" charset="0"/>
                          <a:ea typeface="Jost" pitchFamily="34" charset="-122"/>
                          <a:cs typeface="Jost" pitchFamily="34" charset="-120"/>
                        </a:rPr>
                        <a:t>Credit banks are sized against measured redemption and the model asserts the ratio stays below 100%. The three-month minimum with 30-day change notice makes repricing operationally possible.</a:t>
                      </a:r>
                      <a:endParaRPr lang="en-US" sz="800" dirty="0">
                        <a:latin typeface="Jost" charset="0"/>
                        <a:ea typeface="Jost" charset="0"/>
                        <a:cs typeface="Jost" charset="0"/>
                      </a:endParaRPr>
                    </a:p>
                  </a:txBody>
                  <a:tcPr marL="27432" marR="27432" marT="27432" marB="27432"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384048">
                <a:tc>
                  <a:txBody>
                    <a:bodyPr/>
                    <a:lstStyle/>
                    <a:p>
                      <a:pPr algn="l" indent="0" marL="0">
                        <a:buNone/>
                      </a:pPr>
                      <a:r>
                        <a:rPr lang="en-US" sz="800" dirty="0">
                          <a:solidFill>
                            <a:srgbClr val="EDE7DE"/>
                          </a:solidFill>
                          <a:latin typeface="Jost" pitchFamily="34" charset="0"/>
                          <a:ea typeface="Jost" pitchFamily="34" charset="-122"/>
                          <a:cs typeface="Jost" pitchFamily="34" charset="-120"/>
                        </a:rPr>
                        <a:t>A key clinical seat turns over during the ramp.</a:t>
                      </a:r>
                      <a:endParaRPr lang="en-US" sz="800" dirty="0">
                        <a:latin typeface="Jost" charset="0"/>
                        <a:ea typeface="Jost" charset="0"/>
                        <a:cs typeface="Jost" charset="0"/>
                      </a:endParaRPr>
                    </a:p>
                  </a:txBody>
                  <a:tcPr marL="27432" marR="27432" marT="27432" marB="27432"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l" indent="0" marL="0">
                        <a:buNone/>
                      </a:pPr>
                      <a:r>
                        <a:rPr lang="en-US" sz="800" dirty="0">
                          <a:solidFill>
                            <a:srgbClr val="C9BCA9"/>
                          </a:solidFill>
                          <a:latin typeface="Jost" pitchFamily="34" charset="0"/>
                          <a:ea typeface="Jost" pitchFamily="34" charset="-122"/>
                          <a:cs typeface="Jost" pitchFamily="34" charset="-120"/>
                        </a:rPr>
                        <a:t>The asset is the facility, not any one clinician. The club layer, recovery floor and infusion suite run on materially less scarce staffing than the injectable and prescribing lines, so a temporary gap narrows the offering without closing the building. A licensed, equipped facility can credential a replacement. Clinical compensation carries retention terms through the ramp.</a:t>
                      </a:r>
                      <a:endParaRPr lang="en-US" sz="800" dirty="0">
                        <a:latin typeface="Jost" charset="0"/>
                        <a:ea typeface="Jost" charset="0"/>
                        <a:cs typeface="Jost" charset="0"/>
                      </a:endParaRPr>
                    </a:p>
                  </a:txBody>
                  <a:tcPr marL="27432" marR="27432" marT="27432" marB="27432"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384048">
                <a:tc>
                  <a:txBody>
                    <a:bodyPr/>
                    <a:lstStyle/>
                    <a:p>
                      <a:pPr algn="l" indent="0" marL="0">
                        <a:buNone/>
                      </a:pPr>
                      <a:r>
                        <a:rPr lang="en-US" sz="800" dirty="0">
                          <a:solidFill>
                            <a:srgbClr val="EDE7DE"/>
                          </a:solidFill>
                          <a:latin typeface="Jost" pitchFamily="34" charset="0"/>
                          <a:ea typeface="Jost" pitchFamily="34" charset="-122"/>
                          <a:cs typeface="Jost" pitchFamily="34" charset="-120"/>
                        </a:rPr>
                        <a:t>The ramp runs slower than modeled and the cash runs out.</a:t>
                      </a:r>
                      <a:endParaRPr lang="en-US" sz="800" dirty="0">
                        <a:latin typeface="Jost" charset="0"/>
                        <a:ea typeface="Jost" charset="0"/>
                        <a:cs typeface="Jost" charset="0"/>
                      </a:endParaRPr>
                    </a:p>
                  </a:txBody>
                  <a:tcPr marL="27432" marR="27432" marT="27432" marB="27432"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l" indent="0" marL="0">
                        <a:buNone/>
                      </a:pPr>
                      <a:r>
                        <a:rPr lang="en-US" sz="800" dirty="0">
                          <a:solidFill>
                            <a:srgbClr val="C9BCA9"/>
                          </a:solidFill>
                          <a:latin typeface="Jost" pitchFamily="34" charset="0"/>
                          <a:ea typeface="Jost" pitchFamily="34" charset="-122"/>
                          <a:cs typeface="Jost" pitchFamily="34" charset="-120"/>
                        </a:rPr>
                        <a:t>This is the risk that replaces financing risk when there is no lender. There is no payment to miss and no covenant to breach, so the only hard constraint is cash. The reserve is sized against the modeled trough, the low case still produces positive operating income at stabilization, and founding presales land during construction rather than after opening.</a:t>
                      </a:r>
                      <a:endParaRPr lang="en-US" sz="800" dirty="0">
                        <a:latin typeface="Jost" charset="0"/>
                        <a:ea typeface="Jost" charset="0"/>
                        <a:cs typeface="Jost" charset="0"/>
                      </a:endParaRPr>
                    </a:p>
                  </a:txBody>
                  <a:tcPr marL="27432" marR="27432" marT="27432" marB="27432"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384048">
                <a:tc>
                  <a:txBody>
                    <a:bodyPr/>
                    <a:lstStyle/>
                    <a:p>
                      <a:pPr algn="l" indent="0" marL="0">
                        <a:buNone/>
                      </a:pPr>
                      <a:r>
                        <a:rPr lang="en-US" sz="800" dirty="0">
                          <a:solidFill>
                            <a:srgbClr val="EDE7DE"/>
                          </a:solidFill>
                          <a:latin typeface="Jost" pitchFamily="34" charset="0"/>
                          <a:ea typeface="Jost" pitchFamily="34" charset="-122"/>
                          <a:cs typeface="Jost" pitchFamily="34" charset="-120"/>
                        </a:rPr>
                        <a:t>A national brand opens nearby.</a:t>
                      </a:r>
                      <a:endParaRPr lang="en-US" sz="800" dirty="0">
                        <a:latin typeface="Jost" charset="0"/>
                        <a:ea typeface="Jost" charset="0"/>
                        <a:cs typeface="Jost" charset="0"/>
                      </a:endParaRPr>
                    </a:p>
                  </a:txBody>
                  <a:tcPr marL="27432" marR="27432" marT="27432" marB="27432"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l" indent="0" marL="0">
                        <a:buNone/>
                      </a:pPr>
                      <a:r>
                        <a:rPr lang="en-US" sz="800" dirty="0">
                          <a:solidFill>
                            <a:srgbClr val="C9BCA9"/>
                          </a:solidFill>
                          <a:latin typeface="Jost" pitchFamily="34" charset="0"/>
                          <a:ea typeface="Jost" pitchFamily="34" charset="-122"/>
                          <a:cs typeface="Jost" pitchFamily="34" charset="-120"/>
                        </a:rPr>
                        <a:t>The defensible asset is the licensed facility, not the sauna. Adding injectables, infusions and physician oversight is not a product decision for a recovery studio: it means becoming a licensed medical facility, with the staffing, supervision, malpractice and accreditation that implies.</a:t>
                      </a:r>
                      <a:endParaRPr lang="en-US" sz="800" dirty="0">
                        <a:latin typeface="Jost" charset="0"/>
                        <a:ea typeface="Jost" charset="0"/>
                        <a:cs typeface="Jost" charset="0"/>
                      </a:endParaRPr>
                    </a:p>
                  </a:txBody>
                  <a:tcPr marL="27432" marR="27432" marT="27432" marB="27432"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384048">
                <a:tc>
                  <a:txBody>
                    <a:bodyPr/>
                    <a:lstStyle/>
                    <a:p>
                      <a:pPr algn="l" indent="0" marL="0">
                        <a:buNone/>
                      </a:pPr>
                      <a:r>
                        <a:rPr lang="en-US" sz="800" dirty="0">
                          <a:solidFill>
                            <a:srgbClr val="EDE7DE"/>
                          </a:solidFill>
                          <a:latin typeface="Jost" pitchFamily="34" charset="0"/>
                          <a:ea typeface="Jost" pitchFamily="34" charset="-122"/>
                          <a:cs typeface="Jost" pitchFamily="34" charset="-120"/>
                        </a:rPr>
                        <a:t>Wet-area construction overruns.</a:t>
                      </a:r>
                      <a:endParaRPr lang="en-US" sz="800" dirty="0">
                        <a:latin typeface="Jost" charset="0"/>
                        <a:ea typeface="Jost" charset="0"/>
                        <a:cs typeface="Jost" charset="0"/>
                      </a:endParaRPr>
                    </a:p>
                  </a:txBody>
                  <a:tcPr marL="27432" marR="27432" marT="27432" marB="27432"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l" indent="0" marL="0">
                        <a:buNone/>
                      </a:pPr>
                      <a:r>
                        <a:rPr lang="en-US" sz="800" dirty="0">
                          <a:solidFill>
                            <a:srgbClr val="C9BCA9"/>
                          </a:solidFill>
                          <a:latin typeface="Jost" pitchFamily="34" charset="0"/>
                          <a:ea typeface="Jost" pitchFamily="34" charset="-122"/>
                          <a:cs typeface="Jost" pitchFamily="34" charset="-120"/>
                        </a:rPr>
                        <a:t>The highest-variance line in the buildout. The lean case exists precisely as the fallback scope, and the reserve is sized against the modeled cash trough rather than to a round number.</a:t>
                      </a:r>
                      <a:endParaRPr lang="en-US" sz="800" dirty="0">
                        <a:latin typeface="Jost" charset="0"/>
                        <a:ea typeface="Jost" charset="0"/>
                        <a:cs typeface="Jost" charset="0"/>
                      </a:endParaRPr>
                    </a:p>
                  </a:txBody>
                  <a:tcPr marL="27432" marR="27432" marT="27432" marB="27432"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bl>
          </a:graphicData>
        </a:graphic>
      </p:graphicFrame>
      <p:sp>
        <p:nvSpPr>
          <p:cNvPr id="6" name="Text 3"/>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B6965"/>
                </a:solidFill>
                <a:latin typeface="Jost" pitchFamily="34" charset="0"/>
                <a:ea typeface="Jost" pitchFamily="34" charset="-122"/>
                <a:cs typeface="Jost" pitchFamily="34" charset="-120"/>
              </a:rPr>
              <a:t>L&amp;K WELLNESS  ·  PRIVATE INVESTMENT BRIEF  ·  CONFIDENTIAL</a:t>
            </a:r>
            <a:endParaRPr lang="en-US" sz="700" dirty="0"/>
          </a:p>
        </p:txBody>
      </p:sp>
      <p:sp>
        <p:nvSpPr>
          <p:cNvPr id="7" name="Text 4"/>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B6965"/>
                </a:solidFill>
                <a:latin typeface="Jost" pitchFamily="34" charset="0"/>
                <a:ea typeface="Jost" pitchFamily="34" charset="-122"/>
                <a:cs typeface="Jost" pitchFamily="34" charset="-120"/>
              </a:rPr>
              <a:t>33</a:t>
            </a:r>
            <a:endParaRPr lang="en-US" sz="7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000000"/>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023360" y="685800"/>
            <a:ext cx="1097280" cy="790042"/>
          </a:xfrm>
          <a:prstGeom prst="rect">
            <a:avLst/>
          </a:prstGeom>
        </p:spPr>
      </p:pic>
      <p:sp>
        <p:nvSpPr>
          <p:cNvPr id="3" name="Text 0"/>
          <p:cNvSpPr/>
          <p:nvPr/>
        </p:nvSpPr>
        <p:spPr>
          <a:xfrm>
            <a:off x="502920" y="1737360"/>
            <a:ext cx="8138160" cy="548640"/>
          </a:xfrm>
          <a:prstGeom prst="rect">
            <a:avLst/>
          </a:prstGeom>
          <a:noFill/>
          <a:ln/>
        </p:spPr>
        <p:txBody>
          <a:bodyPr wrap="square" rtlCol="0" anchor="t"/>
          <a:lstStyle/>
          <a:p>
            <a:pPr algn="ctr" indent="0" marL="0">
              <a:buNone/>
            </a:pPr>
            <a:r>
              <a:rPr lang="en-US" sz="3000" spc="800" kern="0" dirty="0">
                <a:solidFill>
                  <a:srgbClr val="EDE7DE"/>
                </a:solidFill>
                <a:latin typeface="Cormorant Garamond" pitchFamily="34" charset="0"/>
                <a:ea typeface="Cormorant Garamond" pitchFamily="34" charset="-122"/>
                <a:cs typeface="Cormorant Garamond" pitchFamily="34" charset="-120"/>
              </a:rPr>
              <a:t>THANK YOU</a:t>
            </a:r>
            <a:endParaRPr lang="en-US" sz="3000" dirty="0"/>
          </a:p>
        </p:txBody>
      </p:sp>
      <p:sp>
        <p:nvSpPr>
          <p:cNvPr id="4" name="Text 1"/>
          <p:cNvSpPr/>
          <p:nvPr/>
        </p:nvSpPr>
        <p:spPr>
          <a:xfrm>
            <a:off x="1417320" y="2377440"/>
            <a:ext cx="6309360" cy="548640"/>
          </a:xfrm>
          <a:prstGeom prst="rect">
            <a:avLst/>
          </a:prstGeom>
          <a:noFill/>
          <a:ln/>
        </p:spPr>
        <p:txBody>
          <a:bodyPr wrap="square" rtlCol="0" anchor="t"/>
          <a:lstStyle/>
          <a:p>
            <a:pPr algn="ctr" indent="0" marL="0">
              <a:lnSpc>
                <a:spcPct val="120000"/>
              </a:lnSpc>
              <a:buNone/>
            </a:pPr>
            <a:r>
              <a:rPr lang="en-US" sz="1200" dirty="0">
                <a:solidFill>
                  <a:srgbClr val="EDE7DE"/>
                </a:solidFill>
                <a:latin typeface="Jost" pitchFamily="34" charset="0"/>
                <a:ea typeface="Jost" pitchFamily="34" charset="-122"/>
                <a:cs typeface="Jost" pitchFamily="34" charset="-120"/>
              </a:rPr>
              <a:t>Doors open to founding members first, public booking the same week. Clinic and club launch together.</a:t>
            </a:r>
            <a:endParaRPr lang="en-US" sz="1200" dirty="0"/>
          </a:p>
        </p:txBody>
      </p:sp>
      <p:sp>
        <p:nvSpPr>
          <p:cNvPr id="5" name="Text 2"/>
          <p:cNvSpPr/>
          <p:nvPr/>
        </p:nvSpPr>
        <p:spPr>
          <a:xfrm>
            <a:off x="502920" y="2971800"/>
            <a:ext cx="8138160" cy="274320"/>
          </a:xfrm>
          <a:prstGeom prst="rect">
            <a:avLst/>
          </a:prstGeom>
          <a:noFill/>
          <a:ln/>
        </p:spPr>
        <p:txBody>
          <a:bodyPr wrap="square" rtlCol="0" anchor="ctr"/>
          <a:lstStyle/>
          <a:p>
            <a:pPr algn="ctr" indent="0" marL="0">
              <a:buNone/>
            </a:pPr>
            <a:r>
              <a:rPr lang="en-US" sz="950" dirty="0">
                <a:solidFill>
                  <a:srgbClr val="B08D57"/>
                </a:solidFill>
                <a:latin typeface="Jost" pitchFamily="34" charset="0"/>
                <a:ea typeface="Jost" pitchFamily="34" charset="-122"/>
                <a:cs typeface="Jost" pitchFamily="34" charset="-120"/>
              </a:rPr>
              <a:t>$4.75M all equity  ·  30% starting stake  ·  4,925 SF  ·  $224,801 a month at stabilization</a:t>
            </a:r>
            <a:endParaRPr lang="en-US" sz="950" dirty="0"/>
          </a:p>
        </p:txBody>
      </p:sp>
      <p:sp>
        <p:nvSpPr>
          <p:cNvPr id="6" name="Text 3"/>
          <p:cNvSpPr/>
          <p:nvPr/>
        </p:nvSpPr>
        <p:spPr>
          <a:xfrm>
            <a:off x="1417320" y="3291840"/>
            <a:ext cx="6309360" cy="274320"/>
          </a:xfrm>
          <a:prstGeom prst="rect">
            <a:avLst/>
          </a:prstGeom>
          <a:noFill/>
          <a:ln/>
        </p:spPr>
        <p:txBody>
          <a:bodyPr wrap="square" rtlCol="0" anchor="t"/>
          <a:lstStyle/>
          <a:p>
            <a:pPr algn="ctr" indent="0" marL="0">
              <a:buNone/>
            </a:pPr>
            <a:r>
              <a:rPr lang="en-US" sz="900" dirty="0">
                <a:solidFill>
                  <a:srgbClr val="C9BCA9"/>
                </a:solidFill>
                <a:latin typeface="Jost" pitchFamily="34" charset="0"/>
                <a:ea typeface="Jost" pitchFamily="34" charset="-122"/>
                <a:cs typeface="Jost" pitchFamily="34" charset="-120"/>
              </a:rPr>
              <a:t>Full model, capacity workbook and buildout detail available under NDA.</a:t>
            </a:r>
            <a:endParaRPr lang="en-US" sz="900" dirty="0"/>
          </a:p>
        </p:txBody>
      </p:sp>
      <p:sp>
        <p:nvSpPr>
          <p:cNvPr id="7" name="Text 4"/>
          <p:cNvSpPr/>
          <p:nvPr/>
        </p:nvSpPr>
        <p:spPr>
          <a:xfrm>
            <a:off x="502920" y="3639312"/>
            <a:ext cx="8138160" cy="274320"/>
          </a:xfrm>
          <a:prstGeom prst="rect">
            <a:avLst/>
          </a:prstGeom>
          <a:noFill/>
          <a:ln/>
        </p:spPr>
        <p:txBody>
          <a:bodyPr wrap="square" rtlCol="0" anchor="ctr"/>
          <a:lstStyle/>
          <a:p>
            <a:pPr algn="ctr" indent="0" marL="0">
              <a:buNone/>
            </a:pPr>
            <a:r>
              <a:rPr lang="en-US" sz="1050" dirty="0">
                <a:solidFill>
                  <a:srgbClr val="B08D57"/>
                </a:solidFill>
                <a:latin typeface="Jost" pitchFamily="34" charset="0"/>
                <a:ea typeface="Jost" pitchFamily="34" charset="-122"/>
                <a:cs typeface="Jost" pitchFamily="34" charset="-120"/>
              </a:rPr>
              <a:t>Laura@culvercitysurgical.com</a:t>
            </a:r>
            <a:endParaRPr lang="en-US" sz="1050" dirty="0"/>
          </a:p>
        </p:txBody>
      </p:sp>
      <p:sp>
        <p:nvSpPr>
          <p:cNvPr id="8" name="Text 5"/>
          <p:cNvSpPr/>
          <p:nvPr/>
        </p:nvSpPr>
        <p:spPr>
          <a:xfrm>
            <a:off x="502920" y="4206240"/>
            <a:ext cx="8138160" cy="411480"/>
          </a:xfrm>
          <a:prstGeom prst="rect">
            <a:avLst/>
          </a:prstGeom>
          <a:noFill/>
          <a:ln/>
        </p:spPr>
        <p:txBody>
          <a:bodyPr wrap="square" rtlCol="0" anchor="t"/>
          <a:lstStyle/>
          <a:p>
            <a:pPr algn="ctr" indent="0" marL="0">
              <a:buNone/>
            </a:pPr>
            <a:r>
              <a:rPr lang="en-US" sz="700" dirty="0">
                <a:solidFill>
                  <a:srgbClr val="6B6965"/>
                </a:solidFill>
                <a:latin typeface="Jost" pitchFamily="34" charset="0"/>
                <a:ea typeface="Jost" pitchFamily="34" charset="-122"/>
                <a:cs typeface="Jost" pitchFamily="34" charset="-120"/>
              </a:rPr>
              <a:t>This document is not an offer to sell or a solicitation of an offer to buy any security. Forward-looking figures are projections and not guarantees of future performance.</a:t>
            </a:r>
            <a:endParaRPr lang="en-US" sz="700" dirty="0"/>
          </a:p>
        </p:txBody>
      </p:sp>
      <p:sp>
        <p:nvSpPr>
          <p:cNvPr id="9" name="Text 6"/>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B6965"/>
                </a:solidFill>
                <a:latin typeface="Jost" pitchFamily="34" charset="0"/>
                <a:ea typeface="Jost" pitchFamily="34" charset="-122"/>
                <a:cs typeface="Jost" pitchFamily="34" charset="-120"/>
              </a:rPr>
              <a:t>L&amp;K WELLNESS  ·  PRIVATE INVESTMENT BRIEF  ·  CONFIDENTIAL</a:t>
            </a:r>
            <a:endParaRPr lang="en-US" sz="700" dirty="0"/>
          </a:p>
        </p:txBody>
      </p:sp>
      <p:sp>
        <p:nvSpPr>
          <p:cNvPr id="10" name="Text 7"/>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B6965"/>
                </a:solidFill>
                <a:latin typeface="Jost" pitchFamily="34" charset="0"/>
                <a:ea typeface="Jost" pitchFamily="34" charset="-122"/>
                <a:cs typeface="Jost" pitchFamily="34" charset="-120"/>
              </a:rPr>
              <a:t>34</a:t>
            </a:r>
            <a:endParaRPr lang="en-US" sz="7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B08D57"/>
                </a:solidFill>
                <a:latin typeface="Jost" pitchFamily="34" charset="0"/>
                <a:ea typeface="Jost" pitchFamily="34" charset="-122"/>
                <a:cs typeface="Jost" pitchFamily="34" charset="-120"/>
              </a:rPr>
              <a:t>APPENDIX</a:t>
            </a:r>
            <a:endParaRPr lang="en-US" sz="900" dirty="0"/>
          </a:p>
        </p:txBody>
      </p:sp>
      <p:sp>
        <p:nvSpPr>
          <p:cNvPr id="3" name="Shape 1"/>
          <p:cNvSpPr/>
          <p:nvPr/>
        </p:nvSpPr>
        <p:spPr>
          <a:xfrm>
            <a:off x="502920" y="557784"/>
            <a:ext cx="566928" cy="12802"/>
          </a:xfrm>
          <a:prstGeom prst="rect">
            <a:avLst/>
          </a:prstGeom>
          <a:solidFill>
            <a:srgbClr val="B08D57"/>
          </a:solidFill>
          <a:ln w="12700">
            <a:solidFill>
              <a:srgbClr val="B08D57"/>
            </a:solidFill>
            <a:prstDash val="solid"/>
          </a:ln>
        </p:spPr>
      </p:sp>
      <p:sp>
        <p:nvSpPr>
          <p:cNvPr id="4" name="Text 2"/>
          <p:cNvSpPr/>
          <p:nvPr/>
        </p:nvSpPr>
        <p:spPr>
          <a:xfrm>
            <a:off x="502920" y="621792"/>
            <a:ext cx="8138160" cy="548640"/>
          </a:xfrm>
          <a:prstGeom prst="rect">
            <a:avLst/>
          </a:prstGeom>
          <a:noFill/>
          <a:ln/>
        </p:spPr>
        <p:txBody>
          <a:bodyPr wrap="square" rtlCol="0" anchor="t"/>
          <a:lstStyle/>
          <a:p>
            <a:pPr indent="0" marL="0">
              <a:buNone/>
            </a:pPr>
            <a:r>
              <a:rPr lang="en-US" sz="2600" spc="400" kern="0" dirty="0">
                <a:solidFill>
                  <a:srgbClr val="EDE7DE"/>
                </a:solidFill>
                <a:latin typeface="Cormorant Garamond" pitchFamily="34" charset="0"/>
                <a:ea typeface="Cormorant Garamond" pitchFamily="34" charset="-122"/>
                <a:cs typeface="Cormorant Garamond" pitchFamily="34" charset="-120"/>
              </a:rPr>
              <a:t>HOW THESE NUMBERS WERE BUILT</a:t>
            </a:r>
            <a:endParaRPr lang="en-US" sz="2600" dirty="0"/>
          </a:p>
        </p:txBody>
      </p:sp>
      <p:sp>
        <p:nvSpPr>
          <p:cNvPr id="5" name="Text 3"/>
          <p:cNvSpPr/>
          <p:nvPr/>
        </p:nvSpPr>
        <p:spPr>
          <a:xfrm>
            <a:off x="502920" y="1115568"/>
            <a:ext cx="7487107" cy="457200"/>
          </a:xfrm>
          <a:prstGeom prst="rect">
            <a:avLst/>
          </a:prstGeom>
          <a:noFill/>
          <a:ln/>
        </p:spPr>
        <p:txBody>
          <a:bodyPr wrap="square" rtlCol="0" anchor="t"/>
          <a:lstStyle/>
          <a:p>
            <a:pPr indent="0" marL="0">
              <a:lnSpc>
                <a:spcPct val="120000"/>
              </a:lnSpc>
              <a:buNone/>
            </a:pPr>
            <a:r>
              <a:rPr lang="en-US" sz="1050" dirty="0">
                <a:solidFill>
                  <a:srgbClr val="C9BCA9"/>
                </a:solidFill>
                <a:latin typeface="Jost" pitchFamily="34" charset="0"/>
                <a:ea typeface="Jost" pitchFamily="34" charset="-122"/>
                <a:cs typeface="Jost" pitchFamily="34" charset="-120"/>
              </a:rPr>
              <a:t>Everything in this brief resolves to a stabilized P&amp;L and a use-of-funds table. These pages itemise both, every overhead line into its components and every capital line into what it buys, and each build-up is checked at build time to sum to the total it explains. Fixed overhead totals $207,673 a month; rent is 4,925 SF at $5.50/SF/month NNN. The written methodology ships as ASSUMPTIONS.md and methodology.html.</a:t>
            </a:r>
            <a:endParaRPr lang="en-US" sz="1050" dirty="0"/>
          </a:p>
        </p:txBody>
      </p:sp>
      <p:sp>
        <p:nvSpPr>
          <p:cNvPr id="6" name="Text 4"/>
          <p:cNvSpPr/>
          <p:nvPr/>
        </p:nvSpPr>
        <p:spPr>
          <a:xfrm>
            <a:off x="502920" y="1783080"/>
            <a:ext cx="8138160" cy="182880"/>
          </a:xfrm>
          <a:prstGeom prst="rect">
            <a:avLst/>
          </a:prstGeom>
          <a:noFill/>
          <a:ln/>
        </p:spPr>
        <p:txBody>
          <a:bodyPr wrap="square" rtlCol="0" anchor="ctr"/>
          <a:lstStyle/>
          <a:p>
            <a:pPr indent="0" marL="0">
              <a:buNone/>
            </a:pPr>
            <a:r>
              <a:rPr lang="en-US" sz="750" spc="200" kern="0" dirty="0">
                <a:solidFill>
                  <a:srgbClr val="B08D57"/>
                </a:solidFill>
                <a:latin typeface="Jost" pitchFamily="34" charset="0"/>
                <a:ea typeface="Jost" pitchFamily="34" charset="-122"/>
                <a:cs typeface="Jost" pitchFamily="34" charset="-120"/>
              </a:rPr>
              <a:t>CLINICAL AND CLUB STAFF, $85,920 A MONTH</a:t>
            </a:r>
            <a:endParaRPr lang="en-US" sz="750" dirty="0"/>
          </a:p>
        </p:txBody>
      </p:sp>
      <p:graphicFrame>
        <p:nvGraphicFramePr>
          <p:cNvPr id="36" name="Table 0"/>
          <p:cNvGraphicFramePr>
            <a:graphicFrameLocks noGrp="1"/>
          </p:cNvGraphicFramePr>
          <p:nvPr>
            <p:extLst>
              <p:ext uri="{D42A27DB-BD31-4B8C-83A1-F6EECF244321}">
                <p14:modId xmlns:p14="http://schemas.microsoft.com/office/powerpoint/2010/main" val="1579011935"/>
              </p:ext>
            </p:extLst>
          </p:nvPr>
        </p:nvGraphicFramePr>
        <p:xfrm>
          <a:off x="502920" y="2002536"/>
          <a:ext cx="8138160" cy="914400"/>
        </p:xfrm>
        <a:graphic>
          <a:graphicData uri="http://schemas.openxmlformats.org/drawingml/2006/table">
            <a:tbl>
              <a:tblPr/>
              <a:tblGrid>
                <a:gridCol w="5120640"/>
                <a:gridCol w="1097280"/>
                <a:gridCol w="1920240"/>
              </a:tblGrid>
              <a:tr h="182880">
                <a:tc>
                  <a:txBody>
                    <a:bodyPr/>
                    <a:lstStyle/>
                    <a:p>
                      <a:pPr algn="l" indent="0" marL="0">
                        <a:buNone/>
                      </a:pPr>
                      <a:r>
                        <a:rPr lang="en-US" sz="750" spc="140" kern="0" dirty="0">
                          <a:solidFill>
                            <a:srgbClr val="B08D57"/>
                          </a:solidFill>
                          <a:latin typeface="Jost" pitchFamily="34" charset="0"/>
                          <a:ea typeface="Jost" pitchFamily="34" charset="-122"/>
                          <a:cs typeface="Jost" pitchFamily="34" charset="-120"/>
                        </a:rPr>
                        <a:t>ROLE</a:t>
                      </a:r>
                      <a:endParaRPr lang="en-US" sz="750" dirty="0">
                        <a:latin typeface="Jost" charset="0"/>
                        <a:ea typeface="Jost" charset="0"/>
                        <a:cs typeface="Jost" charset="0"/>
                      </a:endParaRPr>
                    </a:p>
                  </a:txBody>
                  <a:tcPr marL="18288" marR="18288" marT="18288" marB="18288" anchor="ctr">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000000"/>
                    </a:solidFill>
                  </a:tcPr>
                </a:tc>
                <a:tc>
                  <a:txBody>
                    <a:bodyPr/>
                    <a:lstStyle/>
                    <a:p>
                      <a:pPr algn="r" indent="0" marL="0">
                        <a:buNone/>
                      </a:pPr>
                      <a:r>
                        <a:rPr lang="en-US" sz="750" spc="140" kern="0" dirty="0">
                          <a:solidFill>
                            <a:srgbClr val="B08D57"/>
                          </a:solidFill>
                          <a:latin typeface="Jost" pitchFamily="34" charset="0"/>
                          <a:ea typeface="Jost" pitchFamily="34" charset="-122"/>
                          <a:cs typeface="Jost" pitchFamily="34" charset="-120"/>
                        </a:rPr>
                        <a:t>FTE</a:t>
                      </a:r>
                      <a:endParaRPr lang="en-US" sz="750" dirty="0">
                        <a:latin typeface="Jost" charset="0"/>
                        <a:ea typeface="Jost" charset="0"/>
                        <a:cs typeface="Jost" charset="0"/>
                      </a:endParaRPr>
                    </a:p>
                  </a:txBody>
                  <a:tcPr marL="18288" marR="18288" marT="18288" marB="18288" anchor="ctr">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000000"/>
                    </a:solidFill>
                  </a:tcPr>
                </a:tc>
                <a:tc>
                  <a:txBody>
                    <a:bodyPr/>
                    <a:lstStyle/>
                    <a:p>
                      <a:pPr algn="r" indent="0" marL="0">
                        <a:buNone/>
                      </a:pPr>
                      <a:r>
                        <a:rPr lang="en-US" sz="750" spc="140" kern="0" dirty="0">
                          <a:solidFill>
                            <a:srgbClr val="B08D57"/>
                          </a:solidFill>
                          <a:latin typeface="Jost" pitchFamily="34" charset="0"/>
                          <a:ea typeface="Jost" pitchFamily="34" charset="-122"/>
                          <a:cs typeface="Jost" pitchFamily="34" charset="-120"/>
                        </a:rPr>
                        <a:t>MONTHLY, LOADED</a:t>
                      </a:r>
                      <a:endParaRPr lang="en-US" sz="750" dirty="0">
                        <a:latin typeface="Jost" charset="0"/>
                        <a:ea typeface="Jost" charset="0"/>
                        <a:cs typeface="Jost" charset="0"/>
                      </a:endParaRPr>
                    </a:p>
                  </a:txBody>
                  <a:tcPr marL="18288" marR="18288" marT="18288" marB="18288" anchor="ctr">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000000"/>
                    </a:solidFill>
                  </a:tcPr>
                </a:tc>
              </a:tr>
              <a:tr h="182880">
                <a:tc>
                  <a:txBody>
                    <a:bodyPr/>
                    <a:lstStyle/>
                    <a:p>
                      <a:pPr algn="l" indent="0" marL="0">
                        <a:buNone/>
                      </a:pPr>
                      <a:r>
                        <a:rPr lang="en-US" sz="800" dirty="0">
                          <a:solidFill>
                            <a:srgbClr val="EDE7DE"/>
                          </a:solidFill>
                          <a:latin typeface="Jost" pitchFamily="34" charset="0"/>
                          <a:ea typeface="Jost" pitchFamily="34" charset="-122"/>
                          <a:cs typeface="Jost" pitchFamily="34" charset="-120"/>
                        </a:rPr>
                        <a:t>Officers (2 @ $150,000/yr)</a:t>
                      </a:r>
                      <a:endParaRPr lang="en-US" sz="800" dirty="0">
                        <a:latin typeface="Jost" charset="0"/>
                        <a:ea typeface="Jost" charset="0"/>
                        <a:cs typeface="Jost" charset="0"/>
                      </a:endParaRPr>
                    </a:p>
                  </a:txBody>
                  <a:tcPr marL="18288" marR="18288" marT="18288" marB="18288"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800" dirty="0">
                          <a:solidFill>
                            <a:srgbClr val="C9BCA9"/>
                          </a:solidFill>
                          <a:latin typeface="Jost" pitchFamily="34" charset="0"/>
                          <a:ea typeface="Jost" pitchFamily="34" charset="-122"/>
                          <a:cs typeface="Jost" pitchFamily="34" charset="-120"/>
                        </a:rPr>
                        <a:t>2.0</a:t>
                      </a:r>
                      <a:endParaRPr lang="en-US" sz="800" dirty="0">
                        <a:latin typeface="Jost" charset="0"/>
                        <a:ea typeface="Jost" charset="0"/>
                        <a:cs typeface="Jost" charset="0"/>
                      </a:endParaRPr>
                    </a:p>
                  </a:txBody>
                  <a:tcPr marL="18288" marR="18288" marT="18288" marB="18288"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800" dirty="0">
                          <a:solidFill>
                            <a:srgbClr val="C9BCA9"/>
                          </a:solidFill>
                          <a:latin typeface="Jost" pitchFamily="34" charset="0"/>
                          <a:ea typeface="Jost" pitchFamily="34" charset="-122"/>
                          <a:cs typeface="Jost" pitchFamily="34" charset="-120"/>
                        </a:rPr>
                        <a:t>$25,000</a:t>
                      </a:r>
                      <a:endParaRPr lang="en-US" sz="800" dirty="0">
                        <a:latin typeface="Jost" charset="0"/>
                        <a:ea typeface="Jost" charset="0"/>
                        <a:cs typeface="Jost" charset="0"/>
                      </a:endParaRPr>
                    </a:p>
                  </a:txBody>
                  <a:tcPr marL="18288" marR="18288" marT="18288" marB="18288"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82880">
                <a:tc>
                  <a:txBody>
                    <a:bodyPr/>
                    <a:lstStyle/>
                    <a:p>
                      <a:pPr algn="l" indent="0" marL="0">
                        <a:buNone/>
                      </a:pPr>
                      <a:r>
                        <a:rPr lang="en-US" sz="800" dirty="0">
                          <a:solidFill>
                            <a:srgbClr val="EDE7DE"/>
                          </a:solidFill>
                          <a:latin typeface="Jost" pitchFamily="34" charset="0"/>
                          <a:ea typeface="Jost" pitchFamily="34" charset="-122"/>
                          <a:cs typeface="Jost" pitchFamily="34" charset="-120"/>
                        </a:rPr>
                        <a:t>Medical Director (MD/DO)</a:t>
                      </a:r>
                      <a:endParaRPr lang="en-US" sz="800" dirty="0">
                        <a:latin typeface="Jost" charset="0"/>
                        <a:ea typeface="Jost" charset="0"/>
                        <a:cs typeface="Jost" charset="0"/>
                      </a:endParaRPr>
                    </a:p>
                  </a:txBody>
                  <a:tcPr marL="18288" marR="18288" marT="18288" marB="18288"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800" dirty="0">
                          <a:solidFill>
                            <a:srgbClr val="C9BCA9"/>
                          </a:solidFill>
                          <a:latin typeface="Jost" pitchFamily="34" charset="0"/>
                          <a:ea typeface="Jost" pitchFamily="34" charset="-122"/>
                          <a:cs typeface="Jost" pitchFamily="34" charset="-120"/>
                        </a:rPr>
                        <a:t>0.4</a:t>
                      </a:r>
                      <a:endParaRPr lang="en-US" sz="800" dirty="0">
                        <a:latin typeface="Jost" charset="0"/>
                        <a:ea typeface="Jost" charset="0"/>
                        <a:cs typeface="Jost" charset="0"/>
                      </a:endParaRPr>
                    </a:p>
                  </a:txBody>
                  <a:tcPr marL="18288" marR="18288" marT="18288" marB="18288"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800" dirty="0">
                          <a:solidFill>
                            <a:srgbClr val="C9BCA9"/>
                          </a:solidFill>
                          <a:latin typeface="Jost" pitchFamily="34" charset="0"/>
                          <a:ea typeface="Jost" pitchFamily="34" charset="-122"/>
                          <a:cs typeface="Jost" pitchFamily="34" charset="-120"/>
                        </a:rPr>
                        <a:t>$3,000</a:t>
                      </a:r>
                      <a:endParaRPr lang="en-US" sz="800" dirty="0">
                        <a:latin typeface="Jost" charset="0"/>
                        <a:ea typeface="Jost" charset="0"/>
                        <a:cs typeface="Jost" charset="0"/>
                      </a:endParaRPr>
                    </a:p>
                  </a:txBody>
                  <a:tcPr marL="18288" marR="18288" marT="18288" marB="18288"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82880">
                <a:tc>
                  <a:txBody>
                    <a:bodyPr/>
                    <a:lstStyle/>
                    <a:p>
                      <a:pPr algn="l" indent="0" marL="0">
                        <a:buNone/>
                      </a:pPr>
                      <a:r>
                        <a:rPr lang="en-US" sz="800" dirty="0">
                          <a:solidFill>
                            <a:srgbClr val="EDE7DE"/>
                          </a:solidFill>
                          <a:latin typeface="Jost" pitchFamily="34" charset="0"/>
                          <a:ea typeface="Jost" pitchFamily="34" charset="-122"/>
                          <a:cs typeface="Jost" pitchFamily="34" charset="-120"/>
                        </a:rPr>
                        <a:t>Aesthetics Injector (NP or PA): $85/hr</a:t>
                      </a:r>
                      <a:endParaRPr lang="en-US" sz="800" dirty="0">
                        <a:latin typeface="Jost" charset="0"/>
                        <a:ea typeface="Jost" charset="0"/>
                        <a:cs typeface="Jost" charset="0"/>
                      </a:endParaRPr>
                    </a:p>
                  </a:txBody>
                  <a:tcPr marL="18288" marR="18288" marT="18288" marB="18288"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800" dirty="0">
                          <a:solidFill>
                            <a:srgbClr val="C9BCA9"/>
                          </a:solidFill>
                          <a:latin typeface="Jost" pitchFamily="34" charset="0"/>
                          <a:ea typeface="Jost" pitchFamily="34" charset="-122"/>
                          <a:cs typeface="Jost" pitchFamily="34" charset="-120"/>
                        </a:rPr>
                        <a:t>1.0</a:t>
                      </a:r>
                      <a:endParaRPr lang="en-US" sz="800" dirty="0">
                        <a:latin typeface="Jost" charset="0"/>
                        <a:ea typeface="Jost" charset="0"/>
                        <a:cs typeface="Jost" charset="0"/>
                      </a:endParaRPr>
                    </a:p>
                  </a:txBody>
                  <a:tcPr marL="18288" marR="18288" marT="18288" marB="18288"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800" dirty="0">
                          <a:solidFill>
                            <a:srgbClr val="C9BCA9"/>
                          </a:solidFill>
                          <a:latin typeface="Jost" pitchFamily="34" charset="0"/>
                          <a:ea typeface="Jost" pitchFamily="34" charset="-122"/>
                          <a:cs typeface="Jost" pitchFamily="34" charset="-120"/>
                        </a:rPr>
                        <a:t>$13,600</a:t>
                      </a:r>
                      <a:endParaRPr lang="en-US" sz="800" dirty="0">
                        <a:latin typeface="Jost" charset="0"/>
                        <a:ea typeface="Jost" charset="0"/>
                        <a:cs typeface="Jost" charset="0"/>
                      </a:endParaRPr>
                    </a:p>
                  </a:txBody>
                  <a:tcPr marL="18288" marR="18288" marT="18288" marB="18288"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82880">
                <a:tc>
                  <a:txBody>
                    <a:bodyPr/>
                    <a:lstStyle/>
                    <a:p>
                      <a:pPr algn="l" indent="0" marL="0">
                        <a:buNone/>
                      </a:pPr>
                      <a:r>
                        <a:rPr lang="en-US" sz="800" dirty="0">
                          <a:solidFill>
                            <a:srgbClr val="EDE7DE"/>
                          </a:solidFill>
                          <a:latin typeface="Jost" pitchFamily="34" charset="0"/>
                          <a:ea typeface="Jost" pitchFamily="34" charset="-122"/>
                          <a:cs typeface="Jost" pitchFamily="34" charset="-120"/>
                        </a:rPr>
                        <a:t>Longevity Clinical Lead (NP or PA): $100/hr</a:t>
                      </a:r>
                      <a:endParaRPr lang="en-US" sz="800" dirty="0">
                        <a:latin typeface="Jost" charset="0"/>
                        <a:ea typeface="Jost" charset="0"/>
                        <a:cs typeface="Jost" charset="0"/>
                      </a:endParaRPr>
                    </a:p>
                  </a:txBody>
                  <a:tcPr marL="18288" marR="18288" marT="18288" marB="18288"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800" dirty="0">
                          <a:solidFill>
                            <a:srgbClr val="C9BCA9"/>
                          </a:solidFill>
                          <a:latin typeface="Jost" pitchFamily="34" charset="0"/>
                          <a:ea typeface="Jost" pitchFamily="34" charset="-122"/>
                          <a:cs typeface="Jost" pitchFamily="34" charset="-120"/>
                        </a:rPr>
                        <a:t>1.0</a:t>
                      </a:r>
                      <a:endParaRPr lang="en-US" sz="800" dirty="0">
                        <a:latin typeface="Jost" charset="0"/>
                        <a:ea typeface="Jost" charset="0"/>
                        <a:cs typeface="Jost" charset="0"/>
                      </a:endParaRPr>
                    </a:p>
                  </a:txBody>
                  <a:tcPr marL="18288" marR="18288" marT="18288" marB="18288"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800" dirty="0">
                          <a:solidFill>
                            <a:srgbClr val="C9BCA9"/>
                          </a:solidFill>
                          <a:latin typeface="Jost" pitchFamily="34" charset="0"/>
                          <a:ea typeface="Jost" pitchFamily="34" charset="-122"/>
                          <a:cs typeface="Jost" pitchFamily="34" charset="-120"/>
                        </a:rPr>
                        <a:t>$16,000</a:t>
                      </a:r>
                      <a:endParaRPr lang="en-US" sz="800" dirty="0">
                        <a:latin typeface="Jost" charset="0"/>
                        <a:ea typeface="Jost" charset="0"/>
                        <a:cs typeface="Jost" charset="0"/>
                      </a:endParaRPr>
                    </a:p>
                  </a:txBody>
                  <a:tcPr marL="18288" marR="18288" marT="18288" marB="18288"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82880">
                <a:tc>
                  <a:txBody>
                    <a:bodyPr/>
                    <a:lstStyle/>
                    <a:p>
                      <a:pPr algn="l" indent="0" marL="0">
                        <a:buNone/>
                      </a:pPr>
                      <a:r>
                        <a:rPr lang="en-US" sz="800" dirty="0">
                          <a:solidFill>
                            <a:srgbClr val="EDE7DE"/>
                          </a:solidFill>
                          <a:latin typeface="Jost" pitchFamily="34" charset="0"/>
                          <a:ea typeface="Jost" pitchFamily="34" charset="-122"/>
                          <a:cs typeface="Jost" pitchFamily="34" charset="-120"/>
                        </a:rPr>
                        <a:t>Registered Nurse (IV, regenerative, recovery): $55/hr</a:t>
                      </a:r>
                      <a:endParaRPr lang="en-US" sz="800" dirty="0">
                        <a:latin typeface="Jost" charset="0"/>
                        <a:ea typeface="Jost" charset="0"/>
                        <a:cs typeface="Jost" charset="0"/>
                      </a:endParaRPr>
                    </a:p>
                  </a:txBody>
                  <a:tcPr marL="18288" marR="18288" marT="18288" marB="18288"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800" dirty="0">
                          <a:solidFill>
                            <a:srgbClr val="C9BCA9"/>
                          </a:solidFill>
                          <a:latin typeface="Jost" pitchFamily="34" charset="0"/>
                          <a:ea typeface="Jost" pitchFamily="34" charset="-122"/>
                          <a:cs typeface="Jost" pitchFamily="34" charset="-120"/>
                        </a:rPr>
                        <a:t>1.0</a:t>
                      </a:r>
                      <a:endParaRPr lang="en-US" sz="800" dirty="0">
                        <a:latin typeface="Jost" charset="0"/>
                        <a:ea typeface="Jost" charset="0"/>
                        <a:cs typeface="Jost" charset="0"/>
                      </a:endParaRPr>
                    </a:p>
                  </a:txBody>
                  <a:tcPr marL="18288" marR="18288" marT="18288" marB="18288"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800" dirty="0">
                          <a:solidFill>
                            <a:srgbClr val="C9BCA9"/>
                          </a:solidFill>
                          <a:latin typeface="Jost" pitchFamily="34" charset="0"/>
                          <a:ea typeface="Jost" pitchFamily="34" charset="-122"/>
                          <a:cs typeface="Jost" pitchFamily="34" charset="-120"/>
                        </a:rPr>
                        <a:t>$8,800</a:t>
                      </a:r>
                      <a:endParaRPr lang="en-US" sz="800" dirty="0">
                        <a:latin typeface="Jost" charset="0"/>
                        <a:ea typeface="Jost" charset="0"/>
                        <a:cs typeface="Jost" charset="0"/>
                      </a:endParaRPr>
                    </a:p>
                  </a:txBody>
                  <a:tcPr marL="18288" marR="18288" marT="18288" marB="18288"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82880">
                <a:tc>
                  <a:txBody>
                    <a:bodyPr/>
                    <a:lstStyle/>
                    <a:p>
                      <a:pPr algn="l" indent="0" marL="0">
                        <a:buNone/>
                      </a:pPr>
                      <a:r>
                        <a:rPr lang="en-US" sz="800" dirty="0">
                          <a:solidFill>
                            <a:srgbClr val="EDE7DE"/>
                          </a:solidFill>
                          <a:latin typeface="Jost" pitchFamily="34" charset="0"/>
                          <a:ea typeface="Jost" pitchFamily="34" charset="-122"/>
                          <a:cs typeface="Jost" pitchFamily="34" charset="-120"/>
                        </a:rPr>
                        <a:t>LVN: $30/hr</a:t>
                      </a:r>
                      <a:endParaRPr lang="en-US" sz="800" dirty="0">
                        <a:latin typeface="Jost" charset="0"/>
                        <a:ea typeface="Jost" charset="0"/>
                        <a:cs typeface="Jost" charset="0"/>
                      </a:endParaRPr>
                    </a:p>
                  </a:txBody>
                  <a:tcPr marL="18288" marR="18288" marT="18288" marB="18288"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800" dirty="0">
                          <a:solidFill>
                            <a:srgbClr val="C9BCA9"/>
                          </a:solidFill>
                          <a:latin typeface="Jost" pitchFamily="34" charset="0"/>
                          <a:ea typeface="Jost" pitchFamily="34" charset="-122"/>
                          <a:cs typeface="Jost" pitchFamily="34" charset="-120"/>
                        </a:rPr>
                        <a:t>1.0</a:t>
                      </a:r>
                      <a:endParaRPr lang="en-US" sz="800" dirty="0">
                        <a:latin typeface="Jost" charset="0"/>
                        <a:ea typeface="Jost" charset="0"/>
                        <a:cs typeface="Jost" charset="0"/>
                      </a:endParaRPr>
                    </a:p>
                  </a:txBody>
                  <a:tcPr marL="18288" marR="18288" marT="18288" marB="18288"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800" dirty="0">
                          <a:solidFill>
                            <a:srgbClr val="C9BCA9"/>
                          </a:solidFill>
                          <a:latin typeface="Jost" pitchFamily="34" charset="0"/>
                          <a:ea typeface="Jost" pitchFamily="34" charset="-122"/>
                          <a:cs typeface="Jost" pitchFamily="34" charset="-120"/>
                        </a:rPr>
                        <a:t>$4,800</a:t>
                      </a:r>
                      <a:endParaRPr lang="en-US" sz="800" dirty="0">
                        <a:latin typeface="Jost" charset="0"/>
                        <a:ea typeface="Jost" charset="0"/>
                        <a:cs typeface="Jost" charset="0"/>
                      </a:endParaRPr>
                    </a:p>
                  </a:txBody>
                  <a:tcPr marL="18288" marR="18288" marT="18288" marB="18288"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82880">
                <a:tc>
                  <a:txBody>
                    <a:bodyPr/>
                    <a:lstStyle/>
                    <a:p>
                      <a:pPr algn="l" indent="0" marL="0">
                        <a:buNone/>
                      </a:pPr>
                      <a:r>
                        <a:rPr lang="en-US" sz="800" dirty="0">
                          <a:solidFill>
                            <a:srgbClr val="EDE7DE"/>
                          </a:solidFill>
                          <a:latin typeface="Jost" pitchFamily="34" charset="0"/>
                          <a:ea typeface="Jost" pitchFamily="34" charset="-122"/>
                          <a:cs typeface="Jost" pitchFamily="34" charset="-120"/>
                        </a:rPr>
                        <a:t>Medical assistant / technician: $25/hr</a:t>
                      </a:r>
                      <a:endParaRPr lang="en-US" sz="800" dirty="0">
                        <a:latin typeface="Jost" charset="0"/>
                        <a:ea typeface="Jost" charset="0"/>
                        <a:cs typeface="Jost" charset="0"/>
                      </a:endParaRPr>
                    </a:p>
                  </a:txBody>
                  <a:tcPr marL="18288" marR="18288" marT="18288" marB="18288"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800" dirty="0">
                          <a:solidFill>
                            <a:srgbClr val="C9BCA9"/>
                          </a:solidFill>
                          <a:latin typeface="Jost" pitchFamily="34" charset="0"/>
                          <a:ea typeface="Jost" pitchFamily="34" charset="-122"/>
                          <a:cs typeface="Jost" pitchFamily="34" charset="-120"/>
                        </a:rPr>
                        <a:t>1.0</a:t>
                      </a:r>
                      <a:endParaRPr lang="en-US" sz="800" dirty="0">
                        <a:latin typeface="Jost" charset="0"/>
                        <a:ea typeface="Jost" charset="0"/>
                        <a:cs typeface="Jost" charset="0"/>
                      </a:endParaRPr>
                    </a:p>
                  </a:txBody>
                  <a:tcPr marL="18288" marR="18288" marT="18288" marB="18288"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800" dirty="0">
                          <a:solidFill>
                            <a:srgbClr val="C9BCA9"/>
                          </a:solidFill>
                          <a:latin typeface="Jost" pitchFamily="34" charset="0"/>
                          <a:ea typeface="Jost" pitchFamily="34" charset="-122"/>
                          <a:cs typeface="Jost" pitchFamily="34" charset="-120"/>
                        </a:rPr>
                        <a:t>$4,000</a:t>
                      </a:r>
                      <a:endParaRPr lang="en-US" sz="800" dirty="0">
                        <a:latin typeface="Jost" charset="0"/>
                        <a:ea typeface="Jost" charset="0"/>
                        <a:cs typeface="Jost" charset="0"/>
                      </a:endParaRPr>
                    </a:p>
                  </a:txBody>
                  <a:tcPr marL="18288" marR="18288" marT="18288" marB="18288"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82880">
                <a:tc>
                  <a:txBody>
                    <a:bodyPr/>
                    <a:lstStyle/>
                    <a:p>
                      <a:pPr algn="l" indent="0" marL="0">
                        <a:buNone/>
                      </a:pPr>
                      <a:r>
                        <a:rPr lang="en-US" sz="800" dirty="0">
                          <a:solidFill>
                            <a:srgbClr val="EDE7DE"/>
                          </a:solidFill>
                          <a:latin typeface="Jost" pitchFamily="34" charset="0"/>
                          <a:ea typeface="Jost" pitchFamily="34" charset="-122"/>
                          <a:cs typeface="Jost" pitchFamily="34" charset="-120"/>
                        </a:rPr>
                        <a:t>Administrator: $45/hr</a:t>
                      </a:r>
                      <a:endParaRPr lang="en-US" sz="800" dirty="0">
                        <a:latin typeface="Jost" charset="0"/>
                        <a:ea typeface="Jost" charset="0"/>
                        <a:cs typeface="Jost" charset="0"/>
                      </a:endParaRPr>
                    </a:p>
                  </a:txBody>
                  <a:tcPr marL="18288" marR="18288" marT="18288" marB="18288"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800" dirty="0">
                          <a:solidFill>
                            <a:srgbClr val="C9BCA9"/>
                          </a:solidFill>
                          <a:latin typeface="Jost" pitchFamily="34" charset="0"/>
                          <a:ea typeface="Jost" pitchFamily="34" charset="-122"/>
                          <a:cs typeface="Jost" pitchFamily="34" charset="-120"/>
                        </a:rPr>
                        <a:t>1.0</a:t>
                      </a:r>
                      <a:endParaRPr lang="en-US" sz="800" dirty="0">
                        <a:latin typeface="Jost" charset="0"/>
                        <a:ea typeface="Jost" charset="0"/>
                        <a:cs typeface="Jost" charset="0"/>
                      </a:endParaRPr>
                    </a:p>
                  </a:txBody>
                  <a:tcPr marL="18288" marR="18288" marT="18288" marB="18288"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800" dirty="0">
                          <a:solidFill>
                            <a:srgbClr val="C9BCA9"/>
                          </a:solidFill>
                          <a:latin typeface="Jost" pitchFamily="34" charset="0"/>
                          <a:ea typeface="Jost" pitchFamily="34" charset="-122"/>
                          <a:cs typeface="Jost" pitchFamily="34" charset="-120"/>
                        </a:rPr>
                        <a:t>$7,200</a:t>
                      </a:r>
                      <a:endParaRPr lang="en-US" sz="800" dirty="0">
                        <a:latin typeface="Jost" charset="0"/>
                        <a:ea typeface="Jost" charset="0"/>
                        <a:cs typeface="Jost" charset="0"/>
                      </a:endParaRPr>
                    </a:p>
                  </a:txBody>
                  <a:tcPr marL="18288" marR="18288" marT="18288" marB="18288"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82880">
                <a:tc>
                  <a:txBody>
                    <a:bodyPr/>
                    <a:lstStyle/>
                    <a:p>
                      <a:pPr algn="l" indent="0" marL="0">
                        <a:buNone/>
                      </a:pPr>
                      <a:r>
                        <a:rPr lang="en-US" sz="800" dirty="0">
                          <a:solidFill>
                            <a:srgbClr val="EDE7DE"/>
                          </a:solidFill>
                          <a:latin typeface="Jost" pitchFamily="34" charset="0"/>
                          <a:ea typeface="Jost" pitchFamily="34" charset="-122"/>
                          <a:cs typeface="Jost" pitchFamily="34" charset="-120"/>
                        </a:rPr>
                        <a:t>Front desk / concierge: $22/hr</a:t>
                      </a:r>
                      <a:endParaRPr lang="en-US" sz="800" dirty="0">
                        <a:latin typeface="Jost" charset="0"/>
                        <a:ea typeface="Jost" charset="0"/>
                        <a:cs typeface="Jost" charset="0"/>
                      </a:endParaRPr>
                    </a:p>
                  </a:txBody>
                  <a:tcPr marL="18288" marR="18288" marT="18288" marB="18288"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800" dirty="0">
                          <a:solidFill>
                            <a:srgbClr val="C9BCA9"/>
                          </a:solidFill>
                          <a:latin typeface="Jost" pitchFamily="34" charset="0"/>
                          <a:ea typeface="Jost" pitchFamily="34" charset="-122"/>
                          <a:cs typeface="Jost" pitchFamily="34" charset="-120"/>
                        </a:rPr>
                        <a:t>1.0</a:t>
                      </a:r>
                      <a:endParaRPr lang="en-US" sz="800" dirty="0">
                        <a:latin typeface="Jost" charset="0"/>
                        <a:ea typeface="Jost" charset="0"/>
                        <a:cs typeface="Jost" charset="0"/>
                      </a:endParaRPr>
                    </a:p>
                  </a:txBody>
                  <a:tcPr marL="18288" marR="18288" marT="18288" marB="18288"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800" dirty="0">
                          <a:solidFill>
                            <a:srgbClr val="C9BCA9"/>
                          </a:solidFill>
                          <a:latin typeface="Jost" pitchFamily="34" charset="0"/>
                          <a:ea typeface="Jost" pitchFamily="34" charset="-122"/>
                          <a:cs typeface="Jost" pitchFamily="34" charset="-120"/>
                        </a:rPr>
                        <a:t>$3,520</a:t>
                      </a:r>
                      <a:endParaRPr lang="en-US" sz="800" dirty="0">
                        <a:latin typeface="Jost" charset="0"/>
                        <a:ea typeface="Jost" charset="0"/>
                        <a:cs typeface="Jost" charset="0"/>
                      </a:endParaRPr>
                    </a:p>
                  </a:txBody>
                  <a:tcPr marL="18288" marR="18288" marT="18288" marB="18288"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82880">
                <a:tc>
                  <a:txBody>
                    <a:bodyPr/>
                    <a:lstStyle/>
                    <a:p>
                      <a:pPr algn="l" indent="0" marL="0">
                        <a:buNone/>
                      </a:pPr>
                      <a:r>
                        <a:rPr lang="en-US" sz="800" dirty="0">
                          <a:solidFill>
                            <a:srgbClr val="B08D57"/>
                          </a:solidFill>
                          <a:latin typeface="Jost" pitchFamily="34" charset="0"/>
                          <a:ea typeface="Jost" pitchFamily="34" charset="-122"/>
                          <a:cs typeface="Jost" pitchFamily="34" charset="-120"/>
                        </a:rPr>
                        <a:t>Total</a:t>
                      </a:r>
                      <a:endParaRPr lang="en-US" sz="800" dirty="0">
                        <a:latin typeface="Jost" charset="0"/>
                        <a:ea typeface="Jost" charset="0"/>
                        <a:cs typeface="Jost" charset="0"/>
                      </a:endParaRPr>
                    </a:p>
                  </a:txBody>
                  <a:tcPr marL="18288" marR="18288" marT="18288" marB="18288"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endParaRPr lang="en-US" sz="800" dirty="0">
                        <a:latin typeface="Jost" charset="0"/>
                        <a:ea typeface="Jost" charset="0"/>
                        <a:cs typeface="Jost" charset="0"/>
                      </a:endParaRPr>
                    </a:p>
                  </a:txBody>
                  <a:tcPr marL="18288" marR="18288" marT="18288" marB="18288"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800" dirty="0">
                          <a:solidFill>
                            <a:srgbClr val="B08D57"/>
                          </a:solidFill>
                          <a:latin typeface="Jost" pitchFamily="34" charset="0"/>
                          <a:ea typeface="Jost" pitchFamily="34" charset="-122"/>
                          <a:cs typeface="Jost" pitchFamily="34" charset="-120"/>
                        </a:rPr>
                        <a:t>$85,920</a:t>
                      </a:r>
                      <a:endParaRPr lang="en-US" sz="800" dirty="0">
                        <a:latin typeface="Jost" charset="0"/>
                        <a:ea typeface="Jost" charset="0"/>
                        <a:cs typeface="Jost" charset="0"/>
                      </a:endParaRPr>
                    </a:p>
                  </a:txBody>
                  <a:tcPr marL="18288" marR="18288" marT="18288" marB="18288"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bl>
          </a:graphicData>
        </a:graphic>
      </p:graphicFrame>
      <p:sp>
        <p:nvSpPr>
          <p:cNvPr id="8" name="Text 5"/>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B6965"/>
                </a:solidFill>
                <a:latin typeface="Jost" pitchFamily="34" charset="0"/>
                <a:ea typeface="Jost" pitchFamily="34" charset="-122"/>
                <a:cs typeface="Jost" pitchFamily="34" charset="-120"/>
              </a:rPr>
              <a:t>L&amp;K WELLNESS  ·  PRIVATE INVESTMENT BRIEF  ·  CONFIDENTIAL</a:t>
            </a:r>
            <a:endParaRPr lang="en-US" sz="700" dirty="0"/>
          </a:p>
        </p:txBody>
      </p:sp>
      <p:sp>
        <p:nvSpPr>
          <p:cNvPr id="9" name="Text 6"/>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B6965"/>
                </a:solidFill>
                <a:latin typeface="Jost" pitchFamily="34" charset="0"/>
                <a:ea typeface="Jost" pitchFamily="34" charset="-122"/>
                <a:cs typeface="Jost" pitchFamily="34" charset="-120"/>
              </a:rPr>
              <a:t>35</a:t>
            </a:r>
            <a:endParaRPr lang="en-US" sz="70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B08D57"/>
                </a:solidFill>
                <a:latin typeface="Jost" pitchFamily="34" charset="0"/>
                <a:ea typeface="Jost" pitchFamily="34" charset="-122"/>
                <a:cs typeface="Jost" pitchFamily="34" charset="-120"/>
              </a:rPr>
              <a:t>APPENDIX  ·  FIXED OVERHEAD</a:t>
            </a:r>
            <a:endParaRPr lang="en-US" sz="900" dirty="0"/>
          </a:p>
        </p:txBody>
      </p:sp>
      <p:sp>
        <p:nvSpPr>
          <p:cNvPr id="3" name="Shape 1"/>
          <p:cNvSpPr/>
          <p:nvPr/>
        </p:nvSpPr>
        <p:spPr>
          <a:xfrm>
            <a:off x="502920" y="557784"/>
            <a:ext cx="566928" cy="12802"/>
          </a:xfrm>
          <a:prstGeom prst="rect">
            <a:avLst/>
          </a:prstGeom>
          <a:solidFill>
            <a:srgbClr val="B08D57"/>
          </a:solidFill>
          <a:ln w="12700">
            <a:solidFill>
              <a:srgbClr val="B08D57"/>
            </a:solidFill>
            <a:prstDash val="solid"/>
          </a:ln>
        </p:spPr>
      </p:sp>
      <p:sp>
        <p:nvSpPr>
          <p:cNvPr id="4" name="Text 2"/>
          <p:cNvSpPr/>
          <p:nvPr/>
        </p:nvSpPr>
        <p:spPr>
          <a:xfrm>
            <a:off x="502920" y="621792"/>
            <a:ext cx="8138160" cy="548640"/>
          </a:xfrm>
          <a:prstGeom prst="rect">
            <a:avLst/>
          </a:prstGeom>
          <a:noFill/>
          <a:ln/>
        </p:spPr>
        <p:txBody>
          <a:bodyPr wrap="square" rtlCol="0" anchor="t"/>
          <a:lstStyle/>
          <a:p>
            <a:pPr indent="0" marL="0">
              <a:buNone/>
            </a:pPr>
            <a:r>
              <a:rPr lang="en-US" sz="2600" spc="400" kern="0" dirty="0">
                <a:solidFill>
                  <a:srgbClr val="EDE7DE"/>
                </a:solidFill>
                <a:latin typeface="Cormorant Garamond" pitchFamily="34" charset="0"/>
                <a:ea typeface="Cormorant Garamond" pitchFamily="34" charset="-122"/>
                <a:cs typeface="Cormorant Garamond" pitchFamily="34" charset="-120"/>
              </a:rPr>
              <a:t>THE OTHER OVERHEAD LINES</a:t>
            </a:r>
            <a:endParaRPr lang="en-US" sz="2600" dirty="0"/>
          </a:p>
        </p:txBody>
      </p:sp>
      <p:sp>
        <p:nvSpPr>
          <p:cNvPr id="5" name="Text 3"/>
          <p:cNvSpPr/>
          <p:nvPr/>
        </p:nvSpPr>
        <p:spPr>
          <a:xfrm>
            <a:off x="502920" y="1325880"/>
            <a:ext cx="2615184" cy="182880"/>
          </a:xfrm>
          <a:prstGeom prst="rect">
            <a:avLst/>
          </a:prstGeom>
          <a:noFill/>
          <a:ln/>
        </p:spPr>
        <p:txBody>
          <a:bodyPr wrap="square" rtlCol="0" anchor="ctr"/>
          <a:lstStyle/>
          <a:p>
            <a:pPr indent="0" marL="0">
              <a:buNone/>
            </a:pPr>
            <a:r>
              <a:rPr lang="en-US" sz="750" spc="200" kern="0" dirty="0">
                <a:solidFill>
                  <a:srgbClr val="B08D57"/>
                </a:solidFill>
                <a:latin typeface="Jost" pitchFamily="34" charset="0"/>
                <a:ea typeface="Jost" pitchFamily="34" charset="-122"/>
                <a:cs typeface="Jost" pitchFamily="34" charset="-120"/>
              </a:rPr>
              <a:t>EQUIPMENT LEASES</a:t>
            </a:r>
            <a:endParaRPr lang="en-US" sz="750" dirty="0"/>
          </a:p>
        </p:txBody>
      </p:sp>
      <p:graphicFrame>
        <p:nvGraphicFramePr>
          <p:cNvPr id="37" name="Table 0"/>
          <p:cNvGraphicFramePr>
            <a:graphicFrameLocks noGrp="1"/>
          </p:cNvGraphicFramePr>
          <p:nvPr>
            <p:extLst>
              <p:ext uri="{D42A27DB-BD31-4B8C-83A1-F6EECF244321}">
                <p14:modId xmlns:p14="http://schemas.microsoft.com/office/powerpoint/2010/main" val="1579011935"/>
              </p:ext>
            </p:extLst>
          </p:nvPr>
        </p:nvGraphicFramePr>
        <p:xfrm>
          <a:off x="502920" y="1545336"/>
          <a:ext cx="2615184" cy="914400"/>
        </p:xfrm>
        <a:graphic>
          <a:graphicData uri="http://schemas.openxmlformats.org/drawingml/2006/table">
            <a:tbl>
              <a:tblPr/>
              <a:tblGrid>
                <a:gridCol w="1609344"/>
                <a:gridCol w="1005840"/>
              </a:tblGrid>
              <a:tr h="155448">
                <a:tc>
                  <a:txBody>
                    <a:bodyPr/>
                    <a:lstStyle/>
                    <a:p>
                      <a:pPr algn="l" indent="0" marL="0">
                        <a:buNone/>
                      </a:pPr>
                      <a:r>
                        <a:rPr lang="en-US" sz="750" spc="140" kern="0" dirty="0">
                          <a:solidFill>
                            <a:srgbClr val="B08D57"/>
                          </a:solidFill>
                          <a:latin typeface="Jost" pitchFamily="34" charset="0"/>
                          <a:ea typeface="Jost" pitchFamily="34" charset="-122"/>
                          <a:cs typeface="Jost" pitchFamily="34" charset="-120"/>
                        </a:rPr>
                        <a:t>COMPONENT</a:t>
                      </a:r>
                      <a:endParaRPr lang="en-US" sz="750" dirty="0">
                        <a:latin typeface="Jost" charset="0"/>
                        <a:ea typeface="Jost" charset="0"/>
                        <a:cs typeface="Jost" charset="0"/>
                      </a:endParaRPr>
                    </a:p>
                  </a:txBody>
                  <a:tcPr marL="13716" marR="13716" marT="13716" marB="13716" anchor="ctr">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000000"/>
                    </a:solidFill>
                  </a:tcPr>
                </a:tc>
                <a:tc>
                  <a:txBody>
                    <a:bodyPr/>
                    <a:lstStyle/>
                    <a:p>
                      <a:pPr algn="r" indent="0" marL="0">
                        <a:buNone/>
                      </a:pPr>
                      <a:r>
                        <a:rPr lang="en-US" sz="750" spc="140" kern="0" dirty="0">
                          <a:solidFill>
                            <a:srgbClr val="B08D57"/>
                          </a:solidFill>
                          <a:latin typeface="Jost" pitchFamily="34" charset="0"/>
                          <a:ea typeface="Jost" pitchFamily="34" charset="-122"/>
                          <a:cs typeface="Jost" pitchFamily="34" charset="-120"/>
                        </a:rPr>
                        <a:t>MONTHLY</a:t>
                      </a:r>
                      <a:endParaRPr lang="en-US" sz="750" dirty="0">
                        <a:latin typeface="Jost" charset="0"/>
                        <a:ea typeface="Jost" charset="0"/>
                        <a:cs typeface="Jost" charset="0"/>
                      </a:endParaRPr>
                    </a:p>
                  </a:txBody>
                  <a:tcPr marL="13716" marR="13716" marT="13716" marB="13716" anchor="ctr">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000000"/>
                    </a:solidFill>
                  </a:tcPr>
                </a:tc>
              </a:tr>
              <a:tr h="155448">
                <a:tc>
                  <a:txBody>
                    <a:bodyPr/>
                    <a:lstStyle/>
                    <a:p>
                      <a:pPr algn="l" indent="0" marL="0">
                        <a:buNone/>
                      </a:pPr>
                      <a:r>
                        <a:rPr lang="en-US" sz="750" dirty="0">
                          <a:solidFill>
                            <a:srgbClr val="EDE7DE"/>
                          </a:solidFill>
                          <a:latin typeface="Jost" pitchFamily="34" charset="0"/>
                          <a:ea typeface="Jost" pitchFamily="34" charset="-122"/>
                          <a:cs typeface="Jost" pitchFamily="34" charset="-120"/>
                        </a:rPr>
                        <a:t>Ammortal chamber (1 unit) financed</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3000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55448">
                <a:tc>
                  <a:txBody>
                    <a:bodyPr/>
                    <a:lstStyle/>
                    <a:p>
                      <a:pPr algn="l" indent="0" marL="0">
                        <a:buNone/>
                      </a:pPr>
                      <a:r>
                        <a:rPr lang="en-US" sz="750" dirty="0">
                          <a:solidFill>
                            <a:srgbClr val="EDE7DE"/>
                          </a:solidFill>
                          <a:latin typeface="Jost" pitchFamily="34" charset="0"/>
                          <a:ea typeface="Jost" pitchFamily="34" charset="-122"/>
                          <a:cs typeface="Jost" pitchFamily="34" charset="-120"/>
                        </a:rPr>
                        <a:t>Aescape robotic massage (1 unit) subscription</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5000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55448">
                <a:tc>
                  <a:txBody>
                    <a:bodyPr/>
                    <a:lstStyle/>
                    <a:p>
                      <a:pPr algn="l" indent="0" marL="0">
                        <a:buNone/>
                      </a:pPr>
                      <a:r>
                        <a:rPr lang="en-US" sz="750" dirty="0">
                          <a:solidFill>
                            <a:srgbClr val="EDE7DE"/>
                          </a:solidFill>
                          <a:latin typeface="Jost" pitchFamily="34" charset="0"/>
                          <a:ea typeface="Jost" pitchFamily="34" charset="-122"/>
                          <a:cs typeface="Jost" pitchFamily="34" charset="-120"/>
                        </a:rPr>
                        <a:t>Second red light bed financed</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1375</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55448">
                <a:tc>
                  <a:txBody>
                    <a:bodyPr/>
                    <a:lstStyle/>
                    <a:p>
                      <a:pPr algn="l" indent="0" marL="0">
                        <a:buNone/>
                      </a:pPr>
                      <a:r>
                        <a:rPr lang="en-US" sz="750" dirty="0">
                          <a:solidFill>
                            <a:srgbClr val="EDE7DE"/>
                          </a:solidFill>
                          <a:latin typeface="Jost" pitchFamily="34" charset="0"/>
                          <a:ea typeface="Jost" pitchFamily="34" charset="-122"/>
                          <a:cs typeface="Jost" pitchFamily="34" charset="-120"/>
                        </a:rPr>
                        <a:t>Other leased equipment</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3000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55448">
                <a:tc>
                  <a:txBody>
                    <a:bodyPr/>
                    <a:lstStyle/>
                    <a:p>
                      <a:pPr algn="l" indent="0" marL="0">
                        <a:buNone/>
                      </a:pPr>
                      <a:r>
                        <a:rPr lang="en-US" sz="750" dirty="0">
                          <a:solidFill>
                            <a:srgbClr val="EDE7DE"/>
                          </a:solidFill>
                          <a:latin typeface="Jost" pitchFamily="34" charset="0"/>
                          <a:ea typeface="Jost" pitchFamily="34" charset="-122"/>
                          <a:cs typeface="Jost" pitchFamily="34" charset="-120"/>
                        </a:rPr>
                        <a:t>Balance of clinical equipment financed (~$190,000 @ 2.2%/mo)</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4180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55448">
                <a:tc>
                  <a:txBody>
                    <a:bodyPr/>
                    <a:lstStyle/>
                    <a:p>
                      <a:pPr algn="l" indent="0" marL="0">
                        <a:buNone/>
                      </a:pPr>
                      <a:r>
                        <a:rPr lang="en-US" sz="750" dirty="0">
                          <a:solidFill>
                            <a:srgbClr val="B08D57"/>
                          </a:solidFill>
                          <a:latin typeface="Jost" pitchFamily="34" charset="0"/>
                          <a:ea typeface="Jost" pitchFamily="34" charset="-122"/>
                          <a:cs typeface="Jost" pitchFamily="34" charset="-120"/>
                        </a:rPr>
                        <a:t>Total</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B08D57"/>
                          </a:solidFill>
                          <a:latin typeface="Jost" pitchFamily="34" charset="0"/>
                          <a:ea typeface="Jost" pitchFamily="34" charset="-122"/>
                          <a:cs typeface="Jost" pitchFamily="34" charset="-120"/>
                        </a:rPr>
                        <a:t>$16,555</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bl>
          </a:graphicData>
        </a:graphic>
      </p:graphicFrame>
      <p:sp>
        <p:nvSpPr>
          <p:cNvPr id="7" name="Text 4"/>
          <p:cNvSpPr/>
          <p:nvPr/>
        </p:nvSpPr>
        <p:spPr>
          <a:xfrm>
            <a:off x="3264408" y="1325880"/>
            <a:ext cx="2615184" cy="182880"/>
          </a:xfrm>
          <a:prstGeom prst="rect">
            <a:avLst/>
          </a:prstGeom>
          <a:noFill/>
          <a:ln/>
        </p:spPr>
        <p:txBody>
          <a:bodyPr wrap="square" rtlCol="0" anchor="ctr"/>
          <a:lstStyle/>
          <a:p>
            <a:pPr indent="0" marL="0">
              <a:buNone/>
            </a:pPr>
            <a:r>
              <a:rPr lang="en-US" sz="750" spc="200" kern="0" dirty="0">
                <a:solidFill>
                  <a:srgbClr val="B08D57"/>
                </a:solidFill>
                <a:latin typeface="Jost" pitchFamily="34" charset="0"/>
                <a:ea typeface="Jost" pitchFamily="34" charset="-122"/>
                <a:cs typeface="Jost" pitchFamily="34" charset="-120"/>
              </a:rPr>
              <a:t>ADMIN AND MANAGEMENT</a:t>
            </a:r>
            <a:endParaRPr lang="en-US" sz="750" dirty="0"/>
          </a:p>
        </p:txBody>
      </p:sp>
      <p:graphicFrame>
        <p:nvGraphicFramePr>
          <p:cNvPr id="73" name="Table 1"/>
          <p:cNvGraphicFramePr>
            <a:graphicFrameLocks noGrp="1"/>
          </p:cNvGraphicFramePr>
          <p:nvPr>
            <p:extLst>
              <p:ext uri="{D42A27DB-BD31-4B8C-83A1-F6EECF244321}">
                <p14:modId xmlns:p14="http://schemas.microsoft.com/office/powerpoint/2010/main" val="1579011935"/>
              </p:ext>
            </p:extLst>
          </p:nvPr>
        </p:nvGraphicFramePr>
        <p:xfrm>
          <a:off x="3264408" y="1545336"/>
          <a:ext cx="2615184" cy="914400"/>
        </p:xfrm>
        <a:graphic>
          <a:graphicData uri="http://schemas.openxmlformats.org/drawingml/2006/table">
            <a:tbl>
              <a:tblPr/>
              <a:tblGrid>
                <a:gridCol w="1609344"/>
                <a:gridCol w="1005840"/>
              </a:tblGrid>
              <a:tr h="155448">
                <a:tc>
                  <a:txBody>
                    <a:bodyPr/>
                    <a:lstStyle/>
                    <a:p>
                      <a:pPr algn="l" indent="0" marL="0">
                        <a:buNone/>
                      </a:pPr>
                      <a:r>
                        <a:rPr lang="en-US" sz="750" spc="140" kern="0" dirty="0">
                          <a:solidFill>
                            <a:srgbClr val="B08D57"/>
                          </a:solidFill>
                          <a:latin typeface="Jost" pitchFamily="34" charset="0"/>
                          <a:ea typeface="Jost" pitchFamily="34" charset="-122"/>
                          <a:cs typeface="Jost" pitchFamily="34" charset="-120"/>
                        </a:rPr>
                        <a:t>COMPONENT</a:t>
                      </a:r>
                      <a:endParaRPr lang="en-US" sz="750" dirty="0">
                        <a:latin typeface="Jost" charset="0"/>
                        <a:ea typeface="Jost" charset="0"/>
                        <a:cs typeface="Jost" charset="0"/>
                      </a:endParaRPr>
                    </a:p>
                  </a:txBody>
                  <a:tcPr marL="13716" marR="13716" marT="13716" marB="13716" anchor="ctr">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000000"/>
                    </a:solidFill>
                  </a:tcPr>
                </a:tc>
                <a:tc>
                  <a:txBody>
                    <a:bodyPr/>
                    <a:lstStyle/>
                    <a:p>
                      <a:pPr algn="r" indent="0" marL="0">
                        <a:buNone/>
                      </a:pPr>
                      <a:r>
                        <a:rPr lang="en-US" sz="750" spc="140" kern="0" dirty="0">
                          <a:solidFill>
                            <a:srgbClr val="B08D57"/>
                          </a:solidFill>
                          <a:latin typeface="Jost" pitchFamily="34" charset="0"/>
                          <a:ea typeface="Jost" pitchFamily="34" charset="-122"/>
                          <a:cs typeface="Jost" pitchFamily="34" charset="-120"/>
                        </a:rPr>
                        <a:t>MONTHLY</a:t>
                      </a:r>
                      <a:endParaRPr lang="en-US" sz="750" dirty="0">
                        <a:latin typeface="Jost" charset="0"/>
                        <a:ea typeface="Jost" charset="0"/>
                        <a:cs typeface="Jost" charset="0"/>
                      </a:endParaRPr>
                    </a:p>
                  </a:txBody>
                  <a:tcPr marL="13716" marR="13716" marT="13716" marB="13716" anchor="ctr">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000000"/>
                    </a:solidFill>
                  </a:tcPr>
                </a:tc>
              </a:tr>
              <a:tr h="155448">
                <a:tc>
                  <a:txBody>
                    <a:bodyPr/>
                    <a:lstStyle/>
                    <a:p>
                      <a:pPr algn="l" indent="0" marL="0">
                        <a:buNone/>
                      </a:pPr>
                      <a:r>
                        <a:rPr lang="en-US" sz="750" dirty="0">
                          <a:solidFill>
                            <a:srgbClr val="EDE7DE"/>
                          </a:solidFill>
                          <a:latin typeface="Jost" pitchFamily="34" charset="0"/>
                          <a:ea typeface="Jost" pitchFamily="34" charset="-122"/>
                          <a:cs typeface="Jost" pitchFamily="34" charset="-120"/>
                        </a:rPr>
                        <a:t>Bookkeeping and accounting</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4000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55448">
                <a:tc>
                  <a:txBody>
                    <a:bodyPr/>
                    <a:lstStyle/>
                    <a:p>
                      <a:pPr algn="l" indent="0" marL="0">
                        <a:buNone/>
                      </a:pPr>
                      <a:r>
                        <a:rPr lang="en-US" sz="750" dirty="0">
                          <a:solidFill>
                            <a:srgbClr val="EDE7DE"/>
                          </a:solidFill>
                          <a:latin typeface="Jost" pitchFamily="34" charset="0"/>
                          <a:ea typeface="Jost" pitchFamily="34" charset="-122"/>
                          <a:cs typeface="Jost" pitchFamily="34" charset="-120"/>
                        </a:rPr>
                        <a:t>Legal and compliance retainer</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1500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55448">
                <a:tc>
                  <a:txBody>
                    <a:bodyPr/>
                    <a:lstStyle/>
                    <a:p>
                      <a:pPr algn="l" indent="0" marL="0">
                        <a:buNone/>
                      </a:pPr>
                      <a:r>
                        <a:rPr lang="en-US" sz="750" dirty="0">
                          <a:solidFill>
                            <a:srgbClr val="EDE7DE"/>
                          </a:solidFill>
                          <a:latin typeface="Jost" pitchFamily="34" charset="0"/>
                          <a:ea typeface="Jost" pitchFamily="34" charset="-122"/>
                          <a:cs typeface="Jost" pitchFamily="34" charset="-120"/>
                        </a:rPr>
                        <a:t>IT and managed services</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2500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55448">
                <a:tc>
                  <a:txBody>
                    <a:bodyPr/>
                    <a:lstStyle/>
                    <a:p>
                      <a:pPr algn="l" indent="0" marL="0">
                        <a:buNone/>
                      </a:pPr>
                      <a:r>
                        <a:rPr lang="en-US" sz="750" dirty="0">
                          <a:solidFill>
                            <a:srgbClr val="EDE7DE"/>
                          </a:solidFill>
                          <a:latin typeface="Jost" pitchFamily="34" charset="0"/>
                          <a:ea typeface="Jost" pitchFamily="34" charset="-122"/>
                          <a:cs typeface="Jost" pitchFamily="34" charset="-120"/>
                        </a:rPr>
                        <a:t>Business insurance (GL, property, cyber)</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1000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55448">
                <a:tc>
                  <a:txBody>
                    <a:bodyPr/>
                    <a:lstStyle/>
                    <a:p>
                      <a:pPr algn="l" indent="0" marL="0">
                        <a:buNone/>
                      </a:pPr>
                      <a:r>
                        <a:rPr lang="en-US" sz="750" dirty="0">
                          <a:solidFill>
                            <a:srgbClr val="EDE7DE"/>
                          </a:solidFill>
                          <a:latin typeface="Jost" pitchFamily="34" charset="0"/>
                          <a:ea typeface="Jost" pitchFamily="34" charset="-122"/>
                          <a:cs typeface="Jost" pitchFamily="34" charset="-120"/>
                        </a:rPr>
                        <a:t>Merchant processing and banking</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9500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55448">
                <a:tc>
                  <a:txBody>
                    <a:bodyPr/>
                    <a:lstStyle/>
                    <a:p>
                      <a:pPr algn="l" indent="0" marL="0">
                        <a:buNone/>
                      </a:pPr>
                      <a:r>
                        <a:rPr lang="en-US" sz="750" dirty="0">
                          <a:solidFill>
                            <a:srgbClr val="B08D57"/>
                          </a:solidFill>
                          <a:latin typeface="Jost" pitchFamily="34" charset="0"/>
                          <a:ea typeface="Jost" pitchFamily="34" charset="-122"/>
                          <a:cs typeface="Jost" pitchFamily="34" charset="-120"/>
                        </a:rPr>
                        <a:t>Total</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B08D57"/>
                          </a:solidFill>
                          <a:latin typeface="Jost" pitchFamily="34" charset="0"/>
                          <a:ea typeface="Jost" pitchFamily="34" charset="-122"/>
                          <a:cs typeface="Jost" pitchFamily="34" charset="-120"/>
                        </a:rPr>
                        <a:t>$18,500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bl>
          </a:graphicData>
        </a:graphic>
      </p:graphicFrame>
      <p:sp>
        <p:nvSpPr>
          <p:cNvPr id="9" name="Text 5"/>
          <p:cNvSpPr/>
          <p:nvPr/>
        </p:nvSpPr>
        <p:spPr>
          <a:xfrm>
            <a:off x="6025896" y="1325880"/>
            <a:ext cx="2615184" cy="182880"/>
          </a:xfrm>
          <a:prstGeom prst="rect">
            <a:avLst/>
          </a:prstGeom>
          <a:noFill/>
          <a:ln/>
        </p:spPr>
        <p:txBody>
          <a:bodyPr wrap="square" rtlCol="0" anchor="ctr"/>
          <a:lstStyle/>
          <a:p>
            <a:pPr indent="0" marL="0">
              <a:buNone/>
            </a:pPr>
            <a:r>
              <a:rPr lang="en-US" sz="750" spc="200" kern="0" dirty="0">
                <a:solidFill>
                  <a:srgbClr val="B08D57"/>
                </a:solidFill>
                <a:latin typeface="Jost" pitchFamily="34" charset="0"/>
                <a:ea typeface="Jost" pitchFamily="34" charset="-122"/>
                <a:cs typeface="Jost" pitchFamily="34" charset="-120"/>
              </a:rPr>
              <a:t>MARKETING AND MEMBER ACQUISITION</a:t>
            </a:r>
            <a:endParaRPr lang="en-US" sz="750" dirty="0"/>
          </a:p>
        </p:txBody>
      </p:sp>
      <p:graphicFrame>
        <p:nvGraphicFramePr>
          <p:cNvPr id="109" name="Table 2"/>
          <p:cNvGraphicFramePr>
            <a:graphicFrameLocks noGrp="1"/>
          </p:cNvGraphicFramePr>
          <p:nvPr>
            <p:extLst>
              <p:ext uri="{D42A27DB-BD31-4B8C-83A1-F6EECF244321}">
                <p14:modId xmlns:p14="http://schemas.microsoft.com/office/powerpoint/2010/main" val="1579011935"/>
              </p:ext>
            </p:extLst>
          </p:nvPr>
        </p:nvGraphicFramePr>
        <p:xfrm>
          <a:off x="6025896" y="1545336"/>
          <a:ext cx="2615184" cy="914400"/>
        </p:xfrm>
        <a:graphic>
          <a:graphicData uri="http://schemas.openxmlformats.org/drawingml/2006/table">
            <a:tbl>
              <a:tblPr/>
              <a:tblGrid>
                <a:gridCol w="1609344"/>
                <a:gridCol w="1005840"/>
              </a:tblGrid>
              <a:tr h="155448">
                <a:tc>
                  <a:txBody>
                    <a:bodyPr/>
                    <a:lstStyle/>
                    <a:p>
                      <a:pPr algn="l" indent="0" marL="0">
                        <a:buNone/>
                      </a:pPr>
                      <a:r>
                        <a:rPr lang="en-US" sz="750" spc="140" kern="0" dirty="0">
                          <a:solidFill>
                            <a:srgbClr val="B08D57"/>
                          </a:solidFill>
                          <a:latin typeface="Jost" pitchFamily="34" charset="0"/>
                          <a:ea typeface="Jost" pitchFamily="34" charset="-122"/>
                          <a:cs typeface="Jost" pitchFamily="34" charset="-120"/>
                        </a:rPr>
                        <a:t>COMPONENT</a:t>
                      </a:r>
                      <a:endParaRPr lang="en-US" sz="750" dirty="0">
                        <a:latin typeface="Jost" charset="0"/>
                        <a:ea typeface="Jost" charset="0"/>
                        <a:cs typeface="Jost" charset="0"/>
                      </a:endParaRPr>
                    </a:p>
                  </a:txBody>
                  <a:tcPr marL="13716" marR="13716" marT="13716" marB="13716" anchor="ctr">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000000"/>
                    </a:solidFill>
                  </a:tcPr>
                </a:tc>
                <a:tc>
                  <a:txBody>
                    <a:bodyPr/>
                    <a:lstStyle/>
                    <a:p>
                      <a:pPr algn="r" indent="0" marL="0">
                        <a:buNone/>
                      </a:pPr>
                      <a:r>
                        <a:rPr lang="en-US" sz="750" spc="140" kern="0" dirty="0">
                          <a:solidFill>
                            <a:srgbClr val="B08D57"/>
                          </a:solidFill>
                          <a:latin typeface="Jost" pitchFamily="34" charset="0"/>
                          <a:ea typeface="Jost" pitchFamily="34" charset="-122"/>
                          <a:cs typeface="Jost" pitchFamily="34" charset="-120"/>
                        </a:rPr>
                        <a:t>MONTHLY</a:t>
                      </a:r>
                      <a:endParaRPr lang="en-US" sz="750" dirty="0">
                        <a:latin typeface="Jost" charset="0"/>
                        <a:ea typeface="Jost" charset="0"/>
                        <a:cs typeface="Jost" charset="0"/>
                      </a:endParaRPr>
                    </a:p>
                  </a:txBody>
                  <a:tcPr marL="13716" marR="13716" marT="13716" marB="13716" anchor="ctr">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000000"/>
                    </a:solidFill>
                  </a:tcPr>
                </a:tc>
              </a:tr>
              <a:tr h="155448">
                <a:tc>
                  <a:txBody>
                    <a:bodyPr/>
                    <a:lstStyle/>
                    <a:p>
                      <a:pPr algn="l" indent="0" marL="0">
                        <a:buNone/>
                      </a:pPr>
                      <a:r>
                        <a:rPr lang="en-US" sz="750" dirty="0">
                          <a:solidFill>
                            <a:srgbClr val="EDE7DE"/>
                          </a:solidFill>
                          <a:latin typeface="Jost" pitchFamily="34" charset="0"/>
                          <a:ea typeface="Jost" pitchFamily="34" charset="-122"/>
                          <a:cs typeface="Jost" pitchFamily="34" charset="-120"/>
                        </a:rPr>
                        <a:t>Paid digital and social</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12000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55448">
                <a:tc>
                  <a:txBody>
                    <a:bodyPr/>
                    <a:lstStyle/>
                    <a:p>
                      <a:pPr algn="l" indent="0" marL="0">
                        <a:buNone/>
                      </a:pPr>
                      <a:r>
                        <a:rPr lang="en-US" sz="750" dirty="0">
                          <a:solidFill>
                            <a:srgbClr val="EDE7DE"/>
                          </a:solidFill>
                          <a:latin typeface="Jost" pitchFamily="34" charset="0"/>
                          <a:ea typeface="Jost" pitchFamily="34" charset="-122"/>
                          <a:cs typeface="Jost" pitchFamily="34" charset="-120"/>
                        </a:rPr>
                        <a:t>Content, photography, video</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4000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55448">
                <a:tc>
                  <a:txBody>
                    <a:bodyPr/>
                    <a:lstStyle/>
                    <a:p>
                      <a:pPr algn="l" indent="0" marL="0">
                        <a:buNone/>
                      </a:pPr>
                      <a:r>
                        <a:rPr lang="en-US" sz="750" dirty="0">
                          <a:solidFill>
                            <a:srgbClr val="EDE7DE"/>
                          </a:solidFill>
                          <a:latin typeface="Jost" pitchFamily="34" charset="0"/>
                          <a:ea typeface="Jost" pitchFamily="34" charset="-122"/>
                          <a:cs typeface="Jost" pitchFamily="34" charset="-120"/>
                        </a:rPr>
                        <a:t>Events and community programming</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5000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55448">
                <a:tc>
                  <a:txBody>
                    <a:bodyPr/>
                    <a:lstStyle/>
                    <a:p>
                      <a:pPr algn="l" indent="0" marL="0">
                        <a:buNone/>
                      </a:pPr>
                      <a:r>
                        <a:rPr lang="en-US" sz="750" dirty="0">
                          <a:solidFill>
                            <a:srgbClr val="EDE7DE"/>
                          </a:solidFill>
                          <a:latin typeface="Jost" pitchFamily="34" charset="0"/>
                          <a:ea typeface="Jost" pitchFamily="34" charset="-122"/>
                          <a:cs typeface="Jost" pitchFamily="34" charset="-120"/>
                        </a:rPr>
                        <a:t>Agency / fractional marketing lead</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6000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55448">
                <a:tc>
                  <a:txBody>
                    <a:bodyPr/>
                    <a:lstStyle/>
                    <a:p>
                      <a:pPr algn="l" indent="0" marL="0">
                        <a:buNone/>
                      </a:pPr>
                      <a:r>
                        <a:rPr lang="en-US" sz="750" dirty="0">
                          <a:solidFill>
                            <a:srgbClr val="EDE7DE"/>
                          </a:solidFill>
                          <a:latin typeface="Jost" pitchFamily="34" charset="0"/>
                          <a:ea typeface="Jost" pitchFamily="34" charset="-122"/>
                          <a:cs typeface="Jost" pitchFamily="34" charset="-120"/>
                        </a:rPr>
                        <a:t>Referral and partnership incentives</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3000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55448">
                <a:tc>
                  <a:txBody>
                    <a:bodyPr/>
                    <a:lstStyle/>
                    <a:p>
                      <a:pPr algn="l" indent="0" marL="0">
                        <a:buNone/>
                      </a:pPr>
                      <a:r>
                        <a:rPr lang="en-US" sz="750" dirty="0">
                          <a:solidFill>
                            <a:srgbClr val="B08D57"/>
                          </a:solidFill>
                          <a:latin typeface="Jost" pitchFamily="34" charset="0"/>
                          <a:ea typeface="Jost" pitchFamily="34" charset="-122"/>
                          <a:cs typeface="Jost" pitchFamily="34" charset="-120"/>
                        </a:rPr>
                        <a:t>Total</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B08D57"/>
                          </a:solidFill>
                          <a:latin typeface="Jost" pitchFamily="34" charset="0"/>
                          <a:ea typeface="Jost" pitchFamily="34" charset="-122"/>
                          <a:cs typeface="Jost" pitchFamily="34" charset="-120"/>
                        </a:rPr>
                        <a:t>$30,000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bl>
          </a:graphicData>
        </a:graphic>
      </p:graphicFrame>
      <p:sp>
        <p:nvSpPr>
          <p:cNvPr id="11" name="Text 6"/>
          <p:cNvSpPr/>
          <p:nvPr/>
        </p:nvSpPr>
        <p:spPr>
          <a:xfrm>
            <a:off x="502920" y="2926080"/>
            <a:ext cx="2615184" cy="182880"/>
          </a:xfrm>
          <a:prstGeom prst="rect">
            <a:avLst/>
          </a:prstGeom>
          <a:noFill/>
          <a:ln/>
        </p:spPr>
        <p:txBody>
          <a:bodyPr wrap="square" rtlCol="0" anchor="ctr"/>
          <a:lstStyle/>
          <a:p>
            <a:pPr indent="0" marL="0">
              <a:buNone/>
            </a:pPr>
            <a:r>
              <a:rPr lang="en-US" sz="750" spc="200" kern="0" dirty="0">
                <a:solidFill>
                  <a:srgbClr val="B08D57"/>
                </a:solidFill>
                <a:latin typeface="Jost" pitchFamily="34" charset="0"/>
                <a:ea typeface="Jost" pitchFamily="34" charset="-122"/>
                <a:cs typeface="Jost" pitchFamily="34" charset="-120"/>
              </a:rPr>
              <a:t>MALPRACTICE AND LIABILITY</a:t>
            </a:r>
            <a:endParaRPr lang="en-US" sz="750" dirty="0"/>
          </a:p>
        </p:txBody>
      </p:sp>
      <p:graphicFrame>
        <p:nvGraphicFramePr>
          <p:cNvPr id="145" name="Table 3"/>
          <p:cNvGraphicFramePr>
            <a:graphicFrameLocks noGrp="1"/>
          </p:cNvGraphicFramePr>
          <p:nvPr>
            <p:extLst>
              <p:ext uri="{D42A27DB-BD31-4B8C-83A1-F6EECF244321}">
                <p14:modId xmlns:p14="http://schemas.microsoft.com/office/powerpoint/2010/main" val="1579011935"/>
              </p:ext>
            </p:extLst>
          </p:nvPr>
        </p:nvGraphicFramePr>
        <p:xfrm>
          <a:off x="502920" y="3145536"/>
          <a:ext cx="2615184" cy="914400"/>
        </p:xfrm>
        <a:graphic>
          <a:graphicData uri="http://schemas.openxmlformats.org/drawingml/2006/table">
            <a:tbl>
              <a:tblPr/>
              <a:tblGrid>
                <a:gridCol w="1609344"/>
                <a:gridCol w="1005840"/>
              </a:tblGrid>
              <a:tr h="155448">
                <a:tc>
                  <a:txBody>
                    <a:bodyPr/>
                    <a:lstStyle/>
                    <a:p>
                      <a:pPr algn="l" indent="0" marL="0">
                        <a:buNone/>
                      </a:pPr>
                      <a:r>
                        <a:rPr lang="en-US" sz="750" spc="140" kern="0" dirty="0">
                          <a:solidFill>
                            <a:srgbClr val="B08D57"/>
                          </a:solidFill>
                          <a:latin typeface="Jost" pitchFamily="34" charset="0"/>
                          <a:ea typeface="Jost" pitchFamily="34" charset="-122"/>
                          <a:cs typeface="Jost" pitchFamily="34" charset="-120"/>
                        </a:rPr>
                        <a:t>COMPONENT</a:t>
                      </a:r>
                      <a:endParaRPr lang="en-US" sz="750" dirty="0">
                        <a:latin typeface="Jost" charset="0"/>
                        <a:ea typeface="Jost" charset="0"/>
                        <a:cs typeface="Jost" charset="0"/>
                      </a:endParaRPr>
                    </a:p>
                  </a:txBody>
                  <a:tcPr marL="13716" marR="13716" marT="13716" marB="13716" anchor="ctr">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000000"/>
                    </a:solidFill>
                  </a:tcPr>
                </a:tc>
                <a:tc>
                  <a:txBody>
                    <a:bodyPr/>
                    <a:lstStyle/>
                    <a:p>
                      <a:pPr algn="r" indent="0" marL="0">
                        <a:buNone/>
                      </a:pPr>
                      <a:r>
                        <a:rPr lang="en-US" sz="750" spc="140" kern="0" dirty="0">
                          <a:solidFill>
                            <a:srgbClr val="B08D57"/>
                          </a:solidFill>
                          <a:latin typeface="Jost" pitchFamily="34" charset="0"/>
                          <a:ea typeface="Jost" pitchFamily="34" charset="-122"/>
                          <a:cs typeface="Jost" pitchFamily="34" charset="-120"/>
                        </a:rPr>
                        <a:t>MONTHLY</a:t>
                      </a:r>
                      <a:endParaRPr lang="en-US" sz="750" dirty="0">
                        <a:latin typeface="Jost" charset="0"/>
                        <a:ea typeface="Jost" charset="0"/>
                        <a:cs typeface="Jost" charset="0"/>
                      </a:endParaRPr>
                    </a:p>
                  </a:txBody>
                  <a:tcPr marL="13716" marR="13716" marT="13716" marB="13716" anchor="ctr">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000000"/>
                    </a:solidFill>
                  </a:tcPr>
                </a:tc>
              </a:tr>
              <a:tr h="155448">
                <a:tc>
                  <a:txBody>
                    <a:bodyPr/>
                    <a:lstStyle/>
                    <a:p>
                      <a:pPr algn="l" indent="0" marL="0">
                        <a:buNone/>
                      </a:pPr>
                      <a:r>
                        <a:rPr lang="en-US" sz="750" dirty="0">
                          <a:solidFill>
                            <a:srgbClr val="EDE7DE"/>
                          </a:solidFill>
                          <a:latin typeface="Jost" pitchFamily="34" charset="0"/>
                          <a:ea typeface="Jost" pitchFamily="34" charset="-122"/>
                          <a:cs typeface="Jost" pitchFamily="34" charset="-120"/>
                        </a:rPr>
                        <a:t>Medical Director policy</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3500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55448">
                <a:tc>
                  <a:txBody>
                    <a:bodyPr/>
                    <a:lstStyle/>
                    <a:p>
                      <a:pPr algn="l" indent="0" marL="0">
                        <a:buNone/>
                      </a:pPr>
                      <a:r>
                        <a:rPr lang="en-US" sz="750" dirty="0">
                          <a:solidFill>
                            <a:srgbClr val="EDE7DE"/>
                          </a:solidFill>
                          <a:latin typeface="Jost" pitchFamily="34" charset="0"/>
                          <a:ea typeface="Jost" pitchFamily="34" charset="-122"/>
                          <a:cs typeface="Jost" pitchFamily="34" charset="-120"/>
                        </a:rPr>
                        <a:t>Aesthetics injector policy</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3000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55448">
                <a:tc>
                  <a:txBody>
                    <a:bodyPr/>
                    <a:lstStyle/>
                    <a:p>
                      <a:pPr algn="l" indent="0" marL="0">
                        <a:buNone/>
                      </a:pPr>
                      <a:r>
                        <a:rPr lang="en-US" sz="750" dirty="0">
                          <a:solidFill>
                            <a:srgbClr val="EDE7DE"/>
                          </a:solidFill>
                          <a:latin typeface="Jost" pitchFamily="34" charset="0"/>
                          <a:ea typeface="Jost" pitchFamily="34" charset="-122"/>
                          <a:cs typeface="Jost" pitchFamily="34" charset="-120"/>
                        </a:rPr>
                        <a:t>Longevity clinical lead policy</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2500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55448">
                <a:tc>
                  <a:txBody>
                    <a:bodyPr/>
                    <a:lstStyle/>
                    <a:p>
                      <a:pPr algn="l" indent="0" marL="0">
                        <a:buNone/>
                      </a:pPr>
                      <a:r>
                        <a:rPr lang="en-US" sz="750" dirty="0">
                          <a:solidFill>
                            <a:srgbClr val="EDE7DE"/>
                          </a:solidFill>
                          <a:latin typeface="Jost" pitchFamily="34" charset="0"/>
                          <a:ea typeface="Jost" pitchFamily="34" charset="-122"/>
                          <a:cs typeface="Jost" pitchFamily="34" charset="-120"/>
                        </a:rPr>
                        <a:t>Nursing coverage</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1500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55448">
                <a:tc>
                  <a:txBody>
                    <a:bodyPr/>
                    <a:lstStyle/>
                    <a:p>
                      <a:pPr algn="l" indent="0" marL="0">
                        <a:buNone/>
                      </a:pPr>
                      <a:r>
                        <a:rPr lang="en-US" sz="750" dirty="0">
                          <a:solidFill>
                            <a:srgbClr val="EDE7DE"/>
                          </a:solidFill>
                          <a:latin typeface="Jost" pitchFamily="34" charset="0"/>
                          <a:ea typeface="Jost" pitchFamily="34" charset="-122"/>
                          <a:cs typeface="Jost" pitchFamily="34" charset="-120"/>
                        </a:rPr>
                        <a:t>Entity policy and umbrella</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1500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55448">
                <a:tc>
                  <a:txBody>
                    <a:bodyPr/>
                    <a:lstStyle/>
                    <a:p>
                      <a:pPr algn="l" indent="0" marL="0">
                        <a:buNone/>
                      </a:pPr>
                      <a:r>
                        <a:rPr lang="en-US" sz="750" dirty="0">
                          <a:solidFill>
                            <a:srgbClr val="B08D57"/>
                          </a:solidFill>
                          <a:latin typeface="Jost" pitchFamily="34" charset="0"/>
                          <a:ea typeface="Jost" pitchFamily="34" charset="-122"/>
                          <a:cs typeface="Jost" pitchFamily="34" charset="-120"/>
                        </a:rPr>
                        <a:t>Total</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B08D57"/>
                          </a:solidFill>
                          <a:latin typeface="Jost" pitchFamily="34" charset="0"/>
                          <a:ea typeface="Jost" pitchFamily="34" charset="-122"/>
                          <a:cs typeface="Jost" pitchFamily="34" charset="-120"/>
                        </a:rPr>
                        <a:t>$12,000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bl>
          </a:graphicData>
        </a:graphic>
      </p:graphicFrame>
      <p:sp>
        <p:nvSpPr>
          <p:cNvPr id="13" name="Text 7"/>
          <p:cNvSpPr/>
          <p:nvPr/>
        </p:nvSpPr>
        <p:spPr>
          <a:xfrm>
            <a:off x="3264408" y="2926080"/>
            <a:ext cx="2615184" cy="182880"/>
          </a:xfrm>
          <a:prstGeom prst="rect">
            <a:avLst/>
          </a:prstGeom>
          <a:noFill/>
          <a:ln/>
        </p:spPr>
        <p:txBody>
          <a:bodyPr wrap="square" rtlCol="0" anchor="ctr"/>
          <a:lstStyle/>
          <a:p>
            <a:pPr indent="0" marL="0">
              <a:buNone/>
            </a:pPr>
            <a:r>
              <a:rPr lang="en-US" sz="750" spc="200" kern="0" dirty="0">
                <a:solidFill>
                  <a:srgbClr val="B08D57"/>
                </a:solidFill>
                <a:latin typeface="Jost" pitchFamily="34" charset="0"/>
                <a:ea typeface="Jost" pitchFamily="34" charset="-122"/>
                <a:cs typeface="Jost" pitchFamily="34" charset="-120"/>
              </a:rPr>
              <a:t>UTILITIES, SOFTWARE, MEMBER PLATFORM</a:t>
            </a:r>
            <a:endParaRPr lang="en-US" sz="750" dirty="0"/>
          </a:p>
        </p:txBody>
      </p:sp>
      <p:graphicFrame>
        <p:nvGraphicFramePr>
          <p:cNvPr id="181" name="Table 4"/>
          <p:cNvGraphicFramePr>
            <a:graphicFrameLocks noGrp="1"/>
          </p:cNvGraphicFramePr>
          <p:nvPr>
            <p:extLst>
              <p:ext uri="{D42A27DB-BD31-4B8C-83A1-F6EECF244321}">
                <p14:modId xmlns:p14="http://schemas.microsoft.com/office/powerpoint/2010/main" val="1579011935"/>
              </p:ext>
            </p:extLst>
          </p:nvPr>
        </p:nvGraphicFramePr>
        <p:xfrm>
          <a:off x="3264408" y="3145536"/>
          <a:ext cx="2615184" cy="914400"/>
        </p:xfrm>
        <a:graphic>
          <a:graphicData uri="http://schemas.openxmlformats.org/drawingml/2006/table">
            <a:tbl>
              <a:tblPr/>
              <a:tblGrid>
                <a:gridCol w="1609344"/>
                <a:gridCol w="1005840"/>
              </a:tblGrid>
              <a:tr h="155448">
                <a:tc>
                  <a:txBody>
                    <a:bodyPr/>
                    <a:lstStyle/>
                    <a:p>
                      <a:pPr algn="l" indent="0" marL="0">
                        <a:buNone/>
                      </a:pPr>
                      <a:r>
                        <a:rPr lang="en-US" sz="750" spc="140" kern="0" dirty="0">
                          <a:solidFill>
                            <a:srgbClr val="B08D57"/>
                          </a:solidFill>
                          <a:latin typeface="Jost" pitchFamily="34" charset="0"/>
                          <a:ea typeface="Jost" pitchFamily="34" charset="-122"/>
                          <a:cs typeface="Jost" pitchFamily="34" charset="-120"/>
                        </a:rPr>
                        <a:t>COMPONENT</a:t>
                      </a:r>
                      <a:endParaRPr lang="en-US" sz="750" dirty="0">
                        <a:latin typeface="Jost" charset="0"/>
                        <a:ea typeface="Jost" charset="0"/>
                        <a:cs typeface="Jost" charset="0"/>
                      </a:endParaRPr>
                    </a:p>
                  </a:txBody>
                  <a:tcPr marL="13716" marR="13716" marT="13716" marB="13716" anchor="ctr">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000000"/>
                    </a:solidFill>
                  </a:tcPr>
                </a:tc>
                <a:tc>
                  <a:txBody>
                    <a:bodyPr/>
                    <a:lstStyle/>
                    <a:p>
                      <a:pPr algn="r" indent="0" marL="0">
                        <a:buNone/>
                      </a:pPr>
                      <a:r>
                        <a:rPr lang="en-US" sz="750" spc="140" kern="0" dirty="0">
                          <a:solidFill>
                            <a:srgbClr val="B08D57"/>
                          </a:solidFill>
                          <a:latin typeface="Jost" pitchFamily="34" charset="0"/>
                          <a:ea typeface="Jost" pitchFamily="34" charset="-122"/>
                          <a:cs typeface="Jost" pitchFamily="34" charset="-120"/>
                        </a:rPr>
                        <a:t>MONTHLY</a:t>
                      </a:r>
                      <a:endParaRPr lang="en-US" sz="750" dirty="0">
                        <a:latin typeface="Jost" charset="0"/>
                        <a:ea typeface="Jost" charset="0"/>
                        <a:cs typeface="Jost" charset="0"/>
                      </a:endParaRPr>
                    </a:p>
                  </a:txBody>
                  <a:tcPr marL="13716" marR="13716" marT="13716" marB="13716" anchor="ctr">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000000"/>
                    </a:solidFill>
                  </a:tcPr>
                </a:tc>
              </a:tr>
              <a:tr h="155448">
                <a:tc>
                  <a:txBody>
                    <a:bodyPr/>
                    <a:lstStyle/>
                    <a:p>
                      <a:pPr algn="l" indent="0" marL="0">
                        <a:buNone/>
                      </a:pPr>
                      <a:r>
                        <a:rPr lang="en-US" sz="750" dirty="0">
                          <a:solidFill>
                            <a:srgbClr val="EDE7DE"/>
                          </a:solidFill>
                          <a:latin typeface="Jost" pitchFamily="34" charset="0"/>
                          <a:ea typeface="Jost" pitchFamily="34" charset="-122"/>
                          <a:cs typeface="Jost" pitchFamily="34" charset="-120"/>
                        </a:rPr>
                        <a:t>Utilities (electric, gas, water)</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7000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55448">
                <a:tc>
                  <a:txBody>
                    <a:bodyPr/>
                    <a:lstStyle/>
                    <a:p>
                      <a:pPr algn="l" indent="0" marL="0">
                        <a:buNone/>
                      </a:pPr>
                      <a:r>
                        <a:rPr lang="en-US" sz="750" dirty="0">
                          <a:solidFill>
                            <a:srgbClr val="EDE7DE"/>
                          </a:solidFill>
                          <a:latin typeface="Jost" pitchFamily="34" charset="0"/>
                          <a:ea typeface="Jost" pitchFamily="34" charset="-122"/>
                          <a:cs typeface="Jost" pitchFamily="34" charset="-120"/>
                        </a:rPr>
                        <a:t>Member platform and booking</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2500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55448">
                <a:tc>
                  <a:txBody>
                    <a:bodyPr/>
                    <a:lstStyle/>
                    <a:p>
                      <a:pPr algn="l" indent="0" marL="0">
                        <a:buNone/>
                      </a:pPr>
                      <a:r>
                        <a:rPr lang="en-US" sz="750" dirty="0">
                          <a:solidFill>
                            <a:srgbClr val="EDE7DE"/>
                          </a:solidFill>
                          <a:latin typeface="Jost" pitchFamily="34" charset="0"/>
                          <a:ea typeface="Jost" pitchFamily="34" charset="-122"/>
                          <a:cs typeface="Jost" pitchFamily="34" charset="-120"/>
                        </a:rPr>
                        <a:t>EMR / charting</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2000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55448">
                <a:tc>
                  <a:txBody>
                    <a:bodyPr/>
                    <a:lstStyle/>
                    <a:p>
                      <a:pPr algn="l" indent="0" marL="0">
                        <a:buNone/>
                      </a:pPr>
                      <a:r>
                        <a:rPr lang="en-US" sz="750" dirty="0">
                          <a:solidFill>
                            <a:srgbClr val="EDE7DE"/>
                          </a:solidFill>
                          <a:latin typeface="Jost" pitchFamily="34" charset="0"/>
                          <a:ea typeface="Jost" pitchFamily="34" charset="-122"/>
                          <a:cs typeface="Jost" pitchFamily="34" charset="-120"/>
                        </a:rPr>
                        <a:t>Phone, internet, security monitoring</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1500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55448">
                <a:tc>
                  <a:txBody>
                    <a:bodyPr/>
                    <a:lstStyle/>
                    <a:p>
                      <a:pPr algn="l" indent="0" marL="0">
                        <a:buNone/>
                      </a:pPr>
                      <a:r>
                        <a:rPr lang="en-US" sz="750" dirty="0">
                          <a:solidFill>
                            <a:srgbClr val="EDE7DE"/>
                          </a:solidFill>
                          <a:latin typeface="Jost" pitchFamily="34" charset="0"/>
                          <a:ea typeface="Jost" pitchFamily="34" charset="-122"/>
                          <a:cs typeface="Jost" pitchFamily="34" charset="-120"/>
                        </a:rPr>
                        <a:t>Laundry and linen service</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2000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55448">
                <a:tc>
                  <a:txBody>
                    <a:bodyPr/>
                    <a:lstStyle/>
                    <a:p>
                      <a:pPr algn="l" indent="0" marL="0">
                        <a:buNone/>
                      </a:pPr>
                      <a:r>
                        <a:rPr lang="en-US" sz="750" dirty="0">
                          <a:solidFill>
                            <a:srgbClr val="EDE7DE"/>
                          </a:solidFill>
                          <a:latin typeface="Jost" pitchFamily="34" charset="0"/>
                          <a:ea typeface="Jost" pitchFamily="34" charset="-122"/>
                          <a:cs typeface="Jost" pitchFamily="34" charset="-120"/>
                        </a:rPr>
                        <a:t>Music, AV, miscellaneous systems</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1000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55448">
                <a:tc>
                  <a:txBody>
                    <a:bodyPr/>
                    <a:lstStyle/>
                    <a:p>
                      <a:pPr algn="l" indent="0" marL="0">
                        <a:buNone/>
                      </a:pPr>
                      <a:r>
                        <a:rPr lang="en-US" sz="750" dirty="0">
                          <a:solidFill>
                            <a:srgbClr val="B08D57"/>
                          </a:solidFill>
                          <a:latin typeface="Jost" pitchFamily="34" charset="0"/>
                          <a:ea typeface="Jost" pitchFamily="34" charset="-122"/>
                          <a:cs typeface="Jost" pitchFamily="34" charset="-120"/>
                        </a:rPr>
                        <a:t>Total</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B08D57"/>
                          </a:solidFill>
                          <a:latin typeface="Jost" pitchFamily="34" charset="0"/>
                          <a:ea typeface="Jost" pitchFamily="34" charset="-122"/>
                          <a:cs typeface="Jost" pitchFamily="34" charset="-120"/>
                        </a:rPr>
                        <a:t>$16,000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bl>
          </a:graphicData>
        </a:graphic>
      </p:graphicFrame>
      <p:sp>
        <p:nvSpPr>
          <p:cNvPr id="15" name="Text 8"/>
          <p:cNvSpPr/>
          <p:nvPr/>
        </p:nvSpPr>
        <p:spPr>
          <a:xfrm>
            <a:off x="6025896" y="2926080"/>
            <a:ext cx="2615184" cy="182880"/>
          </a:xfrm>
          <a:prstGeom prst="rect">
            <a:avLst/>
          </a:prstGeom>
          <a:noFill/>
          <a:ln/>
        </p:spPr>
        <p:txBody>
          <a:bodyPr wrap="square" rtlCol="0" anchor="ctr"/>
          <a:lstStyle/>
          <a:p>
            <a:pPr indent="0" marL="0">
              <a:buNone/>
            </a:pPr>
            <a:r>
              <a:rPr lang="en-US" sz="750" spc="200" kern="0" dirty="0">
                <a:solidFill>
                  <a:srgbClr val="B08D57"/>
                </a:solidFill>
                <a:latin typeface="Jost" pitchFamily="34" charset="0"/>
                <a:ea typeface="Jost" pitchFamily="34" charset="-122"/>
                <a:cs typeface="Jost" pitchFamily="34" charset="-120"/>
              </a:rPr>
              <a:t>LICENSING AND COMPLIANCE</a:t>
            </a:r>
            <a:endParaRPr lang="en-US" sz="750" dirty="0"/>
          </a:p>
        </p:txBody>
      </p:sp>
      <p:graphicFrame>
        <p:nvGraphicFramePr>
          <p:cNvPr id="217" name="Table 5"/>
          <p:cNvGraphicFramePr>
            <a:graphicFrameLocks noGrp="1"/>
          </p:cNvGraphicFramePr>
          <p:nvPr>
            <p:extLst>
              <p:ext uri="{D42A27DB-BD31-4B8C-83A1-F6EECF244321}">
                <p14:modId xmlns:p14="http://schemas.microsoft.com/office/powerpoint/2010/main" val="1579011935"/>
              </p:ext>
            </p:extLst>
          </p:nvPr>
        </p:nvGraphicFramePr>
        <p:xfrm>
          <a:off x="6025896" y="3145536"/>
          <a:ext cx="2615184" cy="914400"/>
        </p:xfrm>
        <a:graphic>
          <a:graphicData uri="http://schemas.openxmlformats.org/drawingml/2006/table">
            <a:tbl>
              <a:tblPr/>
              <a:tblGrid>
                <a:gridCol w="1609344"/>
                <a:gridCol w="1005840"/>
              </a:tblGrid>
              <a:tr h="155448">
                <a:tc>
                  <a:txBody>
                    <a:bodyPr/>
                    <a:lstStyle/>
                    <a:p>
                      <a:pPr algn="l" indent="0" marL="0">
                        <a:buNone/>
                      </a:pPr>
                      <a:r>
                        <a:rPr lang="en-US" sz="750" spc="140" kern="0" dirty="0">
                          <a:solidFill>
                            <a:srgbClr val="B08D57"/>
                          </a:solidFill>
                          <a:latin typeface="Jost" pitchFamily="34" charset="0"/>
                          <a:ea typeface="Jost" pitchFamily="34" charset="-122"/>
                          <a:cs typeface="Jost" pitchFamily="34" charset="-120"/>
                        </a:rPr>
                        <a:t>COMPONENT</a:t>
                      </a:r>
                      <a:endParaRPr lang="en-US" sz="750" dirty="0">
                        <a:latin typeface="Jost" charset="0"/>
                        <a:ea typeface="Jost" charset="0"/>
                        <a:cs typeface="Jost" charset="0"/>
                      </a:endParaRPr>
                    </a:p>
                  </a:txBody>
                  <a:tcPr marL="13716" marR="13716" marT="13716" marB="13716" anchor="ctr">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000000"/>
                    </a:solidFill>
                  </a:tcPr>
                </a:tc>
                <a:tc>
                  <a:txBody>
                    <a:bodyPr/>
                    <a:lstStyle/>
                    <a:p>
                      <a:pPr algn="r" indent="0" marL="0">
                        <a:buNone/>
                      </a:pPr>
                      <a:r>
                        <a:rPr lang="en-US" sz="750" spc="140" kern="0" dirty="0">
                          <a:solidFill>
                            <a:srgbClr val="B08D57"/>
                          </a:solidFill>
                          <a:latin typeface="Jost" pitchFamily="34" charset="0"/>
                          <a:ea typeface="Jost" pitchFamily="34" charset="-122"/>
                          <a:cs typeface="Jost" pitchFamily="34" charset="-120"/>
                        </a:rPr>
                        <a:t>MONTHLY</a:t>
                      </a:r>
                      <a:endParaRPr lang="en-US" sz="750" dirty="0">
                        <a:latin typeface="Jost" charset="0"/>
                        <a:ea typeface="Jost" charset="0"/>
                        <a:cs typeface="Jost" charset="0"/>
                      </a:endParaRPr>
                    </a:p>
                  </a:txBody>
                  <a:tcPr marL="13716" marR="13716" marT="13716" marB="13716" anchor="ctr">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000000"/>
                    </a:solidFill>
                  </a:tcPr>
                </a:tc>
              </a:tr>
              <a:tr h="155448">
                <a:tc>
                  <a:txBody>
                    <a:bodyPr/>
                    <a:lstStyle/>
                    <a:p>
                      <a:pPr algn="l" indent="0" marL="0">
                        <a:buNone/>
                      </a:pPr>
                      <a:r>
                        <a:rPr lang="en-US" sz="750" dirty="0">
                          <a:solidFill>
                            <a:srgbClr val="EDE7DE"/>
                          </a:solidFill>
                          <a:latin typeface="Jost" pitchFamily="34" charset="0"/>
                          <a:ea typeface="Jost" pitchFamily="34" charset="-122"/>
                          <a:cs typeface="Jost" pitchFamily="34" charset="-120"/>
                        </a:rPr>
                        <a:t>Business licenses and permits</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1600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55448">
                <a:tc>
                  <a:txBody>
                    <a:bodyPr/>
                    <a:lstStyle/>
                    <a:p>
                      <a:pPr algn="l" indent="0" marL="0">
                        <a:buNone/>
                      </a:pPr>
                      <a:r>
                        <a:rPr lang="en-US" sz="750" dirty="0">
                          <a:solidFill>
                            <a:srgbClr val="EDE7DE"/>
                          </a:solidFill>
                          <a:latin typeface="Jost" pitchFamily="34" charset="0"/>
                          <a:ea typeface="Jost" pitchFamily="34" charset="-122"/>
                          <a:cs typeface="Jost" pitchFamily="34" charset="-120"/>
                        </a:rPr>
                        <a:t>CLIA waiver / lab (bi-annual, amortised)</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10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55448">
                <a:tc>
                  <a:txBody>
                    <a:bodyPr/>
                    <a:lstStyle/>
                    <a:p>
                      <a:pPr algn="l" indent="0" marL="0">
                        <a:buNone/>
                      </a:pPr>
                      <a:r>
                        <a:rPr lang="en-US" sz="750" dirty="0">
                          <a:solidFill>
                            <a:srgbClr val="B08D57"/>
                          </a:solidFill>
                          <a:latin typeface="Jost" pitchFamily="34" charset="0"/>
                          <a:ea typeface="Jost" pitchFamily="34" charset="-122"/>
                          <a:cs typeface="Jost" pitchFamily="34" charset="-120"/>
                        </a:rPr>
                        <a:t>Total</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B08D57"/>
                          </a:solidFill>
                          <a:latin typeface="Jost" pitchFamily="34" charset="0"/>
                          <a:ea typeface="Jost" pitchFamily="34" charset="-122"/>
                          <a:cs typeface="Jost" pitchFamily="34" charset="-120"/>
                        </a:rPr>
                        <a:t>$1,610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bl>
          </a:graphicData>
        </a:graphic>
      </p:graphicFrame>
      <p:sp>
        <p:nvSpPr>
          <p:cNvPr id="17" name="Text 9"/>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B6965"/>
                </a:solidFill>
                <a:latin typeface="Jost" pitchFamily="34" charset="0"/>
                <a:ea typeface="Jost" pitchFamily="34" charset="-122"/>
                <a:cs typeface="Jost" pitchFamily="34" charset="-120"/>
              </a:rPr>
              <a:t>L&amp;K WELLNESS  ·  PRIVATE INVESTMENT BRIEF  ·  CONFIDENTIAL</a:t>
            </a:r>
            <a:endParaRPr lang="en-US" sz="700" dirty="0"/>
          </a:p>
        </p:txBody>
      </p:sp>
      <p:sp>
        <p:nvSpPr>
          <p:cNvPr id="18" name="Text 10"/>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B6965"/>
                </a:solidFill>
                <a:latin typeface="Jost" pitchFamily="34" charset="0"/>
                <a:ea typeface="Jost" pitchFamily="34" charset="-122"/>
                <a:cs typeface="Jost" pitchFamily="34" charset="-120"/>
              </a:rPr>
              <a:t>36</a:t>
            </a:r>
            <a:endParaRPr lang="en-US" sz="70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B08D57"/>
                </a:solidFill>
                <a:latin typeface="Jost" pitchFamily="34" charset="0"/>
                <a:ea typeface="Jost" pitchFamily="34" charset="-122"/>
                <a:cs typeface="Jost" pitchFamily="34" charset="-120"/>
              </a:rPr>
              <a:t>APPENDIX  ·  COST OF GOODS</a:t>
            </a:r>
            <a:endParaRPr lang="en-US" sz="900" dirty="0"/>
          </a:p>
        </p:txBody>
      </p:sp>
      <p:sp>
        <p:nvSpPr>
          <p:cNvPr id="3" name="Shape 1"/>
          <p:cNvSpPr/>
          <p:nvPr/>
        </p:nvSpPr>
        <p:spPr>
          <a:xfrm>
            <a:off x="502920" y="557784"/>
            <a:ext cx="566928" cy="12802"/>
          </a:xfrm>
          <a:prstGeom prst="rect">
            <a:avLst/>
          </a:prstGeom>
          <a:solidFill>
            <a:srgbClr val="B08D57"/>
          </a:solidFill>
          <a:ln w="12700">
            <a:solidFill>
              <a:srgbClr val="B08D57"/>
            </a:solidFill>
            <a:prstDash val="solid"/>
          </a:ln>
        </p:spPr>
      </p:sp>
      <p:sp>
        <p:nvSpPr>
          <p:cNvPr id="4" name="Text 2"/>
          <p:cNvSpPr/>
          <p:nvPr/>
        </p:nvSpPr>
        <p:spPr>
          <a:xfrm>
            <a:off x="502920" y="621792"/>
            <a:ext cx="8138160" cy="548640"/>
          </a:xfrm>
          <a:prstGeom prst="rect">
            <a:avLst/>
          </a:prstGeom>
          <a:noFill/>
          <a:ln/>
        </p:spPr>
        <p:txBody>
          <a:bodyPr wrap="square" rtlCol="0" anchor="t"/>
          <a:lstStyle/>
          <a:p>
            <a:pPr indent="0" marL="0">
              <a:buNone/>
            </a:pPr>
            <a:r>
              <a:rPr lang="en-US" sz="2600" spc="400" kern="0" dirty="0">
                <a:solidFill>
                  <a:srgbClr val="EDE7DE"/>
                </a:solidFill>
                <a:latin typeface="Cormorant Garamond" pitchFamily="34" charset="0"/>
                <a:ea typeface="Cormorant Garamond" pitchFamily="34" charset="-122"/>
                <a:cs typeface="Cormorant Garamond" pitchFamily="34" charset="-120"/>
              </a:rPr>
              <a:t>WHAT THE MARGINS PAY FOR</a:t>
            </a:r>
            <a:endParaRPr lang="en-US" sz="2600" dirty="0"/>
          </a:p>
        </p:txBody>
      </p:sp>
      <p:sp>
        <p:nvSpPr>
          <p:cNvPr id="5" name="Text 3"/>
          <p:cNvSpPr/>
          <p:nvPr/>
        </p:nvSpPr>
        <p:spPr>
          <a:xfrm>
            <a:off x="502920" y="1115568"/>
            <a:ext cx="7487107" cy="457200"/>
          </a:xfrm>
          <a:prstGeom prst="rect">
            <a:avLst/>
          </a:prstGeom>
          <a:noFill/>
          <a:ln/>
        </p:spPr>
        <p:txBody>
          <a:bodyPr wrap="square" rtlCol="0" anchor="t"/>
          <a:lstStyle/>
          <a:p>
            <a:pPr indent="0" marL="0">
              <a:lnSpc>
                <a:spcPct val="120000"/>
              </a:lnSpc>
              <a:buNone/>
            </a:pPr>
            <a:r>
              <a:rPr lang="en-US" sz="1050" dirty="0">
                <a:solidFill>
                  <a:srgbClr val="C9BCA9"/>
                </a:solidFill>
                <a:latin typeface="Jost" pitchFamily="34" charset="0"/>
                <a:ea typeface="Jost" pitchFamily="34" charset="-122"/>
                <a:cs typeface="Jost" pitchFamily="34" charset="-120"/>
              </a:rPr>
              <a:t>Cost of goods runs $165,563 a month against $598,036 of revenue, a blended 72.3% margin. Circuit consumables are carried separately at $8 a visit across 2,345 monthly visits, or $18,760.</a:t>
            </a:r>
            <a:endParaRPr lang="en-US" sz="1050" dirty="0"/>
          </a:p>
        </p:txBody>
      </p:sp>
      <p:graphicFrame>
        <p:nvGraphicFramePr>
          <p:cNvPr id="38" name="Table 0"/>
          <p:cNvGraphicFramePr>
            <a:graphicFrameLocks noGrp="1"/>
          </p:cNvGraphicFramePr>
          <p:nvPr>
            <p:extLst>
              <p:ext uri="{D42A27DB-BD31-4B8C-83A1-F6EECF244321}">
                <p14:modId xmlns:p14="http://schemas.microsoft.com/office/powerpoint/2010/main" val="1579011935"/>
              </p:ext>
            </p:extLst>
          </p:nvPr>
        </p:nvGraphicFramePr>
        <p:xfrm>
          <a:off x="502920" y="1691640"/>
          <a:ext cx="8138160" cy="914400"/>
        </p:xfrm>
        <a:graphic>
          <a:graphicData uri="http://schemas.openxmlformats.org/drawingml/2006/table">
            <a:tbl>
              <a:tblPr/>
              <a:tblGrid>
                <a:gridCol w="1737360"/>
                <a:gridCol w="822960"/>
                <a:gridCol w="5577840"/>
              </a:tblGrid>
              <a:tr h="219456">
                <a:tc>
                  <a:txBody>
                    <a:bodyPr/>
                    <a:lstStyle/>
                    <a:p>
                      <a:pPr algn="l" indent="0" marL="0">
                        <a:buNone/>
                      </a:pPr>
                      <a:r>
                        <a:rPr lang="en-US" sz="750" spc="140" kern="0" dirty="0">
                          <a:solidFill>
                            <a:srgbClr val="B08D57"/>
                          </a:solidFill>
                          <a:latin typeface="Jost" pitchFamily="34" charset="0"/>
                          <a:ea typeface="Jost" pitchFamily="34" charset="-122"/>
                          <a:cs typeface="Jost" pitchFamily="34" charset="-120"/>
                        </a:rPr>
                        <a:t>CATEGORY</a:t>
                      </a:r>
                      <a:endParaRPr lang="en-US" sz="750" dirty="0">
                        <a:latin typeface="Jost" charset="0"/>
                        <a:ea typeface="Jost" charset="0"/>
                        <a:cs typeface="Jost" charset="0"/>
                      </a:endParaRPr>
                    </a:p>
                  </a:txBody>
                  <a:tcPr marL="18288" marR="18288" marT="18288" marB="18288" anchor="ctr">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000000"/>
                    </a:solidFill>
                  </a:tcPr>
                </a:tc>
                <a:tc>
                  <a:txBody>
                    <a:bodyPr/>
                    <a:lstStyle/>
                    <a:p>
                      <a:pPr algn="r" indent="0" marL="0">
                        <a:buNone/>
                      </a:pPr>
                      <a:r>
                        <a:rPr lang="en-US" sz="750" spc="140" kern="0" dirty="0">
                          <a:solidFill>
                            <a:srgbClr val="B08D57"/>
                          </a:solidFill>
                          <a:latin typeface="Jost" pitchFamily="34" charset="0"/>
                          <a:ea typeface="Jost" pitchFamily="34" charset="-122"/>
                          <a:cs typeface="Jost" pitchFamily="34" charset="-120"/>
                        </a:rPr>
                        <a:t>MARGIN</a:t>
                      </a:r>
                      <a:endParaRPr lang="en-US" sz="750" dirty="0">
                        <a:latin typeface="Jost" charset="0"/>
                        <a:ea typeface="Jost" charset="0"/>
                        <a:cs typeface="Jost" charset="0"/>
                      </a:endParaRPr>
                    </a:p>
                  </a:txBody>
                  <a:tcPr marL="18288" marR="18288" marT="18288" marB="18288" anchor="ctr">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000000"/>
                    </a:solidFill>
                  </a:tcPr>
                </a:tc>
                <a:tc>
                  <a:txBody>
                    <a:bodyPr/>
                    <a:lstStyle/>
                    <a:p>
                      <a:pPr algn="l" indent="0" marL="0">
                        <a:buNone/>
                      </a:pPr>
                      <a:r>
                        <a:rPr lang="en-US" sz="750" spc="140" kern="0" dirty="0">
                          <a:solidFill>
                            <a:srgbClr val="B08D57"/>
                          </a:solidFill>
                          <a:latin typeface="Jost" pitchFamily="34" charset="0"/>
                          <a:ea typeface="Jost" pitchFamily="34" charset="-122"/>
                          <a:cs typeface="Jost" pitchFamily="34" charset="-120"/>
                        </a:rPr>
                        <a:t>WHAT THE COST SIDE IS</a:t>
                      </a:r>
                      <a:endParaRPr lang="en-US" sz="750" dirty="0">
                        <a:latin typeface="Jost" charset="0"/>
                        <a:ea typeface="Jost" charset="0"/>
                        <a:cs typeface="Jost" charset="0"/>
                      </a:endParaRPr>
                    </a:p>
                  </a:txBody>
                  <a:tcPr marL="18288" marR="18288" marT="18288" marB="18288" anchor="ctr">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000000"/>
                    </a:solidFill>
                  </a:tcPr>
                </a:tc>
              </a:tr>
              <a:tr h="219456">
                <a:tc>
                  <a:txBody>
                    <a:bodyPr/>
                    <a:lstStyle/>
                    <a:p>
                      <a:pPr algn="l" indent="0" marL="0">
                        <a:buNone/>
                      </a:pPr>
                      <a:r>
                        <a:rPr lang="en-US" sz="750" dirty="0">
                          <a:solidFill>
                            <a:srgbClr val="EDE7DE"/>
                          </a:solidFill>
                          <a:latin typeface="Jost" pitchFamily="34" charset="0"/>
                          <a:ea typeface="Jost" pitchFamily="34" charset="-122"/>
                          <a:cs typeface="Jost" pitchFamily="34" charset="-120"/>
                        </a:rPr>
                        <a:t>Recovery</a:t>
                      </a:r>
                      <a:endParaRPr lang="en-US" sz="750" dirty="0">
                        <a:latin typeface="Jost" charset="0"/>
                        <a:ea typeface="Jost" charset="0"/>
                        <a:cs typeface="Jost" charset="0"/>
                      </a:endParaRPr>
                    </a:p>
                  </a:txBody>
                  <a:tcPr marL="18288" marR="18288" marT="18288" marB="18288"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80–82%</a:t>
                      </a:r>
                      <a:endParaRPr lang="en-US" sz="750" dirty="0">
                        <a:latin typeface="Jost" charset="0"/>
                        <a:ea typeface="Jost" charset="0"/>
                        <a:cs typeface="Jost" charset="0"/>
                      </a:endParaRPr>
                    </a:p>
                  </a:txBody>
                  <a:tcPr marL="18288" marR="18288" marT="18288" marB="18288"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l" indent="0" marL="0">
                        <a:buNone/>
                      </a:pPr>
                      <a:r>
                        <a:rPr lang="en-US" sz="750" dirty="0">
                          <a:solidFill>
                            <a:srgbClr val="C9BCA9"/>
                          </a:solidFill>
                          <a:latin typeface="Jost" pitchFamily="34" charset="0"/>
                          <a:ea typeface="Jost" pitchFamily="34" charset="-122"/>
                          <a:cs typeface="Jost" pitchFamily="34" charset="-120"/>
                        </a:rPr>
                        <a:t>Consumables, filters and water treatment, linens, device servicing contracts. Almost no per-session variable cost, which is why these margins are the highest in the building.</a:t>
                      </a:r>
                      <a:endParaRPr lang="en-US" sz="750" dirty="0">
                        <a:latin typeface="Jost" charset="0"/>
                        <a:ea typeface="Jost" charset="0"/>
                        <a:cs typeface="Jost" charset="0"/>
                      </a:endParaRPr>
                    </a:p>
                  </a:txBody>
                  <a:tcPr marL="18288" marR="18288" marT="18288" marB="18288"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219456">
                <a:tc>
                  <a:txBody>
                    <a:bodyPr/>
                    <a:lstStyle/>
                    <a:p>
                      <a:pPr algn="l" indent="0" marL="0">
                        <a:buNone/>
                      </a:pPr>
                      <a:r>
                        <a:rPr lang="en-US" sz="750" dirty="0">
                          <a:solidFill>
                            <a:srgbClr val="EDE7DE"/>
                          </a:solidFill>
                          <a:latin typeface="Jost" pitchFamily="34" charset="0"/>
                          <a:ea typeface="Jost" pitchFamily="34" charset="-122"/>
                          <a:cs typeface="Jost" pitchFamily="34" charset="-120"/>
                        </a:rPr>
                        <a:t>PRP</a:t>
                      </a:r>
                      <a:endParaRPr lang="en-US" sz="750" dirty="0">
                        <a:latin typeface="Jost" charset="0"/>
                        <a:ea typeface="Jost" charset="0"/>
                        <a:cs typeface="Jost" charset="0"/>
                      </a:endParaRPr>
                    </a:p>
                  </a:txBody>
                  <a:tcPr marL="18288" marR="18288" marT="18288" marB="18288"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60–72%</a:t>
                      </a:r>
                      <a:endParaRPr lang="en-US" sz="750" dirty="0">
                        <a:latin typeface="Jost" charset="0"/>
                        <a:ea typeface="Jost" charset="0"/>
                        <a:cs typeface="Jost" charset="0"/>
                      </a:endParaRPr>
                    </a:p>
                  </a:txBody>
                  <a:tcPr marL="18288" marR="18288" marT="18288" marB="18288"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l" indent="0" marL="0">
                        <a:buNone/>
                      </a:pPr>
                      <a:r>
                        <a:rPr lang="en-US" sz="750" dirty="0">
                          <a:solidFill>
                            <a:srgbClr val="C9BCA9"/>
                          </a:solidFill>
                          <a:latin typeface="Jost" pitchFamily="34" charset="0"/>
                          <a:ea typeface="Jost" pitchFamily="34" charset="-122"/>
                          <a:cs typeface="Jost" pitchFamily="34" charset="-120"/>
                        </a:rPr>
                        <a:t>Draw kits, separation tubes and centrifuge consumables, needles and sharps, topical anaesthetic. Cost per case is close to fixed, so the margin spread across the six lines is a pricing decision rather than a cost one.</a:t>
                      </a:r>
                      <a:endParaRPr lang="en-US" sz="750" dirty="0">
                        <a:latin typeface="Jost" charset="0"/>
                        <a:ea typeface="Jost" charset="0"/>
                        <a:cs typeface="Jost" charset="0"/>
                      </a:endParaRPr>
                    </a:p>
                  </a:txBody>
                  <a:tcPr marL="18288" marR="18288" marT="18288" marB="18288"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219456">
                <a:tc>
                  <a:txBody>
                    <a:bodyPr/>
                    <a:lstStyle/>
                    <a:p>
                      <a:pPr algn="l" indent="0" marL="0">
                        <a:buNone/>
                      </a:pPr>
                      <a:r>
                        <a:rPr lang="en-US" sz="750" dirty="0">
                          <a:solidFill>
                            <a:srgbClr val="EDE7DE"/>
                          </a:solidFill>
                          <a:latin typeface="Jost" pitchFamily="34" charset="0"/>
                          <a:ea typeface="Jost" pitchFamily="34" charset="-122"/>
                          <a:cs typeface="Jost" pitchFamily="34" charset="-120"/>
                        </a:rPr>
                        <a:t>Regenerative</a:t>
                      </a:r>
                      <a:endParaRPr lang="en-US" sz="750" dirty="0">
                        <a:latin typeface="Jost" charset="0"/>
                        <a:ea typeface="Jost" charset="0"/>
                        <a:cs typeface="Jost" charset="0"/>
                      </a:endParaRPr>
                    </a:p>
                  </a:txBody>
                  <a:tcPr marL="18288" marR="18288" marT="18288" marB="18288"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56–78%</a:t>
                      </a:r>
                      <a:endParaRPr lang="en-US" sz="750" dirty="0">
                        <a:latin typeface="Jost" charset="0"/>
                        <a:ea typeface="Jost" charset="0"/>
                        <a:cs typeface="Jost" charset="0"/>
                      </a:endParaRPr>
                    </a:p>
                  </a:txBody>
                  <a:tcPr marL="18288" marR="18288" marT="18288" marB="18288"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l" indent="0" marL="0">
                        <a:buNone/>
                      </a:pPr>
                      <a:r>
                        <a:rPr lang="en-US" sz="750" dirty="0">
                          <a:solidFill>
                            <a:srgbClr val="C9BCA9"/>
                          </a:solidFill>
                          <a:latin typeface="Jost" pitchFamily="34" charset="0"/>
                          <a:ea typeface="Jost" pitchFamily="34" charset="-122"/>
                          <a:cs typeface="Jost" pitchFamily="34" charset="-120"/>
                        </a:rPr>
                        <a:t>IV bags and tubing, vitamins, glutathione and NAD+ compound, pharmacy cost on prescribed therapeutics. The widest band in the book: NAD+ carries the compound cost and the hydration drips carry almost none.</a:t>
                      </a:r>
                      <a:endParaRPr lang="en-US" sz="750" dirty="0">
                        <a:latin typeface="Jost" charset="0"/>
                        <a:ea typeface="Jost" charset="0"/>
                        <a:cs typeface="Jost" charset="0"/>
                      </a:endParaRPr>
                    </a:p>
                  </a:txBody>
                  <a:tcPr marL="18288" marR="18288" marT="18288" marB="18288"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219456">
                <a:tc>
                  <a:txBody>
                    <a:bodyPr/>
                    <a:lstStyle/>
                    <a:p>
                      <a:pPr algn="l" indent="0" marL="0">
                        <a:buNone/>
                      </a:pPr>
                      <a:r>
                        <a:rPr lang="en-US" sz="750" dirty="0">
                          <a:solidFill>
                            <a:srgbClr val="EDE7DE"/>
                          </a:solidFill>
                          <a:latin typeface="Jost" pitchFamily="34" charset="0"/>
                          <a:ea typeface="Jost" pitchFamily="34" charset="-122"/>
                          <a:cs typeface="Jost" pitchFamily="34" charset="-120"/>
                        </a:rPr>
                        <a:t>Aesthetics</a:t>
                      </a:r>
                      <a:endParaRPr lang="en-US" sz="750" dirty="0">
                        <a:latin typeface="Jost" charset="0"/>
                        <a:ea typeface="Jost" charset="0"/>
                        <a:cs typeface="Jost" charset="0"/>
                      </a:endParaRPr>
                    </a:p>
                  </a:txBody>
                  <a:tcPr marL="18288" marR="18288" marT="18288" marB="18288"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65–75%</a:t>
                      </a:r>
                      <a:endParaRPr lang="en-US" sz="750" dirty="0">
                        <a:latin typeface="Jost" charset="0"/>
                        <a:ea typeface="Jost" charset="0"/>
                        <a:cs typeface="Jost" charset="0"/>
                      </a:endParaRPr>
                    </a:p>
                  </a:txBody>
                  <a:tcPr marL="18288" marR="18288" marT="18288" marB="18288"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l" indent="0" marL="0">
                        <a:buNone/>
                      </a:pPr>
                      <a:r>
                        <a:rPr lang="en-US" sz="750" dirty="0">
                          <a:solidFill>
                            <a:srgbClr val="C9BCA9"/>
                          </a:solidFill>
                          <a:latin typeface="Jost" pitchFamily="34" charset="0"/>
                          <a:ea typeface="Jost" pitchFamily="34" charset="-122"/>
                          <a:cs typeface="Jost" pitchFamily="34" charset="-120"/>
                        </a:rPr>
                        <a:t>Neuromodulator and filler units at acquisition cost, RF microneedling tips, laser consumables, topicals. Filler is the thinnest because product cost dominates a single syringe.</a:t>
                      </a:r>
                      <a:endParaRPr lang="en-US" sz="750" dirty="0">
                        <a:latin typeface="Jost" charset="0"/>
                        <a:ea typeface="Jost" charset="0"/>
                        <a:cs typeface="Jost" charset="0"/>
                      </a:endParaRPr>
                    </a:p>
                  </a:txBody>
                  <a:tcPr marL="18288" marR="18288" marT="18288" marB="18288"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219456">
                <a:tc>
                  <a:txBody>
                    <a:bodyPr/>
                    <a:lstStyle/>
                    <a:p>
                      <a:pPr algn="l" indent="0" marL="0">
                        <a:buNone/>
                      </a:pPr>
                      <a:r>
                        <a:rPr lang="en-US" sz="750" dirty="0">
                          <a:solidFill>
                            <a:srgbClr val="EDE7DE"/>
                          </a:solidFill>
                          <a:latin typeface="Jost" pitchFamily="34" charset="0"/>
                          <a:ea typeface="Jost" pitchFamily="34" charset="-122"/>
                          <a:cs typeface="Jost" pitchFamily="34" charset="-120"/>
                        </a:rPr>
                        <a:t>Diagnostics</a:t>
                      </a:r>
                      <a:endParaRPr lang="en-US" sz="750" dirty="0">
                        <a:latin typeface="Jost" charset="0"/>
                        <a:ea typeface="Jost" charset="0"/>
                        <a:cs typeface="Jost" charset="0"/>
                      </a:endParaRPr>
                    </a:p>
                  </a:txBody>
                  <a:tcPr marL="18288" marR="18288" marT="18288" marB="18288"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65–77%</a:t>
                      </a:r>
                      <a:endParaRPr lang="en-US" sz="750" dirty="0">
                        <a:latin typeface="Jost" charset="0"/>
                        <a:ea typeface="Jost" charset="0"/>
                        <a:cs typeface="Jost" charset="0"/>
                      </a:endParaRPr>
                    </a:p>
                  </a:txBody>
                  <a:tcPr marL="18288" marR="18288" marT="18288" marB="18288"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l" indent="0" marL="0">
                        <a:buNone/>
                      </a:pPr>
                      <a:r>
                        <a:rPr lang="en-US" sz="750" dirty="0">
                          <a:solidFill>
                            <a:srgbClr val="C9BCA9"/>
                          </a:solidFill>
                          <a:latin typeface="Jost" pitchFamily="34" charset="0"/>
                          <a:ea typeface="Jost" pitchFamily="34" charset="-122"/>
                          <a:cs typeface="Jost" pitchFamily="34" charset="-120"/>
                        </a:rPr>
                        <a:t>Reference lab send-out fees, DEXA consumables, DNA and DUTCH collection kits, interpretation time. DEXA sits at the top because the scanner is owned and the marginal cost of a scan is small.</a:t>
                      </a:r>
                      <a:endParaRPr lang="en-US" sz="750" dirty="0">
                        <a:latin typeface="Jost" charset="0"/>
                        <a:ea typeface="Jost" charset="0"/>
                        <a:cs typeface="Jost" charset="0"/>
                      </a:endParaRPr>
                    </a:p>
                  </a:txBody>
                  <a:tcPr marL="18288" marR="18288" marT="18288" marB="18288"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219456">
                <a:tc>
                  <a:txBody>
                    <a:bodyPr/>
                    <a:lstStyle/>
                    <a:p>
                      <a:pPr algn="l" indent="0" marL="0">
                        <a:buNone/>
                      </a:pPr>
                      <a:r>
                        <a:rPr lang="en-US" sz="750" dirty="0">
                          <a:solidFill>
                            <a:srgbClr val="EDE7DE"/>
                          </a:solidFill>
                          <a:latin typeface="Jost" pitchFamily="34" charset="0"/>
                          <a:ea typeface="Jost" pitchFamily="34" charset="-122"/>
                          <a:cs typeface="Jost" pitchFamily="34" charset="-120"/>
                        </a:rPr>
                        <a:t>Surgery: facility fee</a:t>
                      </a:r>
                      <a:endParaRPr lang="en-US" sz="750" dirty="0">
                        <a:latin typeface="Jost" charset="0"/>
                        <a:ea typeface="Jost" charset="0"/>
                        <a:cs typeface="Jost" charset="0"/>
                      </a:endParaRPr>
                    </a:p>
                  </a:txBody>
                  <a:tcPr marL="18288" marR="18288" marT="18288" marB="18288"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78–80%</a:t>
                      </a:r>
                      <a:endParaRPr lang="en-US" sz="750" dirty="0">
                        <a:latin typeface="Jost" charset="0"/>
                        <a:ea typeface="Jost" charset="0"/>
                        <a:cs typeface="Jost" charset="0"/>
                      </a:endParaRPr>
                    </a:p>
                  </a:txBody>
                  <a:tcPr marL="18288" marR="18288" marT="18288" marB="18288"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l" indent="0" marL="0">
                        <a:buNone/>
                      </a:pPr>
                      <a:r>
                        <a:rPr lang="en-US" sz="750" dirty="0">
                          <a:solidFill>
                            <a:srgbClr val="C9BCA9"/>
                          </a:solidFill>
                          <a:latin typeface="Jost" pitchFamily="34" charset="0"/>
                          <a:ea typeface="Jost" pitchFamily="34" charset="-122"/>
                          <a:cs typeface="Jost" pitchFamily="34" charset="-120"/>
                        </a:rPr>
                        <a:t>Disposables, implants, drugs and linens, instrument reprocessing. Clinical staff sits in fixed overhead and the surgeon takes no share of the facility fee, which is why these exceed the treatment-room lines.</a:t>
                      </a:r>
                      <a:endParaRPr lang="en-US" sz="750" dirty="0">
                        <a:latin typeface="Jost" charset="0"/>
                        <a:ea typeface="Jost" charset="0"/>
                        <a:cs typeface="Jost" charset="0"/>
                      </a:endParaRPr>
                    </a:p>
                  </a:txBody>
                  <a:tcPr marL="18288" marR="18288" marT="18288" marB="18288"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219456">
                <a:tc>
                  <a:txBody>
                    <a:bodyPr/>
                    <a:lstStyle/>
                    <a:p>
                      <a:pPr algn="l" indent="0" marL="0">
                        <a:buNone/>
                      </a:pPr>
                      <a:r>
                        <a:rPr lang="en-US" sz="750" dirty="0">
                          <a:solidFill>
                            <a:srgbClr val="EDE7DE"/>
                          </a:solidFill>
                          <a:latin typeface="Jost" pitchFamily="34" charset="0"/>
                          <a:ea typeface="Jost" pitchFamily="34" charset="-122"/>
                          <a:cs typeface="Jost" pitchFamily="34" charset="-120"/>
                        </a:rPr>
                        <a:t>Surgery: full fee</a:t>
                      </a:r>
                      <a:endParaRPr lang="en-US" sz="750" dirty="0">
                        <a:latin typeface="Jost" charset="0"/>
                        <a:ea typeface="Jost" charset="0"/>
                        <a:cs typeface="Jost" charset="0"/>
                      </a:endParaRPr>
                    </a:p>
                  </a:txBody>
                  <a:tcPr marL="18288" marR="18288" marT="18288" marB="18288"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73–76%</a:t>
                      </a:r>
                      <a:endParaRPr lang="en-US" sz="750" dirty="0">
                        <a:latin typeface="Jost" charset="0"/>
                        <a:ea typeface="Jost" charset="0"/>
                        <a:cs typeface="Jost" charset="0"/>
                      </a:endParaRPr>
                    </a:p>
                  </a:txBody>
                  <a:tcPr marL="18288" marR="18288" marT="18288" marB="18288"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l" indent="0" marL="0">
                        <a:buNone/>
                      </a:pPr>
                      <a:r>
                        <a:rPr lang="en-US" sz="750" dirty="0">
                          <a:solidFill>
                            <a:srgbClr val="C9BCA9"/>
                          </a:solidFill>
                          <a:latin typeface="Jost" pitchFamily="34" charset="0"/>
                          <a:ea typeface="Jost" pitchFamily="34" charset="-122"/>
                          <a:cs typeface="Jost" pitchFamily="34" charset="-120"/>
                        </a:rPr>
                        <a:t>As above, plus graft handling and technician time on hair restoration and laser consumables on ablative resurfacing.</a:t>
                      </a:r>
                      <a:endParaRPr lang="en-US" sz="750" dirty="0">
                        <a:latin typeface="Jost" charset="0"/>
                        <a:ea typeface="Jost" charset="0"/>
                        <a:cs typeface="Jost" charset="0"/>
                      </a:endParaRPr>
                    </a:p>
                  </a:txBody>
                  <a:tcPr marL="18288" marR="18288" marT="18288" marB="18288"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bl>
          </a:graphicData>
        </a:graphic>
      </p:graphicFrame>
      <p:sp>
        <p:nvSpPr>
          <p:cNvPr id="7" name="Text 4"/>
          <p:cNvSpPr/>
          <p:nvPr/>
        </p:nvSpPr>
        <p:spPr>
          <a:xfrm>
            <a:off x="502920" y="3529584"/>
            <a:ext cx="8138160" cy="182880"/>
          </a:xfrm>
          <a:prstGeom prst="rect">
            <a:avLst/>
          </a:prstGeom>
          <a:noFill/>
          <a:ln/>
        </p:spPr>
        <p:txBody>
          <a:bodyPr wrap="square" rtlCol="0" anchor="ctr"/>
          <a:lstStyle/>
          <a:p>
            <a:pPr indent="0" marL="0">
              <a:buNone/>
            </a:pPr>
            <a:r>
              <a:rPr lang="en-US" sz="750" spc="200" kern="0" dirty="0">
                <a:solidFill>
                  <a:srgbClr val="B08D57"/>
                </a:solidFill>
                <a:latin typeface="Jost" pitchFamily="34" charset="0"/>
                <a:ea typeface="Jost" pitchFamily="34" charset="-122"/>
                <a:cs typeface="Jost" pitchFamily="34" charset="-120"/>
              </a:rPr>
              <a:t>IF RENT IS WRONG, WHAT HAPPENS</a:t>
            </a:r>
            <a:endParaRPr lang="en-US" sz="750" dirty="0"/>
          </a:p>
        </p:txBody>
      </p:sp>
      <p:graphicFrame>
        <p:nvGraphicFramePr>
          <p:cNvPr id="75" name="Table 1"/>
          <p:cNvGraphicFramePr>
            <a:graphicFrameLocks noGrp="1"/>
          </p:cNvGraphicFramePr>
          <p:nvPr>
            <p:extLst>
              <p:ext uri="{D42A27DB-BD31-4B8C-83A1-F6EECF244321}">
                <p14:modId xmlns:p14="http://schemas.microsoft.com/office/powerpoint/2010/main" val="1579011935"/>
              </p:ext>
            </p:extLst>
          </p:nvPr>
        </p:nvGraphicFramePr>
        <p:xfrm>
          <a:off x="502920" y="3730752"/>
          <a:ext cx="8138160" cy="914400"/>
        </p:xfrm>
        <a:graphic>
          <a:graphicData uri="http://schemas.openxmlformats.org/drawingml/2006/table">
            <a:tbl>
              <a:tblPr/>
              <a:tblGrid>
                <a:gridCol w="2103120"/>
                <a:gridCol w="1463040"/>
                <a:gridCol w="1645920"/>
                <a:gridCol w="1554480"/>
                <a:gridCol w="1371600"/>
              </a:tblGrid>
              <a:tr h="173736">
                <a:tc>
                  <a:txBody>
                    <a:bodyPr/>
                    <a:lstStyle/>
                    <a:p>
                      <a:pPr algn="l" indent="0" marL="0">
                        <a:buNone/>
                      </a:pPr>
                      <a:r>
                        <a:rPr lang="en-US" sz="750" spc="140" kern="0" dirty="0">
                          <a:solidFill>
                            <a:srgbClr val="B08D57"/>
                          </a:solidFill>
                          <a:latin typeface="Jost" pitchFamily="34" charset="0"/>
                          <a:ea typeface="Jost" pitchFamily="34" charset="-122"/>
                          <a:cs typeface="Jost" pitchFamily="34" charset="-120"/>
                        </a:rPr>
                        <a:t>RENT $/SF/MONTH NNN</a:t>
                      </a:r>
                      <a:endParaRPr lang="en-US" sz="750" dirty="0">
                        <a:latin typeface="Jost" charset="0"/>
                        <a:ea typeface="Jost" charset="0"/>
                        <a:cs typeface="Jost" charset="0"/>
                      </a:endParaRPr>
                    </a:p>
                  </a:txBody>
                  <a:tcPr marL="13716" marR="13716" marT="13716" marB="13716" anchor="ctr">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000000"/>
                    </a:solidFill>
                  </a:tcPr>
                </a:tc>
                <a:tc>
                  <a:txBody>
                    <a:bodyPr/>
                    <a:lstStyle/>
                    <a:p>
                      <a:pPr algn="r" indent="0" marL="0">
                        <a:buNone/>
                      </a:pPr>
                      <a:r>
                        <a:rPr lang="en-US" sz="750" spc="140" kern="0" dirty="0">
                          <a:solidFill>
                            <a:srgbClr val="B08D57"/>
                          </a:solidFill>
                          <a:latin typeface="Jost" pitchFamily="34" charset="0"/>
                          <a:ea typeface="Jost" pitchFamily="34" charset="-122"/>
                          <a:cs typeface="Jost" pitchFamily="34" charset="-120"/>
                        </a:rPr>
                        <a:t>MONTHLY RENT</a:t>
                      </a:r>
                      <a:endParaRPr lang="en-US" sz="750" dirty="0">
                        <a:latin typeface="Jost" charset="0"/>
                        <a:ea typeface="Jost" charset="0"/>
                        <a:cs typeface="Jost" charset="0"/>
                      </a:endParaRPr>
                    </a:p>
                  </a:txBody>
                  <a:tcPr marL="13716" marR="13716" marT="13716" marB="13716" anchor="ctr">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000000"/>
                    </a:solidFill>
                  </a:tcPr>
                </a:tc>
                <a:tc>
                  <a:txBody>
                    <a:bodyPr/>
                    <a:lstStyle/>
                    <a:p>
                      <a:pPr algn="r" indent="0" marL="0">
                        <a:buNone/>
                      </a:pPr>
                      <a:r>
                        <a:rPr lang="en-US" sz="750" spc="140" kern="0" dirty="0">
                          <a:solidFill>
                            <a:srgbClr val="B08D57"/>
                          </a:solidFill>
                          <a:latin typeface="Jost" pitchFamily="34" charset="0"/>
                          <a:ea typeface="Jost" pitchFamily="34" charset="-122"/>
                          <a:cs typeface="Jost" pitchFamily="34" charset="-120"/>
                        </a:rPr>
                        <a:t>OPERATING /MO</a:t>
                      </a:r>
                      <a:endParaRPr lang="en-US" sz="750" dirty="0">
                        <a:latin typeface="Jost" charset="0"/>
                        <a:ea typeface="Jost" charset="0"/>
                        <a:cs typeface="Jost" charset="0"/>
                      </a:endParaRPr>
                    </a:p>
                  </a:txBody>
                  <a:tcPr marL="13716" marR="13716" marT="13716" marB="13716" anchor="ctr">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000000"/>
                    </a:solidFill>
                  </a:tcPr>
                </a:tc>
                <a:tc>
                  <a:txBody>
                    <a:bodyPr/>
                    <a:lstStyle/>
                    <a:p>
                      <a:pPr algn="r" indent="0" marL="0">
                        <a:buNone/>
                      </a:pPr>
                      <a:r>
                        <a:rPr lang="en-US" sz="750" spc="140" kern="0" dirty="0">
                          <a:solidFill>
                            <a:srgbClr val="B08D57"/>
                          </a:solidFill>
                          <a:latin typeface="Jost" pitchFamily="34" charset="0"/>
                          <a:ea typeface="Jost" pitchFamily="34" charset="-122"/>
                          <a:cs typeface="Jost" pitchFamily="34" charset="-120"/>
                        </a:rPr>
                        <a:t>ANNUAL</a:t>
                      </a:r>
                      <a:endParaRPr lang="en-US" sz="750" dirty="0">
                        <a:latin typeface="Jost" charset="0"/>
                        <a:ea typeface="Jost" charset="0"/>
                        <a:cs typeface="Jost" charset="0"/>
                      </a:endParaRPr>
                    </a:p>
                  </a:txBody>
                  <a:tcPr marL="13716" marR="13716" marT="13716" marB="13716" anchor="ctr">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000000"/>
                    </a:solidFill>
                  </a:tcPr>
                </a:tc>
                <a:tc>
                  <a:txBody>
                    <a:bodyPr/>
                    <a:lstStyle/>
                    <a:p>
                      <a:pPr algn="r" indent="0" marL="0">
                        <a:buNone/>
                      </a:pPr>
                      <a:r>
                        <a:rPr lang="en-US" sz="750" spc="140" kern="0" dirty="0">
                          <a:solidFill>
                            <a:srgbClr val="B08D57"/>
                          </a:solidFill>
                          <a:latin typeface="Jost" pitchFamily="34" charset="0"/>
                          <a:ea typeface="Jost" pitchFamily="34" charset="-122"/>
                          <a:cs typeface="Jost" pitchFamily="34" charset="-120"/>
                        </a:rPr>
                        <a:t>YIELD ON EQUITY</a:t>
                      </a:r>
                      <a:endParaRPr lang="en-US" sz="750" dirty="0">
                        <a:latin typeface="Jost" charset="0"/>
                        <a:ea typeface="Jost" charset="0"/>
                        <a:cs typeface="Jost" charset="0"/>
                      </a:endParaRPr>
                    </a:p>
                  </a:txBody>
                  <a:tcPr marL="13716" marR="13716" marT="13716" marB="13716" anchor="ctr">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000000"/>
                    </a:solidFill>
                  </a:tcPr>
                </a:tc>
              </a:tr>
              <a:tr h="173736">
                <a:tc>
                  <a:txBody>
                    <a:bodyPr/>
                    <a:lstStyle/>
                    <a:p>
                      <a:pPr algn="l" indent="0" marL="0">
                        <a:buNone/>
                      </a:pPr>
                      <a:r>
                        <a:rPr lang="en-US" sz="750" dirty="0">
                          <a:solidFill>
                            <a:srgbClr val="EDE7DE"/>
                          </a:solidFill>
                          <a:latin typeface="Jost" pitchFamily="34" charset="0"/>
                          <a:ea typeface="Jost" pitchFamily="34" charset="-122"/>
                          <a:cs typeface="Jost" pitchFamily="34" charset="-120"/>
                        </a:rPr>
                        <a:t>$5.50  (modelled)</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$27,088</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$224,801</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$2,697,611</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56.8%</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73736">
                <a:tc>
                  <a:txBody>
                    <a:bodyPr/>
                    <a:lstStyle/>
                    <a:p>
                      <a:pPr algn="l" indent="0" marL="0">
                        <a:buNone/>
                      </a:pPr>
                      <a:r>
                        <a:rPr lang="en-US" sz="750" dirty="0">
                          <a:solidFill>
                            <a:srgbClr val="EDE7DE"/>
                          </a:solidFill>
                          <a:latin typeface="Jost" pitchFamily="34" charset="0"/>
                          <a:ea typeface="Jost" pitchFamily="34" charset="-122"/>
                          <a:cs typeface="Jost" pitchFamily="34" charset="-120"/>
                        </a:rPr>
                        <a:t>$6.00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$29,550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$222,338</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$2,668,061</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56.2%</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73736">
                <a:tc>
                  <a:txBody>
                    <a:bodyPr/>
                    <a:lstStyle/>
                    <a:p>
                      <a:pPr algn="l" indent="0" marL="0">
                        <a:buNone/>
                      </a:pPr>
                      <a:r>
                        <a:rPr lang="en-US" sz="750" dirty="0">
                          <a:solidFill>
                            <a:srgbClr val="EDE7DE"/>
                          </a:solidFill>
                          <a:latin typeface="Jost" pitchFamily="34" charset="0"/>
                          <a:ea typeface="Jost" pitchFamily="34" charset="-122"/>
                          <a:cs typeface="Jost" pitchFamily="34" charset="-120"/>
                        </a:rPr>
                        <a:t>$6.50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$32,013</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$219,876</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$2,638,511</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55.5%</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73736">
                <a:tc>
                  <a:txBody>
                    <a:bodyPr/>
                    <a:lstStyle/>
                    <a:p>
                      <a:pPr algn="l" indent="0" marL="0">
                        <a:buNone/>
                      </a:pPr>
                      <a:r>
                        <a:rPr lang="en-US" sz="750" dirty="0">
                          <a:solidFill>
                            <a:srgbClr val="EDE7DE"/>
                          </a:solidFill>
                          <a:latin typeface="Jost" pitchFamily="34" charset="0"/>
                          <a:ea typeface="Jost" pitchFamily="34" charset="-122"/>
                          <a:cs typeface="Jost" pitchFamily="34" charset="-120"/>
                        </a:rPr>
                        <a:t>$7.00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$34,475</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$217,413</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$2,608,961</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54.9%</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bl>
          </a:graphicData>
        </a:graphic>
      </p:graphicFrame>
      <p:sp>
        <p:nvSpPr>
          <p:cNvPr id="9" name="Text 5"/>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B6965"/>
                </a:solidFill>
                <a:latin typeface="Jost" pitchFamily="34" charset="0"/>
                <a:ea typeface="Jost" pitchFamily="34" charset="-122"/>
                <a:cs typeface="Jost" pitchFamily="34" charset="-120"/>
              </a:rPr>
              <a:t>L&amp;K WELLNESS  ·  PRIVATE INVESTMENT BRIEF  ·  CONFIDENTIAL</a:t>
            </a:r>
            <a:endParaRPr lang="en-US" sz="700" dirty="0"/>
          </a:p>
        </p:txBody>
      </p:sp>
      <p:sp>
        <p:nvSpPr>
          <p:cNvPr id="10" name="Text 6"/>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B6965"/>
                </a:solidFill>
                <a:latin typeface="Jost" pitchFamily="34" charset="0"/>
                <a:ea typeface="Jost" pitchFamily="34" charset="-122"/>
                <a:cs typeface="Jost" pitchFamily="34" charset="-120"/>
              </a:rPr>
              <a:t>37</a:t>
            </a:r>
            <a:endParaRPr lang="en-US" sz="70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B08D57"/>
                </a:solidFill>
                <a:latin typeface="Jost" pitchFamily="34" charset="0"/>
                <a:ea typeface="Jost" pitchFamily="34" charset="-122"/>
                <a:cs typeface="Jost" pitchFamily="34" charset="-120"/>
              </a:rPr>
              <a:t>APPENDIX  ·  USE OF FUNDS</a:t>
            </a:r>
            <a:endParaRPr lang="en-US" sz="900" dirty="0"/>
          </a:p>
        </p:txBody>
      </p:sp>
      <p:sp>
        <p:nvSpPr>
          <p:cNvPr id="3" name="Shape 1"/>
          <p:cNvSpPr/>
          <p:nvPr/>
        </p:nvSpPr>
        <p:spPr>
          <a:xfrm>
            <a:off x="502920" y="557784"/>
            <a:ext cx="566928" cy="12802"/>
          </a:xfrm>
          <a:prstGeom prst="rect">
            <a:avLst/>
          </a:prstGeom>
          <a:solidFill>
            <a:srgbClr val="B08D57"/>
          </a:solidFill>
          <a:ln w="12700">
            <a:solidFill>
              <a:srgbClr val="B08D57"/>
            </a:solidFill>
            <a:prstDash val="solid"/>
          </a:ln>
        </p:spPr>
      </p:sp>
      <p:sp>
        <p:nvSpPr>
          <p:cNvPr id="4" name="Text 2"/>
          <p:cNvSpPr/>
          <p:nvPr/>
        </p:nvSpPr>
        <p:spPr>
          <a:xfrm>
            <a:off x="502920" y="621792"/>
            <a:ext cx="8138160" cy="548640"/>
          </a:xfrm>
          <a:prstGeom prst="rect">
            <a:avLst/>
          </a:prstGeom>
          <a:noFill/>
          <a:ln/>
        </p:spPr>
        <p:txBody>
          <a:bodyPr wrap="square" rtlCol="0" anchor="t"/>
          <a:lstStyle/>
          <a:p>
            <a:pPr indent="0" marL="0">
              <a:buNone/>
            </a:pPr>
            <a:r>
              <a:rPr lang="en-US" sz="2600" spc="400" kern="0" dirty="0">
                <a:solidFill>
                  <a:srgbClr val="EDE7DE"/>
                </a:solidFill>
                <a:latin typeface="Cormorant Garamond" pitchFamily="34" charset="0"/>
                <a:ea typeface="Cormorant Garamond" pitchFamily="34" charset="-122"/>
                <a:cs typeface="Cormorant Garamond" pitchFamily="34" charset="-120"/>
              </a:rPr>
              <a:t>THE ITEMISED CAPITAL LINES</a:t>
            </a:r>
            <a:endParaRPr lang="en-US" sz="2600" dirty="0"/>
          </a:p>
        </p:txBody>
      </p:sp>
      <p:sp>
        <p:nvSpPr>
          <p:cNvPr id="5" name="Text 3"/>
          <p:cNvSpPr/>
          <p:nvPr/>
        </p:nvSpPr>
        <p:spPr>
          <a:xfrm>
            <a:off x="502920" y="1371600"/>
            <a:ext cx="3968496" cy="182880"/>
          </a:xfrm>
          <a:prstGeom prst="rect">
            <a:avLst/>
          </a:prstGeom>
          <a:noFill/>
          <a:ln/>
        </p:spPr>
        <p:txBody>
          <a:bodyPr wrap="square" rtlCol="0" anchor="ctr"/>
          <a:lstStyle/>
          <a:p>
            <a:pPr indent="0" marL="0">
              <a:buNone/>
            </a:pPr>
            <a:r>
              <a:rPr lang="en-US" sz="750" spc="200" kern="0" dirty="0">
                <a:solidFill>
                  <a:srgbClr val="B08D57"/>
                </a:solidFill>
                <a:latin typeface="Jost" pitchFamily="34" charset="0"/>
                <a:ea typeface="Jost" pitchFamily="34" charset="-122"/>
                <a:cs typeface="Jost" pitchFamily="34" charset="-120"/>
              </a:rPr>
              <a:t>WET AREAS</a:t>
            </a:r>
            <a:endParaRPr lang="en-US" sz="750" dirty="0"/>
          </a:p>
        </p:txBody>
      </p:sp>
      <p:graphicFrame>
        <p:nvGraphicFramePr>
          <p:cNvPr id="39" name="Table 0"/>
          <p:cNvGraphicFramePr>
            <a:graphicFrameLocks noGrp="1"/>
          </p:cNvGraphicFramePr>
          <p:nvPr>
            <p:extLst>
              <p:ext uri="{D42A27DB-BD31-4B8C-83A1-F6EECF244321}">
                <p14:modId xmlns:p14="http://schemas.microsoft.com/office/powerpoint/2010/main" val="1579011935"/>
              </p:ext>
            </p:extLst>
          </p:nvPr>
        </p:nvGraphicFramePr>
        <p:xfrm>
          <a:off x="502920" y="1591056"/>
          <a:ext cx="3968496" cy="914400"/>
        </p:xfrm>
        <a:graphic>
          <a:graphicData uri="http://schemas.openxmlformats.org/drawingml/2006/table">
            <a:tbl>
              <a:tblPr/>
              <a:tblGrid>
                <a:gridCol w="2962656"/>
                <a:gridCol w="1005840"/>
              </a:tblGrid>
              <a:tr h="182880">
                <a:tc>
                  <a:txBody>
                    <a:bodyPr/>
                    <a:lstStyle/>
                    <a:p>
                      <a:pPr algn="l" indent="0" marL="0">
                        <a:buNone/>
                      </a:pPr>
                      <a:r>
                        <a:rPr lang="en-US" sz="750" spc="140" kern="0" dirty="0">
                          <a:solidFill>
                            <a:srgbClr val="B08D57"/>
                          </a:solidFill>
                          <a:latin typeface="Jost" pitchFamily="34" charset="0"/>
                          <a:ea typeface="Jost" pitchFamily="34" charset="-122"/>
                          <a:cs typeface="Jost" pitchFamily="34" charset="-120"/>
                        </a:rPr>
                        <a:t>COMPONENT</a:t>
                      </a:r>
                      <a:endParaRPr lang="en-US" sz="750" dirty="0">
                        <a:latin typeface="Jost" charset="0"/>
                        <a:ea typeface="Jost" charset="0"/>
                        <a:cs typeface="Jost" charset="0"/>
                      </a:endParaRPr>
                    </a:p>
                  </a:txBody>
                  <a:tcPr marL="18288" marR="18288" marT="18288" marB="18288" anchor="ctr">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000000"/>
                    </a:solidFill>
                  </a:tcPr>
                </a:tc>
                <a:tc>
                  <a:txBody>
                    <a:bodyPr/>
                    <a:lstStyle/>
                    <a:p>
                      <a:pPr algn="r" indent="0" marL="0">
                        <a:buNone/>
                      </a:pPr>
                      <a:r>
                        <a:rPr lang="en-US" sz="750" spc="140" kern="0" dirty="0">
                          <a:solidFill>
                            <a:srgbClr val="B08D57"/>
                          </a:solidFill>
                          <a:latin typeface="Jost" pitchFamily="34" charset="0"/>
                          <a:ea typeface="Jost" pitchFamily="34" charset="-122"/>
                          <a:cs typeface="Jost" pitchFamily="34" charset="-120"/>
                        </a:rPr>
                        <a:t>AMOUNT</a:t>
                      </a:r>
                      <a:endParaRPr lang="en-US" sz="750" dirty="0">
                        <a:latin typeface="Jost" charset="0"/>
                        <a:ea typeface="Jost" charset="0"/>
                        <a:cs typeface="Jost" charset="0"/>
                      </a:endParaRPr>
                    </a:p>
                  </a:txBody>
                  <a:tcPr marL="18288" marR="18288" marT="18288" marB="18288" anchor="ctr">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000000"/>
                    </a:solidFill>
                  </a:tcPr>
                </a:tc>
              </a:tr>
              <a:tr h="182880">
                <a:tc>
                  <a:txBody>
                    <a:bodyPr/>
                    <a:lstStyle/>
                    <a:p>
                      <a:pPr algn="l" indent="0" marL="0">
                        <a:buNone/>
                      </a:pPr>
                      <a:r>
                        <a:rPr lang="en-US" sz="750" dirty="0">
                          <a:solidFill>
                            <a:srgbClr val="EDE7DE"/>
                          </a:solidFill>
                          <a:latin typeface="Jost" pitchFamily="34" charset="0"/>
                          <a:ea typeface="Jost" pitchFamily="34" charset="-122"/>
                          <a:cs typeface="Jost" pitchFamily="34" charset="-120"/>
                        </a:rPr>
                        <a:t>Saunas (2), cedar, heaters, controls</a:t>
                      </a:r>
                      <a:endParaRPr lang="en-US" sz="750" dirty="0">
                        <a:latin typeface="Jost" charset="0"/>
                        <a:ea typeface="Jost" charset="0"/>
                        <a:cs typeface="Jost" charset="0"/>
                      </a:endParaRPr>
                    </a:p>
                  </a:txBody>
                  <a:tcPr marL="18288" marR="18288" marT="18288" marB="18288"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95000</a:t>
                      </a:r>
                      <a:endParaRPr lang="en-US" sz="750" dirty="0">
                        <a:latin typeface="Jost" charset="0"/>
                        <a:ea typeface="Jost" charset="0"/>
                        <a:cs typeface="Jost" charset="0"/>
                      </a:endParaRPr>
                    </a:p>
                  </a:txBody>
                  <a:tcPr marL="18288" marR="18288" marT="18288" marB="18288"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82880">
                <a:tc>
                  <a:txBody>
                    <a:bodyPr/>
                    <a:lstStyle/>
                    <a:p>
                      <a:pPr algn="l" indent="0" marL="0">
                        <a:buNone/>
                      </a:pPr>
                      <a:r>
                        <a:rPr lang="en-US" sz="750" dirty="0">
                          <a:solidFill>
                            <a:srgbClr val="EDE7DE"/>
                          </a:solidFill>
                          <a:latin typeface="Jost" pitchFamily="34" charset="0"/>
                          <a:ea typeface="Jost" pitchFamily="34" charset="-122"/>
                          <a:cs typeface="Jost" pitchFamily="34" charset="-120"/>
                        </a:rPr>
                        <a:t>Cold plunges (2), chillers, filtration</a:t>
                      </a:r>
                      <a:endParaRPr lang="en-US" sz="750" dirty="0">
                        <a:latin typeface="Jost" charset="0"/>
                        <a:ea typeface="Jost" charset="0"/>
                        <a:cs typeface="Jost" charset="0"/>
                      </a:endParaRPr>
                    </a:p>
                  </a:txBody>
                  <a:tcPr marL="18288" marR="18288" marT="18288" marB="18288"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70000</a:t>
                      </a:r>
                      <a:endParaRPr lang="en-US" sz="750" dirty="0">
                        <a:latin typeface="Jost" charset="0"/>
                        <a:ea typeface="Jost" charset="0"/>
                        <a:cs typeface="Jost" charset="0"/>
                      </a:endParaRPr>
                    </a:p>
                  </a:txBody>
                  <a:tcPr marL="18288" marR="18288" marT="18288" marB="18288"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82880">
                <a:tc>
                  <a:txBody>
                    <a:bodyPr/>
                    <a:lstStyle/>
                    <a:p>
                      <a:pPr algn="l" indent="0" marL="0">
                        <a:buNone/>
                      </a:pPr>
                      <a:r>
                        <a:rPr lang="en-US" sz="750" dirty="0">
                          <a:solidFill>
                            <a:srgbClr val="EDE7DE"/>
                          </a:solidFill>
                          <a:latin typeface="Jost" pitchFamily="34" charset="0"/>
                          <a:ea typeface="Jost" pitchFamily="34" charset="-122"/>
                          <a:cs typeface="Jost" pitchFamily="34" charset="-120"/>
                        </a:rPr>
                        <a:t>Steam room and generator</a:t>
                      </a:r>
                      <a:endParaRPr lang="en-US" sz="750" dirty="0">
                        <a:latin typeface="Jost" charset="0"/>
                        <a:ea typeface="Jost" charset="0"/>
                        <a:cs typeface="Jost" charset="0"/>
                      </a:endParaRPr>
                    </a:p>
                  </a:txBody>
                  <a:tcPr marL="18288" marR="18288" marT="18288" marB="18288"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45000</a:t>
                      </a:r>
                      <a:endParaRPr lang="en-US" sz="750" dirty="0">
                        <a:latin typeface="Jost" charset="0"/>
                        <a:ea typeface="Jost" charset="0"/>
                        <a:cs typeface="Jost" charset="0"/>
                      </a:endParaRPr>
                    </a:p>
                  </a:txBody>
                  <a:tcPr marL="18288" marR="18288" marT="18288" marB="18288"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82880">
                <a:tc>
                  <a:txBody>
                    <a:bodyPr/>
                    <a:lstStyle/>
                    <a:p>
                      <a:pPr algn="l" indent="0" marL="0">
                        <a:buNone/>
                      </a:pPr>
                      <a:r>
                        <a:rPr lang="en-US" sz="750" dirty="0">
                          <a:solidFill>
                            <a:srgbClr val="EDE7DE"/>
                          </a:solidFill>
                          <a:latin typeface="Jost" pitchFamily="34" charset="0"/>
                          <a:ea typeface="Jost" pitchFamily="34" charset="-122"/>
                          <a:cs typeface="Jost" pitchFamily="34" charset="-120"/>
                        </a:rPr>
                        <a:t>Waterproofing, drainage, floor slopes</a:t>
                      </a:r>
                      <a:endParaRPr lang="en-US" sz="750" dirty="0">
                        <a:latin typeface="Jost" charset="0"/>
                        <a:ea typeface="Jost" charset="0"/>
                        <a:cs typeface="Jost" charset="0"/>
                      </a:endParaRPr>
                    </a:p>
                  </a:txBody>
                  <a:tcPr marL="18288" marR="18288" marT="18288" marB="18288"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110000</a:t>
                      </a:r>
                      <a:endParaRPr lang="en-US" sz="750" dirty="0">
                        <a:latin typeface="Jost" charset="0"/>
                        <a:ea typeface="Jost" charset="0"/>
                        <a:cs typeface="Jost" charset="0"/>
                      </a:endParaRPr>
                    </a:p>
                  </a:txBody>
                  <a:tcPr marL="18288" marR="18288" marT="18288" marB="18288"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82880">
                <a:tc>
                  <a:txBody>
                    <a:bodyPr/>
                    <a:lstStyle/>
                    <a:p>
                      <a:pPr algn="l" indent="0" marL="0">
                        <a:buNone/>
                      </a:pPr>
                      <a:r>
                        <a:rPr lang="en-US" sz="750" dirty="0">
                          <a:solidFill>
                            <a:srgbClr val="EDE7DE"/>
                          </a:solidFill>
                          <a:latin typeface="Jost" pitchFamily="34" charset="0"/>
                          <a:ea typeface="Jost" pitchFamily="34" charset="-122"/>
                          <a:cs typeface="Jost" pitchFamily="34" charset="-120"/>
                        </a:rPr>
                        <a:t>Dedicated ventilation and dehumidification</a:t>
                      </a:r>
                      <a:endParaRPr lang="en-US" sz="750" dirty="0">
                        <a:latin typeface="Jost" charset="0"/>
                        <a:ea typeface="Jost" charset="0"/>
                        <a:cs typeface="Jost" charset="0"/>
                      </a:endParaRPr>
                    </a:p>
                  </a:txBody>
                  <a:tcPr marL="18288" marR="18288" marT="18288" marB="18288"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85000</a:t>
                      </a:r>
                      <a:endParaRPr lang="en-US" sz="750" dirty="0">
                        <a:latin typeface="Jost" charset="0"/>
                        <a:ea typeface="Jost" charset="0"/>
                        <a:cs typeface="Jost" charset="0"/>
                      </a:endParaRPr>
                    </a:p>
                  </a:txBody>
                  <a:tcPr marL="18288" marR="18288" marT="18288" marB="18288"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82880">
                <a:tc>
                  <a:txBody>
                    <a:bodyPr/>
                    <a:lstStyle/>
                    <a:p>
                      <a:pPr algn="l" indent="0" marL="0">
                        <a:buNone/>
                      </a:pPr>
                      <a:r>
                        <a:rPr lang="en-US" sz="750" dirty="0">
                          <a:solidFill>
                            <a:srgbClr val="EDE7DE"/>
                          </a:solidFill>
                          <a:latin typeface="Jost" pitchFamily="34" charset="0"/>
                          <a:ea typeface="Jost" pitchFamily="34" charset="-122"/>
                          <a:cs typeface="Jost" pitchFamily="34" charset="-120"/>
                        </a:rPr>
                        <a:t>Tile, benching, finishes</a:t>
                      </a:r>
                      <a:endParaRPr lang="en-US" sz="750" dirty="0">
                        <a:latin typeface="Jost" charset="0"/>
                        <a:ea typeface="Jost" charset="0"/>
                        <a:cs typeface="Jost" charset="0"/>
                      </a:endParaRPr>
                    </a:p>
                  </a:txBody>
                  <a:tcPr marL="18288" marR="18288" marT="18288" marB="18288"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60000</a:t>
                      </a:r>
                      <a:endParaRPr lang="en-US" sz="750" dirty="0">
                        <a:latin typeface="Jost" charset="0"/>
                        <a:ea typeface="Jost" charset="0"/>
                        <a:cs typeface="Jost" charset="0"/>
                      </a:endParaRPr>
                    </a:p>
                  </a:txBody>
                  <a:tcPr marL="18288" marR="18288" marT="18288" marB="18288"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82880">
                <a:tc>
                  <a:txBody>
                    <a:bodyPr/>
                    <a:lstStyle/>
                    <a:p>
                      <a:pPr algn="l" indent="0" marL="0">
                        <a:buNone/>
                      </a:pPr>
                      <a:r>
                        <a:rPr lang="en-US" sz="750" dirty="0">
                          <a:solidFill>
                            <a:srgbClr val="B08D57"/>
                          </a:solidFill>
                          <a:latin typeface="Jost" pitchFamily="34" charset="0"/>
                          <a:ea typeface="Jost" pitchFamily="34" charset="-122"/>
                          <a:cs typeface="Jost" pitchFamily="34" charset="-120"/>
                        </a:rPr>
                        <a:t>Total</a:t>
                      </a:r>
                      <a:endParaRPr lang="en-US" sz="750" dirty="0">
                        <a:latin typeface="Jost" charset="0"/>
                        <a:ea typeface="Jost" charset="0"/>
                        <a:cs typeface="Jost" charset="0"/>
                      </a:endParaRPr>
                    </a:p>
                  </a:txBody>
                  <a:tcPr marL="18288" marR="18288" marT="18288" marB="18288"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B08D57"/>
                          </a:solidFill>
                          <a:latin typeface="Jost" pitchFamily="34" charset="0"/>
                          <a:ea typeface="Jost" pitchFamily="34" charset="-122"/>
                          <a:cs typeface="Jost" pitchFamily="34" charset="-120"/>
                        </a:rPr>
                        <a:t>$465,000</a:t>
                      </a:r>
                      <a:endParaRPr lang="en-US" sz="750" dirty="0">
                        <a:latin typeface="Jost" charset="0"/>
                        <a:ea typeface="Jost" charset="0"/>
                        <a:cs typeface="Jost" charset="0"/>
                      </a:endParaRPr>
                    </a:p>
                  </a:txBody>
                  <a:tcPr marL="18288" marR="18288" marT="18288" marB="18288"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bl>
          </a:graphicData>
        </a:graphic>
      </p:graphicFrame>
      <p:sp>
        <p:nvSpPr>
          <p:cNvPr id="7" name="Text 4"/>
          <p:cNvSpPr/>
          <p:nvPr/>
        </p:nvSpPr>
        <p:spPr>
          <a:xfrm>
            <a:off x="4672584" y="1371600"/>
            <a:ext cx="3968496" cy="182880"/>
          </a:xfrm>
          <a:prstGeom prst="rect">
            <a:avLst/>
          </a:prstGeom>
          <a:noFill/>
          <a:ln/>
        </p:spPr>
        <p:txBody>
          <a:bodyPr wrap="square" rtlCol="0" anchor="ctr"/>
          <a:lstStyle/>
          <a:p>
            <a:pPr indent="0" marL="0">
              <a:buNone/>
            </a:pPr>
            <a:r>
              <a:rPr lang="en-US" sz="750" spc="200" kern="0" dirty="0">
                <a:solidFill>
                  <a:srgbClr val="B08D57"/>
                </a:solidFill>
                <a:latin typeface="Jost" pitchFamily="34" charset="0"/>
                <a:ea typeface="Jost" pitchFamily="34" charset="-122"/>
                <a:cs typeface="Jost" pitchFamily="34" charset="-120"/>
              </a:rPr>
              <a:t>RECOVERY TECHNOLOGY</a:t>
            </a:r>
            <a:endParaRPr lang="en-US" sz="750" dirty="0"/>
          </a:p>
        </p:txBody>
      </p:sp>
      <p:graphicFrame>
        <p:nvGraphicFramePr>
          <p:cNvPr id="77" name="Table 1"/>
          <p:cNvGraphicFramePr>
            <a:graphicFrameLocks noGrp="1"/>
          </p:cNvGraphicFramePr>
          <p:nvPr>
            <p:extLst>
              <p:ext uri="{D42A27DB-BD31-4B8C-83A1-F6EECF244321}">
                <p14:modId xmlns:p14="http://schemas.microsoft.com/office/powerpoint/2010/main" val="1579011935"/>
              </p:ext>
            </p:extLst>
          </p:nvPr>
        </p:nvGraphicFramePr>
        <p:xfrm>
          <a:off x="4672584" y="1591056"/>
          <a:ext cx="3968496" cy="914400"/>
        </p:xfrm>
        <a:graphic>
          <a:graphicData uri="http://schemas.openxmlformats.org/drawingml/2006/table">
            <a:tbl>
              <a:tblPr/>
              <a:tblGrid>
                <a:gridCol w="2962656"/>
                <a:gridCol w="1005840"/>
              </a:tblGrid>
              <a:tr h="182880">
                <a:tc>
                  <a:txBody>
                    <a:bodyPr/>
                    <a:lstStyle/>
                    <a:p>
                      <a:pPr algn="l" indent="0" marL="0">
                        <a:buNone/>
                      </a:pPr>
                      <a:r>
                        <a:rPr lang="en-US" sz="750" spc="140" kern="0" dirty="0">
                          <a:solidFill>
                            <a:srgbClr val="B08D57"/>
                          </a:solidFill>
                          <a:latin typeface="Jost" pitchFamily="34" charset="0"/>
                          <a:ea typeface="Jost" pitchFamily="34" charset="-122"/>
                          <a:cs typeface="Jost" pitchFamily="34" charset="-120"/>
                        </a:rPr>
                        <a:t>COMPONENT</a:t>
                      </a:r>
                      <a:endParaRPr lang="en-US" sz="750" dirty="0">
                        <a:latin typeface="Jost" charset="0"/>
                        <a:ea typeface="Jost" charset="0"/>
                        <a:cs typeface="Jost" charset="0"/>
                      </a:endParaRPr>
                    </a:p>
                  </a:txBody>
                  <a:tcPr marL="18288" marR="18288" marT="18288" marB="18288" anchor="ctr">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000000"/>
                    </a:solidFill>
                  </a:tcPr>
                </a:tc>
                <a:tc>
                  <a:txBody>
                    <a:bodyPr/>
                    <a:lstStyle/>
                    <a:p>
                      <a:pPr algn="r" indent="0" marL="0">
                        <a:buNone/>
                      </a:pPr>
                      <a:r>
                        <a:rPr lang="en-US" sz="750" spc="140" kern="0" dirty="0">
                          <a:solidFill>
                            <a:srgbClr val="B08D57"/>
                          </a:solidFill>
                          <a:latin typeface="Jost" pitchFamily="34" charset="0"/>
                          <a:ea typeface="Jost" pitchFamily="34" charset="-122"/>
                          <a:cs typeface="Jost" pitchFamily="34" charset="-120"/>
                        </a:rPr>
                        <a:t>AMOUNT</a:t>
                      </a:r>
                      <a:endParaRPr lang="en-US" sz="750" dirty="0">
                        <a:latin typeface="Jost" charset="0"/>
                        <a:ea typeface="Jost" charset="0"/>
                        <a:cs typeface="Jost" charset="0"/>
                      </a:endParaRPr>
                    </a:p>
                  </a:txBody>
                  <a:tcPr marL="18288" marR="18288" marT="18288" marB="18288" anchor="ctr">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000000"/>
                    </a:solidFill>
                  </a:tcPr>
                </a:tc>
              </a:tr>
              <a:tr h="182880">
                <a:tc>
                  <a:txBody>
                    <a:bodyPr/>
                    <a:lstStyle/>
                    <a:p>
                      <a:pPr algn="l" indent="0" marL="0">
                        <a:buNone/>
                      </a:pPr>
                      <a:r>
                        <a:rPr lang="en-US" sz="750" dirty="0">
                          <a:solidFill>
                            <a:srgbClr val="EDE7DE"/>
                          </a:solidFill>
                          <a:latin typeface="Jost" pitchFamily="34" charset="0"/>
                          <a:ea typeface="Jost" pitchFamily="34" charset="-122"/>
                          <a:cs typeface="Jost" pitchFamily="34" charset="-120"/>
                        </a:rPr>
                        <a:t>Hyperbaric oxygen chamber, purchased</a:t>
                      </a:r>
                      <a:endParaRPr lang="en-US" sz="750" dirty="0">
                        <a:latin typeface="Jost" charset="0"/>
                        <a:ea typeface="Jost" charset="0"/>
                        <a:cs typeface="Jost" charset="0"/>
                      </a:endParaRPr>
                    </a:p>
                  </a:txBody>
                  <a:tcPr marL="18288" marR="18288" marT="18288" marB="18288"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150000</a:t>
                      </a:r>
                      <a:endParaRPr lang="en-US" sz="750" dirty="0">
                        <a:latin typeface="Jost" charset="0"/>
                        <a:ea typeface="Jost" charset="0"/>
                        <a:cs typeface="Jost" charset="0"/>
                      </a:endParaRPr>
                    </a:p>
                  </a:txBody>
                  <a:tcPr marL="18288" marR="18288" marT="18288" marB="18288"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82880">
                <a:tc>
                  <a:txBody>
                    <a:bodyPr/>
                    <a:lstStyle/>
                    <a:p>
                      <a:pPr algn="l" indent="0" marL="0">
                        <a:buNone/>
                      </a:pPr>
                      <a:r>
                        <a:rPr lang="en-US" sz="750" dirty="0">
                          <a:solidFill>
                            <a:srgbClr val="EDE7DE"/>
                          </a:solidFill>
                          <a:latin typeface="Jost" pitchFamily="34" charset="0"/>
                          <a:ea typeface="Jost" pitchFamily="34" charset="-122"/>
                          <a:cs typeface="Jost" pitchFamily="34" charset="-120"/>
                        </a:rPr>
                        <a:t>Ammortal chamber ($159,500 list), 10% finance deposit</a:t>
                      </a:r>
                      <a:endParaRPr lang="en-US" sz="750" dirty="0">
                        <a:latin typeface="Jost" charset="0"/>
                        <a:ea typeface="Jost" charset="0"/>
                        <a:cs typeface="Jost" charset="0"/>
                      </a:endParaRPr>
                    </a:p>
                  </a:txBody>
                  <a:tcPr marL="18288" marR="18288" marT="18288" marB="18288"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15950</a:t>
                      </a:r>
                      <a:endParaRPr lang="en-US" sz="750" dirty="0">
                        <a:latin typeface="Jost" charset="0"/>
                        <a:ea typeface="Jost" charset="0"/>
                        <a:cs typeface="Jost" charset="0"/>
                      </a:endParaRPr>
                    </a:p>
                  </a:txBody>
                  <a:tcPr marL="18288" marR="18288" marT="18288" marB="18288"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82880">
                <a:tc>
                  <a:txBody>
                    <a:bodyPr/>
                    <a:lstStyle/>
                    <a:p>
                      <a:pPr algn="l" indent="0" marL="0">
                        <a:buNone/>
                      </a:pPr>
                      <a:r>
                        <a:rPr lang="en-US" sz="750" dirty="0">
                          <a:solidFill>
                            <a:srgbClr val="EDE7DE"/>
                          </a:solidFill>
                          <a:latin typeface="Jost" pitchFamily="34" charset="0"/>
                          <a:ea typeface="Jost" pitchFamily="34" charset="-122"/>
                          <a:cs typeface="Jost" pitchFamily="34" charset="-120"/>
                        </a:rPr>
                        <a:t>Aescape robotic massage (1 unit), subscription only</a:t>
                      </a:r>
                      <a:endParaRPr lang="en-US" sz="750" dirty="0">
                        <a:latin typeface="Jost" charset="0"/>
                        <a:ea typeface="Jost" charset="0"/>
                        <a:cs typeface="Jost" charset="0"/>
                      </a:endParaRPr>
                    </a:p>
                  </a:txBody>
                  <a:tcPr marL="18288" marR="18288" marT="18288" marB="18288"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0</a:t>
                      </a:r>
                      <a:endParaRPr lang="en-US" sz="750" dirty="0">
                        <a:latin typeface="Jost" charset="0"/>
                        <a:ea typeface="Jost" charset="0"/>
                        <a:cs typeface="Jost" charset="0"/>
                      </a:endParaRPr>
                    </a:p>
                  </a:txBody>
                  <a:tcPr marL="18288" marR="18288" marT="18288" marB="18288"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82880">
                <a:tc>
                  <a:txBody>
                    <a:bodyPr/>
                    <a:lstStyle/>
                    <a:p>
                      <a:pPr algn="l" indent="0" marL="0">
                        <a:buNone/>
                      </a:pPr>
                      <a:r>
                        <a:rPr lang="en-US" sz="750" dirty="0">
                          <a:solidFill>
                            <a:srgbClr val="B08D57"/>
                          </a:solidFill>
                          <a:latin typeface="Jost" pitchFamily="34" charset="0"/>
                          <a:ea typeface="Jost" pitchFamily="34" charset="-122"/>
                          <a:cs typeface="Jost" pitchFamily="34" charset="-120"/>
                        </a:rPr>
                        <a:t>Total</a:t>
                      </a:r>
                      <a:endParaRPr lang="en-US" sz="750" dirty="0">
                        <a:latin typeface="Jost" charset="0"/>
                        <a:ea typeface="Jost" charset="0"/>
                        <a:cs typeface="Jost" charset="0"/>
                      </a:endParaRPr>
                    </a:p>
                  </a:txBody>
                  <a:tcPr marL="18288" marR="18288" marT="18288" marB="18288"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B08D57"/>
                          </a:solidFill>
                          <a:latin typeface="Jost" pitchFamily="34" charset="0"/>
                          <a:ea typeface="Jost" pitchFamily="34" charset="-122"/>
                          <a:cs typeface="Jost" pitchFamily="34" charset="-120"/>
                        </a:rPr>
                        <a:t>$165,950</a:t>
                      </a:r>
                      <a:endParaRPr lang="en-US" sz="750" dirty="0">
                        <a:latin typeface="Jost" charset="0"/>
                        <a:ea typeface="Jost" charset="0"/>
                        <a:cs typeface="Jost" charset="0"/>
                      </a:endParaRPr>
                    </a:p>
                  </a:txBody>
                  <a:tcPr marL="18288" marR="18288" marT="18288" marB="18288"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bl>
          </a:graphicData>
        </a:graphic>
      </p:graphicFrame>
      <p:sp>
        <p:nvSpPr>
          <p:cNvPr id="9" name="Text 5"/>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B6965"/>
                </a:solidFill>
                <a:latin typeface="Jost" pitchFamily="34" charset="0"/>
                <a:ea typeface="Jost" pitchFamily="34" charset="-122"/>
                <a:cs typeface="Jost" pitchFamily="34" charset="-120"/>
              </a:rPr>
              <a:t>L&amp;K WELLNESS  ·  PRIVATE INVESTMENT BRIEF  ·  CONFIDENTIAL</a:t>
            </a:r>
            <a:endParaRPr lang="en-US" sz="700" dirty="0"/>
          </a:p>
        </p:txBody>
      </p:sp>
      <p:sp>
        <p:nvSpPr>
          <p:cNvPr id="10" name="Text 6"/>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B6965"/>
                </a:solidFill>
                <a:latin typeface="Jost" pitchFamily="34" charset="0"/>
                <a:ea typeface="Jost" pitchFamily="34" charset="-122"/>
                <a:cs typeface="Jost" pitchFamily="34" charset="-120"/>
              </a:rPr>
              <a:t>38</a:t>
            </a:r>
            <a:endParaRPr lang="en-US" sz="70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B08D57"/>
                </a:solidFill>
                <a:latin typeface="Jost" pitchFamily="34" charset="0"/>
                <a:ea typeface="Jost" pitchFamily="34" charset="-122"/>
                <a:cs typeface="Jost" pitchFamily="34" charset="-120"/>
              </a:rPr>
              <a:t>APPENDIX  ·  USE OF FUNDS</a:t>
            </a:r>
            <a:endParaRPr lang="en-US" sz="900" dirty="0"/>
          </a:p>
        </p:txBody>
      </p:sp>
      <p:sp>
        <p:nvSpPr>
          <p:cNvPr id="3" name="Shape 1"/>
          <p:cNvSpPr/>
          <p:nvPr/>
        </p:nvSpPr>
        <p:spPr>
          <a:xfrm>
            <a:off x="502920" y="557784"/>
            <a:ext cx="566928" cy="12802"/>
          </a:xfrm>
          <a:prstGeom prst="rect">
            <a:avLst/>
          </a:prstGeom>
          <a:solidFill>
            <a:srgbClr val="B08D57"/>
          </a:solidFill>
          <a:ln w="12700">
            <a:solidFill>
              <a:srgbClr val="B08D57"/>
            </a:solidFill>
            <a:prstDash val="solid"/>
          </a:ln>
        </p:spPr>
      </p:sp>
      <p:sp>
        <p:nvSpPr>
          <p:cNvPr id="4" name="Text 2"/>
          <p:cNvSpPr/>
          <p:nvPr/>
        </p:nvSpPr>
        <p:spPr>
          <a:xfrm>
            <a:off x="502920" y="621792"/>
            <a:ext cx="8138160" cy="548640"/>
          </a:xfrm>
          <a:prstGeom prst="rect">
            <a:avLst/>
          </a:prstGeom>
          <a:noFill/>
          <a:ln/>
        </p:spPr>
        <p:txBody>
          <a:bodyPr wrap="square" rtlCol="0" anchor="t"/>
          <a:lstStyle/>
          <a:p>
            <a:pPr indent="0" marL="0">
              <a:buNone/>
            </a:pPr>
            <a:r>
              <a:rPr lang="en-US" sz="2600" spc="400" kern="0" dirty="0">
                <a:solidFill>
                  <a:srgbClr val="EDE7DE"/>
                </a:solidFill>
                <a:latin typeface="Cormorant Garamond" pitchFamily="34" charset="0"/>
                <a:ea typeface="Cormorant Garamond" pitchFamily="34" charset="-122"/>
                <a:cs typeface="Cormorant Garamond" pitchFamily="34" charset="-120"/>
              </a:rPr>
              <a:t>WHAT EACH CAPITAL LINE COVERS</a:t>
            </a:r>
            <a:endParaRPr lang="en-US" sz="2600" dirty="0"/>
          </a:p>
        </p:txBody>
      </p:sp>
      <p:graphicFrame>
        <p:nvGraphicFramePr>
          <p:cNvPr id="40" name="Table 0"/>
          <p:cNvGraphicFramePr>
            <a:graphicFrameLocks noGrp="1"/>
          </p:cNvGraphicFramePr>
          <p:nvPr>
            <p:extLst>
              <p:ext uri="{D42A27DB-BD31-4B8C-83A1-F6EECF244321}">
                <p14:modId xmlns:p14="http://schemas.microsoft.com/office/powerpoint/2010/main" val="1579011935"/>
              </p:ext>
            </p:extLst>
          </p:nvPr>
        </p:nvGraphicFramePr>
        <p:xfrm>
          <a:off x="502920" y="1371600"/>
          <a:ext cx="8138160" cy="914400"/>
        </p:xfrm>
        <a:graphic>
          <a:graphicData uri="http://schemas.openxmlformats.org/drawingml/2006/table">
            <a:tbl>
              <a:tblPr/>
              <a:tblGrid>
                <a:gridCol w="2697480"/>
                <a:gridCol w="1280160"/>
                <a:gridCol w="4160520"/>
              </a:tblGrid>
              <a:tr h="274320">
                <a:tc>
                  <a:txBody>
                    <a:bodyPr/>
                    <a:lstStyle/>
                    <a:p>
                      <a:pPr algn="l" indent="0" marL="0">
                        <a:buNone/>
                      </a:pPr>
                      <a:r>
                        <a:rPr lang="en-US" sz="750" spc="140" kern="0" dirty="0">
                          <a:solidFill>
                            <a:srgbClr val="B08D57"/>
                          </a:solidFill>
                          <a:latin typeface="Jost" pitchFamily="34" charset="0"/>
                          <a:ea typeface="Jost" pitchFamily="34" charset="-122"/>
                          <a:cs typeface="Jost" pitchFamily="34" charset="-120"/>
                        </a:rPr>
                        <a:t>LINE</a:t>
                      </a:r>
                      <a:endParaRPr lang="en-US" sz="750" dirty="0">
                        <a:latin typeface="Jost" charset="0"/>
                        <a:ea typeface="Jost" charset="0"/>
                        <a:cs typeface="Jost" charset="0"/>
                      </a:endParaRPr>
                    </a:p>
                  </a:txBody>
                  <a:tcPr marL="27432" marR="27432" marT="27432" marB="27432" anchor="ctr">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000000"/>
                    </a:solidFill>
                  </a:tcPr>
                </a:tc>
                <a:tc>
                  <a:txBody>
                    <a:bodyPr/>
                    <a:lstStyle/>
                    <a:p>
                      <a:pPr algn="r" indent="0" marL="0">
                        <a:buNone/>
                      </a:pPr>
                      <a:r>
                        <a:rPr lang="en-US" sz="750" spc="140" kern="0" dirty="0">
                          <a:solidFill>
                            <a:srgbClr val="B08D57"/>
                          </a:solidFill>
                          <a:latin typeface="Jost" pitchFamily="34" charset="0"/>
                          <a:ea typeface="Jost" pitchFamily="34" charset="-122"/>
                          <a:cs typeface="Jost" pitchFamily="34" charset="-120"/>
                        </a:rPr>
                        <a:t>AMOUNT</a:t>
                      </a:r>
                      <a:endParaRPr lang="en-US" sz="750" dirty="0">
                        <a:latin typeface="Jost" charset="0"/>
                        <a:ea typeface="Jost" charset="0"/>
                        <a:cs typeface="Jost" charset="0"/>
                      </a:endParaRPr>
                    </a:p>
                  </a:txBody>
                  <a:tcPr marL="27432" marR="27432" marT="27432" marB="27432" anchor="ctr">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000000"/>
                    </a:solidFill>
                  </a:tcPr>
                </a:tc>
                <a:tc>
                  <a:txBody>
                    <a:bodyPr/>
                    <a:lstStyle/>
                    <a:p>
                      <a:pPr algn="l" indent="0" marL="0">
                        <a:buNone/>
                      </a:pPr>
                      <a:r>
                        <a:rPr lang="en-US" sz="750" spc="140" kern="0" dirty="0">
                          <a:solidFill>
                            <a:srgbClr val="B08D57"/>
                          </a:solidFill>
                          <a:latin typeface="Jost" pitchFamily="34" charset="0"/>
                          <a:ea typeface="Jost" pitchFamily="34" charset="-122"/>
                          <a:cs typeface="Jost" pitchFamily="34" charset="-120"/>
                        </a:rPr>
                        <a:t>BASIS</a:t>
                      </a:r>
                      <a:endParaRPr lang="en-US" sz="750" dirty="0">
                        <a:latin typeface="Jost" charset="0"/>
                        <a:ea typeface="Jost" charset="0"/>
                        <a:cs typeface="Jost" charset="0"/>
                      </a:endParaRPr>
                    </a:p>
                  </a:txBody>
                  <a:tcPr marL="27432" marR="27432" marT="27432" marB="27432" anchor="ctr">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000000"/>
                    </a:solidFill>
                  </a:tcPr>
                </a:tc>
              </a:tr>
              <a:tr h="274320">
                <a:tc>
                  <a:txBody>
                    <a:bodyPr/>
                    <a:lstStyle/>
                    <a:p>
                      <a:pPr algn="l" indent="0" marL="0">
                        <a:buNone/>
                      </a:pPr>
                      <a:r>
                        <a:rPr lang="en-US" sz="750" dirty="0">
                          <a:solidFill>
                            <a:srgbClr val="EDE7DE"/>
                          </a:solidFill>
                          <a:latin typeface="Jost" pitchFamily="34" charset="0"/>
                          <a:ea typeface="Jost" pitchFamily="34" charset="-122"/>
                          <a:cs typeface="Jost" pitchFamily="34" charset="-120"/>
                        </a:rPr>
                        <a:t>Buildout and tenant improvements (4,925 SF @ $250/SF)</a:t>
                      </a:r>
                      <a:endParaRPr lang="en-US" sz="750" dirty="0">
                        <a:latin typeface="Jost" charset="0"/>
                        <a:ea typeface="Jost" charset="0"/>
                        <a:cs typeface="Jost" charset="0"/>
                      </a:endParaRPr>
                    </a:p>
                  </a:txBody>
                  <a:tcPr marL="27432" marR="27432" marT="27432" marB="27432"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$1,231,250</a:t>
                      </a:r>
                      <a:endParaRPr lang="en-US" sz="750" dirty="0">
                        <a:latin typeface="Jost" charset="0"/>
                        <a:ea typeface="Jost" charset="0"/>
                        <a:cs typeface="Jost" charset="0"/>
                      </a:endParaRPr>
                    </a:p>
                  </a:txBody>
                  <a:tcPr marL="27432" marR="27432" marT="27432" marB="27432"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l" indent="0" marL="0">
                        <a:buNone/>
                      </a:pPr>
                      <a:r>
                        <a:rPr lang="en-US" sz="750" dirty="0">
                          <a:solidFill>
                            <a:srgbClr val="C9BCA9"/>
                          </a:solidFill>
                          <a:latin typeface="Jost" pitchFamily="34" charset="0"/>
                          <a:ea typeface="Jost" pitchFamily="34" charset="-122"/>
                          <a:cs typeface="Jost" pitchFamily="34" charset="-120"/>
                        </a:rPr>
                        <a:t>Square footage × $250/SF for clinic and club space.</a:t>
                      </a:r>
                      <a:endParaRPr lang="en-US" sz="750" dirty="0">
                        <a:latin typeface="Jost" charset="0"/>
                        <a:ea typeface="Jost" charset="0"/>
                        <a:cs typeface="Jost" charset="0"/>
                      </a:endParaRPr>
                    </a:p>
                  </a:txBody>
                  <a:tcPr marL="27432" marR="27432" marT="27432" marB="27432"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274320">
                <a:tc>
                  <a:txBody>
                    <a:bodyPr/>
                    <a:lstStyle/>
                    <a:p>
                      <a:pPr algn="l" indent="0" marL="0">
                        <a:buNone/>
                      </a:pPr>
                      <a:r>
                        <a:rPr lang="en-US" sz="750" dirty="0">
                          <a:solidFill>
                            <a:srgbClr val="EDE7DE"/>
                          </a:solidFill>
                          <a:latin typeface="Jost" pitchFamily="34" charset="0"/>
                          <a:ea typeface="Jost" pitchFamily="34" charset="-122"/>
                          <a:cs typeface="Jost" pitchFamily="34" charset="-120"/>
                        </a:rPr>
                        <a:t>Wet areas: 2 saunas, 2 plunges, steam, drainage…</a:t>
                      </a:r>
                      <a:endParaRPr lang="en-US" sz="750" dirty="0">
                        <a:latin typeface="Jost" charset="0"/>
                        <a:ea typeface="Jost" charset="0"/>
                        <a:cs typeface="Jost" charset="0"/>
                      </a:endParaRPr>
                    </a:p>
                  </a:txBody>
                  <a:tcPr marL="27432" marR="27432" marT="27432" marB="27432"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$465,000</a:t>
                      </a:r>
                      <a:endParaRPr lang="en-US" sz="750" dirty="0">
                        <a:latin typeface="Jost" charset="0"/>
                        <a:ea typeface="Jost" charset="0"/>
                        <a:cs typeface="Jost" charset="0"/>
                      </a:endParaRPr>
                    </a:p>
                  </a:txBody>
                  <a:tcPr marL="27432" marR="27432" marT="27432" marB="27432"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l" indent="0" marL="0">
                        <a:buNone/>
                      </a:pPr>
                      <a:r>
                        <a:rPr lang="en-US" sz="750" dirty="0">
                          <a:solidFill>
                            <a:srgbClr val="C9BCA9"/>
                          </a:solidFill>
                          <a:latin typeface="Jost" pitchFamily="34" charset="0"/>
                          <a:ea typeface="Jost" pitchFamily="34" charset="-122"/>
                          <a:cs typeface="Jost" pitchFamily="34" charset="-120"/>
                        </a:rPr>
                        <a:t>Itemised below. Wet construction is the highest-variance line in the whole buildout: waterproofing failures and ventilation rework are the classic overrun.</a:t>
                      </a:r>
                      <a:endParaRPr lang="en-US" sz="750" dirty="0">
                        <a:latin typeface="Jost" charset="0"/>
                        <a:ea typeface="Jost" charset="0"/>
                        <a:cs typeface="Jost" charset="0"/>
                      </a:endParaRPr>
                    </a:p>
                  </a:txBody>
                  <a:tcPr marL="27432" marR="27432" marT="27432" marB="27432"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274320">
                <a:tc>
                  <a:txBody>
                    <a:bodyPr/>
                    <a:lstStyle/>
                    <a:p>
                      <a:pPr algn="l" indent="0" marL="0">
                        <a:buNone/>
                      </a:pPr>
                      <a:r>
                        <a:rPr lang="en-US" sz="750" dirty="0">
                          <a:solidFill>
                            <a:srgbClr val="EDE7DE"/>
                          </a:solidFill>
                          <a:latin typeface="Jost" pitchFamily="34" charset="0"/>
                          <a:ea typeface="Jost" pitchFamily="34" charset="-122"/>
                          <a:cs typeface="Jost" pitchFamily="34" charset="-120"/>
                        </a:rPr>
                        <a:t>Medical and aesthetic equipment (purchased)</a:t>
                      </a:r>
                      <a:endParaRPr lang="en-US" sz="750" dirty="0">
                        <a:latin typeface="Jost" charset="0"/>
                        <a:ea typeface="Jost" charset="0"/>
                        <a:cs typeface="Jost" charset="0"/>
                      </a:endParaRPr>
                    </a:p>
                  </a:txBody>
                  <a:tcPr marL="27432" marR="27432" marT="27432" marB="27432"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$780,000</a:t>
                      </a:r>
                      <a:endParaRPr lang="en-US" sz="750" dirty="0">
                        <a:latin typeface="Jost" charset="0"/>
                        <a:ea typeface="Jost" charset="0"/>
                        <a:cs typeface="Jost" charset="0"/>
                      </a:endParaRPr>
                    </a:p>
                  </a:txBody>
                  <a:tcPr marL="27432" marR="27432" marT="27432" marB="27432"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l" indent="0" marL="0">
                        <a:buNone/>
                      </a:pPr>
                      <a:r>
                        <a:rPr lang="en-US" sz="750" dirty="0">
                          <a:solidFill>
                            <a:srgbClr val="C9BCA9"/>
                          </a:solidFill>
                          <a:latin typeface="Jost" pitchFamily="34" charset="0"/>
                          <a:ea typeface="Jost" pitchFamily="34" charset="-122"/>
                          <a:cs typeface="Jost" pitchFamily="34" charset="-120"/>
                        </a:rPr>
                        <a:t>Purchased portion of the medical and aesthetic package. Excludes bone densitometry, which is itemised on its own line below.</a:t>
                      </a:r>
                      <a:endParaRPr lang="en-US" sz="750" dirty="0">
                        <a:latin typeface="Jost" charset="0"/>
                        <a:ea typeface="Jost" charset="0"/>
                        <a:cs typeface="Jost" charset="0"/>
                      </a:endParaRPr>
                    </a:p>
                  </a:txBody>
                  <a:tcPr marL="27432" marR="27432" marT="27432" marB="27432"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274320">
                <a:tc>
                  <a:txBody>
                    <a:bodyPr/>
                    <a:lstStyle/>
                    <a:p>
                      <a:pPr algn="l" indent="0" marL="0">
                        <a:buNone/>
                      </a:pPr>
                      <a:r>
                        <a:rPr lang="en-US" sz="750" dirty="0">
                          <a:solidFill>
                            <a:srgbClr val="EDE7DE"/>
                          </a:solidFill>
                          <a:latin typeface="Jost" pitchFamily="34" charset="0"/>
                          <a:ea typeface="Jost" pitchFamily="34" charset="-122"/>
                          <a:cs typeface="Jost" pitchFamily="34" charset="-120"/>
                        </a:rPr>
                        <a:t>Recovery technology: HBOT purchased, Ammortal deposit</a:t>
                      </a:r>
                      <a:endParaRPr lang="en-US" sz="750" dirty="0">
                        <a:latin typeface="Jost" charset="0"/>
                        <a:ea typeface="Jost" charset="0"/>
                        <a:cs typeface="Jost" charset="0"/>
                      </a:endParaRPr>
                    </a:p>
                  </a:txBody>
                  <a:tcPr marL="27432" marR="27432" marT="27432" marB="27432"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$165,950</a:t>
                      </a:r>
                      <a:endParaRPr lang="en-US" sz="750" dirty="0">
                        <a:latin typeface="Jost" charset="0"/>
                        <a:ea typeface="Jost" charset="0"/>
                        <a:cs typeface="Jost" charset="0"/>
                      </a:endParaRPr>
                    </a:p>
                  </a:txBody>
                  <a:tcPr marL="27432" marR="27432" marT="27432" marB="27432"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l" indent="0" marL="0">
                        <a:buNone/>
                      </a:pPr>
                      <a:r>
                        <a:rPr lang="en-US" sz="750" dirty="0">
                          <a:solidFill>
                            <a:srgbClr val="C9BCA9"/>
                          </a:solidFill>
                          <a:latin typeface="Jost" pitchFamily="34" charset="0"/>
                          <a:ea typeface="Jost" pitchFamily="34" charset="-122"/>
                          <a:cs typeface="Jost" pitchFamily="34" charset="-120"/>
                        </a:rPr>
                        <a:t>Only the hyperbaric chamber is bought outright. The Ammortal chamber is financed, so the capital cost is the deposit alone.</a:t>
                      </a:r>
                      <a:endParaRPr lang="en-US" sz="750" dirty="0">
                        <a:latin typeface="Jost" charset="0"/>
                        <a:ea typeface="Jost" charset="0"/>
                        <a:cs typeface="Jost" charset="0"/>
                      </a:endParaRPr>
                    </a:p>
                  </a:txBody>
                  <a:tcPr marL="27432" marR="27432" marT="27432" marB="27432"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274320">
                <a:tc>
                  <a:txBody>
                    <a:bodyPr/>
                    <a:lstStyle/>
                    <a:p>
                      <a:pPr algn="l" indent="0" marL="0">
                        <a:buNone/>
                      </a:pPr>
                      <a:r>
                        <a:rPr lang="en-US" sz="750" dirty="0">
                          <a:solidFill>
                            <a:srgbClr val="EDE7DE"/>
                          </a:solidFill>
                          <a:latin typeface="Jost" pitchFamily="34" charset="0"/>
                          <a:ea typeface="Jost" pitchFamily="34" charset="-122"/>
                          <a:cs typeface="Jost" pitchFamily="34" charset="-120"/>
                        </a:rPr>
                        <a:t>GE iDXA bone densitometer, purchased</a:t>
                      </a:r>
                      <a:endParaRPr lang="en-US" sz="750" dirty="0">
                        <a:latin typeface="Jost" charset="0"/>
                        <a:ea typeface="Jost" charset="0"/>
                        <a:cs typeface="Jost" charset="0"/>
                      </a:endParaRPr>
                    </a:p>
                  </a:txBody>
                  <a:tcPr marL="27432" marR="27432" marT="27432" marB="27432"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$25,000</a:t>
                      </a:r>
                      <a:endParaRPr lang="en-US" sz="750" dirty="0">
                        <a:latin typeface="Jost" charset="0"/>
                        <a:ea typeface="Jost" charset="0"/>
                        <a:cs typeface="Jost" charset="0"/>
                      </a:endParaRPr>
                    </a:p>
                  </a:txBody>
                  <a:tcPr marL="27432" marR="27432" marT="27432" marB="27432"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l" indent="0" marL="0">
                        <a:buNone/>
                      </a:pPr>
                      <a:r>
                        <a:rPr lang="en-US" sz="750" dirty="0">
                          <a:solidFill>
                            <a:srgbClr val="C9BCA9"/>
                          </a:solidFill>
                          <a:latin typeface="Jost" pitchFamily="34" charset="0"/>
                          <a:ea typeface="Jost" pitchFamily="34" charset="-122"/>
                          <a:cs typeface="Jost" pitchFamily="34" charset="-120"/>
                        </a:rPr>
                        <a:t>A GE Lunar iDXA bone densitometer, bought outright rather than leased, plus the 125 SF room it occupies.</a:t>
                      </a:r>
                      <a:endParaRPr lang="en-US" sz="750" dirty="0">
                        <a:latin typeface="Jost" charset="0"/>
                        <a:ea typeface="Jost" charset="0"/>
                        <a:cs typeface="Jost" charset="0"/>
                      </a:endParaRPr>
                    </a:p>
                  </a:txBody>
                  <a:tcPr marL="27432" marR="27432" marT="27432" marB="27432"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274320">
                <a:tc>
                  <a:txBody>
                    <a:bodyPr/>
                    <a:lstStyle/>
                    <a:p>
                      <a:pPr algn="l" indent="0" marL="0">
                        <a:buNone/>
                      </a:pPr>
                      <a:r>
                        <a:rPr lang="en-US" sz="750" dirty="0">
                          <a:solidFill>
                            <a:srgbClr val="EDE7DE"/>
                          </a:solidFill>
                          <a:latin typeface="Jost" pitchFamily="34" charset="0"/>
                          <a:ea typeface="Jost" pitchFamily="34" charset="-122"/>
                          <a:cs typeface="Jost" pitchFamily="34" charset="-120"/>
                        </a:rPr>
                        <a:t>FF&amp;E, lounge, millwork, retail</a:t>
                      </a:r>
                      <a:endParaRPr lang="en-US" sz="750" dirty="0">
                        <a:latin typeface="Jost" charset="0"/>
                        <a:ea typeface="Jost" charset="0"/>
                        <a:cs typeface="Jost" charset="0"/>
                      </a:endParaRPr>
                    </a:p>
                  </a:txBody>
                  <a:tcPr marL="27432" marR="27432" marT="27432" marB="27432"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$430,000</a:t>
                      </a:r>
                      <a:endParaRPr lang="en-US" sz="750" dirty="0">
                        <a:latin typeface="Jost" charset="0"/>
                        <a:ea typeface="Jost" charset="0"/>
                        <a:cs typeface="Jost" charset="0"/>
                      </a:endParaRPr>
                    </a:p>
                  </a:txBody>
                  <a:tcPr marL="27432" marR="27432" marT="27432" marB="27432"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l" indent="0" marL="0">
                        <a:buNone/>
                      </a:pPr>
                      <a:r>
                        <a:rPr lang="en-US" sz="750" dirty="0">
                          <a:solidFill>
                            <a:srgbClr val="C9BCA9"/>
                          </a:solidFill>
                          <a:latin typeface="Jost" pitchFamily="34" charset="0"/>
                          <a:ea typeface="Jost" pitchFamily="34" charset="-122"/>
                          <a:cs typeface="Jost" pitchFamily="34" charset="-120"/>
                        </a:rPr>
                        <a:t>Furniture, lounge fit-out, millwork and retail fixtures.</a:t>
                      </a:r>
                      <a:endParaRPr lang="en-US" sz="750" dirty="0">
                        <a:latin typeface="Jost" charset="0"/>
                        <a:ea typeface="Jost" charset="0"/>
                        <a:cs typeface="Jost" charset="0"/>
                      </a:endParaRPr>
                    </a:p>
                  </a:txBody>
                  <a:tcPr marL="27432" marR="27432" marT="27432" marB="27432"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274320">
                <a:tc>
                  <a:txBody>
                    <a:bodyPr/>
                    <a:lstStyle/>
                    <a:p>
                      <a:pPr algn="l" indent="0" marL="0">
                        <a:buNone/>
                      </a:pPr>
                      <a:r>
                        <a:rPr lang="en-US" sz="750" dirty="0">
                          <a:solidFill>
                            <a:srgbClr val="EDE7DE"/>
                          </a:solidFill>
                          <a:latin typeface="Jost" pitchFamily="34" charset="0"/>
                          <a:ea typeface="Jost" pitchFamily="34" charset="-122"/>
                          <a:cs typeface="Jost" pitchFamily="34" charset="-120"/>
                        </a:rPr>
                        <a:t>Pre-opening: licensing, legal, insurance, hiring</a:t>
                      </a:r>
                      <a:endParaRPr lang="en-US" sz="750" dirty="0">
                        <a:latin typeface="Jost" charset="0"/>
                        <a:ea typeface="Jost" charset="0"/>
                        <a:cs typeface="Jost" charset="0"/>
                      </a:endParaRPr>
                    </a:p>
                  </a:txBody>
                  <a:tcPr marL="27432" marR="27432" marT="27432" marB="27432"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$310,000</a:t>
                      </a:r>
                      <a:endParaRPr lang="en-US" sz="750" dirty="0">
                        <a:latin typeface="Jost" charset="0"/>
                        <a:ea typeface="Jost" charset="0"/>
                        <a:cs typeface="Jost" charset="0"/>
                      </a:endParaRPr>
                    </a:p>
                  </a:txBody>
                  <a:tcPr marL="27432" marR="27432" marT="27432" marB="27432"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l" indent="0" marL="0">
                        <a:buNone/>
                      </a:pPr>
                      <a:r>
                        <a:rPr lang="en-US" sz="750" dirty="0">
                          <a:solidFill>
                            <a:srgbClr val="C9BCA9"/>
                          </a:solidFill>
                          <a:latin typeface="Jost" pitchFamily="34" charset="0"/>
                          <a:ea typeface="Jost" pitchFamily="34" charset="-122"/>
                          <a:cs typeface="Jost" pitchFamily="34" charset="-120"/>
                        </a:rPr>
                        <a:t>Licensing, legal, insurance binders, recruiting and pre-opening payroll.</a:t>
                      </a:r>
                      <a:endParaRPr lang="en-US" sz="750" dirty="0">
                        <a:latin typeface="Jost" charset="0"/>
                        <a:ea typeface="Jost" charset="0"/>
                        <a:cs typeface="Jost" charset="0"/>
                      </a:endParaRPr>
                    </a:p>
                  </a:txBody>
                  <a:tcPr marL="27432" marR="27432" marT="27432" marB="27432"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274320">
                <a:tc>
                  <a:txBody>
                    <a:bodyPr/>
                    <a:lstStyle/>
                    <a:p>
                      <a:pPr algn="l" indent="0" marL="0">
                        <a:buNone/>
                      </a:pPr>
                      <a:r>
                        <a:rPr lang="en-US" sz="750" dirty="0">
                          <a:solidFill>
                            <a:srgbClr val="EDE7DE"/>
                          </a:solidFill>
                          <a:latin typeface="Jost" pitchFamily="34" charset="0"/>
                          <a:ea typeface="Jost" pitchFamily="34" charset="-122"/>
                          <a:cs typeface="Jost" pitchFamily="34" charset="-120"/>
                        </a:rPr>
                        <a:t>Brand, launch, founding member campaign</a:t>
                      </a:r>
                      <a:endParaRPr lang="en-US" sz="750" dirty="0">
                        <a:latin typeface="Jost" charset="0"/>
                        <a:ea typeface="Jost" charset="0"/>
                        <a:cs typeface="Jost" charset="0"/>
                      </a:endParaRPr>
                    </a:p>
                  </a:txBody>
                  <a:tcPr marL="27432" marR="27432" marT="27432" marB="27432"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$237,000</a:t>
                      </a:r>
                      <a:endParaRPr lang="en-US" sz="750" dirty="0">
                        <a:latin typeface="Jost" charset="0"/>
                        <a:ea typeface="Jost" charset="0"/>
                        <a:cs typeface="Jost" charset="0"/>
                      </a:endParaRPr>
                    </a:p>
                  </a:txBody>
                  <a:tcPr marL="27432" marR="27432" marT="27432" marB="27432"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l" indent="0" marL="0">
                        <a:buNone/>
                      </a:pPr>
                      <a:r>
                        <a:rPr lang="en-US" sz="750" dirty="0">
                          <a:solidFill>
                            <a:srgbClr val="C9BCA9"/>
                          </a:solidFill>
                          <a:latin typeface="Jost" pitchFamily="34" charset="0"/>
                          <a:ea typeface="Jost" pitchFamily="34" charset="-122"/>
                          <a:cs typeface="Jost" pitchFamily="34" charset="-120"/>
                        </a:rPr>
                        <a:t>Identity, site, photography, launch campaign and the founding member drive.</a:t>
                      </a:r>
                      <a:endParaRPr lang="en-US" sz="750" dirty="0">
                        <a:latin typeface="Jost" charset="0"/>
                        <a:ea typeface="Jost" charset="0"/>
                        <a:cs typeface="Jost" charset="0"/>
                      </a:endParaRPr>
                    </a:p>
                  </a:txBody>
                  <a:tcPr marL="27432" marR="27432" marT="27432" marB="27432"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274320">
                <a:tc>
                  <a:txBody>
                    <a:bodyPr/>
                    <a:lstStyle/>
                    <a:p>
                      <a:pPr algn="l" indent="0" marL="0">
                        <a:buNone/>
                      </a:pPr>
                      <a:r>
                        <a:rPr lang="en-US" sz="750" dirty="0">
                          <a:solidFill>
                            <a:srgbClr val="EDE7DE"/>
                          </a:solidFill>
                          <a:latin typeface="Jost" pitchFamily="34" charset="0"/>
                          <a:ea typeface="Jost" pitchFamily="34" charset="-122"/>
                          <a:cs typeface="Jost" pitchFamily="34" charset="-120"/>
                        </a:rPr>
                        <a:t>Working capital reserve</a:t>
                      </a:r>
                      <a:endParaRPr lang="en-US" sz="750" dirty="0">
                        <a:latin typeface="Jost" charset="0"/>
                        <a:ea typeface="Jost" charset="0"/>
                        <a:cs typeface="Jost" charset="0"/>
                      </a:endParaRPr>
                    </a:p>
                  </a:txBody>
                  <a:tcPr marL="27432" marR="27432" marT="27432" marB="27432"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$1,105,800</a:t>
                      </a:r>
                      <a:endParaRPr lang="en-US" sz="750" dirty="0">
                        <a:latin typeface="Jost" charset="0"/>
                        <a:ea typeface="Jost" charset="0"/>
                        <a:cs typeface="Jost" charset="0"/>
                      </a:endParaRPr>
                    </a:p>
                  </a:txBody>
                  <a:tcPr marL="27432" marR="27432" marT="27432" marB="27432"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l" indent="0" marL="0">
                        <a:buNone/>
                      </a:pPr>
                      <a:r>
                        <a:rPr lang="en-US" sz="750" dirty="0">
                          <a:solidFill>
                            <a:srgbClr val="C9BCA9"/>
                          </a:solidFill>
                          <a:latin typeface="Jost" pitchFamily="34" charset="0"/>
                          <a:ea typeface="Jost" pitchFamily="34" charset="-122"/>
                          <a:cs typeface="Jost" pitchFamily="34" charset="-120"/>
                        </a:rPr>
                        <a:t>Sized against the modelled cash trough, not set to a round number.</a:t>
                      </a:r>
                      <a:endParaRPr lang="en-US" sz="750" dirty="0">
                        <a:latin typeface="Jost" charset="0"/>
                        <a:ea typeface="Jost" charset="0"/>
                        <a:cs typeface="Jost" charset="0"/>
                      </a:endParaRPr>
                    </a:p>
                  </a:txBody>
                  <a:tcPr marL="27432" marR="27432" marT="27432" marB="27432"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274320">
                <a:tc>
                  <a:txBody>
                    <a:bodyPr/>
                    <a:lstStyle/>
                    <a:p>
                      <a:pPr algn="l" indent="0" marL="0">
                        <a:buNone/>
                      </a:pPr>
                      <a:r>
                        <a:rPr lang="en-US" sz="750" dirty="0">
                          <a:solidFill>
                            <a:srgbClr val="B08D57"/>
                          </a:solidFill>
                          <a:latin typeface="Jost" pitchFamily="34" charset="0"/>
                          <a:ea typeface="Jost" pitchFamily="34" charset="-122"/>
                          <a:cs typeface="Jost" pitchFamily="34" charset="-120"/>
                        </a:rPr>
                        <a:t>Total project cost</a:t>
                      </a:r>
                      <a:endParaRPr lang="en-US" sz="750" dirty="0">
                        <a:latin typeface="Jost" charset="0"/>
                        <a:ea typeface="Jost" charset="0"/>
                        <a:cs typeface="Jost" charset="0"/>
                      </a:endParaRPr>
                    </a:p>
                  </a:txBody>
                  <a:tcPr marL="27432" marR="27432" marT="27432" marB="27432"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B08D57"/>
                          </a:solidFill>
                          <a:latin typeface="Jost" pitchFamily="34" charset="0"/>
                          <a:ea typeface="Jost" pitchFamily="34" charset="-122"/>
                          <a:cs typeface="Jost" pitchFamily="34" charset="-120"/>
                        </a:rPr>
                        <a:t>$4,750,000</a:t>
                      </a:r>
                      <a:endParaRPr lang="en-US" sz="750" dirty="0">
                        <a:latin typeface="Jost" charset="0"/>
                        <a:ea typeface="Jost" charset="0"/>
                        <a:cs typeface="Jost" charset="0"/>
                      </a:endParaRPr>
                    </a:p>
                  </a:txBody>
                  <a:tcPr marL="27432" marR="27432" marT="27432" marB="27432"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l" indent="0" marL="0">
                        <a:buNone/>
                      </a:pPr>
                      <a:endParaRPr lang="en-US" sz="750" dirty="0">
                        <a:latin typeface="Jost" charset="0"/>
                        <a:ea typeface="Jost" charset="0"/>
                        <a:cs typeface="Jost" charset="0"/>
                      </a:endParaRPr>
                    </a:p>
                  </a:txBody>
                  <a:tcPr marL="27432" marR="27432" marT="27432" marB="27432"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bl>
          </a:graphicData>
        </a:graphic>
      </p:graphicFrame>
      <p:sp>
        <p:nvSpPr>
          <p:cNvPr id="6" name="Text 3"/>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B6965"/>
                </a:solidFill>
                <a:latin typeface="Jost" pitchFamily="34" charset="0"/>
                <a:ea typeface="Jost" pitchFamily="34" charset="-122"/>
                <a:cs typeface="Jost" pitchFamily="34" charset="-120"/>
              </a:rPr>
              <a:t>L&amp;K WELLNESS  ·  PRIVATE INVESTMENT BRIEF  ·  CONFIDENTIAL</a:t>
            </a:r>
            <a:endParaRPr lang="en-US" sz="700" dirty="0"/>
          </a:p>
        </p:txBody>
      </p:sp>
      <p:sp>
        <p:nvSpPr>
          <p:cNvPr id="7" name="Text 4"/>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B6965"/>
                </a:solidFill>
                <a:latin typeface="Jost" pitchFamily="34" charset="0"/>
                <a:ea typeface="Jost" pitchFamily="34" charset="-122"/>
                <a:cs typeface="Jost" pitchFamily="34" charset="-120"/>
              </a:rPr>
              <a:t>39</a:t>
            </a:r>
            <a:endParaRPr lang="en-US" sz="70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B08D57"/>
                </a:solidFill>
                <a:latin typeface="Jost" pitchFamily="34" charset="0"/>
                <a:ea typeface="Jost" pitchFamily="34" charset="-122"/>
                <a:cs typeface="Jost" pitchFamily="34" charset="-120"/>
              </a:rPr>
              <a:t>APPENDIX  ·  PROVENANCE</a:t>
            </a:r>
            <a:endParaRPr lang="en-US" sz="900" dirty="0"/>
          </a:p>
        </p:txBody>
      </p:sp>
      <p:sp>
        <p:nvSpPr>
          <p:cNvPr id="3" name="Shape 1"/>
          <p:cNvSpPr/>
          <p:nvPr/>
        </p:nvSpPr>
        <p:spPr>
          <a:xfrm>
            <a:off x="502920" y="557784"/>
            <a:ext cx="566928" cy="12802"/>
          </a:xfrm>
          <a:prstGeom prst="rect">
            <a:avLst/>
          </a:prstGeom>
          <a:solidFill>
            <a:srgbClr val="B08D57"/>
          </a:solidFill>
          <a:ln w="12700">
            <a:solidFill>
              <a:srgbClr val="B08D57"/>
            </a:solidFill>
            <a:prstDash val="solid"/>
          </a:ln>
        </p:spPr>
      </p:sp>
      <p:sp>
        <p:nvSpPr>
          <p:cNvPr id="4" name="Text 2"/>
          <p:cNvSpPr/>
          <p:nvPr/>
        </p:nvSpPr>
        <p:spPr>
          <a:xfrm>
            <a:off x="502920" y="621792"/>
            <a:ext cx="8138160" cy="548640"/>
          </a:xfrm>
          <a:prstGeom prst="rect">
            <a:avLst/>
          </a:prstGeom>
          <a:noFill/>
          <a:ln/>
        </p:spPr>
        <p:txBody>
          <a:bodyPr wrap="square" rtlCol="0" anchor="t"/>
          <a:lstStyle/>
          <a:p>
            <a:pPr indent="0" marL="0">
              <a:buNone/>
            </a:pPr>
            <a:r>
              <a:rPr lang="en-US" sz="2600" spc="400" kern="0" dirty="0">
                <a:solidFill>
                  <a:srgbClr val="EDE7DE"/>
                </a:solidFill>
                <a:latin typeface="Cormorant Garamond" pitchFamily="34" charset="0"/>
                <a:ea typeface="Cormorant Garamond" pitchFamily="34" charset="-122"/>
                <a:cs typeface="Cormorant Garamond" pitchFamily="34" charset="-120"/>
              </a:rPr>
              <a:t>WHAT RESTS ON JUDGMENT (1 OF 3)</a:t>
            </a:r>
            <a:endParaRPr lang="en-US" sz="2600" dirty="0"/>
          </a:p>
        </p:txBody>
      </p:sp>
      <p:sp>
        <p:nvSpPr>
          <p:cNvPr id="5" name="Text 3"/>
          <p:cNvSpPr/>
          <p:nvPr/>
        </p:nvSpPr>
        <p:spPr>
          <a:xfrm>
            <a:off x="502920" y="1115568"/>
            <a:ext cx="7487107" cy="457200"/>
          </a:xfrm>
          <a:prstGeom prst="rect">
            <a:avLst/>
          </a:prstGeom>
          <a:noFill/>
          <a:ln/>
        </p:spPr>
        <p:txBody>
          <a:bodyPr wrap="square" rtlCol="0" anchor="t"/>
          <a:lstStyle/>
          <a:p>
            <a:pPr indent="0" marL="0">
              <a:lnSpc>
                <a:spcPct val="120000"/>
              </a:lnSpc>
              <a:buNone/>
            </a:pPr>
            <a:r>
              <a:rPr lang="en-US" sz="1050" dirty="0">
                <a:solidFill>
                  <a:srgbClr val="C9BCA9"/>
                </a:solidFill>
                <a:latin typeface="Jost" pitchFamily="34" charset="0"/>
                <a:ea typeface="Jost" pitchFamily="34" charset="-122"/>
                <a:cs typeface="Jost" pitchFamily="34" charset="-120"/>
              </a:rPr>
              <a:t>Each figure below is an estimate, an inherited assumption or a single vendor quote.</a:t>
            </a:r>
            <a:endParaRPr lang="en-US" sz="1050" dirty="0"/>
          </a:p>
        </p:txBody>
      </p:sp>
      <p:sp>
        <p:nvSpPr>
          <p:cNvPr id="6" name="Text 4"/>
          <p:cNvSpPr/>
          <p:nvPr/>
        </p:nvSpPr>
        <p:spPr>
          <a:xfrm>
            <a:off x="502920" y="1572768"/>
            <a:ext cx="8138160" cy="164592"/>
          </a:xfrm>
          <a:prstGeom prst="rect">
            <a:avLst/>
          </a:prstGeom>
          <a:noFill/>
          <a:ln/>
        </p:spPr>
        <p:txBody>
          <a:bodyPr wrap="square" rtlCol="0" anchor="ctr"/>
          <a:lstStyle/>
          <a:p>
            <a:pPr indent="0" marL="0">
              <a:buNone/>
            </a:pPr>
            <a:r>
              <a:rPr lang="en-US" sz="750" spc="160" kern="0" dirty="0">
                <a:solidFill>
                  <a:srgbClr val="B08D57"/>
                </a:solidFill>
                <a:latin typeface="Jost" pitchFamily="34" charset="0"/>
                <a:ea typeface="Jost" pitchFamily="34" charset="-122"/>
                <a:cs typeface="Jost" pitchFamily="34" charset="-120"/>
              </a:rPr>
              <a:t>RENT (4,925 SF NNN)</a:t>
            </a:r>
            <a:endParaRPr lang="en-US" sz="750" dirty="0"/>
          </a:p>
        </p:txBody>
      </p:sp>
      <p:sp>
        <p:nvSpPr>
          <p:cNvPr id="7" name="Text 5"/>
          <p:cNvSpPr/>
          <p:nvPr/>
        </p:nvSpPr>
        <p:spPr>
          <a:xfrm>
            <a:off x="502920" y="1737360"/>
            <a:ext cx="8138160" cy="241402"/>
          </a:xfrm>
          <a:prstGeom prst="rect">
            <a:avLst/>
          </a:prstGeom>
          <a:noFill/>
          <a:ln/>
        </p:spPr>
        <p:txBody>
          <a:bodyPr wrap="square" rtlCol="0" anchor="t"/>
          <a:lstStyle/>
          <a:p>
            <a:pPr indent="0" marL="0">
              <a:lnSpc>
                <a:spcPct val="120000"/>
              </a:lnSpc>
              <a:buNone/>
            </a:pPr>
            <a:r>
              <a:rPr lang="en-US" sz="800" dirty="0">
                <a:solidFill>
                  <a:srgbClr val="C9BCA9"/>
                </a:solidFill>
                <a:latin typeface="Jost" pitchFamily="34" charset="0"/>
                <a:ea typeface="Jost" pitchFamily="34" charset="-122"/>
                <a:cs typeface="Jost" pitchFamily="34" charset="-120"/>
              </a:rPr>
              <a:t>This is the most exposed number in the model. There is no broker letter, no comparable set and no listing behind it anywhere in the lineage. The prior Playa Vista model implied $6.77/SF, so $5.50 is the more aggressive figure. Sensitivity is shown at the end of this document.</a:t>
            </a:r>
            <a:endParaRPr lang="en-US" sz="800" dirty="0"/>
          </a:p>
        </p:txBody>
      </p:sp>
      <p:sp>
        <p:nvSpPr>
          <p:cNvPr id="8" name="Text 6"/>
          <p:cNvSpPr/>
          <p:nvPr/>
        </p:nvSpPr>
        <p:spPr>
          <a:xfrm>
            <a:off x="502920" y="2115922"/>
            <a:ext cx="8138160" cy="164592"/>
          </a:xfrm>
          <a:prstGeom prst="rect">
            <a:avLst/>
          </a:prstGeom>
          <a:noFill/>
          <a:ln/>
        </p:spPr>
        <p:txBody>
          <a:bodyPr wrap="square" rtlCol="0" anchor="ctr"/>
          <a:lstStyle/>
          <a:p>
            <a:pPr indent="0" marL="0">
              <a:buNone/>
            </a:pPr>
            <a:r>
              <a:rPr lang="en-US" sz="750" spc="160" kern="0" dirty="0">
                <a:solidFill>
                  <a:srgbClr val="B08D57"/>
                </a:solidFill>
                <a:latin typeface="Jost" pitchFamily="34" charset="0"/>
                <a:ea typeface="Jost" pitchFamily="34" charset="-122"/>
                <a:cs typeface="Jost" pitchFamily="34" charset="-120"/>
              </a:rPr>
              <a:t>EQUIPMENT LEASES</a:t>
            </a:r>
            <a:endParaRPr lang="en-US" sz="750" dirty="0"/>
          </a:p>
        </p:txBody>
      </p:sp>
      <p:sp>
        <p:nvSpPr>
          <p:cNvPr id="9" name="Text 7"/>
          <p:cNvSpPr/>
          <p:nvPr/>
        </p:nvSpPr>
        <p:spPr>
          <a:xfrm>
            <a:off x="502920" y="2280514"/>
            <a:ext cx="8138160" cy="482803"/>
          </a:xfrm>
          <a:prstGeom prst="rect">
            <a:avLst/>
          </a:prstGeom>
          <a:noFill/>
          <a:ln/>
        </p:spPr>
        <p:txBody>
          <a:bodyPr wrap="square" rtlCol="0" anchor="t"/>
          <a:lstStyle/>
          <a:p>
            <a:pPr indent="0" marL="0">
              <a:lnSpc>
                <a:spcPct val="120000"/>
              </a:lnSpc>
              <a:buNone/>
            </a:pPr>
            <a:r>
              <a:rPr lang="en-US" sz="800" dirty="0">
                <a:solidFill>
                  <a:srgbClr val="C9BCA9"/>
                </a:solidFill>
                <a:latin typeface="Jost" pitchFamily="34" charset="0"/>
                <a:ea typeface="Jost" pitchFamily="34" charset="-122"/>
                <a:cs typeface="Jost" pitchFamily="34" charset="-120"/>
              </a:rPr>
              <a:t>One Ammortal chamber, not two: $159,500 list including delivery, install and onboarding, a 10% deposit, and roughly $3,000 a month on vendor financing. Aescape cannot be purchased at all, and the single unit runs $5,000 a month on enterprise terms plus $10 for every completed massage, which is a variable cost already sitting inside that service line’s margin rather than here. The second red light bed is vendor-financed at $1,375 a month: red light runs 650 sessions a month on the current menu, which one bed cannot physically deliver.</a:t>
            </a:r>
            <a:endParaRPr lang="en-US" sz="800" dirty="0"/>
          </a:p>
        </p:txBody>
      </p:sp>
      <p:sp>
        <p:nvSpPr>
          <p:cNvPr id="10" name="Text 8"/>
          <p:cNvSpPr/>
          <p:nvPr/>
        </p:nvSpPr>
        <p:spPr>
          <a:xfrm>
            <a:off x="502920" y="2900477"/>
            <a:ext cx="8138160" cy="164592"/>
          </a:xfrm>
          <a:prstGeom prst="rect">
            <a:avLst/>
          </a:prstGeom>
          <a:noFill/>
          <a:ln/>
        </p:spPr>
        <p:txBody>
          <a:bodyPr wrap="square" rtlCol="0" anchor="ctr"/>
          <a:lstStyle/>
          <a:p>
            <a:pPr indent="0" marL="0">
              <a:buNone/>
            </a:pPr>
            <a:r>
              <a:rPr lang="en-US" sz="750" spc="160" kern="0" dirty="0">
                <a:solidFill>
                  <a:srgbClr val="B08D57"/>
                </a:solidFill>
                <a:latin typeface="Jost" pitchFamily="34" charset="0"/>
                <a:ea typeface="Jost" pitchFamily="34" charset="-122"/>
                <a:cs typeface="Jost" pitchFamily="34" charset="-120"/>
              </a:rPr>
              <a:t>ADMIN AND MANAGEMENT</a:t>
            </a:r>
            <a:endParaRPr lang="en-US" sz="750" dirty="0"/>
          </a:p>
        </p:txBody>
      </p:sp>
      <p:sp>
        <p:nvSpPr>
          <p:cNvPr id="11" name="Text 9"/>
          <p:cNvSpPr/>
          <p:nvPr/>
        </p:nvSpPr>
        <p:spPr>
          <a:xfrm>
            <a:off x="502920" y="3065069"/>
            <a:ext cx="8138160" cy="120701"/>
          </a:xfrm>
          <a:prstGeom prst="rect">
            <a:avLst/>
          </a:prstGeom>
          <a:noFill/>
          <a:ln/>
        </p:spPr>
        <p:txBody>
          <a:bodyPr wrap="square" rtlCol="0" anchor="t"/>
          <a:lstStyle/>
          <a:p>
            <a:pPr indent="0" marL="0">
              <a:lnSpc>
                <a:spcPct val="120000"/>
              </a:lnSpc>
              <a:buNone/>
            </a:pPr>
            <a:r>
              <a:rPr lang="en-US" sz="800" dirty="0">
                <a:solidFill>
                  <a:srgbClr val="C9BCA9"/>
                </a:solidFill>
                <a:latin typeface="Jost" pitchFamily="34" charset="0"/>
                <a:ea typeface="Jost" pitchFamily="34" charset="-122"/>
                <a:cs typeface="Jost" pitchFamily="34" charset="-120"/>
              </a:rPr>
              <a:t>Merchant processing is the largest component and scales with card revenue at roughly 2.6%. Everything else is a fixed vendor cost.</a:t>
            </a:r>
            <a:endParaRPr lang="en-US" sz="800" dirty="0"/>
          </a:p>
        </p:txBody>
      </p:sp>
      <p:sp>
        <p:nvSpPr>
          <p:cNvPr id="12" name="Text 10"/>
          <p:cNvSpPr/>
          <p:nvPr/>
        </p:nvSpPr>
        <p:spPr>
          <a:xfrm>
            <a:off x="502920" y="3322930"/>
            <a:ext cx="8138160" cy="164592"/>
          </a:xfrm>
          <a:prstGeom prst="rect">
            <a:avLst/>
          </a:prstGeom>
          <a:noFill/>
          <a:ln/>
        </p:spPr>
        <p:txBody>
          <a:bodyPr wrap="square" rtlCol="0" anchor="ctr"/>
          <a:lstStyle/>
          <a:p>
            <a:pPr indent="0" marL="0">
              <a:buNone/>
            </a:pPr>
            <a:r>
              <a:rPr lang="en-US" sz="750" spc="160" kern="0" dirty="0">
                <a:solidFill>
                  <a:srgbClr val="B08D57"/>
                </a:solidFill>
                <a:latin typeface="Jost" pitchFamily="34" charset="0"/>
                <a:ea typeface="Jost" pitchFamily="34" charset="-122"/>
                <a:cs typeface="Jost" pitchFamily="34" charset="-120"/>
              </a:rPr>
              <a:t>MARKETING AND MEMBER ACQUISITION</a:t>
            </a:r>
            <a:endParaRPr lang="en-US" sz="750" dirty="0"/>
          </a:p>
        </p:txBody>
      </p:sp>
      <p:sp>
        <p:nvSpPr>
          <p:cNvPr id="13" name="Text 11"/>
          <p:cNvSpPr/>
          <p:nvPr/>
        </p:nvSpPr>
        <p:spPr>
          <a:xfrm>
            <a:off x="502920" y="3487522"/>
            <a:ext cx="8138160" cy="241402"/>
          </a:xfrm>
          <a:prstGeom prst="rect">
            <a:avLst/>
          </a:prstGeom>
          <a:noFill/>
          <a:ln/>
        </p:spPr>
        <p:txBody>
          <a:bodyPr wrap="square" rtlCol="0" anchor="t"/>
          <a:lstStyle/>
          <a:p>
            <a:pPr indent="0" marL="0">
              <a:lnSpc>
                <a:spcPct val="120000"/>
              </a:lnSpc>
              <a:buNone/>
            </a:pPr>
            <a:r>
              <a:rPr lang="en-US" sz="800" dirty="0">
                <a:solidFill>
                  <a:srgbClr val="C9BCA9"/>
                </a:solidFill>
                <a:latin typeface="Jost" pitchFamily="34" charset="0"/>
                <a:ea typeface="Jost" pitchFamily="34" charset="-122"/>
                <a:cs typeface="Jost" pitchFamily="34" charset="-120"/>
              </a:rPr>
              <a:t>Weighted toward paid digital during the ramp and toward events and referral once the membership base exists. No blended CAC target is claimed, because none has been measured.</a:t>
            </a:r>
            <a:endParaRPr lang="en-US" sz="800" dirty="0"/>
          </a:p>
        </p:txBody>
      </p:sp>
      <p:sp>
        <p:nvSpPr>
          <p:cNvPr id="14" name="Text 12"/>
          <p:cNvSpPr/>
          <p:nvPr/>
        </p:nvSpPr>
        <p:spPr>
          <a:xfrm>
            <a:off x="502920" y="3866083"/>
            <a:ext cx="8138160" cy="164592"/>
          </a:xfrm>
          <a:prstGeom prst="rect">
            <a:avLst/>
          </a:prstGeom>
          <a:noFill/>
          <a:ln/>
        </p:spPr>
        <p:txBody>
          <a:bodyPr wrap="square" rtlCol="0" anchor="ctr"/>
          <a:lstStyle/>
          <a:p>
            <a:pPr indent="0" marL="0">
              <a:buNone/>
            </a:pPr>
            <a:r>
              <a:rPr lang="en-US" sz="750" spc="160" kern="0" dirty="0">
                <a:solidFill>
                  <a:srgbClr val="B08D57"/>
                </a:solidFill>
                <a:latin typeface="Jost" pitchFamily="34" charset="0"/>
                <a:ea typeface="Jost" pitchFamily="34" charset="-122"/>
                <a:cs typeface="Jost" pitchFamily="34" charset="-120"/>
              </a:rPr>
              <a:t>MALPRACTICE AND LIABILITY</a:t>
            </a:r>
            <a:endParaRPr lang="en-US" sz="750" dirty="0"/>
          </a:p>
        </p:txBody>
      </p:sp>
      <p:sp>
        <p:nvSpPr>
          <p:cNvPr id="15" name="Text 13"/>
          <p:cNvSpPr/>
          <p:nvPr/>
        </p:nvSpPr>
        <p:spPr>
          <a:xfrm>
            <a:off x="502920" y="4030675"/>
            <a:ext cx="8138160" cy="241402"/>
          </a:xfrm>
          <a:prstGeom prst="rect">
            <a:avLst/>
          </a:prstGeom>
          <a:noFill/>
          <a:ln/>
        </p:spPr>
        <p:txBody>
          <a:bodyPr wrap="square" rtlCol="0" anchor="t"/>
          <a:lstStyle/>
          <a:p>
            <a:pPr indent="0" marL="0">
              <a:lnSpc>
                <a:spcPct val="120000"/>
              </a:lnSpc>
              <a:buNone/>
            </a:pPr>
            <a:r>
              <a:rPr lang="en-US" sz="800" dirty="0">
                <a:solidFill>
                  <a:srgbClr val="C9BCA9"/>
                </a:solidFill>
                <a:latin typeface="Jost" pitchFamily="34" charset="0"/>
                <a:ea typeface="Jost" pitchFamily="34" charset="-122"/>
                <a:cs typeface="Jost" pitchFamily="34" charset="-120"/>
              </a:rPr>
              <a:t>Priced per credentialed provider plus an entity policy and umbrella. The surgical case adds facility coverage for an accredited operating room, which is the single largest driver of the difference.</a:t>
            </a:r>
            <a:endParaRPr lang="en-US" sz="800" dirty="0"/>
          </a:p>
        </p:txBody>
      </p:sp>
      <p:sp>
        <p:nvSpPr>
          <p:cNvPr id="16" name="Text 14"/>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B6965"/>
                </a:solidFill>
                <a:latin typeface="Jost" pitchFamily="34" charset="0"/>
                <a:ea typeface="Jost" pitchFamily="34" charset="-122"/>
                <a:cs typeface="Jost" pitchFamily="34" charset="-120"/>
              </a:rPr>
              <a:t>L&amp;K WELLNESS  ·  PRIVATE INVESTMENT BRIEF  ·  CONFIDENTIAL</a:t>
            </a:r>
            <a:endParaRPr lang="en-US" sz="700" dirty="0"/>
          </a:p>
        </p:txBody>
      </p:sp>
      <p:sp>
        <p:nvSpPr>
          <p:cNvPr id="17" name="Text 15"/>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B6965"/>
                </a:solidFill>
                <a:latin typeface="Jost" pitchFamily="34" charset="0"/>
                <a:ea typeface="Jost" pitchFamily="34" charset="-122"/>
                <a:cs typeface="Jost" pitchFamily="34" charset="-120"/>
              </a:rPr>
              <a:t>40</a:t>
            </a:r>
            <a:endParaRPr lang="en-US" sz="70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B08D57"/>
                </a:solidFill>
                <a:latin typeface="Jost" pitchFamily="34" charset="0"/>
                <a:ea typeface="Jost" pitchFamily="34" charset="-122"/>
                <a:cs typeface="Jost" pitchFamily="34" charset="-120"/>
              </a:rPr>
              <a:t>APPENDIX  ·  PROVENANCE</a:t>
            </a:r>
            <a:endParaRPr lang="en-US" sz="900" dirty="0"/>
          </a:p>
        </p:txBody>
      </p:sp>
      <p:sp>
        <p:nvSpPr>
          <p:cNvPr id="3" name="Shape 1"/>
          <p:cNvSpPr/>
          <p:nvPr/>
        </p:nvSpPr>
        <p:spPr>
          <a:xfrm>
            <a:off x="502920" y="557784"/>
            <a:ext cx="566928" cy="12802"/>
          </a:xfrm>
          <a:prstGeom prst="rect">
            <a:avLst/>
          </a:prstGeom>
          <a:solidFill>
            <a:srgbClr val="B08D57"/>
          </a:solidFill>
          <a:ln w="12700">
            <a:solidFill>
              <a:srgbClr val="B08D57"/>
            </a:solidFill>
            <a:prstDash val="solid"/>
          </a:ln>
        </p:spPr>
      </p:sp>
      <p:sp>
        <p:nvSpPr>
          <p:cNvPr id="4" name="Text 2"/>
          <p:cNvSpPr/>
          <p:nvPr/>
        </p:nvSpPr>
        <p:spPr>
          <a:xfrm>
            <a:off x="502920" y="621792"/>
            <a:ext cx="8138160" cy="548640"/>
          </a:xfrm>
          <a:prstGeom prst="rect">
            <a:avLst/>
          </a:prstGeom>
          <a:noFill/>
          <a:ln/>
        </p:spPr>
        <p:txBody>
          <a:bodyPr wrap="square" rtlCol="0" anchor="t"/>
          <a:lstStyle/>
          <a:p>
            <a:pPr indent="0" marL="0">
              <a:buNone/>
            </a:pPr>
            <a:r>
              <a:rPr lang="en-US" sz="2600" spc="400" kern="0" dirty="0">
                <a:solidFill>
                  <a:srgbClr val="EDE7DE"/>
                </a:solidFill>
                <a:latin typeface="Cormorant Garamond" pitchFamily="34" charset="0"/>
                <a:ea typeface="Cormorant Garamond" pitchFamily="34" charset="-122"/>
                <a:cs typeface="Cormorant Garamond" pitchFamily="34" charset="-120"/>
              </a:rPr>
              <a:t>WHAT RESTS ON JUDGMENT (2 OF 3)</a:t>
            </a:r>
            <a:endParaRPr lang="en-US" sz="2600" dirty="0"/>
          </a:p>
        </p:txBody>
      </p:sp>
      <p:sp>
        <p:nvSpPr>
          <p:cNvPr id="5" name="Text 3"/>
          <p:cNvSpPr/>
          <p:nvPr/>
        </p:nvSpPr>
        <p:spPr>
          <a:xfrm>
            <a:off x="502920" y="1298448"/>
            <a:ext cx="8138160" cy="164592"/>
          </a:xfrm>
          <a:prstGeom prst="rect">
            <a:avLst/>
          </a:prstGeom>
          <a:noFill/>
          <a:ln/>
        </p:spPr>
        <p:txBody>
          <a:bodyPr wrap="square" rtlCol="0" anchor="ctr"/>
          <a:lstStyle/>
          <a:p>
            <a:pPr indent="0" marL="0">
              <a:buNone/>
            </a:pPr>
            <a:r>
              <a:rPr lang="en-US" sz="750" spc="160" kern="0" dirty="0">
                <a:solidFill>
                  <a:srgbClr val="B08D57"/>
                </a:solidFill>
                <a:latin typeface="Jost" pitchFamily="34" charset="0"/>
                <a:ea typeface="Jost" pitchFamily="34" charset="-122"/>
                <a:cs typeface="Jost" pitchFamily="34" charset="-120"/>
              </a:rPr>
              <a:t>UTILITIES, SOFTWARE, MEMBER PLATFORM</a:t>
            </a:r>
            <a:endParaRPr lang="en-US" sz="750" dirty="0"/>
          </a:p>
        </p:txBody>
      </p:sp>
      <p:sp>
        <p:nvSpPr>
          <p:cNvPr id="6" name="Text 4"/>
          <p:cNvSpPr/>
          <p:nvPr/>
        </p:nvSpPr>
        <p:spPr>
          <a:xfrm>
            <a:off x="502920" y="1463040"/>
            <a:ext cx="8138160" cy="241402"/>
          </a:xfrm>
          <a:prstGeom prst="rect">
            <a:avLst/>
          </a:prstGeom>
          <a:noFill/>
          <a:ln/>
        </p:spPr>
        <p:txBody>
          <a:bodyPr wrap="square" rtlCol="0" anchor="t"/>
          <a:lstStyle/>
          <a:p>
            <a:pPr indent="0" marL="0">
              <a:lnSpc>
                <a:spcPct val="120000"/>
              </a:lnSpc>
              <a:buNone/>
            </a:pPr>
            <a:r>
              <a:rPr lang="en-US" sz="800" dirty="0">
                <a:solidFill>
                  <a:srgbClr val="C9BCA9"/>
                </a:solidFill>
                <a:latin typeface="Jost" pitchFamily="34" charset="0"/>
                <a:ea typeface="Jost" pitchFamily="34" charset="-122"/>
                <a:cs typeface="Jost" pitchFamily="34" charset="-120"/>
              </a:rPr>
              <a:t>Wet areas dominate the utility line: saunas, plunges and their dehumidification run continuously and are materially more energy intensive than a dry medspa of the same footprint.</a:t>
            </a:r>
            <a:endParaRPr lang="en-US" sz="800" dirty="0"/>
          </a:p>
        </p:txBody>
      </p:sp>
      <p:sp>
        <p:nvSpPr>
          <p:cNvPr id="7" name="Text 5"/>
          <p:cNvSpPr/>
          <p:nvPr/>
        </p:nvSpPr>
        <p:spPr>
          <a:xfrm>
            <a:off x="502920" y="1841602"/>
            <a:ext cx="8138160" cy="164592"/>
          </a:xfrm>
          <a:prstGeom prst="rect">
            <a:avLst/>
          </a:prstGeom>
          <a:noFill/>
          <a:ln/>
        </p:spPr>
        <p:txBody>
          <a:bodyPr wrap="square" rtlCol="0" anchor="ctr"/>
          <a:lstStyle/>
          <a:p>
            <a:pPr indent="0" marL="0">
              <a:buNone/>
            </a:pPr>
            <a:r>
              <a:rPr lang="en-US" sz="750" spc="160" kern="0" dirty="0">
                <a:solidFill>
                  <a:srgbClr val="B08D57"/>
                </a:solidFill>
                <a:latin typeface="Jost" pitchFamily="34" charset="0"/>
                <a:ea typeface="Jost" pitchFamily="34" charset="-122"/>
                <a:cs typeface="Jost" pitchFamily="34" charset="-120"/>
              </a:rPr>
              <a:t>LICENSING AND COMPLIANCE</a:t>
            </a:r>
            <a:endParaRPr lang="en-US" sz="750" dirty="0"/>
          </a:p>
        </p:txBody>
      </p:sp>
      <p:sp>
        <p:nvSpPr>
          <p:cNvPr id="8" name="Text 6"/>
          <p:cNvSpPr/>
          <p:nvPr/>
        </p:nvSpPr>
        <p:spPr>
          <a:xfrm>
            <a:off x="502920" y="2006194"/>
            <a:ext cx="8138160" cy="241402"/>
          </a:xfrm>
          <a:prstGeom prst="rect">
            <a:avLst/>
          </a:prstGeom>
          <a:noFill/>
          <a:ln/>
        </p:spPr>
        <p:txBody>
          <a:bodyPr wrap="square" rtlCol="0" anchor="t"/>
          <a:lstStyle/>
          <a:p>
            <a:pPr indent="0" marL="0">
              <a:lnSpc>
                <a:spcPct val="120000"/>
              </a:lnSpc>
              <a:buNone/>
            </a:pPr>
            <a:r>
              <a:rPr lang="en-US" sz="800" dirty="0">
                <a:solidFill>
                  <a:srgbClr val="C9BCA9"/>
                </a:solidFill>
                <a:latin typeface="Jost" pitchFamily="34" charset="0"/>
                <a:ea typeface="Jost" pitchFamily="34" charset="-122"/>
                <a:cs typeface="Jost" pitchFamily="34" charset="-120"/>
              </a:rPr>
              <a:t>Routine regulatory carrying cost. The surgical case adds accreditation maintenance and a standing quality and performance improvement programme, both of which the accrediting body requires between surveys.</a:t>
            </a:r>
            <a:endParaRPr lang="en-US" sz="800" dirty="0"/>
          </a:p>
        </p:txBody>
      </p:sp>
      <p:sp>
        <p:nvSpPr>
          <p:cNvPr id="9" name="Text 7"/>
          <p:cNvSpPr/>
          <p:nvPr/>
        </p:nvSpPr>
        <p:spPr>
          <a:xfrm>
            <a:off x="502920" y="2384755"/>
            <a:ext cx="8138160" cy="164592"/>
          </a:xfrm>
          <a:prstGeom prst="rect">
            <a:avLst/>
          </a:prstGeom>
          <a:noFill/>
          <a:ln/>
        </p:spPr>
        <p:txBody>
          <a:bodyPr wrap="square" rtlCol="0" anchor="ctr"/>
          <a:lstStyle/>
          <a:p>
            <a:pPr indent="0" marL="0">
              <a:buNone/>
            </a:pPr>
            <a:r>
              <a:rPr lang="en-US" sz="750" spc="160" kern="0" dirty="0">
                <a:solidFill>
                  <a:srgbClr val="B08D57"/>
                </a:solidFill>
                <a:latin typeface="Jost" pitchFamily="34" charset="0"/>
                <a:ea typeface="Jost" pitchFamily="34" charset="-122"/>
                <a:cs typeface="Jost" pitchFamily="34" charset="-120"/>
              </a:rPr>
              <a:t>BUILDOUT AND TENANT IMPROVEMENTS (4,925 SF @ $250/SF)</a:t>
            </a:r>
            <a:endParaRPr lang="en-US" sz="750" dirty="0"/>
          </a:p>
        </p:txBody>
      </p:sp>
      <p:sp>
        <p:nvSpPr>
          <p:cNvPr id="10" name="Text 8"/>
          <p:cNvSpPr/>
          <p:nvPr/>
        </p:nvSpPr>
        <p:spPr>
          <a:xfrm>
            <a:off x="502920" y="2549347"/>
            <a:ext cx="8138160" cy="241402"/>
          </a:xfrm>
          <a:prstGeom prst="rect">
            <a:avLst/>
          </a:prstGeom>
          <a:noFill/>
          <a:ln/>
        </p:spPr>
        <p:txBody>
          <a:bodyPr wrap="square" rtlCol="0" anchor="t"/>
          <a:lstStyle/>
          <a:p>
            <a:pPr indent="0" marL="0">
              <a:lnSpc>
                <a:spcPct val="120000"/>
              </a:lnSpc>
              <a:buNone/>
            </a:pPr>
            <a:r>
              <a:rPr lang="en-US" sz="800" dirty="0">
                <a:solidFill>
                  <a:srgbClr val="C9BCA9"/>
                </a:solidFill>
                <a:latin typeface="Jost" pitchFamily="34" charset="0"/>
                <a:ea typeface="Jost" pitchFamily="34" charset="-122"/>
                <a:cs typeface="Jost" pitchFamily="34" charset="-120"/>
              </a:rPr>
              <a:t>The prior Playa Vista model used $200–$300/SF for comparable clinic buildout, so $250 sits mid-range. It is not a contractor bid; a general contractor bid remains the most valuable document to obtain before closing.</a:t>
            </a:r>
            <a:endParaRPr lang="en-US" sz="800" dirty="0"/>
          </a:p>
        </p:txBody>
      </p:sp>
      <p:sp>
        <p:nvSpPr>
          <p:cNvPr id="11" name="Text 9"/>
          <p:cNvSpPr/>
          <p:nvPr/>
        </p:nvSpPr>
        <p:spPr>
          <a:xfrm>
            <a:off x="502920" y="2927909"/>
            <a:ext cx="8138160" cy="164592"/>
          </a:xfrm>
          <a:prstGeom prst="rect">
            <a:avLst/>
          </a:prstGeom>
          <a:noFill/>
          <a:ln/>
        </p:spPr>
        <p:txBody>
          <a:bodyPr wrap="square" rtlCol="0" anchor="ctr"/>
          <a:lstStyle/>
          <a:p>
            <a:pPr indent="0" marL="0">
              <a:buNone/>
            </a:pPr>
            <a:r>
              <a:rPr lang="en-US" sz="750" spc="160" kern="0" dirty="0">
                <a:solidFill>
                  <a:srgbClr val="B08D57"/>
                </a:solidFill>
                <a:latin typeface="Jost" pitchFamily="34" charset="0"/>
                <a:ea typeface="Jost" pitchFamily="34" charset="-122"/>
                <a:cs typeface="Jost" pitchFamily="34" charset="-120"/>
              </a:rPr>
              <a:t>MEDICAL AND AESTHETIC EQUIPMENT (PURCHASED)</a:t>
            </a:r>
            <a:endParaRPr lang="en-US" sz="750" dirty="0"/>
          </a:p>
        </p:txBody>
      </p:sp>
      <p:sp>
        <p:nvSpPr>
          <p:cNvPr id="12" name="Text 10"/>
          <p:cNvSpPr/>
          <p:nvPr/>
        </p:nvSpPr>
        <p:spPr>
          <a:xfrm>
            <a:off x="502920" y="3092501"/>
            <a:ext cx="8138160" cy="362102"/>
          </a:xfrm>
          <a:prstGeom prst="rect">
            <a:avLst/>
          </a:prstGeom>
          <a:noFill/>
          <a:ln/>
        </p:spPr>
        <p:txBody>
          <a:bodyPr wrap="square" rtlCol="0" anchor="t"/>
          <a:lstStyle/>
          <a:p>
            <a:pPr indent="0" marL="0">
              <a:lnSpc>
                <a:spcPct val="120000"/>
              </a:lnSpc>
              <a:buNone/>
            </a:pPr>
            <a:r>
              <a:rPr lang="en-US" sz="800" dirty="0">
                <a:solidFill>
                  <a:srgbClr val="C9BCA9"/>
                </a:solidFill>
                <a:latin typeface="Jost" pitchFamily="34" charset="0"/>
                <a:ea typeface="Jost" pitchFamily="34" charset="-122"/>
                <a:cs typeface="Jost" pitchFamily="34" charset="-120"/>
              </a:rPr>
              <a:t>Category ranges come from the prior Playa Vista line-item budget: IV and exam $80K–$150K, PRP processing $40K–$125K, aesthetic laser $150K–$400K, RF microneedling $80K–$180K, body contouring $100K–$275K, diagnostics $80K–$180K. That budget is an internal planning document, not vendor quotes. The diagnostics range above covers biometrics, phlebotomy and the lab interface only: the GE iDXA is named and priced separately so the two cannot be counted twice.</a:t>
            </a:r>
            <a:endParaRPr lang="en-US" sz="800" dirty="0"/>
          </a:p>
        </p:txBody>
      </p:sp>
      <p:sp>
        <p:nvSpPr>
          <p:cNvPr id="13" name="Text 11"/>
          <p:cNvSpPr/>
          <p:nvPr/>
        </p:nvSpPr>
        <p:spPr>
          <a:xfrm>
            <a:off x="502920" y="3591763"/>
            <a:ext cx="8138160" cy="164592"/>
          </a:xfrm>
          <a:prstGeom prst="rect">
            <a:avLst/>
          </a:prstGeom>
          <a:noFill/>
          <a:ln/>
        </p:spPr>
        <p:txBody>
          <a:bodyPr wrap="square" rtlCol="0" anchor="ctr"/>
          <a:lstStyle/>
          <a:p>
            <a:pPr indent="0" marL="0">
              <a:buNone/>
            </a:pPr>
            <a:r>
              <a:rPr lang="en-US" sz="750" spc="160" kern="0" dirty="0">
                <a:solidFill>
                  <a:srgbClr val="B08D57"/>
                </a:solidFill>
                <a:latin typeface="Jost" pitchFamily="34" charset="0"/>
                <a:ea typeface="Jost" pitchFamily="34" charset="-122"/>
                <a:cs typeface="Jost" pitchFamily="34" charset="-120"/>
              </a:rPr>
              <a:t>RECOVERY TECHNOLOGY: HBOT PURCHASED, AMMORTAL DEPOSIT</a:t>
            </a:r>
            <a:endParaRPr lang="en-US" sz="750" dirty="0"/>
          </a:p>
        </p:txBody>
      </p:sp>
      <p:sp>
        <p:nvSpPr>
          <p:cNvPr id="14" name="Text 12"/>
          <p:cNvSpPr/>
          <p:nvPr/>
        </p:nvSpPr>
        <p:spPr>
          <a:xfrm>
            <a:off x="502920" y="3756355"/>
            <a:ext cx="8138160" cy="241402"/>
          </a:xfrm>
          <a:prstGeom prst="rect">
            <a:avLst/>
          </a:prstGeom>
          <a:noFill/>
          <a:ln/>
        </p:spPr>
        <p:txBody>
          <a:bodyPr wrap="square" rtlCol="0" anchor="t"/>
          <a:lstStyle/>
          <a:p>
            <a:pPr indent="0" marL="0">
              <a:lnSpc>
                <a:spcPct val="120000"/>
              </a:lnSpc>
              <a:buNone/>
            </a:pPr>
            <a:r>
              <a:rPr lang="en-US" sz="800" dirty="0">
                <a:solidFill>
                  <a:srgbClr val="C9BCA9"/>
                </a:solidFill>
                <a:latin typeface="Jost" pitchFamily="34" charset="0"/>
                <a:ea typeface="Jost" pitchFamily="34" charset="-122"/>
                <a:cs typeface="Jost" pitchFamily="34" charset="-120"/>
              </a:rPr>
              <a:t>The single Ammortal chamber lists at $159,500 including delivery, install and onboarding, with $15,950 down and roughly $3,000 a month thereafter. Both the Ammortal payment and the Aescape subscription appear in the monthly equipment lease line rather than here, along with the red light beds.</a:t>
            </a:r>
            <a:endParaRPr lang="en-US" sz="800" dirty="0"/>
          </a:p>
        </p:txBody>
      </p:sp>
      <p:sp>
        <p:nvSpPr>
          <p:cNvPr id="15" name="Text 13"/>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B6965"/>
                </a:solidFill>
                <a:latin typeface="Jost" pitchFamily="34" charset="0"/>
                <a:ea typeface="Jost" pitchFamily="34" charset="-122"/>
                <a:cs typeface="Jost" pitchFamily="34" charset="-120"/>
              </a:rPr>
              <a:t>L&amp;K WELLNESS  ·  PRIVATE INVESTMENT BRIEF  ·  CONFIDENTIAL</a:t>
            </a:r>
            <a:endParaRPr lang="en-US" sz="700" dirty="0"/>
          </a:p>
        </p:txBody>
      </p:sp>
      <p:sp>
        <p:nvSpPr>
          <p:cNvPr id="16" name="Text 14"/>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B6965"/>
                </a:solidFill>
                <a:latin typeface="Jost" pitchFamily="34" charset="0"/>
                <a:ea typeface="Jost" pitchFamily="34" charset="-122"/>
                <a:cs typeface="Jost" pitchFamily="34" charset="-120"/>
              </a:rPr>
              <a:t>41</a:t>
            </a:r>
            <a:endParaRPr lang="en-US" sz="70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B08D57"/>
                </a:solidFill>
                <a:latin typeface="Jost" pitchFamily="34" charset="0"/>
                <a:ea typeface="Jost" pitchFamily="34" charset="-122"/>
                <a:cs typeface="Jost" pitchFamily="34" charset="-120"/>
              </a:rPr>
              <a:t>APPENDIX  ·  PROVENANCE</a:t>
            </a:r>
            <a:endParaRPr lang="en-US" sz="900" dirty="0"/>
          </a:p>
        </p:txBody>
      </p:sp>
      <p:sp>
        <p:nvSpPr>
          <p:cNvPr id="3" name="Shape 1"/>
          <p:cNvSpPr/>
          <p:nvPr/>
        </p:nvSpPr>
        <p:spPr>
          <a:xfrm>
            <a:off x="502920" y="557784"/>
            <a:ext cx="566928" cy="12802"/>
          </a:xfrm>
          <a:prstGeom prst="rect">
            <a:avLst/>
          </a:prstGeom>
          <a:solidFill>
            <a:srgbClr val="B08D57"/>
          </a:solidFill>
          <a:ln w="12700">
            <a:solidFill>
              <a:srgbClr val="B08D57"/>
            </a:solidFill>
            <a:prstDash val="solid"/>
          </a:ln>
        </p:spPr>
      </p:sp>
      <p:sp>
        <p:nvSpPr>
          <p:cNvPr id="4" name="Text 2"/>
          <p:cNvSpPr/>
          <p:nvPr/>
        </p:nvSpPr>
        <p:spPr>
          <a:xfrm>
            <a:off x="502920" y="621792"/>
            <a:ext cx="8138160" cy="548640"/>
          </a:xfrm>
          <a:prstGeom prst="rect">
            <a:avLst/>
          </a:prstGeom>
          <a:noFill/>
          <a:ln/>
        </p:spPr>
        <p:txBody>
          <a:bodyPr wrap="square" rtlCol="0" anchor="t"/>
          <a:lstStyle/>
          <a:p>
            <a:pPr indent="0" marL="0">
              <a:buNone/>
            </a:pPr>
            <a:r>
              <a:rPr lang="en-US" sz="2600" spc="400" kern="0" dirty="0">
                <a:solidFill>
                  <a:srgbClr val="EDE7DE"/>
                </a:solidFill>
                <a:latin typeface="Cormorant Garamond" pitchFamily="34" charset="0"/>
                <a:ea typeface="Cormorant Garamond" pitchFamily="34" charset="-122"/>
                <a:cs typeface="Cormorant Garamond" pitchFamily="34" charset="-120"/>
              </a:rPr>
              <a:t>WHAT RESTS ON JUDGMENT (3 OF 3)</a:t>
            </a:r>
            <a:endParaRPr lang="en-US" sz="2600" dirty="0"/>
          </a:p>
        </p:txBody>
      </p:sp>
      <p:sp>
        <p:nvSpPr>
          <p:cNvPr id="5" name="Text 3"/>
          <p:cNvSpPr/>
          <p:nvPr/>
        </p:nvSpPr>
        <p:spPr>
          <a:xfrm>
            <a:off x="502920" y="1298448"/>
            <a:ext cx="8138160" cy="164592"/>
          </a:xfrm>
          <a:prstGeom prst="rect">
            <a:avLst/>
          </a:prstGeom>
          <a:noFill/>
          <a:ln/>
        </p:spPr>
        <p:txBody>
          <a:bodyPr wrap="square" rtlCol="0" anchor="ctr"/>
          <a:lstStyle/>
          <a:p>
            <a:pPr indent="0" marL="0">
              <a:buNone/>
            </a:pPr>
            <a:r>
              <a:rPr lang="en-US" sz="750" spc="160" kern="0" dirty="0">
                <a:solidFill>
                  <a:srgbClr val="B08D57"/>
                </a:solidFill>
                <a:latin typeface="Jost" pitchFamily="34" charset="0"/>
                <a:ea typeface="Jost" pitchFamily="34" charset="-122"/>
                <a:cs typeface="Jost" pitchFamily="34" charset="-120"/>
              </a:rPr>
              <a:t>GE IDXA BONE DENSITOMETER, PURCHASED</a:t>
            </a:r>
            <a:endParaRPr lang="en-US" sz="750" dirty="0"/>
          </a:p>
        </p:txBody>
      </p:sp>
      <p:sp>
        <p:nvSpPr>
          <p:cNvPr id="6" name="Text 4"/>
          <p:cNvSpPr/>
          <p:nvPr/>
        </p:nvSpPr>
        <p:spPr>
          <a:xfrm>
            <a:off x="502920" y="1463040"/>
            <a:ext cx="8138160" cy="482803"/>
          </a:xfrm>
          <a:prstGeom prst="rect">
            <a:avLst/>
          </a:prstGeom>
          <a:noFill/>
          <a:ln/>
        </p:spPr>
        <p:txBody>
          <a:bodyPr wrap="square" rtlCol="0" anchor="t"/>
          <a:lstStyle/>
          <a:p>
            <a:pPr indent="0" marL="0">
              <a:lnSpc>
                <a:spcPct val="120000"/>
              </a:lnSpc>
              <a:buNone/>
            </a:pPr>
            <a:r>
              <a:rPr lang="en-US" sz="800" dirty="0">
                <a:solidFill>
                  <a:srgbClr val="C9BCA9"/>
                </a:solidFill>
                <a:latin typeface="Jost" pitchFamily="34" charset="0"/>
                <a:ea typeface="Jost" pitchFamily="34" charset="-122"/>
                <a:cs typeface="Jost" pitchFamily="34" charset="-120"/>
              </a:rPr>
              <a:t>Price supplied by the operator. It is well below new-unit list, so it assumes a refurbished or off-lease scanner: confirm the condition, the remaining tube life and whether a service contract is included before closing. The room it needs added 125 SF to the footprint, which carries $31,250 of buildout at $250/SF; both that and the scanner itself are funded from the working capital reserve, so the project cost is unchanged. Owning the scanner rather than referring out is what puts the DEXA service line at a 77% margin and lets it be priced as a $95 screening entry point.</a:t>
            </a:r>
            <a:endParaRPr lang="en-US" sz="800" dirty="0"/>
          </a:p>
        </p:txBody>
      </p:sp>
      <p:sp>
        <p:nvSpPr>
          <p:cNvPr id="7" name="Text 5"/>
          <p:cNvSpPr/>
          <p:nvPr/>
        </p:nvSpPr>
        <p:spPr>
          <a:xfrm>
            <a:off x="502920" y="2083003"/>
            <a:ext cx="8138160" cy="164592"/>
          </a:xfrm>
          <a:prstGeom prst="rect">
            <a:avLst/>
          </a:prstGeom>
          <a:noFill/>
          <a:ln/>
        </p:spPr>
        <p:txBody>
          <a:bodyPr wrap="square" rtlCol="0" anchor="ctr"/>
          <a:lstStyle/>
          <a:p>
            <a:pPr indent="0" marL="0">
              <a:buNone/>
            </a:pPr>
            <a:r>
              <a:rPr lang="en-US" sz="750" spc="160" kern="0" dirty="0">
                <a:solidFill>
                  <a:srgbClr val="B08D57"/>
                </a:solidFill>
                <a:latin typeface="Jost" pitchFamily="34" charset="0"/>
                <a:ea typeface="Jost" pitchFamily="34" charset="-122"/>
                <a:cs typeface="Jost" pitchFamily="34" charset="-120"/>
              </a:rPr>
              <a:t>FF&amp;E, LOUNGE, MILLWORK, RETAIL</a:t>
            </a:r>
            <a:endParaRPr lang="en-US" sz="750" dirty="0"/>
          </a:p>
        </p:txBody>
      </p:sp>
      <p:sp>
        <p:nvSpPr>
          <p:cNvPr id="8" name="Text 6"/>
          <p:cNvSpPr/>
          <p:nvPr/>
        </p:nvSpPr>
        <p:spPr>
          <a:xfrm>
            <a:off x="502920" y="2247595"/>
            <a:ext cx="8138160" cy="120701"/>
          </a:xfrm>
          <a:prstGeom prst="rect">
            <a:avLst/>
          </a:prstGeom>
          <a:noFill/>
          <a:ln/>
        </p:spPr>
        <p:txBody>
          <a:bodyPr wrap="square" rtlCol="0" anchor="t"/>
          <a:lstStyle/>
          <a:p>
            <a:pPr indent="0" marL="0">
              <a:lnSpc>
                <a:spcPct val="120000"/>
              </a:lnSpc>
              <a:buNone/>
            </a:pPr>
            <a:r>
              <a:rPr lang="en-US" sz="800" dirty="0">
                <a:solidFill>
                  <a:srgbClr val="C9BCA9"/>
                </a:solidFill>
                <a:latin typeface="Jost" pitchFamily="34" charset="0"/>
                <a:ea typeface="Jost" pitchFamily="34" charset="-122"/>
                <a:cs typeface="Jost" pitchFamily="34" charset="-120"/>
              </a:rPr>
              <a:t>Hospitality-grade rather than clinical-grade, because the lounge is the product. Per square foot this is the line most exposed to taste and specification drift.</a:t>
            </a:r>
            <a:endParaRPr lang="en-US" sz="800" dirty="0"/>
          </a:p>
        </p:txBody>
      </p:sp>
      <p:sp>
        <p:nvSpPr>
          <p:cNvPr id="9" name="Text 7"/>
          <p:cNvSpPr/>
          <p:nvPr/>
        </p:nvSpPr>
        <p:spPr>
          <a:xfrm>
            <a:off x="502920" y="2505456"/>
            <a:ext cx="8138160" cy="164592"/>
          </a:xfrm>
          <a:prstGeom prst="rect">
            <a:avLst/>
          </a:prstGeom>
          <a:noFill/>
          <a:ln/>
        </p:spPr>
        <p:txBody>
          <a:bodyPr wrap="square" rtlCol="0" anchor="ctr"/>
          <a:lstStyle/>
          <a:p>
            <a:pPr indent="0" marL="0">
              <a:buNone/>
            </a:pPr>
            <a:r>
              <a:rPr lang="en-US" sz="750" spc="160" kern="0" dirty="0">
                <a:solidFill>
                  <a:srgbClr val="B08D57"/>
                </a:solidFill>
                <a:latin typeface="Jost" pitchFamily="34" charset="0"/>
                <a:ea typeface="Jost" pitchFamily="34" charset="-122"/>
                <a:cs typeface="Jost" pitchFamily="34" charset="-120"/>
              </a:rPr>
              <a:t>PRE-OPENING: LICENSING, LEGAL, INSURANCE, HIRING</a:t>
            </a:r>
            <a:endParaRPr lang="en-US" sz="750" dirty="0"/>
          </a:p>
        </p:txBody>
      </p:sp>
      <p:sp>
        <p:nvSpPr>
          <p:cNvPr id="10" name="Text 8"/>
          <p:cNvSpPr/>
          <p:nvPr/>
        </p:nvSpPr>
        <p:spPr>
          <a:xfrm>
            <a:off x="502920" y="2670048"/>
            <a:ext cx="8138160" cy="241402"/>
          </a:xfrm>
          <a:prstGeom prst="rect">
            <a:avLst/>
          </a:prstGeom>
          <a:noFill/>
          <a:ln/>
        </p:spPr>
        <p:txBody>
          <a:bodyPr wrap="square" rtlCol="0" anchor="t"/>
          <a:lstStyle/>
          <a:p>
            <a:pPr indent="0" marL="0">
              <a:lnSpc>
                <a:spcPct val="120000"/>
              </a:lnSpc>
              <a:buNone/>
            </a:pPr>
            <a:r>
              <a:rPr lang="en-US" sz="800" dirty="0">
                <a:solidFill>
                  <a:srgbClr val="C9BCA9"/>
                </a:solidFill>
                <a:latin typeface="Jost" pitchFamily="34" charset="0"/>
                <a:ea typeface="Jost" pitchFamily="34" charset="-122"/>
                <a:cs typeface="Jost" pitchFamily="34" charset="-120"/>
              </a:rPr>
              <a:t>The surgical case additionally carries the written transfer agreement with a nearby acute-care facility, which the accrediting body expects. It is priced inside this line rather than broken out.</a:t>
            </a:r>
            <a:endParaRPr lang="en-US" sz="800" dirty="0"/>
          </a:p>
        </p:txBody>
      </p:sp>
      <p:sp>
        <p:nvSpPr>
          <p:cNvPr id="11" name="Text 9"/>
          <p:cNvSpPr/>
          <p:nvPr/>
        </p:nvSpPr>
        <p:spPr>
          <a:xfrm>
            <a:off x="502920" y="3048610"/>
            <a:ext cx="8138160" cy="164592"/>
          </a:xfrm>
          <a:prstGeom prst="rect">
            <a:avLst/>
          </a:prstGeom>
          <a:noFill/>
          <a:ln/>
        </p:spPr>
        <p:txBody>
          <a:bodyPr wrap="square" rtlCol="0" anchor="ctr"/>
          <a:lstStyle/>
          <a:p>
            <a:pPr indent="0" marL="0">
              <a:buNone/>
            </a:pPr>
            <a:r>
              <a:rPr lang="en-US" sz="750" spc="160" kern="0" dirty="0">
                <a:solidFill>
                  <a:srgbClr val="B08D57"/>
                </a:solidFill>
                <a:latin typeface="Jost" pitchFamily="34" charset="0"/>
                <a:ea typeface="Jost" pitchFamily="34" charset="-122"/>
                <a:cs typeface="Jost" pitchFamily="34" charset="-120"/>
              </a:rPr>
              <a:t>BRAND, LAUNCH, FOUNDING MEMBER CAMPAIGN</a:t>
            </a:r>
            <a:endParaRPr lang="en-US" sz="750" dirty="0"/>
          </a:p>
        </p:txBody>
      </p:sp>
      <p:sp>
        <p:nvSpPr>
          <p:cNvPr id="12" name="Text 10"/>
          <p:cNvSpPr/>
          <p:nvPr/>
        </p:nvSpPr>
        <p:spPr>
          <a:xfrm>
            <a:off x="502920" y="3213202"/>
            <a:ext cx="8138160" cy="241402"/>
          </a:xfrm>
          <a:prstGeom prst="rect">
            <a:avLst/>
          </a:prstGeom>
          <a:noFill/>
          <a:ln/>
        </p:spPr>
        <p:txBody>
          <a:bodyPr wrap="square" rtlCol="0" anchor="t"/>
          <a:lstStyle/>
          <a:p>
            <a:pPr indent="0" marL="0">
              <a:lnSpc>
                <a:spcPct val="120000"/>
              </a:lnSpc>
              <a:buNone/>
            </a:pPr>
            <a:r>
              <a:rPr lang="en-US" sz="800" dirty="0">
                <a:solidFill>
                  <a:srgbClr val="C9BCA9"/>
                </a:solidFill>
                <a:latin typeface="Jost" pitchFamily="34" charset="0"/>
                <a:ea typeface="Jost" pitchFamily="34" charset="-122"/>
                <a:cs typeface="Jost" pitchFamily="34" charset="-120"/>
              </a:rPr>
              <a:t>Sized against the founding member target: the campaign has to convert enough pre-opening memberships to matter, and those proceeds are modelled as offsetting construction-period burn.</a:t>
            </a:r>
            <a:endParaRPr lang="en-US" sz="800" dirty="0"/>
          </a:p>
        </p:txBody>
      </p:sp>
      <p:sp>
        <p:nvSpPr>
          <p:cNvPr id="13" name="Text 11"/>
          <p:cNvSpPr/>
          <p:nvPr/>
        </p:nvSpPr>
        <p:spPr>
          <a:xfrm>
            <a:off x="502920" y="3591763"/>
            <a:ext cx="8138160" cy="164592"/>
          </a:xfrm>
          <a:prstGeom prst="rect">
            <a:avLst/>
          </a:prstGeom>
          <a:noFill/>
          <a:ln/>
        </p:spPr>
        <p:txBody>
          <a:bodyPr wrap="square" rtlCol="0" anchor="ctr"/>
          <a:lstStyle/>
          <a:p>
            <a:pPr indent="0" marL="0">
              <a:buNone/>
            </a:pPr>
            <a:r>
              <a:rPr lang="en-US" sz="750" spc="160" kern="0" dirty="0">
                <a:solidFill>
                  <a:srgbClr val="B08D57"/>
                </a:solidFill>
                <a:latin typeface="Jost" pitchFamily="34" charset="0"/>
                <a:ea typeface="Jost" pitchFamily="34" charset="-122"/>
                <a:cs typeface="Jost" pitchFamily="34" charset="-120"/>
              </a:rPr>
              <a:t>WORKING CAPITAL RESERVE</a:t>
            </a:r>
            <a:endParaRPr lang="en-US" sz="750" dirty="0"/>
          </a:p>
        </p:txBody>
      </p:sp>
      <p:sp>
        <p:nvSpPr>
          <p:cNvPr id="14" name="Text 12"/>
          <p:cNvSpPr/>
          <p:nvPr/>
        </p:nvSpPr>
        <p:spPr>
          <a:xfrm>
            <a:off x="502920" y="3756355"/>
            <a:ext cx="8138160" cy="241402"/>
          </a:xfrm>
          <a:prstGeom prst="rect">
            <a:avLst/>
          </a:prstGeom>
          <a:noFill/>
          <a:ln/>
        </p:spPr>
        <p:txBody>
          <a:bodyPr wrap="square" rtlCol="0" anchor="t"/>
          <a:lstStyle/>
          <a:p>
            <a:pPr indent="0" marL="0">
              <a:lnSpc>
                <a:spcPct val="120000"/>
              </a:lnSpc>
              <a:buNone/>
            </a:pPr>
            <a:r>
              <a:rPr lang="en-US" sz="800" dirty="0">
                <a:solidFill>
                  <a:srgbClr val="C9BCA9"/>
                </a:solidFill>
                <a:latin typeface="Jost" pitchFamily="34" charset="0"/>
                <a:ea typeface="Jost" pitchFamily="34" charset="-122"/>
                <a:cs typeface="Jost" pitchFamily="34" charset="-120"/>
              </a:rPr>
              <a:t>This is the one capital line that is computed rather than estimated. The model runs a 36-month cash curve and this reserve must exceed the deepest cumulative shortfall; a build assert fails if it does not. That is why the figure is not round.</a:t>
            </a:r>
            <a:endParaRPr lang="en-US" sz="800" dirty="0"/>
          </a:p>
        </p:txBody>
      </p:sp>
      <p:sp>
        <p:nvSpPr>
          <p:cNvPr id="15" name="Text 13"/>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B6965"/>
                </a:solidFill>
                <a:latin typeface="Jost" pitchFamily="34" charset="0"/>
                <a:ea typeface="Jost" pitchFamily="34" charset="-122"/>
                <a:cs typeface="Jost" pitchFamily="34" charset="-120"/>
              </a:rPr>
              <a:t>L&amp;K WELLNESS  ·  PRIVATE INVESTMENT BRIEF  ·  CONFIDENTIAL</a:t>
            </a:r>
            <a:endParaRPr lang="en-US" sz="700" dirty="0"/>
          </a:p>
        </p:txBody>
      </p:sp>
      <p:sp>
        <p:nvSpPr>
          <p:cNvPr id="16" name="Text 14"/>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B6965"/>
                </a:solidFill>
                <a:latin typeface="Jost" pitchFamily="34" charset="0"/>
                <a:ea typeface="Jost" pitchFamily="34" charset="-122"/>
                <a:cs typeface="Jost" pitchFamily="34" charset="-120"/>
              </a:rPr>
              <a:t>42</a:t>
            </a:r>
            <a:endParaRPr lang="en-US" sz="7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42</Slides>
  <Notes>42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42</vt:i4>
      </vt:variant>
    </vt:vector>
  </HeadingPairs>
  <TitlesOfParts>
    <vt:vector size="4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vector>
  </TitlesOfParts>
  <Company>LK Wellness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L and K Wellness: Private Investment Brief</dc:subject>
  <dc:creator>LK Wellness</dc:creator>
  <cp:lastModifiedBy>LK Wellness</cp:lastModifiedBy>
  <cp:revision>1</cp:revision>
  <dcterms:created xsi:type="dcterms:W3CDTF">2026-09-03T06:23:49Z</dcterms:created>
  <dcterms:modified xsi:type="dcterms:W3CDTF">2026-09-03T06:23:49Z</dcterms:modified>
</cp:coreProperties>
</file>