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Shape 1"/>
          <p:cNvSpPr/>
          <p:nvPr/>
        </p:nvSpPr>
        <p:spPr>
          <a:xfrm>
            <a:off x="0" y="4480560"/>
            <a:ext cx="9144000" cy="667512"/>
          </a:xfrm>
          <a:prstGeom prst="rect">
            <a:avLst/>
          </a:prstGeom>
          <a:solidFill>
            <a:srgbClr val="16241C"/>
          </a:solidFill>
          <a:ln w="12700">
            <a:solidFill>
              <a:srgbClr val="16241C"/>
            </a:solidFill>
            <a:prstDash val="solid"/>
          </a:ln>
        </p:spPr>
      </p:sp>
      <p:sp>
        <p:nvSpPr>
          <p:cNvPr id="4" name="Text 2"/>
          <p:cNvSpPr/>
          <p:nvPr/>
        </p:nvSpPr>
        <p:spPr>
          <a:xfrm>
            <a:off x="502920" y="1371600"/>
            <a:ext cx="8138160" cy="640080"/>
          </a:xfrm>
          <a:prstGeom prst="rect">
            <a:avLst/>
          </a:prstGeom>
          <a:noFill/>
          <a:ln/>
        </p:spPr>
        <p:txBody>
          <a:bodyPr wrap="square" rtlCol="0" anchor="ctr"/>
          <a:lstStyle/>
          <a:p>
            <a:pPr indent="0" marL="0">
              <a:buNone/>
            </a:pPr>
            <a:r>
              <a:rPr lang="en-US" sz="4000" spc="300" kern="0" dirty="0">
                <a:solidFill>
                  <a:srgbClr val="EDE6DA"/>
                </a:solidFill>
                <a:latin typeface="Century Gothic" pitchFamily="34" charset="0"/>
                <a:ea typeface="Century Gothic" pitchFamily="34" charset="-122"/>
                <a:cs typeface="Century Gothic" pitchFamily="34" charset="-120"/>
              </a:rPr>
              <a:t>L&amp;K WELLNESS</a:t>
            </a:r>
            <a:endParaRPr lang="en-US" sz="4000" dirty="0"/>
          </a:p>
        </p:txBody>
      </p:sp>
      <p:sp>
        <p:nvSpPr>
          <p:cNvPr id="5" name="Shape 3"/>
          <p:cNvSpPr/>
          <p:nvPr/>
        </p:nvSpPr>
        <p:spPr>
          <a:xfrm>
            <a:off x="502920" y="2121408"/>
            <a:ext cx="822960" cy="41148"/>
          </a:xfrm>
          <a:prstGeom prst="rect">
            <a:avLst/>
          </a:prstGeom>
          <a:solidFill>
            <a:srgbClr val="C08D7C"/>
          </a:solidFill>
          <a:ln w="12700">
            <a:solidFill>
              <a:srgbClr val="C08D7C"/>
            </a:solidFill>
            <a:prstDash val="solid"/>
          </a:ln>
        </p:spPr>
      </p:sp>
      <p:sp>
        <p:nvSpPr>
          <p:cNvPr id="6" name="Text 4"/>
          <p:cNvSpPr/>
          <p:nvPr/>
        </p:nvSpPr>
        <p:spPr>
          <a:xfrm>
            <a:off x="502920" y="2331720"/>
            <a:ext cx="8138160" cy="411480"/>
          </a:xfrm>
          <a:prstGeom prst="rect">
            <a:avLst/>
          </a:prstGeom>
          <a:noFill/>
          <a:ln/>
        </p:spPr>
        <p:txBody>
          <a:bodyPr wrap="square" rtlCol="0" anchor="ctr"/>
          <a:lstStyle/>
          <a:p>
            <a:pPr indent="0" marL="0">
              <a:buNone/>
            </a:pPr>
            <a:r>
              <a:rPr lang="en-US" sz="2000" dirty="0">
                <a:solidFill>
                  <a:srgbClr val="EDE6DA"/>
                </a:solidFill>
                <a:latin typeface="Century Gothic" pitchFamily="34" charset="0"/>
                <a:ea typeface="Century Gothic" pitchFamily="34" charset="-122"/>
                <a:cs typeface="Century Gothic" pitchFamily="34" charset="-120"/>
              </a:rPr>
              <a:t>A licensed clinic inside a private club.</a:t>
            </a:r>
            <a:endParaRPr lang="en-US" sz="2000" dirty="0"/>
          </a:p>
        </p:txBody>
      </p:sp>
      <p:sp>
        <p:nvSpPr>
          <p:cNvPr id="7" name="Text 5"/>
          <p:cNvSpPr/>
          <p:nvPr/>
        </p:nvSpPr>
        <p:spPr>
          <a:xfrm>
            <a:off x="502920" y="2788920"/>
            <a:ext cx="6510528" cy="457200"/>
          </a:xfrm>
          <a:prstGeom prst="rect">
            <a:avLst/>
          </a:prstGeom>
          <a:noFill/>
          <a:ln/>
        </p:spPr>
        <p:txBody>
          <a:bodyPr wrap="square" rtlCol="0" anchor="ctr"/>
          <a:lstStyle/>
          <a:p>
            <a:pPr indent="0" marL="0">
              <a:buNone/>
            </a:pPr>
            <a:r>
              <a:rPr lang="en-US" sz="1250" dirty="0">
                <a:solidFill>
                  <a:srgbClr val="C08D7C"/>
                </a:solidFill>
                <a:latin typeface="Calibri" pitchFamily="34" charset="0"/>
                <a:ea typeface="Calibri" pitchFamily="34" charset="-122"/>
                <a:cs typeface="Calibri" pitchFamily="34" charset="-120"/>
              </a:rPr>
              <a:t>The medicine is open to everyone. The room you want to stay in is members only.</a:t>
            </a:r>
            <a:endParaRPr lang="en-US" sz="1250" dirty="0"/>
          </a:p>
        </p:txBody>
      </p:sp>
      <p:sp>
        <p:nvSpPr>
          <p:cNvPr id="8" name="Text 6"/>
          <p:cNvSpPr/>
          <p:nvPr/>
        </p:nvSpPr>
        <p:spPr>
          <a:xfrm>
            <a:off x="502920" y="3429000"/>
            <a:ext cx="8138160" cy="274320"/>
          </a:xfrm>
          <a:prstGeom prst="rect">
            <a:avLst/>
          </a:prstGeom>
          <a:noFill/>
          <a:ln/>
        </p:spPr>
        <p:txBody>
          <a:bodyPr wrap="square" rtlCol="0" anchor="ctr"/>
          <a:lstStyle/>
          <a:p>
            <a:pPr indent="0" marL="0">
              <a:buNone/>
            </a:pPr>
            <a:r>
              <a:rPr lang="en-US" sz="1050" dirty="0">
                <a:solidFill>
                  <a:srgbClr val="A8A296"/>
                </a:solidFill>
                <a:latin typeface="Calibri" pitchFamily="34" charset="0"/>
                <a:ea typeface="Calibri" pitchFamily="34" charset="-122"/>
                <a:cs typeface="Calibri" pitchFamily="34" charset="-120"/>
              </a:rPr>
              <a:t>Playa Vista, California   ·   4,925 SF   ·   Est. 2026   ·   Ample · private, $4.75M all equity</a:t>
            </a:r>
            <a:endParaRPr lang="en-US" sz="1050" dirty="0"/>
          </a:p>
        </p:txBody>
      </p:sp>
      <p:sp>
        <p:nvSpPr>
          <p:cNvPr id="9" name="Text 7"/>
          <p:cNvSpPr/>
          <p:nvPr/>
        </p:nvSpPr>
        <p:spPr>
          <a:xfrm>
            <a:off x="502920" y="4645152"/>
            <a:ext cx="8138160" cy="274320"/>
          </a:xfrm>
          <a:prstGeom prst="rect">
            <a:avLst/>
          </a:prstGeom>
          <a:noFill/>
          <a:ln/>
        </p:spPr>
        <p:txBody>
          <a:bodyPr wrap="square" rtlCol="0" anchor="ctr"/>
          <a:lstStyle/>
          <a:p>
            <a:pPr indent="0" marL="0">
              <a:buNone/>
            </a:pPr>
            <a:r>
              <a:rPr lang="en-US" sz="800" spc="200" kern="0" dirty="0">
                <a:solidFill>
                  <a:srgbClr val="A8A296"/>
                </a:solidFill>
                <a:latin typeface="Century Gothic" pitchFamily="34" charset="0"/>
                <a:ea typeface="Century Gothic" pitchFamily="34" charset="-122"/>
                <a:cs typeface="Century Gothic" pitchFamily="34" charset="-120"/>
              </a:rPr>
              <a:t>CONFIDENTIAL  ·  PRIVATE INVESTMENT BRIEF  ·  FOR QUALIFIED RECIPIENTS ONLY</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PROBLEM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Wellness on the Westside is fragmented.</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patient optimizing their health today visits a medspa for injectables, a recovery studio for cold plunge, a longevity clinic for labs, and a concierge doctor for hormones. Four intakes, four records, four bills. Not one of them is somewhere you would choose to spend a Saturday morning.</a:t>
            </a:r>
            <a:endParaRPr lang="en-US" sz="1150" dirty="0"/>
          </a:p>
        </p:txBody>
      </p:sp>
      <p:sp>
        <p:nvSpPr>
          <p:cNvPr id="5" name="Shape 3"/>
          <p:cNvSpPr/>
          <p:nvPr/>
        </p:nvSpPr>
        <p:spPr>
          <a:xfrm>
            <a:off x="502920" y="2286000"/>
            <a:ext cx="2602992" cy="1554480"/>
          </a:xfrm>
          <a:prstGeom prst="roundRect">
            <a:avLst>
              <a:gd name="adj" fmla="val 3529"/>
            </a:avLst>
          </a:prstGeom>
          <a:solidFill>
            <a:srgbClr val="16241C"/>
          </a:solidFill>
          <a:ln w="12700">
            <a:solidFill>
              <a:srgbClr val="2E4237"/>
            </a:solidFill>
            <a:prstDash val="solid"/>
          </a:ln>
        </p:spPr>
      </p:sp>
      <p:sp>
        <p:nvSpPr>
          <p:cNvPr id="6" name="Text 4"/>
          <p:cNvSpPr/>
          <p:nvPr/>
        </p:nvSpPr>
        <p:spPr>
          <a:xfrm>
            <a:off x="649224"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4+</a:t>
            </a:r>
            <a:endParaRPr lang="en-US" sz="2000" dirty="0"/>
          </a:p>
        </p:txBody>
      </p:sp>
      <p:sp>
        <p:nvSpPr>
          <p:cNvPr id="7" name="Text 5"/>
          <p:cNvSpPr/>
          <p:nvPr/>
        </p:nvSpPr>
        <p:spPr>
          <a:xfrm>
            <a:off x="649224"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Separate providers a patient coordinates for care that belongs in one building.</a:t>
            </a:r>
            <a:endParaRPr lang="en-US" sz="900" dirty="0"/>
          </a:p>
        </p:txBody>
      </p:sp>
      <p:sp>
        <p:nvSpPr>
          <p:cNvPr id="8" name="Shape 6"/>
          <p:cNvSpPr/>
          <p:nvPr/>
        </p:nvSpPr>
        <p:spPr>
          <a:xfrm>
            <a:off x="3270504" y="2286000"/>
            <a:ext cx="2602992" cy="1554480"/>
          </a:xfrm>
          <a:prstGeom prst="roundRect">
            <a:avLst>
              <a:gd name="adj" fmla="val 3529"/>
            </a:avLst>
          </a:prstGeom>
          <a:solidFill>
            <a:srgbClr val="16241C"/>
          </a:solidFill>
          <a:ln w="12700">
            <a:solidFill>
              <a:srgbClr val="2E4237"/>
            </a:solidFill>
            <a:prstDash val="solid"/>
          </a:ln>
        </p:spPr>
      </p:sp>
      <p:sp>
        <p:nvSpPr>
          <p:cNvPr id="9" name="Text 7"/>
          <p:cNvSpPr/>
          <p:nvPr/>
        </p:nvSpPr>
        <p:spPr>
          <a:xfrm>
            <a:off x="3416808"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24 of 30</a:t>
            </a:r>
            <a:endParaRPr lang="en-US" sz="2000" dirty="0"/>
          </a:p>
        </p:txBody>
      </p:sp>
      <p:sp>
        <p:nvSpPr>
          <p:cNvPr id="10" name="Text 8"/>
          <p:cNvSpPr/>
          <p:nvPr/>
        </p:nvSpPr>
        <p:spPr>
          <a:xfrm>
            <a:off x="3416808"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Services on the L&amp;K menu that require a physician, nurse practitioner or nurse. A recovery studio without a physician can offer 6.</a:t>
            </a:r>
            <a:endParaRPr lang="en-US" sz="900" dirty="0"/>
          </a:p>
        </p:txBody>
      </p:sp>
      <p:sp>
        <p:nvSpPr>
          <p:cNvPr id="11" name="Shape 9"/>
          <p:cNvSpPr/>
          <p:nvPr/>
        </p:nvSpPr>
        <p:spPr>
          <a:xfrm>
            <a:off x="6038088" y="2286000"/>
            <a:ext cx="2602992" cy="1554480"/>
          </a:xfrm>
          <a:prstGeom prst="roundRect">
            <a:avLst>
              <a:gd name="adj" fmla="val 3529"/>
            </a:avLst>
          </a:prstGeom>
          <a:solidFill>
            <a:srgbClr val="16241C"/>
          </a:solidFill>
          <a:ln w="12700">
            <a:solidFill>
              <a:srgbClr val="2E4237"/>
            </a:solidFill>
            <a:prstDash val="solid"/>
          </a:ln>
        </p:spPr>
      </p:sp>
      <p:sp>
        <p:nvSpPr>
          <p:cNvPr id="12" name="Text 10"/>
          <p:cNvSpPr/>
          <p:nvPr/>
        </p:nvSpPr>
        <p:spPr>
          <a:xfrm>
            <a:off x="6184392"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10,488</a:t>
            </a:r>
            <a:endParaRPr lang="en-US" sz="2000" dirty="0"/>
          </a:p>
        </p:txBody>
      </p:sp>
      <p:sp>
        <p:nvSpPr>
          <p:cNvPr id="13" name="Text 11"/>
          <p:cNvSpPr/>
          <p:nvPr/>
        </p:nvSpPr>
        <p:spPr>
          <a:xfrm>
            <a:off x="6184392"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US medical spas as of 2023, up from 8,899 the year before. The category is commoditizing on treatment alone.</a:t>
            </a:r>
            <a:endParaRPr lang="en-US" sz="9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INSIGHT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Others proved the format.</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Only a licensed facility can deliver it.</a:t>
            </a:r>
            <a:endParaRPr lang="en-US" sz="1150" dirty="0"/>
          </a:p>
        </p:txBody>
      </p:sp>
      <p:sp>
        <p:nvSpPr>
          <p:cNvPr id="5" name="Shape 3"/>
          <p:cNvSpPr/>
          <p:nvPr/>
        </p:nvSpPr>
        <p:spPr>
          <a:xfrm>
            <a:off x="502920" y="1463040"/>
            <a:ext cx="3986784" cy="1371600"/>
          </a:xfrm>
          <a:prstGeom prst="roundRect">
            <a:avLst>
              <a:gd name="adj" fmla="val 4000"/>
            </a:avLst>
          </a:prstGeom>
          <a:solidFill>
            <a:srgbClr val="16241C"/>
          </a:solidFill>
          <a:ln w="12700">
            <a:solidFill>
              <a:srgbClr val="2E4237"/>
            </a:solidFill>
            <a:prstDash val="solid"/>
          </a:ln>
        </p:spPr>
      </p:sp>
      <p:sp>
        <p:nvSpPr>
          <p:cNvPr id="6" name="Text 4"/>
          <p:cNvSpPr/>
          <p:nvPr/>
        </p:nvSpPr>
        <p:spPr>
          <a:xfrm>
            <a:off x="649224"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Remedy Place</a:t>
            </a:r>
            <a:endParaRPr lang="en-US" sz="2000" dirty="0"/>
          </a:p>
        </p:txBody>
      </p:sp>
      <p:sp>
        <p:nvSpPr>
          <p:cNvPr id="7" name="Text 5"/>
          <p:cNvSpPr/>
          <p:nvPr/>
        </p:nvSpPr>
        <p:spPr>
          <a:xfrm>
            <a:off x="649224"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Where a non-medical operator stops. No physician on site means no PRP, no IV therapy, no neuromodulators, no filler, no laser. Not features they skipped: the other side of a licensing threshold.</a:t>
            </a:r>
            <a:endParaRPr lang="en-US" sz="900" dirty="0"/>
          </a:p>
        </p:txBody>
      </p:sp>
      <p:sp>
        <p:nvSpPr>
          <p:cNvPr id="8" name="Shape 6"/>
          <p:cNvSpPr/>
          <p:nvPr/>
        </p:nvSpPr>
        <p:spPr>
          <a:xfrm>
            <a:off x="4654296" y="1463040"/>
            <a:ext cx="3986784" cy="1371600"/>
          </a:xfrm>
          <a:prstGeom prst="roundRect">
            <a:avLst>
              <a:gd name="adj" fmla="val 4000"/>
            </a:avLst>
          </a:prstGeom>
          <a:solidFill>
            <a:srgbClr val="16241C"/>
          </a:solidFill>
          <a:ln w="12700">
            <a:solidFill>
              <a:srgbClr val="2E4237"/>
            </a:solidFill>
            <a:prstDash val="solid"/>
          </a:ln>
        </p:spPr>
      </p:sp>
      <p:sp>
        <p:nvSpPr>
          <p:cNvPr id="9" name="Text 7"/>
          <p:cNvSpPr/>
          <p:nvPr/>
        </p:nvSpPr>
        <p:spPr>
          <a:xfrm>
            <a:off x="4800600"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Soho House</a:t>
            </a:r>
            <a:endParaRPr lang="en-US" sz="2000" dirty="0"/>
          </a:p>
        </p:txBody>
      </p:sp>
      <p:sp>
        <p:nvSpPr>
          <p:cNvPr id="10" name="Text 8"/>
          <p:cNvSpPr/>
          <p:nvPr/>
        </p:nvSpPr>
        <p:spPr>
          <a:xfrm>
            <a:off x="4800600"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Where the ladder was proven. Soho Friends is a published annual tier buying discounts and event invitations but no club access. What they lack is medicine.</a:t>
            </a:r>
            <a:endParaRPr lang="en-US" sz="900" dirty="0"/>
          </a:p>
        </p:txBody>
      </p:sp>
      <p:sp>
        <p:nvSpPr>
          <p:cNvPr id="11" name="Shape 9"/>
          <p:cNvSpPr/>
          <p:nvPr/>
        </p:nvSpPr>
        <p:spPr>
          <a:xfrm>
            <a:off x="502920" y="3017520"/>
            <a:ext cx="8138160" cy="1417320"/>
          </a:xfrm>
          <a:prstGeom prst="roundRect">
            <a:avLst>
              <a:gd name="adj" fmla="val 3871"/>
            </a:avLst>
          </a:prstGeom>
          <a:solidFill>
            <a:srgbClr val="241C1A"/>
          </a:solidFill>
          <a:ln w="12700">
            <a:solidFill>
              <a:srgbClr val="C08D7C"/>
            </a:solidFill>
            <a:prstDash val="solid"/>
          </a:ln>
        </p:spPr>
      </p:sp>
      <p:sp>
        <p:nvSpPr>
          <p:cNvPr id="12" name="Text 10"/>
          <p:cNvSpPr/>
          <p:nvPr/>
        </p:nvSpPr>
        <p:spPr>
          <a:xfrm>
            <a:off x="704088" y="3154680"/>
            <a:ext cx="7735824"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THE DIFFERENCE</a:t>
            </a:r>
            <a:endParaRPr lang="en-US" sz="850" dirty="0"/>
          </a:p>
        </p:txBody>
      </p:sp>
      <p:sp>
        <p:nvSpPr>
          <p:cNvPr id="13" name="Text 11"/>
          <p:cNvSpPr/>
          <p:nvPr/>
        </p:nvSpPr>
        <p:spPr>
          <a:xfrm>
            <a:off x="704088" y="3383280"/>
            <a:ext cx="7735824" cy="411480"/>
          </a:xfrm>
          <a:prstGeom prst="rect">
            <a:avLst/>
          </a:prstGeom>
          <a:noFill/>
          <a:ln/>
        </p:spPr>
        <p:txBody>
          <a:bodyPr wrap="square" rtlCol="0" anchor="ctr"/>
          <a:lstStyle/>
          <a:p>
            <a:pPr indent="0" marL="0">
              <a:buNone/>
            </a:pPr>
            <a:r>
              <a:rPr lang="en-US" sz="1450" dirty="0">
                <a:solidFill>
                  <a:srgbClr val="EDE6DA"/>
                </a:solidFill>
                <a:latin typeface="Century Gothic" pitchFamily="34" charset="0"/>
                <a:ea typeface="Century Gothic" pitchFamily="34" charset="-122"/>
                <a:cs typeface="Century Gothic" pitchFamily="34" charset="-120"/>
              </a:rPr>
              <a:t>L&amp;K is not a practice built around a doctor. It is the facility a doctor needs.</a:t>
            </a:r>
            <a:endParaRPr lang="en-US" sz="1450" dirty="0"/>
          </a:p>
        </p:txBody>
      </p:sp>
      <p:sp>
        <p:nvSpPr>
          <p:cNvPr id="14" name="Text 12"/>
          <p:cNvSpPr/>
          <p:nvPr/>
        </p:nvSpPr>
        <p:spPr>
          <a:xfrm>
            <a:off x="704088" y="3803904"/>
            <a:ext cx="7735824" cy="548640"/>
          </a:xfrm>
          <a:prstGeom prst="rect">
            <a:avLst/>
          </a:prstGeom>
          <a:noFill/>
          <a:ln/>
        </p:spPr>
        <p:txBody>
          <a:bodyPr wrap="square" rtlCol="0" anchor="ctr"/>
          <a:lstStyle/>
          <a:p>
            <a:pPr indent="0" marL="0">
              <a:lnSpc>
                <a:spcPct val="120000"/>
              </a:lnSpc>
              <a:buNone/>
            </a:pPr>
            <a:r>
              <a:rPr lang="en-US" sz="1050" dirty="0">
                <a:solidFill>
                  <a:srgbClr val="A8A296"/>
                </a:solidFill>
                <a:latin typeface="Calibri" pitchFamily="34" charset="0"/>
                <a:ea typeface="Calibri" pitchFamily="34" charset="-122"/>
                <a:cs typeface="Calibri" pitchFamily="34" charset="-120"/>
              </a:rPr>
              <a:t>The rooms, the diagnostics, the infusion suite, the operating suite, the staff and the accreditation, already standing. Physicians practice here. Investors own the building they practice in, which is why the surgical lines bill a facility fee while the surgeon bills their own patients directly.</a:t>
            </a:r>
            <a:endParaRPr lang="en-US" sz="10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One building. Two layers. Different doors.</a:t>
            </a:r>
            <a:endParaRPr lang="en-US" sz="2600" dirty="0"/>
          </a:p>
        </p:txBody>
      </p:sp>
      <p:sp>
        <p:nvSpPr>
          <p:cNvPr id="4" name="Shape 2"/>
          <p:cNvSpPr/>
          <p:nvPr/>
        </p:nvSpPr>
        <p:spPr>
          <a:xfrm>
            <a:off x="1508760" y="1325880"/>
            <a:ext cx="6126480" cy="1325880"/>
          </a:xfrm>
          <a:prstGeom prst="roundRect">
            <a:avLst>
              <a:gd name="adj" fmla="val 4138"/>
            </a:avLst>
          </a:prstGeom>
          <a:solidFill>
            <a:srgbClr val="241C1A"/>
          </a:solidFill>
          <a:ln w="15875">
            <a:solidFill>
              <a:srgbClr val="C08D7C"/>
            </a:solidFill>
            <a:prstDash val="solid"/>
          </a:ln>
        </p:spPr>
      </p:sp>
      <p:sp>
        <p:nvSpPr>
          <p:cNvPr id="5" name="Text 3"/>
          <p:cNvSpPr/>
          <p:nvPr/>
        </p:nvSpPr>
        <p:spPr>
          <a:xfrm>
            <a:off x="1691640" y="1444752"/>
            <a:ext cx="5760720" cy="182880"/>
          </a:xfrm>
          <a:prstGeom prst="rect">
            <a:avLst/>
          </a:prstGeom>
          <a:noFill/>
          <a:ln/>
        </p:spPr>
        <p:txBody>
          <a:bodyPr wrap="square" rtlCol="0" anchor="ctr"/>
          <a:lstStyle/>
          <a:p>
            <a:pPr indent="0" marL="0">
              <a:buNone/>
            </a:pPr>
            <a:r>
              <a:rPr lang="en-US" sz="800" spc="240" kern="0" dirty="0">
                <a:solidFill>
                  <a:srgbClr val="C08D7C"/>
                </a:solidFill>
                <a:latin typeface="Century Gothic" pitchFamily="34" charset="0"/>
                <a:ea typeface="Century Gothic" pitchFamily="34" charset="-122"/>
                <a:cs typeface="Century Gothic" pitchFamily="34" charset="-120"/>
              </a:rPr>
              <a:t>MEMBERS ONLY  ·  CAPPED</a:t>
            </a:r>
            <a:endParaRPr lang="en-US" sz="800" dirty="0"/>
          </a:p>
        </p:txBody>
      </p:sp>
      <p:sp>
        <p:nvSpPr>
          <p:cNvPr id="6" name="Text 4"/>
          <p:cNvSpPr/>
          <p:nvPr/>
        </p:nvSpPr>
        <p:spPr>
          <a:xfrm>
            <a:off x="1691640" y="1627632"/>
            <a:ext cx="5760720"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Club</a:t>
            </a:r>
            <a:endParaRPr lang="en-US" sz="1600" dirty="0"/>
          </a:p>
        </p:txBody>
      </p:sp>
      <p:sp>
        <p:nvSpPr>
          <p:cNvPr id="7" name="Text 5"/>
          <p:cNvSpPr/>
          <p:nvPr/>
        </p:nvSpPr>
        <p:spPr>
          <a:xfrm>
            <a:off x="1691640" y="1956816"/>
            <a:ext cx="5760720" cy="548640"/>
          </a:xfrm>
          <a:prstGeom prst="rect">
            <a:avLst/>
          </a:prstGeom>
          <a:noFill/>
          <a:ln/>
        </p:spPr>
        <p:txBody>
          <a:bodyPr wrap="square" rtlCol="0" anchor="ctr"/>
          <a:lstStyle/>
          <a:p>
            <a:pPr indent="0" marL="0">
              <a:lnSpc>
                <a:spcPct val="120000"/>
              </a:lnSpc>
              <a:buNone/>
            </a:pPr>
            <a:r>
              <a:rPr lang="en-US" sz="1000" dirty="0">
                <a:solidFill>
                  <a:srgbClr val="A8A296"/>
                </a:solidFill>
                <a:latin typeface="Calibri" pitchFamily="34" charset="0"/>
                <a:ea typeface="Calibri" pitchFamily="34" charset="-122"/>
                <a:cs typeface="Calibri" pitchFamily="34" charset="-120"/>
              </a:rPr>
              <a:t>Contrast suite  ·  Sauna and cold plunge ritual  ·  The Lounge  ·  Member events  ·  Guest passes  ·  Priority booking  ·  Private buyouts</a:t>
            </a:r>
            <a:endParaRPr lang="en-US" sz="1000" dirty="0"/>
          </a:p>
        </p:txBody>
      </p:sp>
      <p:sp>
        <p:nvSpPr>
          <p:cNvPr id="8" name="Text 6"/>
          <p:cNvSpPr/>
          <p:nvPr/>
        </p:nvSpPr>
        <p:spPr>
          <a:xfrm>
            <a:off x="502920" y="2697480"/>
            <a:ext cx="8138160" cy="237744"/>
          </a:xfrm>
          <a:prstGeom prst="rect">
            <a:avLst/>
          </a:prstGeom>
          <a:noFill/>
          <a:ln/>
        </p:spPr>
        <p:txBody>
          <a:bodyPr wrap="square" rtlCol="0" anchor="ctr"/>
          <a:lstStyle/>
          <a:p>
            <a:pPr algn="ctr" indent="0" marL="0">
              <a:buNone/>
            </a:pPr>
            <a:r>
              <a:rPr lang="en-US" sz="900" spc="200" kern="0" dirty="0">
                <a:solidFill>
                  <a:srgbClr val="6E6A62"/>
                </a:solidFill>
                <a:latin typeface="Century Gothic" pitchFamily="34" charset="0"/>
                <a:ea typeface="Century Gothic" pitchFamily="34" charset="-122"/>
                <a:cs typeface="Century Gothic" pitchFamily="34" charset="-120"/>
              </a:rPr>
              <a:t>Membership sits on top. It never sits in front.</a:t>
            </a:r>
            <a:endParaRPr lang="en-US" sz="900" dirty="0"/>
          </a:p>
        </p:txBody>
      </p:sp>
      <p:sp>
        <p:nvSpPr>
          <p:cNvPr id="9" name="Shape 7"/>
          <p:cNvSpPr/>
          <p:nvPr/>
        </p:nvSpPr>
        <p:spPr>
          <a:xfrm>
            <a:off x="502920" y="2999232"/>
            <a:ext cx="8138160" cy="1600200"/>
          </a:xfrm>
          <a:prstGeom prst="roundRect">
            <a:avLst>
              <a:gd name="adj" fmla="val 3429"/>
            </a:avLst>
          </a:prstGeom>
          <a:solidFill>
            <a:srgbClr val="16241C"/>
          </a:solidFill>
          <a:ln w="12700">
            <a:solidFill>
              <a:srgbClr val="2E4237"/>
            </a:solidFill>
            <a:prstDash val="solid"/>
          </a:ln>
        </p:spPr>
      </p:sp>
      <p:sp>
        <p:nvSpPr>
          <p:cNvPr id="10" name="Text 8"/>
          <p:cNvSpPr/>
          <p:nvPr/>
        </p:nvSpPr>
        <p:spPr>
          <a:xfrm>
            <a:off x="704088" y="3127248"/>
            <a:ext cx="7735824" cy="182880"/>
          </a:xfrm>
          <a:prstGeom prst="rect">
            <a:avLst/>
          </a:prstGeom>
          <a:noFill/>
          <a:ln/>
        </p:spPr>
        <p:txBody>
          <a:bodyPr wrap="square" rtlCol="0" anchor="ctr"/>
          <a:lstStyle/>
          <a:p>
            <a:pPr indent="0" marL="0">
              <a:buNone/>
            </a:pPr>
            <a:r>
              <a:rPr lang="en-US" sz="800" spc="240" kern="0" dirty="0">
                <a:solidFill>
                  <a:srgbClr val="6E6A62"/>
                </a:solidFill>
                <a:latin typeface="Century Gothic" pitchFamily="34" charset="0"/>
                <a:ea typeface="Century Gothic" pitchFamily="34" charset="-122"/>
                <a:cs typeface="Century Gothic" pitchFamily="34" charset="-120"/>
              </a:rPr>
              <a:t>OPEN TO EVERYONE  ·  NO MEMBERSHIP REQUIRED</a:t>
            </a:r>
            <a:endParaRPr lang="en-US" sz="800" dirty="0"/>
          </a:p>
        </p:txBody>
      </p:sp>
      <p:sp>
        <p:nvSpPr>
          <p:cNvPr id="11" name="Text 9"/>
          <p:cNvSpPr/>
          <p:nvPr/>
        </p:nvSpPr>
        <p:spPr>
          <a:xfrm>
            <a:off x="704088" y="3291840"/>
            <a:ext cx="7735824" cy="274320"/>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Clinic</a:t>
            </a:r>
            <a:endParaRPr lang="en-US" sz="1600" dirty="0"/>
          </a:p>
        </p:txBody>
      </p:sp>
      <p:sp>
        <p:nvSpPr>
          <p:cNvPr id="12" name="Text 10"/>
          <p:cNvSpPr/>
          <p:nvPr/>
        </p:nvSpPr>
        <p:spPr>
          <a:xfrm>
            <a:off x="704088" y="3602736"/>
            <a:ext cx="7735824" cy="932688"/>
          </a:xfrm>
          <a:prstGeom prst="rect">
            <a:avLst/>
          </a:prstGeom>
          <a:noFill/>
          <a:ln/>
        </p:spPr>
        <p:txBody>
          <a:bodyPr wrap="square" rtlCol="0" anchor="t"/>
          <a:lstStyle/>
          <a:p>
            <a:pPr indent="0" marL="0">
              <a:lnSpc>
                <a:spcPct val="120000"/>
              </a:lnSpc>
              <a:buNone/>
            </a:pPr>
            <a:r>
              <a:rPr lang="en-US" sz="950" dirty="0">
                <a:solidFill>
                  <a:srgbClr val="A8A296"/>
                </a:solidFill>
                <a:latin typeface="Calibri" pitchFamily="34" charset="0"/>
                <a:ea typeface="Calibri" pitchFamily="34" charset="-122"/>
                <a:cs typeface="Calibri" pitchFamily="34" charset="-120"/>
              </a:rPr>
              <a:t>Aescape Robotic Massage  ·  Ammortal Chamber  ·  Red Light Therapy  ·  Hyperbaric Oxygen  ·  Compression Therapy  ·  PRP: Hair &amp; Scalp  ·  PRP: Face &amp; Aesthetic  ·  PRP: Scar &amp; Skin Repair  ·  PRP: Soft Tissue  ·  PRP: Joint &amp; Cartilage  ·  PRP: Post-procedure  ·  Basic Hydration  ·  Myers Cocktail  ·  Recovery / Hangover  ·  Immunity / High-Dose C  ·  Beauty / Glutathione  ·  Athletic Performance  ·  NAD+ 100mg  ·  NAD+ 250mg  ·  NAD+ 500mg  ·  IM Shot: B12 / Lipo  ·  Therapeutic medications  ·  Botox (15-unit minimum)  ·  Filler (0.5 ml)  ·  RF Microneedling  ·  Laser Platform  ·  Advanced Biometrics  ·  DNA Analysis  ·  DUTCH Plus Test  ·  DEXA Scan</a:t>
            </a:r>
            <a:endParaRPr lang="en-US" sz="950" dirty="0"/>
          </a:p>
        </p:txBody>
      </p:sp>
      <p:sp>
        <p:nvSpPr>
          <p:cNvPr id="13" name="Text 11"/>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14" name="Text 12"/>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MEMBERSHIP ARCHITECTURE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ladder, not a gate.</a:t>
            </a:r>
            <a:endParaRPr lang="en-US" sz="2600" dirty="0"/>
          </a:p>
        </p:txBody>
      </p:sp>
      <p:sp>
        <p:nvSpPr>
          <p:cNvPr id="4" name="Shape 2"/>
          <p:cNvSpPr/>
          <p:nvPr/>
        </p:nvSpPr>
        <p:spPr>
          <a:xfrm>
            <a:off x="502920" y="1371600"/>
            <a:ext cx="1924812" cy="3063240"/>
          </a:xfrm>
          <a:prstGeom prst="roundRect">
            <a:avLst>
              <a:gd name="adj" fmla="val 2850"/>
            </a:avLst>
          </a:prstGeom>
          <a:solidFill>
            <a:srgbClr val="16241C"/>
          </a:solidFill>
          <a:ln w="12700">
            <a:solidFill>
              <a:srgbClr val="2E4237"/>
            </a:solidFill>
            <a:prstDash val="solid"/>
          </a:ln>
        </p:spPr>
      </p:sp>
      <p:sp>
        <p:nvSpPr>
          <p:cNvPr id="5" name="Text 3"/>
          <p:cNvSpPr/>
          <p:nvPr/>
        </p:nvSpPr>
        <p:spPr>
          <a:xfrm>
            <a:off x="630936"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Day Pass</a:t>
            </a:r>
            <a:endParaRPr lang="en-US" sz="1150" dirty="0"/>
          </a:p>
        </p:txBody>
      </p:sp>
      <p:sp>
        <p:nvSpPr>
          <p:cNvPr id="6" name="Text 4"/>
          <p:cNvSpPr/>
          <p:nvPr/>
        </p:nvSpPr>
        <p:spPr>
          <a:xfrm>
            <a:off x="630936"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$75</a:t>
            </a:r>
            <a:endParaRPr lang="en-US" sz="1900" dirty="0"/>
          </a:p>
        </p:txBody>
      </p:sp>
      <p:sp>
        <p:nvSpPr>
          <p:cNvPr id="7" name="Text 5"/>
          <p:cNvSpPr/>
          <p:nvPr/>
        </p:nvSpPr>
        <p:spPr>
          <a:xfrm>
            <a:off x="630936"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VISIT</a:t>
            </a:r>
            <a:endParaRPr lang="en-US" sz="750" dirty="0"/>
          </a:p>
        </p:txBody>
      </p:sp>
      <p:sp>
        <p:nvSpPr>
          <p:cNvPr id="8" name="Text 6"/>
          <p:cNvSpPr/>
          <p:nvPr/>
        </p:nvSpPr>
        <p:spPr>
          <a:xfrm>
            <a:off x="630936"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Single circuit visit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Procedures at list price</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events or lounge privileges</a:t>
            </a:r>
            <a:endParaRPr lang="en-US" sz="800" dirty="0"/>
          </a:p>
        </p:txBody>
      </p:sp>
      <p:sp>
        <p:nvSpPr>
          <p:cNvPr id="9" name="Text 7"/>
          <p:cNvSpPr/>
          <p:nvPr/>
        </p:nvSpPr>
        <p:spPr>
          <a:xfrm>
            <a:off x="630936"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275 visits/mo</a:t>
            </a:r>
            <a:endParaRPr lang="en-US" sz="800" dirty="0"/>
          </a:p>
        </p:txBody>
      </p:sp>
      <p:sp>
        <p:nvSpPr>
          <p:cNvPr id="10" name="Shape 8"/>
          <p:cNvSpPr/>
          <p:nvPr/>
        </p:nvSpPr>
        <p:spPr>
          <a:xfrm>
            <a:off x="2574036" y="1371600"/>
            <a:ext cx="1924812" cy="3063240"/>
          </a:xfrm>
          <a:prstGeom prst="roundRect">
            <a:avLst>
              <a:gd name="adj" fmla="val 2850"/>
            </a:avLst>
          </a:prstGeom>
          <a:solidFill>
            <a:srgbClr val="16241C"/>
          </a:solidFill>
          <a:ln w="12700">
            <a:solidFill>
              <a:srgbClr val="2E4237"/>
            </a:solidFill>
            <a:prstDash val="solid"/>
          </a:ln>
        </p:spPr>
      </p:sp>
      <p:sp>
        <p:nvSpPr>
          <p:cNvPr id="11" name="Text 9"/>
          <p:cNvSpPr/>
          <p:nvPr/>
        </p:nvSpPr>
        <p:spPr>
          <a:xfrm>
            <a:off x="2702052"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Friends of L&amp;K</a:t>
            </a:r>
            <a:endParaRPr lang="en-US" sz="1150" dirty="0"/>
          </a:p>
        </p:txBody>
      </p:sp>
      <p:sp>
        <p:nvSpPr>
          <p:cNvPr id="12" name="Text 10"/>
          <p:cNvSpPr/>
          <p:nvPr/>
        </p:nvSpPr>
        <p:spPr>
          <a:xfrm>
            <a:off x="2702052"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$300</a:t>
            </a:r>
            <a:endParaRPr lang="en-US" sz="1900" dirty="0"/>
          </a:p>
        </p:txBody>
      </p:sp>
      <p:sp>
        <p:nvSpPr>
          <p:cNvPr id="13" name="Text 11"/>
          <p:cNvSpPr/>
          <p:nvPr/>
        </p:nvSpPr>
        <p:spPr>
          <a:xfrm>
            <a:off x="2702052"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YEAR</a:t>
            </a:r>
            <a:endParaRPr lang="en-US" sz="750" dirty="0"/>
          </a:p>
        </p:txBody>
      </p:sp>
      <p:sp>
        <p:nvSpPr>
          <p:cNvPr id="14" name="Text 12"/>
          <p:cNvSpPr/>
          <p:nvPr/>
        </p:nvSpPr>
        <p:spPr>
          <a:xfrm>
            <a:off x="2702052"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Priority booking window</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Invitations to open events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club or circuit access</a:t>
            </a:r>
            <a:endParaRPr lang="en-US" sz="800" dirty="0"/>
          </a:p>
        </p:txBody>
      </p:sp>
      <p:sp>
        <p:nvSpPr>
          <p:cNvPr id="15" name="Text 13"/>
          <p:cNvSpPr/>
          <p:nvPr/>
        </p:nvSpPr>
        <p:spPr>
          <a:xfrm>
            <a:off x="2702052"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900 members</a:t>
            </a:r>
            <a:endParaRPr lang="en-US" sz="800" dirty="0"/>
          </a:p>
        </p:txBody>
      </p:sp>
      <p:sp>
        <p:nvSpPr>
          <p:cNvPr id="16" name="Shape 14"/>
          <p:cNvSpPr/>
          <p:nvPr/>
        </p:nvSpPr>
        <p:spPr>
          <a:xfrm>
            <a:off x="4645152" y="1371600"/>
            <a:ext cx="1924812" cy="3063240"/>
          </a:xfrm>
          <a:prstGeom prst="roundRect">
            <a:avLst>
              <a:gd name="adj" fmla="val 2850"/>
            </a:avLst>
          </a:prstGeom>
          <a:solidFill>
            <a:srgbClr val="16241C"/>
          </a:solidFill>
          <a:ln w="12700">
            <a:solidFill>
              <a:srgbClr val="2E4237"/>
            </a:solidFill>
            <a:prstDash val="solid"/>
          </a:ln>
        </p:spPr>
      </p:sp>
      <p:sp>
        <p:nvSpPr>
          <p:cNvPr id="17" name="Text 15"/>
          <p:cNvSpPr/>
          <p:nvPr/>
        </p:nvSpPr>
        <p:spPr>
          <a:xfrm>
            <a:off x="4773168"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Resident</a:t>
            </a:r>
            <a:endParaRPr lang="en-US" sz="1150" dirty="0"/>
          </a:p>
        </p:txBody>
      </p:sp>
      <p:sp>
        <p:nvSpPr>
          <p:cNvPr id="18" name="Text 16"/>
          <p:cNvSpPr/>
          <p:nvPr/>
        </p:nvSpPr>
        <p:spPr>
          <a:xfrm>
            <a:off x="4773168"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$450</a:t>
            </a:r>
            <a:endParaRPr lang="en-US" sz="1900" dirty="0"/>
          </a:p>
        </p:txBody>
      </p:sp>
      <p:sp>
        <p:nvSpPr>
          <p:cNvPr id="19" name="Text 17"/>
          <p:cNvSpPr/>
          <p:nvPr/>
        </p:nvSpPr>
        <p:spPr>
          <a:xfrm>
            <a:off x="4773168"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0" name="Text 18"/>
          <p:cNvSpPr/>
          <p:nvPr/>
        </p:nvSpPr>
        <p:spPr>
          <a:xfrm>
            <a:off x="4773168"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Rolling monthly credit bank</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Unlimited recovery circuit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1 guest pass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events</a:t>
            </a:r>
            <a:endParaRPr lang="en-US" sz="800" dirty="0"/>
          </a:p>
        </p:txBody>
      </p:sp>
      <p:sp>
        <p:nvSpPr>
          <p:cNvPr id="21" name="Text 19"/>
          <p:cNvSpPr/>
          <p:nvPr/>
        </p:nvSpPr>
        <p:spPr>
          <a:xfrm>
            <a:off x="4773168"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350 members · capped</a:t>
            </a:r>
            <a:endParaRPr lang="en-US" sz="800" dirty="0"/>
          </a:p>
        </p:txBody>
      </p:sp>
      <p:sp>
        <p:nvSpPr>
          <p:cNvPr id="22" name="Shape 20"/>
          <p:cNvSpPr/>
          <p:nvPr/>
        </p:nvSpPr>
        <p:spPr>
          <a:xfrm>
            <a:off x="6716268" y="1371600"/>
            <a:ext cx="1924812" cy="3063240"/>
          </a:xfrm>
          <a:prstGeom prst="roundRect">
            <a:avLst>
              <a:gd name="adj" fmla="val 2850"/>
            </a:avLst>
          </a:prstGeom>
          <a:solidFill>
            <a:srgbClr val="241C1A"/>
          </a:solidFill>
          <a:ln w="12700">
            <a:solidFill>
              <a:srgbClr val="C08D7C"/>
            </a:solidFill>
            <a:prstDash val="solid"/>
          </a:ln>
        </p:spPr>
      </p:sp>
      <p:sp>
        <p:nvSpPr>
          <p:cNvPr id="23" name="Text 21"/>
          <p:cNvSpPr/>
          <p:nvPr/>
        </p:nvSpPr>
        <p:spPr>
          <a:xfrm>
            <a:off x="6844284"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Longevity</a:t>
            </a:r>
            <a:endParaRPr lang="en-US" sz="1150" dirty="0"/>
          </a:p>
        </p:txBody>
      </p:sp>
      <p:sp>
        <p:nvSpPr>
          <p:cNvPr id="24" name="Text 22"/>
          <p:cNvSpPr/>
          <p:nvPr/>
        </p:nvSpPr>
        <p:spPr>
          <a:xfrm>
            <a:off x="6844284"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$1,250</a:t>
            </a:r>
            <a:endParaRPr lang="en-US" sz="1900" dirty="0"/>
          </a:p>
        </p:txBody>
      </p:sp>
      <p:sp>
        <p:nvSpPr>
          <p:cNvPr id="25" name="Text 23"/>
          <p:cNvSpPr/>
          <p:nvPr/>
        </p:nvSpPr>
        <p:spPr>
          <a:xfrm>
            <a:off x="6844284"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6" name="Text 24"/>
          <p:cNvSpPr/>
          <p:nvPr/>
        </p:nvSpPr>
        <p:spPr>
          <a:xfrm>
            <a:off x="6844284"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Everything in Resident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Quarterly physician consult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Annual biomarker panel, DEXA and DUTCH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Therapeutic medications included</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4 guest passes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Private buyout privileges</a:t>
            </a:r>
            <a:endParaRPr lang="en-US" sz="800" dirty="0"/>
          </a:p>
        </p:txBody>
      </p:sp>
      <p:sp>
        <p:nvSpPr>
          <p:cNvPr id="27" name="Text 25"/>
          <p:cNvSpPr/>
          <p:nvPr/>
        </p:nvSpPr>
        <p:spPr>
          <a:xfrm>
            <a:off x="6844284"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40 members · capped</a:t>
            </a:r>
            <a:endParaRPr lang="en-US" sz="800" dirty="0"/>
          </a:p>
        </p:txBody>
      </p:sp>
      <p:sp>
        <p:nvSpPr>
          <p:cNvPr id="28" name="Text 26"/>
          <p:cNvSpPr/>
          <p:nvPr/>
        </p:nvSpPr>
        <p:spPr>
          <a:xfrm>
            <a:off x="502920" y="4498848"/>
            <a:ext cx="8138160" cy="237744"/>
          </a:xfrm>
          <a:prstGeom prst="rect">
            <a:avLst/>
          </a:prstGeom>
          <a:noFill/>
          <a:ln/>
        </p:spPr>
        <p:txBody>
          <a:bodyPr wrap="square" rtlCol="0" anchor="ctr"/>
          <a:lstStyle/>
          <a:p>
            <a:pPr indent="0" marL="0">
              <a:buNone/>
            </a:pPr>
            <a:r>
              <a:rPr lang="en-US" sz="850" dirty="0">
                <a:solidFill>
                  <a:srgbClr val="6E6A62"/>
                </a:solidFill>
                <a:latin typeface="Calibri" pitchFamily="34" charset="0"/>
                <a:ea typeface="Calibri" pitchFamily="34" charset="-122"/>
                <a:cs typeface="Calibri" pitchFamily="34" charset="-120"/>
              </a:rPr>
              <a:t>Three-month minimum then month-to-month. Credits roll over while active and expire on cancellation. Freezes on seven days notice. Tier changes after the initial commitment.</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BEFORE DOORS OPEN</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Founding Members de-risk the ramp.</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single strongest item in this brief for both an investor and a credit committee: revenue contracted before the business opens.</a:t>
            </a:r>
            <a:endParaRPr lang="en-US" sz="1150" dirty="0"/>
          </a:p>
        </p:txBody>
      </p:sp>
      <p:sp>
        <p:nvSpPr>
          <p:cNvPr id="5" name="Shape 3"/>
          <p:cNvSpPr/>
          <p:nvPr/>
        </p:nvSpPr>
        <p:spPr>
          <a:xfrm>
            <a:off x="502920" y="2194560"/>
            <a:ext cx="2602992" cy="1463040"/>
          </a:xfrm>
          <a:prstGeom prst="roundRect">
            <a:avLst>
              <a:gd name="adj" fmla="val 3750"/>
            </a:avLst>
          </a:prstGeom>
          <a:solidFill>
            <a:srgbClr val="16241C"/>
          </a:solidFill>
          <a:ln w="12700">
            <a:solidFill>
              <a:srgbClr val="2E4237"/>
            </a:solidFill>
            <a:prstDash val="solid"/>
          </a:ln>
        </p:spPr>
      </p:sp>
      <p:sp>
        <p:nvSpPr>
          <p:cNvPr id="6" name="Text 4"/>
          <p:cNvSpPr/>
          <p:nvPr/>
        </p:nvSpPr>
        <p:spPr>
          <a:xfrm>
            <a:off x="649224"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150</a:t>
            </a:r>
            <a:endParaRPr lang="en-US" sz="2000" dirty="0"/>
          </a:p>
        </p:txBody>
      </p:sp>
      <p:sp>
        <p:nvSpPr>
          <p:cNvPr id="7" name="Text 5"/>
          <p:cNvSpPr/>
          <p:nvPr/>
        </p:nvSpPr>
        <p:spPr>
          <a:xfrm>
            <a:off x="649224"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Founding memberships, hard capped and sold during construction.</a:t>
            </a:r>
            <a:endParaRPr lang="en-US" sz="900" dirty="0"/>
          </a:p>
        </p:txBody>
      </p:sp>
      <p:sp>
        <p:nvSpPr>
          <p:cNvPr id="8" name="Shape 6"/>
          <p:cNvSpPr/>
          <p:nvPr/>
        </p:nvSpPr>
        <p:spPr>
          <a:xfrm>
            <a:off x="3270504" y="2194560"/>
            <a:ext cx="2602992" cy="1463040"/>
          </a:xfrm>
          <a:prstGeom prst="roundRect">
            <a:avLst>
              <a:gd name="adj" fmla="val 3750"/>
            </a:avLst>
          </a:prstGeom>
          <a:solidFill>
            <a:srgbClr val="241C1A"/>
          </a:solidFill>
          <a:ln w="12700">
            <a:solidFill>
              <a:srgbClr val="C08D7C"/>
            </a:solidFill>
            <a:prstDash val="solid"/>
          </a:ln>
        </p:spPr>
      </p:sp>
      <p:sp>
        <p:nvSpPr>
          <p:cNvPr id="9" name="Text 7"/>
          <p:cNvSpPr/>
          <p:nvPr/>
        </p:nvSpPr>
        <p:spPr>
          <a:xfrm>
            <a:off x="3416808"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$3,600</a:t>
            </a:r>
            <a:endParaRPr lang="en-US" sz="2000" dirty="0"/>
          </a:p>
        </p:txBody>
      </p:sp>
      <p:sp>
        <p:nvSpPr>
          <p:cNvPr id="10" name="Text 8"/>
          <p:cNvSpPr/>
          <p:nvPr/>
        </p:nvSpPr>
        <p:spPr>
          <a:xfrm>
            <a:off x="3416808"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Prepaid for the first year, a 33% discount against list.</a:t>
            </a:r>
            <a:endParaRPr lang="en-US" sz="900" dirty="0"/>
          </a:p>
        </p:txBody>
      </p:sp>
      <p:sp>
        <p:nvSpPr>
          <p:cNvPr id="11" name="Shape 9"/>
          <p:cNvSpPr/>
          <p:nvPr/>
        </p:nvSpPr>
        <p:spPr>
          <a:xfrm>
            <a:off x="6038088" y="2194560"/>
            <a:ext cx="2602992" cy="1463040"/>
          </a:xfrm>
          <a:prstGeom prst="roundRect">
            <a:avLst>
              <a:gd name="adj" fmla="val 3750"/>
            </a:avLst>
          </a:prstGeom>
          <a:solidFill>
            <a:srgbClr val="241C1A"/>
          </a:solidFill>
          <a:ln w="12700">
            <a:solidFill>
              <a:srgbClr val="C08D7C"/>
            </a:solidFill>
            <a:prstDash val="solid"/>
          </a:ln>
        </p:spPr>
      </p:sp>
      <p:sp>
        <p:nvSpPr>
          <p:cNvPr id="12" name="Text 10"/>
          <p:cNvSpPr/>
          <p:nvPr/>
        </p:nvSpPr>
        <p:spPr>
          <a:xfrm>
            <a:off x="6184392"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$540,000</a:t>
            </a:r>
            <a:endParaRPr lang="en-US" sz="2000" dirty="0"/>
          </a:p>
        </p:txBody>
      </p:sp>
      <p:sp>
        <p:nvSpPr>
          <p:cNvPr id="13" name="Text 11"/>
          <p:cNvSpPr/>
          <p:nvPr/>
        </p:nvSpPr>
        <p:spPr>
          <a:xfrm>
            <a:off x="6184392"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Collected before opening, offsetting the construction-period burn.</a:t>
            </a:r>
            <a:endParaRPr lang="en-US" sz="900" dirty="0"/>
          </a:p>
        </p:txBody>
      </p:sp>
      <p:sp>
        <p:nvSpPr>
          <p:cNvPr id="14" name="Text 12"/>
          <p:cNvSpPr/>
          <p:nvPr/>
        </p:nvSpPr>
        <p:spPr>
          <a:xfrm>
            <a:off x="502920" y="3840480"/>
            <a:ext cx="8138160" cy="548640"/>
          </a:xfrm>
          <a:prstGeom prst="rect">
            <a:avLst/>
          </a:prstGeom>
          <a:noFill/>
          <a:ln/>
        </p:spPr>
        <p:txBody>
          <a:bodyPr wrap="square" rtlCol="0" anchor="ctr"/>
          <a:lstStyle/>
          <a:p>
            <a:pPr indent="0" marL="0">
              <a:lnSpc>
                <a:spcPct val="125000"/>
              </a:lnSpc>
              <a:buNone/>
            </a:pPr>
            <a:r>
              <a:rPr lang="en-US" sz="1050" dirty="0">
                <a:solidFill>
                  <a:srgbClr val="A8A296"/>
                </a:solidFill>
                <a:latin typeface="Calibri" pitchFamily="34" charset="0"/>
                <a:ea typeface="Calibri" pitchFamily="34" charset="-122"/>
                <a:cs typeface="Calibri" pitchFamily="34" charset="-120"/>
              </a:rPr>
              <a:t>This converts the opening ramp from a projection into a partially pre-sold book. It is also the cheapest possible market test: if the founding cohort does not sell, that is a signal worth having before the buildout is committed rather than after.</a:t>
            </a:r>
            <a:endParaRPr lang="en-US" sz="10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4,925 SF in Playa Vista.</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Full contrast suite, owned equipment, the facility the brand deserves.</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3931920" cy="914400"/>
        </p:xfrm>
        <a:graphic>
          <a:graphicData uri="http://schemas.openxmlformats.org/drawingml/2006/table">
            <a:tbl>
              <a:tblPr/>
              <a:tblGrid>
                <a:gridCol w="3017520"/>
                <a:gridCol w="914400"/>
              </a:tblGrid>
              <a:tr h="21488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Space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SF</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Arrival, concierge, retail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The Lounge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Contrast suite (2 saunas, 2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Aescape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Ammortal chamber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Hyperbaric room (seated)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Red light beds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and regenerative lounge (8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Diagnostics and consult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4754880" y="1481328"/>
          <a:ext cx="3520440" cy="914400"/>
        </p:xfrm>
        <a:graphic>
          <a:graphicData uri="http://schemas.openxmlformats.org/drawingml/2006/table">
            <a:tbl>
              <a:tblPr/>
              <a:tblGrid>
                <a:gridCol w="2651760"/>
                <a:gridCol w="868680"/>
              </a:tblGrid>
              <a:tr h="21488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Space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SF</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 imaging (GE iDXA densitometer)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Locker, shower, changing, bathrooms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Admin offices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Kitchen and breakroom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Storage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MEP</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Biohazard and linen closets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Circulation and grossing factor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890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4,925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7"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8"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7</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Stations and equipment.</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What sits in the 4,925 square feet, and how it is paid for.</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3931920" cy="914400"/>
        </p:xfrm>
        <a:graphic>
          <a:graphicData uri="http://schemas.openxmlformats.org/drawingml/2006/table">
            <a:tbl>
              <a:tblPr/>
              <a:tblGrid>
                <a:gridCol w="3017520"/>
                <a:gridCol w="91440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Stations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Count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 regenerative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Saunas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Cold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Aescape robotic massage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Ammortal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4754880" y="1645920"/>
          <a:ext cx="3520440" cy="914400"/>
        </p:xfrm>
        <a:graphic>
          <a:graphicData uri="http://schemas.openxmlformats.org/drawingml/2006/table">
            <a:tbl>
              <a:tblPr/>
              <a:tblGrid>
                <a:gridCol w="2606040"/>
                <a:gridCol w="91440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Stations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Count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Hyperbaric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Redlight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 / consult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DEXA scan room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Recovery stations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7" name="Shape 3"/>
          <p:cNvSpPr/>
          <p:nvPr/>
        </p:nvSpPr>
        <p:spPr>
          <a:xfrm>
            <a:off x="502920" y="3456432"/>
            <a:ext cx="8138160" cy="1024128"/>
          </a:xfrm>
          <a:prstGeom prst="roundRect">
            <a:avLst>
              <a:gd name="adj" fmla="val 5357"/>
            </a:avLst>
          </a:prstGeom>
          <a:solidFill>
            <a:srgbClr val="16241C"/>
          </a:solidFill>
          <a:ln w="12700">
            <a:solidFill>
              <a:srgbClr val="2E4237"/>
            </a:solidFill>
            <a:prstDash val="solid"/>
          </a:ln>
        </p:spPr>
      </p:sp>
      <p:sp>
        <p:nvSpPr>
          <p:cNvPr id="8" name="Text 4"/>
          <p:cNvSpPr/>
          <p:nvPr/>
        </p:nvSpPr>
        <p:spPr>
          <a:xfrm>
            <a:off x="649224" y="3566160"/>
            <a:ext cx="7845552" cy="182880"/>
          </a:xfrm>
          <a:prstGeom prst="rect">
            <a:avLst/>
          </a:prstGeom>
          <a:noFill/>
          <a:ln/>
        </p:spPr>
        <p:txBody>
          <a:bodyPr wrap="square" rtlCol="0" anchor="ctr"/>
          <a:lstStyle/>
          <a:p>
            <a:pPr indent="0" marL="0">
              <a:buNone/>
            </a:pPr>
            <a:r>
              <a:rPr lang="en-US" sz="750" spc="200" kern="0" dirty="0">
                <a:solidFill>
                  <a:srgbClr val="C08D7C"/>
                </a:solidFill>
                <a:latin typeface="Century Gothic" pitchFamily="34" charset="0"/>
                <a:ea typeface="Century Gothic" pitchFamily="34" charset="-122"/>
                <a:cs typeface="Century Gothic" pitchFamily="34" charset="-120"/>
              </a:rPr>
              <a:t>EQUIPMENT STRATEGY</a:t>
            </a:r>
            <a:endParaRPr lang="en-US" sz="750" dirty="0"/>
          </a:p>
        </p:txBody>
      </p:sp>
      <p:sp>
        <p:nvSpPr>
          <p:cNvPr id="9" name="Text 5"/>
          <p:cNvSpPr/>
          <p:nvPr/>
        </p:nvSpPr>
        <p:spPr>
          <a:xfrm>
            <a:off x="649224" y="3767328"/>
            <a:ext cx="7845552" cy="640080"/>
          </a:xfrm>
          <a:prstGeom prst="rect">
            <a:avLst/>
          </a:prstGeom>
          <a:noFill/>
          <a:ln/>
        </p:spPr>
        <p:txBody>
          <a:bodyPr wrap="square" rtlCol="0" anchor="t"/>
          <a:lstStyle/>
          <a:p>
            <a:pPr indent="0" marL="0">
              <a:lnSpc>
                <a:spcPct val="120000"/>
              </a:lnSpc>
              <a:buNone/>
            </a:pPr>
            <a:r>
              <a:rPr lang="en-US" sz="900" dirty="0">
                <a:solidFill>
                  <a:srgbClr val="A8A296"/>
                </a:solidFill>
                <a:latin typeface="Calibri" pitchFamily="34" charset="0"/>
                <a:ea typeface="Calibri" pitchFamily="34" charset="-122"/>
                <a:cs typeface="Calibri" pitchFamily="34" charset="-120"/>
              </a:rPr>
              <a:t>Purchased where payback justifies it. Wet areas drive cost, plunges, saunas and steam carry a materially higher per-SF buildout than a dry medspa, which is why the lean case trims the contrast suite before it trims treatment rooms.</a:t>
            </a:r>
            <a:endParaRPr lang="en-US" sz="90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CAPACITY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Enough capacity for what is sold.</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Built bottom-up from station hours, not assumed. The circuit bottleneck is the cold plunge, not the sauna; the clinical bottleneck is treatment rooms.</a:t>
            </a:r>
            <a:endParaRPr lang="en-US" sz="1150" dirty="0"/>
          </a:p>
        </p:txBody>
      </p:sp>
      <p:sp>
        <p:nvSpPr>
          <p:cNvPr id="5" name="Shape 3"/>
          <p:cNvSpPr/>
          <p:nvPr/>
        </p:nvSpPr>
        <p:spPr>
          <a:xfrm>
            <a:off x="502920" y="2240280"/>
            <a:ext cx="3986784" cy="1554480"/>
          </a:xfrm>
          <a:prstGeom prst="roundRect">
            <a:avLst>
              <a:gd name="adj" fmla="val 3529"/>
            </a:avLst>
          </a:prstGeom>
          <a:solidFill>
            <a:srgbClr val="241C1A"/>
          </a:solidFill>
          <a:ln w="12700">
            <a:solidFill>
              <a:srgbClr val="C08D7C"/>
            </a:solidFill>
            <a:prstDash val="solid"/>
          </a:ln>
        </p:spPr>
      </p:sp>
      <p:sp>
        <p:nvSpPr>
          <p:cNvPr id="6" name="Text 4"/>
          <p:cNvSpPr/>
          <p:nvPr/>
        </p:nvSpPr>
        <p:spPr>
          <a:xfrm>
            <a:off x="649224" y="236829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73%</a:t>
            </a:r>
            <a:endParaRPr lang="en-US" sz="2000" dirty="0"/>
          </a:p>
        </p:txBody>
      </p:sp>
      <p:sp>
        <p:nvSpPr>
          <p:cNvPr id="7" name="Text 5"/>
          <p:cNvSpPr/>
          <p:nvPr/>
        </p:nvSpPr>
        <p:spPr>
          <a:xfrm>
            <a:off x="649224" y="2807208"/>
            <a:ext cx="3694176"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Recovery circuit utilization. 2,345 modeled visits against 3,192 practical capacity, leaving 847 visits of headroom.</a:t>
            </a:r>
            <a:endParaRPr lang="en-US" sz="900" dirty="0"/>
          </a:p>
        </p:txBody>
      </p:sp>
      <p:sp>
        <p:nvSpPr>
          <p:cNvPr id="8" name="Shape 6"/>
          <p:cNvSpPr/>
          <p:nvPr/>
        </p:nvSpPr>
        <p:spPr>
          <a:xfrm>
            <a:off x="4654296" y="2240280"/>
            <a:ext cx="3986784" cy="1554480"/>
          </a:xfrm>
          <a:prstGeom prst="roundRect">
            <a:avLst>
              <a:gd name="adj" fmla="val 3529"/>
            </a:avLst>
          </a:prstGeom>
          <a:solidFill>
            <a:srgbClr val="241C1A"/>
          </a:solidFill>
          <a:ln w="12700">
            <a:solidFill>
              <a:srgbClr val="C08D7C"/>
            </a:solidFill>
            <a:prstDash val="solid"/>
          </a:ln>
        </p:spPr>
      </p:sp>
      <p:sp>
        <p:nvSpPr>
          <p:cNvPr id="9" name="Text 7"/>
          <p:cNvSpPr/>
          <p:nvPr/>
        </p:nvSpPr>
        <p:spPr>
          <a:xfrm>
            <a:off x="4800600" y="236829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83%</a:t>
            </a:r>
            <a:endParaRPr lang="en-US" sz="2000" dirty="0"/>
          </a:p>
        </p:txBody>
      </p:sp>
      <p:sp>
        <p:nvSpPr>
          <p:cNvPr id="10" name="Text 8"/>
          <p:cNvSpPr/>
          <p:nvPr/>
        </p:nvSpPr>
        <p:spPr>
          <a:xfrm>
            <a:off x="4800600" y="2807208"/>
            <a:ext cx="3694176"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Treatment room utilization. 419 procedures against 507 practical capacity, leaving 88 slots of headroom.</a:t>
            </a:r>
            <a:endParaRPr lang="en-US" sz="900" dirty="0"/>
          </a:p>
        </p:txBody>
      </p:sp>
      <p:sp>
        <p:nvSpPr>
          <p:cNvPr id="11" name="Text 9"/>
          <p:cNvSpPr/>
          <p:nvPr/>
        </p:nvSpPr>
        <p:spPr>
          <a:xfrm>
            <a:off x="502920" y="3977640"/>
            <a:ext cx="8138160" cy="457200"/>
          </a:xfrm>
          <a:prstGeom prst="rect">
            <a:avLst/>
          </a:prstGeom>
          <a:noFill/>
          <a:ln/>
        </p:spPr>
        <p:txBody>
          <a:bodyPr wrap="square" rtlCol="0" anchor="ctr"/>
          <a:lstStyle/>
          <a:p>
            <a:pPr indent="0" marL="0">
              <a:lnSpc>
                <a:spcPct val="120000"/>
              </a:lnSpc>
              <a:buNone/>
            </a:pPr>
            <a:r>
              <a:rPr lang="en-US" sz="1000" dirty="0">
                <a:solidFill>
                  <a:srgbClr val="6E6A62"/>
                </a:solidFill>
                <a:latin typeface="Calibri" pitchFamily="34" charset="0"/>
                <a:ea typeface="Calibri" pitchFamily="34" charset="-122"/>
                <a:cs typeface="Calibri" pitchFamily="34" charset="-120"/>
              </a:rPr>
              <a:t>Practical capacity applies a utilization ceiling to theoretical station hours, because demand concentrates at peak times and nothing runs flat out. Headroom is the growth the facility can absorb without further capital.</a:t>
            </a:r>
            <a:endParaRPr lang="en-US" sz="1000" dirty="0"/>
          </a:p>
        </p:txBody>
      </p:sp>
      <p:sp>
        <p:nvSpPr>
          <p:cNvPr id="12" name="Text 1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13" name="Text 1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MARKET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large, fast, cash-pay category.</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Every figure carries its source. Anything we could not source was cut rather than estimated.</a:t>
            </a:r>
            <a:endParaRPr lang="en-US" sz="11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8138160" cy="914400"/>
        </p:xfrm>
        <a:graphic>
          <a:graphicData uri="http://schemas.openxmlformats.org/drawingml/2006/table">
            <a:tbl>
              <a:tblPr/>
              <a:tblGrid>
                <a:gridCol w="4206240"/>
                <a:gridCol w="1371600"/>
                <a:gridCol w="256032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Figure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Source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economy, 2024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$6.8T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Institute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medical spa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$27.8B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medical spas, 2023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10,488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consumers calling wellness a top or important priority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McKinsey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concierge medicine market by 2034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$19.4B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Cited in Patientfy longevity market map</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adults currently taking a GLP-1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 in 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KFF</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retreats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$11.1B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Research and Markets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MARKET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Silicon Beach, at its densest.</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Playa Vista is a master-planned innovation district on the old Hughes Aircraft site, and it has become the centre of gravity for the Westside’s technology, media, advertising and creator economy. Google, YouTube and Meta campuses sit within a walk of one another. LAX is four miles south, the studios fifteen minutes north, and the district was designed to be walked rather than driven.</a:t>
            </a:r>
            <a:endParaRPr lang="en-US" sz="1150" dirty="0"/>
          </a:p>
        </p:txBody>
      </p:sp>
      <p:sp>
        <p:nvSpPr>
          <p:cNvPr id="5" name="Shape 3"/>
          <p:cNvSpPr/>
          <p:nvPr/>
        </p:nvSpPr>
        <p:spPr>
          <a:xfrm>
            <a:off x="502920" y="2286000"/>
            <a:ext cx="2602992" cy="1554480"/>
          </a:xfrm>
          <a:prstGeom prst="roundRect">
            <a:avLst>
              <a:gd name="adj" fmla="val 3529"/>
            </a:avLst>
          </a:prstGeom>
          <a:solidFill>
            <a:srgbClr val="16241C"/>
          </a:solidFill>
          <a:ln w="12700">
            <a:solidFill>
              <a:srgbClr val="2E4237"/>
            </a:solidFill>
            <a:prstDash val="solid"/>
          </a:ln>
        </p:spPr>
      </p:sp>
      <p:sp>
        <p:nvSpPr>
          <p:cNvPr id="6" name="Text 4"/>
          <p:cNvSpPr/>
          <p:nvPr/>
        </p:nvSpPr>
        <p:spPr>
          <a:xfrm>
            <a:off x="649224"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$129,942</a:t>
            </a:r>
            <a:endParaRPr lang="en-US" sz="2000" dirty="0"/>
          </a:p>
        </p:txBody>
      </p:sp>
      <p:sp>
        <p:nvSpPr>
          <p:cNvPr id="7" name="Text 5"/>
          <p:cNvSpPr/>
          <p:nvPr/>
        </p:nvSpPr>
        <p:spPr>
          <a:xfrm>
            <a:off x="649224"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Playa Vista median household income. Against a Los Angeles County median well below it. This is a cash-pay market.  (US Census Bureau, via Point2Homes)</a:t>
            </a:r>
            <a:endParaRPr lang="en-US" sz="900" dirty="0"/>
          </a:p>
        </p:txBody>
      </p:sp>
      <p:sp>
        <p:nvSpPr>
          <p:cNvPr id="8" name="Shape 6"/>
          <p:cNvSpPr/>
          <p:nvPr/>
        </p:nvSpPr>
        <p:spPr>
          <a:xfrm>
            <a:off x="3270504" y="2286000"/>
            <a:ext cx="2602992" cy="1554480"/>
          </a:xfrm>
          <a:prstGeom prst="roundRect">
            <a:avLst>
              <a:gd name="adj" fmla="val 3529"/>
            </a:avLst>
          </a:prstGeom>
          <a:solidFill>
            <a:srgbClr val="16241C"/>
          </a:solidFill>
          <a:ln w="12700">
            <a:solidFill>
              <a:srgbClr val="2E4237"/>
            </a:solidFill>
            <a:prstDash val="solid"/>
          </a:ln>
        </p:spPr>
      </p:sp>
      <p:sp>
        <p:nvSpPr>
          <p:cNvPr id="9" name="Text 7"/>
          <p:cNvSpPr/>
          <p:nvPr/>
        </p:nvSpPr>
        <p:spPr>
          <a:xfrm>
            <a:off x="3416808"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500+</a:t>
            </a:r>
            <a:endParaRPr lang="en-US" sz="2000" dirty="0"/>
          </a:p>
        </p:txBody>
      </p:sp>
      <p:sp>
        <p:nvSpPr>
          <p:cNvPr id="10" name="Text 8"/>
          <p:cNvSpPr/>
          <p:nvPr/>
        </p:nvSpPr>
        <p:spPr>
          <a:xfrm>
            <a:off x="3416808"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Technology companies in Silicon Beach. The Westside tech corridor that Playa Vista sits at the center of.  (Wikipedia, Silicon Beach)</a:t>
            </a:r>
            <a:endParaRPr lang="en-US" sz="900" dirty="0"/>
          </a:p>
        </p:txBody>
      </p:sp>
      <p:sp>
        <p:nvSpPr>
          <p:cNvPr id="11" name="Shape 9"/>
          <p:cNvSpPr/>
          <p:nvPr/>
        </p:nvSpPr>
        <p:spPr>
          <a:xfrm>
            <a:off x="6038088" y="2286000"/>
            <a:ext cx="2602992" cy="1554480"/>
          </a:xfrm>
          <a:prstGeom prst="roundRect">
            <a:avLst>
              <a:gd name="adj" fmla="val 3529"/>
            </a:avLst>
          </a:prstGeom>
          <a:solidFill>
            <a:srgbClr val="16241C"/>
          </a:solidFill>
          <a:ln w="12700">
            <a:solidFill>
              <a:srgbClr val="2E4237"/>
            </a:solidFill>
            <a:prstDash val="solid"/>
          </a:ln>
        </p:spPr>
      </p:sp>
      <p:sp>
        <p:nvSpPr>
          <p:cNvPr id="12" name="Text 10"/>
          <p:cNvSpPr/>
          <p:nvPr/>
        </p:nvSpPr>
        <p:spPr>
          <a:xfrm>
            <a:off x="6184392"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~5,100</a:t>
            </a:r>
            <a:endParaRPr lang="en-US" sz="2000" dirty="0"/>
          </a:p>
        </p:txBody>
      </p:sp>
      <p:sp>
        <p:nvSpPr>
          <p:cNvPr id="13" name="Text 11"/>
          <p:cNvSpPr/>
          <p:nvPr/>
        </p:nvSpPr>
        <p:spPr>
          <a:xfrm>
            <a:off x="6184392"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Employed at The Campus at Playa Vista. Up from roughly 2,000 in 2015, a 150% increase. A dense, high-income daytime population inside walking distance.  (Los Angeles Business Journal)</a:t>
            </a:r>
            <a:endParaRPr lang="en-US" sz="900" dirty="0"/>
          </a:p>
        </p:txBody>
      </p:sp>
      <p:sp>
        <p:nvSpPr>
          <p:cNvPr id="14" name="Text 12"/>
          <p:cNvSpPr/>
          <p:nvPr/>
        </p:nvSpPr>
        <p:spPr>
          <a:xfrm>
            <a:off x="502920" y="3520440"/>
            <a:ext cx="8138160"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INSIDE A REALISTIC DRIVE TIME</a:t>
            </a:r>
            <a:endParaRPr lang="en-US" sz="850" dirty="0"/>
          </a:p>
        </p:txBody>
      </p:sp>
      <p:sp>
        <p:nvSpPr>
          <p:cNvPr id="15" name="Text 13"/>
          <p:cNvSpPr/>
          <p:nvPr/>
        </p:nvSpPr>
        <p:spPr>
          <a:xfrm>
            <a:off x="502920" y="3749040"/>
            <a:ext cx="8138160" cy="457200"/>
          </a:xfrm>
          <a:prstGeom prst="rect">
            <a:avLst/>
          </a:prstGeom>
          <a:noFill/>
          <a:ln/>
        </p:spPr>
        <p:txBody>
          <a:bodyPr wrap="square" rtlCol="0" anchor="ctr"/>
          <a:lstStyle/>
          <a:p>
            <a:pPr indent="0" marL="0">
              <a:lnSpc>
                <a:spcPct val="120000"/>
              </a:lnSpc>
              <a:buNone/>
            </a:pPr>
            <a:r>
              <a:rPr lang="en-US" sz="1100" dirty="0">
                <a:solidFill>
                  <a:srgbClr val="A8A296"/>
                </a:solidFill>
                <a:latin typeface="Calibri" pitchFamily="34" charset="0"/>
                <a:ea typeface="Calibri" pitchFamily="34" charset="-122"/>
                <a:cs typeface="Calibri" pitchFamily="34" charset="-120"/>
              </a:rPr>
              <a:t>Playa Vista   ·   Marina del Rey   ·   Culver City   ·   Venice   ·   Santa Monica   ·   Playa del Rey   ·   El Segundo   ·   Westchester   ·   Mar Vista   ·   Manhattan Beach</a:t>
            </a:r>
            <a:endParaRPr lang="en-US" sz="11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30 wellness lines, every one cash-pay (1 of 2).</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No insurance contracts, no payer mix, no receivables aging. Prices are exact, not banded.</a:t>
            </a:r>
            <a:endParaRPr lang="en-US" sz="11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103120"/>
                <a:gridCol w="960120"/>
                <a:gridCol w="777240"/>
                <a:gridCol w="685800"/>
                <a:gridCol w="868680"/>
                <a:gridCol w="1143000"/>
                <a:gridCol w="11430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After 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$11,480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$13,776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Red Light Therapy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$39,000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$31,980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Compression Therapy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$10,125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$8,303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Hair &amp; Scalp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$32,835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$23,641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Face &amp; Aesthetic</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$16,660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Scar &amp; Skin Repair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$3,900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Soft Tissue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Joint &amp; Cartilage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$18,600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Post-procedure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$9,750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Basic Hydration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$7,029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$4,780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Myers Cocktail</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$6,766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$3,789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 / Hangover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$8,466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$5,249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Immunity / High-Dose C</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$4,407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Subtotal, continued overleaf</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1,552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$247,496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$176,665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30 wellness lines, every one cash-pay (2 of 2).</a:t>
            </a:r>
            <a:endParaRPr lang="en-US" sz="2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103120"/>
                <a:gridCol w="960120"/>
                <a:gridCol w="777240"/>
                <a:gridCol w="685800"/>
                <a:gridCol w="868680"/>
                <a:gridCol w="1143000"/>
                <a:gridCol w="11430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After 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Beauty / Glutathione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$9,405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$6,207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Athletic Performance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$9,960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$6,474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NAD+ 100mg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$5,347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NAD+ 250mg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$11,550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$8,778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NAD+ 500mg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$18,150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$14,157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IM Shot: B12 / Lipo</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$5,510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$3,582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Therapeutic medications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$18,000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$13,500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Botox (15-unit minimum)</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$13,440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Filler (0.5 ml)</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$47,600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$30,940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RF Microneedling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$37,500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Laser Platform</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$17,850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Advanced Biometrics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$3,150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DNA Analysis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DUTCH Plus Test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$9,750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DEXA Scan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$9,025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$6,949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Wellness delivery at list value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672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$259,625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$183,654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REVENUE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Membership revenue is not additive.</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easy mistake is to stack membership fees on top of full a la carte revenue. Members draw down a credit bank against services that would otherwise be paid at list price, so redemption is netted out first.</a:t>
            </a:r>
            <a:endParaRPr lang="en-US" sz="11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486400"/>
                <a:gridCol w="265176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Build</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Service delivery at list value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$507,121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credit redemption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-$129,500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and Friends discount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-$30,210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A la carte revenue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$347,411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membership fees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$230,000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day pass and access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$20,625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 REVENUE PER MONTH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$598,036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11480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Residents and Longevity members pay $207,500 a month and redeem $129,500 of service at retail. Redemption ratio 62.4%. If that exceeded 100% the credit bank would be underpriced; the model asserts it cannot.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RAMP</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Breakeven at month 10.</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Months one through six are construction and founding presales. There is no debt service at any point, so operating income is what the business keeps.</a:t>
            </a:r>
            <a:endParaRPr lang="en-US" sz="1150" dirty="0"/>
          </a:p>
        </p:txBody>
      </p:sp>
      <p:sp>
        <p:nvSpPr>
          <p:cNvPr id="5" name="Shape 3"/>
          <p:cNvSpPr/>
          <p:nvPr/>
        </p:nvSpPr>
        <p:spPr>
          <a:xfrm>
            <a:off x="502920" y="1572768"/>
            <a:ext cx="8138160" cy="2377440"/>
          </a:xfrm>
          <a:prstGeom prst="rect">
            <a:avLst/>
          </a:prstGeom>
          <a:solidFill>
            <a:srgbClr val="000000"/>
          </a:solidFill>
          <a:ln w="9525">
            <a:solidFill>
              <a:srgbClr val="2E4237"/>
            </a:solidFill>
            <a:prstDash val="solid"/>
          </a:ln>
        </p:spPr>
      </p:sp>
      <p:sp>
        <p:nvSpPr>
          <p:cNvPr id="6" name="Shape 4"/>
          <p:cNvSpPr/>
          <p:nvPr/>
        </p:nvSpPr>
        <p:spPr>
          <a:xfrm>
            <a:off x="502920" y="3323338"/>
            <a:ext cx="8138160" cy="10973"/>
          </a:xfrm>
          <a:prstGeom prst="rect">
            <a:avLst/>
          </a:prstGeom>
          <a:solidFill>
            <a:srgbClr val="2E4237"/>
          </a:solidFill>
          <a:ln w="12700">
            <a:solidFill>
              <a:srgbClr val="2E4237"/>
            </a:solidFill>
            <a:prstDash val="solid"/>
          </a:ln>
        </p:spPr>
      </p:sp>
      <p:sp>
        <p:nvSpPr>
          <p:cNvPr id="7" name="Shape 5"/>
          <p:cNvSpPr/>
          <p:nvPr/>
        </p:nvSpPr>
        <p:spPr>
          <a:xfrm>
            <a:off x="539090" y="3323338"/>
            <a:ext cx="153721" cy="566013"/>
          </a:xfrm>
          <a:prstGeom prst="rect">
            <a:avLst/>
          </a:prstGeom>
          <a:solidFill>
            <a:srgbClr val="2E4237"/>
          </a:solidFill>
          <a:ln w="12700">
            <a:solidFill>
              <a:srgbClr val="2E4237"/>
            </a:solidFill>
            <a:prstDash val="solid"/>
          </a:ln>
        </p:spPr>
      </p:sp>
      <p:sp>
        <p:nvSpPr>
          <p:cNvPr id="8" name="Shape 6"/>
          <p:cNvSpPr/>
          <p:nvPr/>
        </p:nvSpPr>
        <p:spPr>
          <a:xfrm>
            <a:off x="765150" y="3323338"/>
            <a:ext cx="153721" cy="566013"/>
          </a:xfrm>
          <a:prstGeom prst="rect">
            <a:avLst/>
          </a:prstGeom>
          <a:solidFill>
            <a:srgbClr val="2E4237"/>
          </a:solidFill>
          <a:ln w="12700">
            <a:solidFill>
              <a:srgbClr val="2E4237"/>
            </a:solidFill>
            <a:prstDash val="solid"/>
          </a:ln>
        </p:spPr>
      </p:sp>
      <p:sp>
        <p:nvSpPr>
          <p:cNvPr id="9" name="Shape 7"/>
          <p:cNvSpPr/>
          <p:nvPr/>
        </p:nvSpPr>
        <p:spPr>
          <a:xfrm>
            <a:off x="991210" y="3323338"/>
            <a:ext cx="153721" cy="566013"/>
          </a:xfrm>
          <a:prstGeom prst="rect">
            <a:avLst/>
          </a:prstGeom>
          <a:solidFill>
            <a:srgbClr val="2E4237"/>
          </a:solidFill>
          <a:ln w="12700">
            <a:solidFill>
              <a:srgbClr val="2E4237"/>
            </a:solidFill>
            <a:prstDash val="solid"/>
          </a:ln>
        </p:spPr>
      </p:sp>
      <p:sp>
        <p:nvSpPr>
          <p:cNvPr id="10" name="Shape 8"/>
          <p:cNvSpPr/>
          <p:nvPr/>
        </p:nvSpPr>
        <p:spPr>
          <a:xfrm>
            <a:off x="1217270" y="3323338"/>
            <a:ext cx="153721" cy="566013"/>
          </a:xfrm>
          <a:prstGeom prst="rect">
            <a:avLst/>
          </a:prstGeom>
          <a:solidFill>
            <a:srgbClr val="2E4237"/>
          </a:solidFill>
          <a:ln w="12700">
            <a:solidFill>
              <a:srgbClr val="2E4237"/>
            </a:solidFill>
            <a:prstDash val="solid"/>
          </a:ln>
        </p:spPr>
      </p:sp>
      <p:sp>
        <p:nvSpPr>
          <p:cNvPr id="11" name="Shape 9"/>
          <p:cNvSpPr/>
          <p:nvPr/>
        </p:nvSpPr>
        <p:spPr>
          <a:xfrm>
            <a:off x="1443330" y="3323338"/>
            <a:ext cx="153721" cy="566013"/>
          </a:xfrm>
          <a:prstGeom prst="rect">
            <a:avLst/>
          </a:prstGeom>
          <a:solidFill>
            <a:srgbClr val="2E4237"/>
          </a:solidFill>
          <a:ln w="12700">
            <a:solidFill>
              <a:srgbClr val="2E4237"/>
            </a:solidFill>
            <a:prstDash val="solid"/>
          </a:ln>
        </p:spPr>
      </p:sp>
      <p:sp>
        <p:nvSpPr>
          <p:cNvPr id="12" name="Shape 10"/>
          <p:cNvSpPr/>
          <p:nvPr/>
        </p:nvSpPr>
        <p:spPr>
          <a:xfrm>
            <a:off x="1669390" y="3323338"/>
            <a:ext cx="153721" cy="566013"/>
          </a:xfrm>
          <a:prstGeom prst="rect">
            <a:avLst/>
          </a:prstGeom>
          <a:solidFill>
            <a:srgbClr val="2E4237"/>
          </a:solidFill>
          <a:ln w="12700">
            <a:solidFill>
              <a:srgbClr val="2E4237"/>
            </a:solidFill>
            <a:prstDash val="solid"/>
          </a:ln>
        </p:spPr>
      </p:sp>
      <p:sp>
        <p:nvSpPr>
          <p:cNvPr id="13" name="Text 11"/>
          <p:cNvSpPr/>
          <p:nvPr/>
        </p:nvSpPr>
        <p:spPr>
          <a:xfrm>
            <a:off x="14433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M6</a:t>
            </a:r>
            <a:endParaRPr lang="en-US" sz="700" dirty="0"/>
          </a:p>
        </p:txBody>
      </p:sp>
      <p:sp>
        <p:nvSpPr>
          <p:cNvPr id="14" name="Shape 12"/>
          <p:cNvSpPr/>
          <p:nvPr/>
        </p:nvSpPr>
        <p:spPr>
          <a:xfrm>
            <a:off x="1895450" y="3323338"/>
            <a:ext cx="153721" cy="626870"/>
          </a:xfrm>
          <a:prstGeom prst="rect">
            <a:avLst/>
          </a:prstGeom>
          <a:solidFill>
            <a:srgbClr val="2E4237"/>
          </a:solidFill>
          <a:ln w="12700">
            <a:solidFill>
              <a:srgbClr val="2E4237"/>
            </a:solidFill>
            <a:prstDash val="solid"/>
          </a:ln>
        </p:spPr>
      </p:sp>
      <p:sp>
        <p:nvSpPr>
          <p:cNvPr id="15" name="Shape 13"/>
          <p:cNvSpPr/>
          <p:nvPr/>
        </p:nvSpPr>
        <p:spPr>
          <a:xfrm>
            <a:off x="2121510" y="3323338"/>
            <a:ext cx="153721" cy="391128"/>
          </a:xfrm>
          <a:prstGeom prst="rect">
            <a:avLst/>
          </a:prstGeom>
          <a:solidFill>
            <a:srgbClr val="2E4237"/>
          </a:solidFill>
          <a:ln w="12700">
            <a:solidFill>
              <a:srgbClr val="2E4237"/>
            </a:solidFill>
            <a:prstDash val="solid"/>
          </a:ln>
        </p:spPr>
      </p:sp>
      <p:sp>
        <p:nvSpPr>
          <p:cNvPr id="16" name="Shape 14"/>
          <p:cNvSpPr/>
          <p:nvPr/>
        </p:nvSpPr>
        <p:spPr>
          <a:xfrm>
            <a:off x="2347570" y="3323338"/>
            <a:ext cx="153721" cy="121706"/>
          </a:xfrm>
          <a:prstGeom prst="rect">
            <a:avLst/>
          </a:prstGeom>
          <a:solidFill>
            <a:srgbClr val="2E4237"/>
          </a:solidFill>
          <a:ln w="12700">
            <a:solidFill>
              <a:srgbClr val="2E4237"/>
            </a:solidFill>
            <a:prstDash val="solid"/>
          </a:ln>
        </p:spPr>
      </p:sp>
      <p:sp>
        <p:nvSpPr>
          <p:cNvPr id="17" name="Shape 15"/>
          <p:cNvSpPr/>
          <p:nvPr/>
        </p:nvSpPr>
        <p:spPr>
          <a:xfrm>
            <a:off x="2573630" y="3242974"/>
            <a:ext cx="153721" cy="80364"/>
          </a:xfrm>
          <a:prstGeom prst="rect">
            <a:avLst/>
          </a:prstGeom>
          <a:solidFill>
            <a:srgbClr val="C08D7C"/>
          </a:solidFill>
          <a:ln w="12700">
            <a:solidFill>
              <a:srgbClr val="C08D7C"/>
            </a:solidFill>
            <a:prstDash val="solid"/>
          </a:ln>
        </p:spPr>
      </p:sp>
      <p:sp>
        <p:nvSpPr>
          <p:cNvPr id="18" name="Shape 16"/>
          <p:cNvSpPr/>
          <p:nvPr/>
        </p:nvSpPr>
        <p:spPr>
          <a:xfrm>
            <a:off x="2799690" y="3040912"/>
            <a:ext cx="153721" cy="282426"/>
          </a:xfrm>
          <a:prstGeom prst="rect">
            <a:avLst/>
          </a:prstGeom>
          <a:solidFill>
            <a:srgbClr val="C08D7C"/>
          </a:solidFill>
          <a:ln w="12700">
            <a:solidFill>
              <a:srgbClr val="C08D7C"/>
            </a:solidFill>
            <a:prstDash val="solid"/>
          </a:ln>
        </p:spPr>
      </p:sp>
      <p:sp>
        <p:nvSpPr>
          <p:cNvPr id="19" name="Shape 17"/>
          <p:cNvSpPr/>
          <p:nvPr/>
        </p:nvSpPr>
        <p:spPr>
          <a:xfrm>
            <a:off x="3025750" y="2838850"/>
            <a:ext cx="153721" cy="484488"/>
          </a:xfrm>
          <a:prstGeom prst="rect">
            <a:avLst/>
          </a:prstGeom>
          <a:solidFill>
            <a:srgbClr val="C08D7C"/>
          </a:solidFill>
          <a:ln w="12700">
            <a:solidFill>
              <a:srgbClr val="C08D7C"/>
            </a:solidFill>
            <a:prstDash val="solid"/>
          </a:ln>
        </p:spPr>
      </p:sp>
      <p:sp>
        <p:nvSpPr>
          <p:cNvPr id="20" name="Text 18"/>
          <p:cNvSpPr/>
          <p:nvPr/>
        </p:nvSpPr>
        <p:spPr>
          <a:xfrm>
            <a:off x="279969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M12</a:t>
            </a:r>
            <a:endParaRPr lang="en-US" sz="700" dirty="0"/>
          </a:p>
        </p:txBody>
      </p:sp>
      <p:sp>
        <p:nvSpPr>
          <p:cNvPr id="21" name="Shape 19"/>
          <p:cNvSpPr/>
          <p:nvPr/>
        </p:nvSpPr>
        <p:spPr>
          <a:xfrm>
            <a:off x="3251810" y="2636780"/>
            <a:ext cx="153721" cy="686559"/>
          </a:xfrm>
          <a:prstGeom prst="rect">
            <a:avLst/>
          </a:prstGeom>
          <a:solidFill>
            <a:srgbClr val="C08D7C"/>
          </a:solidFill>
          <a:ln w="12700">
            <a:solidFill>
              <a:srgbClr val="C08D7C"/>
            </a:solidFill>
            <a:prstDash val="solid"/>
          </a:ln>
        </p:spPr>
      </p:sp>
      <p:sp>
        <p:nvSpPr>
          <p:cNvPr id="22" name="Shape 20"/>
          <p:cNvSpPr/>
          <p:nvPr/>
        </p:nvSpPr>
        <p:spPr>
          <a:xfrm>
            <a:off x="3477870" y="2502069"/>
            <a:ext cx="153721" cy="821269"/>
          </a:xfrm>
          <a:prstGeom prst="rect">
            <a:avLst/>
          </a:prstGeom>
          <a:solidFill>
            <a:srgbClr val="C08D7C"/>
          </a:solidFill>
          <a:ln w="12700">
            <a:solidFill>
              <a:srgbClr val="C08D7C"/>
            </a:solidFill>
            <a:prstDash val="solid"/>
          </a:ln>
        </p:spPr>
      </p:sp>
      <p:sp>
        <p:nvSpPr>
          <p:cNvPr id="23" name="Shape 21"/>
          <p:cNvSpPr/>
          <p:nvPr/>
        </p:nvSpPr>
        <p:spPr>
          <a:xfrm>
            <a:off x="3703930" y="2367358"/>
            <a:ext cx="153721" cy="955980"/>
          </a:xfrm>
          <a:prstGeom prst="rect">
            <a:avLst/>
          </a:prstGeom>
          <a:solidFill>
            <a:srgbClr val="C08D7C"/>
          </a:solidFill>
          <a:ln w="12700">
            <a:solidFill>
              <a:srgbClr val="C08D7C"/>
            </a:solidFill>
            <a:prstDash val="solid"/>
          </a:ln>
        </p:spPr>
      </p:sp>
      <p:sp>
        <p:nvSpPr>
          <p:cNvPr id="24" name="Shape 22"/>
          <p:cNvSpPr/>
          <p:nvPr/>
        </p:nvSpPr>
        <p:spPr>
          <a:xfrm>
            <a:off x="3929990" y="2232648"/>
            <a:ext cx="153721" cy="1090691"/>
          </a:xfrm>
          <a:prstGeom prst="rect">
            <a:avLst/>
          </a:prstGeom>
          <a:solidFill>
            <a:srgbClr val="C08D7C"/>
          </a:solidFill>
          <a:ln w="12700">
            <a:solidFill>
              <a:srgbClr val="C08D7C"/>
            </a:solidFill>
            <a:prstDash val="solid"/>
          </a:ln>
        </p:spPr>
      </p:sp>
      <p:sp>
        <p:nvSpPr>
          <p:cNvPr id="25" name="Shape 23"/>
          <p:cNvSpPr/>
          <p:nvPr/>
        </p:nvSpPr>
        <p:spPr>
          <a:xfrm>
            <a:off x="4156050" y="2097937"/>
            <a:ext cx="153721" cy="1225402"/>
          </a:xfrm>
          <a:prstGeom prst="rect">
            <a:avLst/>
          </a:prstGeom>
          <a:solidFill>
            <a:srgbClr val="C08D7C"/>
          </a:solidFill>
          <a:ln w="12700">
            <a:solidFill>
              <a:srgbClr val="C08D7C"/>
            </a:solidFill>
            <a:prstDash val="solid"/>
          </a:ln>
        </p:spPr>
      </p:sp>
      <p:sp>
        <p:nvSpPr>
          <p:cNvPr id="26" name="Shape 24"/>
          <p:cNvSpPr/>
          <p:nvPr/>
        </p:nvSpPr>
        <p:spPr>
          <a:xfrm>
            <a:off x="4382110" y="2045420"/>
            <a:ext cx="153721" cy="1277918"/>
          </a:xfrm>
          <a:prstGeom prst="rect">
            <a:avLst/>
          </a:prstGeom>
          <a:solidFill>
            <a:srgbClr val="C08D7C"/>
          </a:solidFill>
          <a:ln w="12700">
            <a:solidFill>
              <a:srgbClr val="C08D7C"/>
            </a:solidFill>
            <a:prstDash val="solid"/>
          </a:ln>
        </p:spPr>
      </p:sp>
      <p:sp>
        <p:nvSpPr>
          <p:cNvPr id="27" name="Text 25"/>
          <p:cNvSpPr/>
          <p:nvPr/>
        </p:nvSpPr>
        <p:spPr>
          <a:xfrm>
            <a:off x="415605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M18</a:t>
            </a:r>
            <a:endParaRPr lang="en-US" sz="700" dirty="0"/>
          </a:p>
        </p:txBody>
      </p:sp>
      <p:sp>
        <p:nvSpPr>
          <p:cNvPr id="28" name="Shape 26"/>
          <p:cNvSpPr/>
          <p:nvPr/>
        </p:nvSpPr>
        <p:spPr>
          <a:xfrm>
            <a:off x="4608170" y="1992903"/>
            <a:ext cx="153721" cy="1330435"/>
          </a:xfrm>
          <a:prstGeom prst="rect">
            <a:avLst/>
          </a:prstGeom>
          <a:solidFill>
            <a:srgbClr val="C08D7C"/>
          </a:solidFill>
          <a:ln w="12700">
            <a:solidFill>
              <a:srgbClr val="C08D7C"/>
            </a:solidFill>
            <a:prstDash val="solid"/>
          </a:ln>
        </p:spPr>
      </p:sp>
      <p:sp>
        <p:nvSpPr>
          <p:cNvPr id="29" name="Shape 27"/>
          <p:cNvSpPr/>
          <p:nvPr/>
        </p:nvSpPr>
        <p:spPr>
          <a:xfrm>
            <a:off x="4834230" y="1940386"/>
            <a:ext cx="153721" cy="1382952"/>
          </a:xfrm>
          <a:prstGeom prst="rect">
            <a:avLst/>
          </a:prstGeom>
          <a:solidFill>
            <a:srgbClr val="C08D7C"/>
          </a:solidFill>
          <a:ln w="12700">
            <a:solidFill>
              <a:srgbClr val="C08D7C"/>
            </a:solidFill>
            <a:prstDash val="solid"/>
          </a:ln>
        </p:spPr>
      </p:sp>
      <p:sp>
        <p:nvSpPr>
          <p:cNvPr id="30" name="Shape 28"/>
          <p:cNvSpPr/>
          <p:nvPr/>
        </p:nvSpPr>
        <p:spPr>
          <a:xfrm>
            <a:off x="5060290" y="1887869"/>
            <a:ext cx="153721" cy="1435469"/>
          </a:xfrm>
          <a:prstGeom prst="rect">
            <a:avLst/>
          </a:prstGeom>
          <a:solidFill>
            <a:srgbClr val="C08D7C"/>
          </a:solidFill>
          <a:ln w="12700">
            <a:solidFill>
              <a:srgbClr val="C08D7C"/>
            </a:solidFill>
            <a:prstDash val="solid"/>
          </a:ln>
        </p:spPr>
      </p:sp>
      <p:sp>
        <p:nvSpPr>
          <p:cNvPr id="31" name="Shape 29"/>
          <p:cNvSpPr/>
          <p:nvPr/>
        </p:nvSpPr>
        <p:spPr>
          <a:xfrm>
            <a:off x="5286350" y="1835352"/>
            <a:ext cx="153721" cy="1487986"/>
          </a:xfrm>
          <a:prstGeom prst="rect">
            <a:avLst/>
          </a:prstGeom>
          <a:solidFill>
            <a:srgbClr val="C08D7C"/>
          </a:solidFill>
          <a:ln w="12700">
            <a:solidFill>
              <a:srgbClr val="C08D7C"/>
            </a:solidFill>
            <a:prstDash val="solid"/>
          </a:ln>
        </p:spPr>
      </p:sp>
      <p:sp>
        <p:nvSpPr>
          <p:cNvPr id="32" name="Shape 30"/>
          <p:cNvSpPr/>
          <p:nvPr/>
        </p:nvSpPr>
        <p:spPr>
          <a:xfrm>
            <a:off x="5512410" y="1800341"/>
            <a:ext cx="153721" cy="1522997"/>
          </a:xfrm>
          <a:prstGeom prst="rect">
            <a:avLst/>
          </a:prstGeom>
          <a:solidFill>
            <a:srgbClr val="C08D7C"/>
          </a:solidFill>
          <a:ln w="12700">
            <a:solidFill>
              <a:srgbClr val="C08D7C"/>
            </a:solidFill>
            <a:prstDash val="solid"/>
          </a:ln>
        </p:spPr>
      </p:sp>
      <p:sp>
        <p:nvSpPr>
          <p:cNvPr id="33" name="Shape 31"/>
          <p:cNvSpPr/>
          <p:nvPr/>
        </p:nvSpPr>
        <p:spPr>
          <a:xfrm>
            <a:off x="5738470" y="1765330"/>
            <a:ext cx="153721" cy="1558009"/>
          </a:xfrm>
          <a:prstGeom prst="rect">
            <a:avLst/>
          </a:prstGeom>
          <a:solidFill>
            <a:srgbClr val="C08D7C"/>
          </a:solidFill>
          <a:ln w="12700">
            <a:solidFill>
              <a:srgbClr val="C08D7C"/>
            </a:solidFill>
            <a:prstDash val="solid"/>
          </a:ln>
        </p:spPr>
      </p:sp>
      <p:sp>
        <p:nvSpPr>
          <p:cNvPr id="34" name="Text 32"/>
          <p:cNvSpPr/>
          <p:nvPr/>
        </p:nvSpPr>
        <p:spPr>
          <a:xfrm>
            <a:off x="551241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M24</a:t>
            </a:r>
            <a:endParaRPr lang="en-US" sz="700" dirty="0"/>
          </a:p>
        </p:txBody>
      </p:sp>
      <p:sp>
        <p:nvSpPr>
          <p:cNvPr id="35" name="Shape 33"/>
          <p:cNvSpPr/>
          <p:nvPr/>
        </p:nvSpPr>
        <p:spPr>
          <a:xfrm>
            <a:off x="5964530" y="1730319"/>
            <a:ext cx="153721" cy="1593020"/>
          </a:xfrm>
          <a:prstGeom prst="rect">
            <a:avLst/>
          </a:prstGeom>
          <a:solidFill>
            <a:srgbClr val="C08D7C"/>
          </a:solidFill>
          <a:ln w="12700">
            <a:solidFill>
              <a:srgbClr val="C08D7C"/>
            </a:solidFill>
            <a:prstDash val="solid"/>
          </a:ln>
        </p:spPr>
      </p:sp>
      <p:sp>
        <p:nvSpPr>
          <p:cNvPr id="36" name="Shape 34"/>
          <p:cNvSpPr/>
          <p:nvPr/>
        </p:nvSpPr>
        <p:spPr>
          <a:xfrm>
            <a:off x="6190590" y="1695307"/>
            <a:ext cx="153721" cy="1628031"/>
          </a:xfrm>
          <a:prstGeom prst="rect">
            <a:avLst/>
          </a:prstGeom>
          <a:solidFill>
            <a:srgbClr val="C08D7C"/>
          </a:solidFill>
          <a:ln w="12700">
            <a:solidFill>
              <a:srgbClr val="C08D7C"/>
            </a:solidFill>
            <a:prstDash val="solid"/>
          </a:ln>
        </p:spPr>
      </p:sp>
      <p:sp>
        <p:nvSpPr>
          <p:cNvPr id="37" name="Shape 35"/>
          <p:cNvSpPr/>
          <p:nvPr/>
        </p:nvSpPr>
        <p:spPr>
          <a:xfrm>
            <a:off x="6416650" y="1677802"/>
            <a:ext cx="153721" cy="1645537"/>
          </a:xfrm>
          <a:prstGeom prst="rect">
            <a:avLst/>
          </a:prstGeom>
          <a:solidFill>
            <a:srgbClr val="C08D7C"/>
          </a:solidFill>
          <a:ln w="12700">
            <a:solidFill>
              <a:srgbClr val="C08D7C"/>
            </a:solidFill>
            <a:prstDash val="solid"/>
          </a:ln>
        </p:spPr>
      </p:sp>
      <p:sp>
        <p:nvSpPr>
          <p:cNvPr id="38" name="Shape 36"/>
          <p:cNvSpPr/>
          <p:nvPr/>
        </p:nvSpPr>
        <p:spPr>
          <a:xfrm>
            <a:off x="6642710" y="1642791"/>
            <a:ext cx="153721" cy="1680548"/>
          </a:xfrm>
          <a:prstGeom prst="rect">
            <a:avLst/>
          </a:prstGeom>
          <a:solidFill>
            <a:srgbClr val="C08D7C"/>
          </a:solidFill>
          <a:ln w="12700">
            <a:solidFill>
              <a:srgbClr val="C08D7C"/>
            </a:solidFill>
            <a:prstDash val="solid"/>
          </a:ln>
        </p:spPr>
      </p:sp>
      <p:sp>
        <p:nvSpPr>
          <p:cNvPr id="39" name="Shape 37"/>
          <p:cNvSpPr/>
          <p:nvPr/>
        </p:nvSpPr>
        <p:spPr>
          <a:xfrm>
            <a:off x="6868770" y="1625285"/>
            <a:ext cx="153721" cy="1698054"/>
          </a:xfrm>
          <a:prstGeom prst="rect">
            <a:avLst/>
          </a:prstGeom>
          <a:solidFill>
            <a:srgbClr val="C08D7C"/>
          </a:solidFill>
          <a:ln w="12700">
            <a:solidFill>
              <a:srgbClr val="C08D7C"/>
            </a:solidFill>
            <a:prstDash val="solid"/>
          </a:ln>
        </p:spPr>
      </p:sp>
      <p:sp>
        <p:nvSpPr>
          <p:cNvPr id="40" name="Shape 38"/>
          <p:cNvSpPr/>
          <p:nvPr/>
        </p:nvSpPr>
        <p:spPr>
          <a:xfrm>
            <a:off x="7094830" y="1607779"/>
            <a:ext cx="153721" cy="1715559"/>
          </a:xfrm>
          <a:prstGeom prst="rect">
            <a:avLst/>
          </a:prstGeom>
          <a:solidFill>
            <a:srgbClr val="C08D7C"/>
          </a:solidFill>
          <a:ln w="12700">
            <a:solidFill>
              <a:srgbClr val="C08D7C"/>
            </a:solidFill>
            <a:prstDash val="solid"/>
          </a:ln>
        </p:spPr>
      </p:sp>
      <p:sp>
        <p:nvSpPr>
          <p:cNvPr id="41" name="Text 39"/>
          <p:cNvSpPr/>
          <p:nvPr/>
        </p:nvSpPr>
        <p:spPr>
          <a:xfrm>
            <a:off x="686877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M30</a:t>
            </a:r>
            <a:endParaRPr lang="en-US" sz="700" dirty="0"/>
          </a:p>
        </p:txBody>
      </p:sp>
      <p:sp>
        <p:nvSpPr>
          <p:cNvPr id="42" name="Shape 40"/>
          <p:cNvSpPr/>
          <p:nvPr/>
        </p:nvSpPr>
        <p:spPr>
          <a:xfrm>
            <a:off x="7320890" y="1590274"/>
            <a:ext cx="153721" cy="1733065"/>
          </a:xfrm>
          <a:prstGeom prst="rect">
            <a:avLst/>
          </a:prstGeom>
          <a:solidFill>
            <a:srgbClr val="C08D7C"/>
          </a:solidFill>
          <a:ln w="12700">
            <a:solidFill>
              <a:srgbClr val="C08D7C"/>
            </a:solidFill>
            <a:prstDash val="solid"/>
          </a:ln>
        </p:spPr>
      </p:sp>
      <p:sp>
        <p:nvSpPr>
          <p:cNvPr id="43" name="Shape 41"/>
          <p:cNvSpPr/>
          <p:nvPr/>
        </p:nvSpPr>
        <p:spPr>
          <a:xfrm>
            <a:off x="7546950" y="1572768"/>
            <a:ext cx="153721" cy="1750570"/>
          </a:xfrm>
          <a:prstGeom prst="rect">
            <a:avLst/>
          </a:prstGeom>
          <a:solidFill>
            <a:srgbClr val="C08D7C"/>
          </a:solidFill>
          <a:ln w="12700">
            <a:solidFill>
              <a:srgbClr val="C08D7C"/>
            </a:solidFill>
            <a:prstDash val="solid"/>
          </a:ln>
        </p:spPr>
      </p:sp>
      <p:sp>
        <p:nvSpPr>
          <p:cNvPr id="44" name="Shape 42"/>
          <p:cNvSpPr/>
          <p:nvPr/>
        </p:nvSpPr>
        <p:spPr>
          <a:xfrm>
            <a:off x="7773010" y="1572768"/>
            <a:ext cx="153721" cy="1750570"/>
          </a:xfrm>
          <a:prstGeom prst="rect">
            <a:avLst/>
          </a:prstGeom>
          <a:solidFill>
            <a:srgbClr val="C08D7C"/>
          </a:solidFill>
          <a:ln w="12700">
            <a:solidFill>
              <a:srgbClr val="C08D7C"/>
            </a:solidFill>
            <a:prstDash val="solid"/>
          </a:ln>
        </p:spPr>
      </p:sp>
      <p:sp>
        <p:nvSpPr>
          <p:cNvPr id="45" name="Shape 43"/>
          <p:cNvSpPr/>
          <p:nvPr/>
        </p:nvSpPr>
        <p:spPr>
          <a:xfrm>
            <a:off x="7999070" y="1572768"/>
            <a:ext cx="153721" cy="1750570"/>
          </a:xfrm>
          <a:prstGeom prst="rect">
            <a:avLst/>
          </a:prstGeom>
          <a:solidFill>
            <a:srgbClr val="C08D7C"/>
          </a:solidFill>
          <a:ln w="12700">
            <a:solidFill>
              <a:srgbClr val="C08D7C"/>
            </a:solidFill>
            <a:prstDash val="solid"/>
          </a:ln>
        </p:spPr>
      </p:sp>
      <p:sp>
        <p:nvSpPr>
          <p:cNvPr id="46" name="Shape 44"/>
          <p:cNvSpPr/>
          <p:nvPr/>
        </p:nvSpPr>
        <p:spPr>
          <a:xfrm>
            <a:off x="8225130" y="1572768"/>
            <a:ext cx="153721" cy="1750570"/>
          </a:xfrm>
          <a:prstGeom prst="rect">
            <a:avLst/>
          </a:prstGeom>
          <a:solidFill>
            <a:srgbClr val="C08D7C"/>
          </a:solidFill>
          <a:ln w="12700">
            <a:solidFill>
              <a:srgbClr val="C08D7C"/>
            </a:solidFill>
            <a:prstDash val="solid"/>
          </a:ln>
        </p:spPr>
      </p:sp>
      <p:sp>
        <p:nvSpPr>
          <p:cNvPr id="47" name="Shape 45"/>
          <p:cNvSpPr/>
          <p:nvPr/>
        </p:nvSpPr>
        <p:spPr>
          <a:xfrm>
            <a:off x="8451190" y="1572768"/>
            <a:ext cx="153721" cy="1750570"/>
          </a:xfrm>
          <a:prstGeom prst="rect">
            <a:avLst/>
          </a:prstGeom>
          <a:solidFill>
            <a:srgbClr val="C08D7C"/>
          </a:solidFill>
          <a:ln w="12700">
            <a:solidFill>
              <a:srgbClr val="C08D7C"/>
            </a:solidFill>
            <a:prstDash val="solid"/>
          </a:ln>
        </p:spPr>
      </p:sp>
      <p:sp>
        <p:nvSpPr>
          <p:cNvPr id="48" name="Text 46"/>
          <p:cNvSpPr/>
          <p:nvPr/>
        </p:nvSpPr>
        <p:spPr>
          <a:xfrm>
            <a:off x="82251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M36</a:t>
            </a:r>
            <a:endParaRPr lang="en-US" sz="700" dirty="0"/>
          </a:p>
        </p:txBody>
      </p:sp>
      <p:sp>
        <p:nvSpPr>
          <p:cNvPr id="49" name="Text 47"/>
          <p:cNvSpPr/>
          <p:nvPr/>
        </p:nvSpPr>
        <p:spPr>
          <a:xfrm>
            <a:off x="576072" y="1618488"/>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$224,801 / mo</a:t>
            </a:r>
            <a:endParaRPr lang="en-US" sz="700" dirty="0"/>
          </a:p>
        </p:txBody>
      </p:sp>
      <p:sp>
        <p:nvSpPr>
          <p:cNvPr id="50" name="Text 48"/>
          <p:cNvSpPr/>
          <p:nvPr/>
        </p:nvSpPr>
        <p:spPr>
          <a:xfrm>
            <a:off x="576072" y="3749040"/>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$-80,500 / mo</a:t>
            </a:r>
            <a:endParaRPr lang="en-US" sz="700" dirty="0"/>
          </a:p>
        </p:txBody>
      </p:sp>
      <p:sp>
        <p:nvSpPr>
          <p:cNvPr id="51" name="Text 49"/>
          <p:cNvSpPr/>
          <p:nvPr/>
        </p:nvSpPr>
        <p:spPr>
          <a:xfrm>
            <a:off x="502920" y="4206240"/>
            <a:ext cx="8138160" cy="365760"/>
          </a:xfrm>
          <a:prstGeom prst="rect">
            <a:avLst/>
          </a:prstGeom>
          <a:noFill/>
          <a:ln/>
        </p:spPr>
        <p:txBody>
          <a:bodyPr wrap="square" rtlCol="0" anchor="ctr"/>
          <a:lstStyle/>
          <a:p>
            <a:pPr indent="0" marL="0">
              <a:buNone/>
            </a:pPr>
            <a:r>
              <a:rPr lang="en-US" sz="950" dirty="0">
                <a:solidFill>
                  <a:srgbClr val="A8A296"/>
                </a:solidFill>
                <a:latin typeface="Calibri" pitchFamily="34" charset="0"/>
                <a:ea typeface="Calibri" pitchFamily="34" charset="-122"/>
                <a:cs typeface="Calibri" pitchFamily="34" charset="-120"/>
              </a:rPr>
              <a:t>Cash trough -$42,467 at month 9, against a $1,105,800 working capital reserve funded inside use of funds.</a:t>
            </a:r>
            <a:endParaRPr lang="en-US" sz="950" dirty="0"/>
          </a:p>
        </p:txBody>
      </p:sp>
      <p:sp>
        <p:nvSpPr>
          <p:cNvPr id="52" name="Text 5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53" name="Text 5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STABILIZED P&amp;L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Monthly, at stabilization. Projected.</a:t>
            </a:r>
            <a:endParaRPr lang="en-US" sz="2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8138160" cy="914400"/>
        </p:xfrm>
        <a:graphic>
          <a:graphicData uri="http://schemas.openxmlformats.org/drawingml/2006/table">
            <a:tbl>
              <a:tblPr/>
              <a:tblGrid>
                <a:gridCol w="4480560"/>
                <a:gridCol w="1828800"/>
                <a:gridCol w="182880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Line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 of revenue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Total revenue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$598,036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Cost of services delivered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-$146,803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Circuit consumables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-$18,760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Net after COGS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$432,473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72%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Rent (4,925 SF NNN)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-$27,088</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Clinical and club staff</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-$85,920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Admin and management</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Marketing and member acquisition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Malpractice and liability</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-$12,000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Equipment leases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-$16,555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Utilities, software, member platform</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Licensing and compliance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Total fixed overhead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-$207,673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OPERATING INCOME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$224,801</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38%</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How wrong can we afford to be?</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Volume flexed against the base case with fixed overhead held constant, which is the conservative treatment.</a:t>
            </a:r>
            <a:endParaRPr lang="en-US" sz="1150" dirty="0"/>
          </a:p>
        </p:txBody>
      </p:sp>
      <p:sp>
        <p:nvSpPr>
          <p:cNvPr id="5" name="Shape 3"/>
          <p:cNvSpPr/>
          <p:nvPr/>
        </p:nvSpPr>
        <p:spPr>
          <a:xfrm>
            <a:off x="502920" y="1691640"/>
            <a:ext cx="2602992" cy="2468880"/>
          </a:xfrm>
          <a:prstGeom prst="roundRect">
            <a:avLst>
              <a:gd name="adj" fmla="val 2222"/>
            </a:avLst>
          </a:prstGeom>
          <a:solidFill>
            <a:srgbClr val="16241C"/>
          </a:solidFill>
          <a:ln w="12700">
            <a:solidFill>
              <a:srgbClr val="2E4237"/>
            </a:solidFill>
            <a:prstDash val="solid"/>
          </a:ln>
        </p:spPr>
      </p:sp>
      <p:sp>
        <p:nvSpPr>
          <p:cNvPr id="6" name="Text 4"/>
          <p:cNvSpPr/>
          <p:nvPr/>
        </p:nvSpPr>
        <p:spPr>
          <a:xfrm>
            <a:off x="649224"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LOW</a:t>
            </a:r>
            <a:endParaRPr lang="en-US" sz="850" dirty="0"/>
          </a:p>
        </p:txBody>
      </p:sp>
      <p:sp>
        <p:nvSpPr>
          <p:cNvPr id="7" name="Text 5"/>
          <p:cNvSpPr/>
          <p:nvPr/>
        </p:nvSpPr>
        <p:spPr>
          <a:xfrm>
            <a:off x="649224"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$1.24M / yr</a:t>
            </a:r>
            <a:endParaRPr lang="en-US" sz="1800" dirty="0"/>
          </a:p>
        </p:txBody>
      </p:sp>
      <p:sp>
        <p:nvSpPr>
          <p:cNvPr id="8" name="Text 6"/>
          <p:cNvSpPr/>
          <p:nvPr/>
        </p:nvSpPr>
        <p:spPr>
          <a:xfrm>
            <a:off x="649224"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Slow member ramp, 72% of base volume</a:t>
            </a:r>
            <a:endParaRPr lang="en-US" sz="850" dirty="0"/>
          </a:p>
        </p:txBody>
      </p:sp>
      <p:sp>
        <p:nvSpPr>
          <p:cNvPr id="9" name="Text 7"/>
          <p:cNvSpPr/>
          <p:nvPr/>
        </p:nvSpPr>
        <p:spPr>
          <a:xfrm>
            <a:off x="649224"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10" name="Text 8"/>
          <p:cNvSpPr/>
          <p:nvPr/>
        </p:nvSpPr>
        <p:spPr>
          <a:xfrm>
            <a:off x="1804416"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$430,586</a:t>
            </a:r>
            <a:endParaRPr lang="en-US" sz="900" dirty="0"/>
          </a:p>
        </p:txBody>
      </p:sp>
      <p:sp>
        <p:nvSpPr>
          <p:cNvPr id="11" name="Text 9"/>
          <p:cNvSpPr/>
          <p:nvPr/>
        </p:nvSpPr>
        <p:spPr>
          <a:xfrm>
            <a:off x="649224"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12" name="Text 10"/>
          <p:cNvSpPr/>
          <p:nvPr/>
        </p:nvSpPr>
        <p:spPr>
          <a:xfrm>
            <a:off x="1804416"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$311,381</a:t>
            </a:r>
            <a:endParaRPr lang="en-US" sz="900" dirty="0"/>
          </a:p>
        </p:txBody>
      </p:sp>
      <p:sp>
        <p:nvSpPr>
          <p:cNvPr id="13" name="Text 11"/>
          <p:cNvSpPr/>
          <p:nvPr/>
        </p:nvSpPr>
        <p:spPr>
          <a:xfrm>
            <a:off x="649224"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14" name="Text 12"/>
          <p:cNvSpPr/>
          <p:nvPr/>
        </p:nvSpPr>
        <p:spPr>
          <a:xfrm>
            <a:off x="1804416"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$103,708</a:t>
            </a:r>
            <a:endParaRPr lang="en-US" sz="900" dirty="0"/>
          </a:p>
        </p:txBody>
      </p:sp>
      <p:sp>
        <p:nvSpPr>
          <p:cNvPr id="15" name="Text 13"/>
          <p:cNvSpPr/>
          <p:nvPr/>
        </p:nvSpPr>
        <p:spPr>
          <a:xfrm>
            <a:off x="649224"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Yield on equity</a:t>
            </a:r>
            <a:endParaRPr lang="en-US" sz="900" dirty="0"/>
          </a:p>
        </p:txBody>
      </p:sp>
      <p:sp>
        <p:nvSpPr>
          <p:cNvPr id="16" name="Text 14"/>
          <p:cNvSpPr/>
          <p:nvPr/>
        </p:nvSpPr>
        <p:spPr>
          <a:xfrm>
            <a:off x="1804416"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26.2%</a:t>
            </a:r>
            <a:endParaRPr lang="en-US" sz="900" dirty="0"/>
          </a:p>
        </p:txBody>
      </p:sp>
      <p:sp>
        <p:nvSpPr>
          <p:cNvPr id="17" name="Shape 15"/>
          <p:cNvSpPr/>
          <p:nvPr/>
        </p:nvSpPr>
        <p:spPr>
          <a:xfrm>
            <a:off x="3270504" y="1691640"/>
            <a:ext cx="2602992" cy="2468880"/>
          </a:xfrm>
          <a:prstGeom prst="roundRect">
            <a:avLst>
              <a:gd name="adj" fmla="val 2222"/>
            </a:avLst>
          </a:prstGeom>
          <a:solidFill>
            <a:srgbClr val="241C1A"/>
          </a:solidFill>
          <a:ln w="19050">
            <a:solidFill>
              <a:srgbClr val="C08D7C"/>
            </a:solidFill>
            <a:prstDash val="solid"/>
          </a:ln>
        </p:spPr>
      </p:sp>
      <p:sp>
        <p:nvSpPr>
          <p:cNvPr id="18" name="Text 16"/>
          <p:cNvSpPr/>
          <p:nvPr/>
        </p:nvSpPr>
        <p:spPr>
          <a:xfrm>
            <a:off x="3416808" y="1810512"/>
            <a:ext cx="2310384" cy="182880"/>
          </a:xfrm>
          <a:prstGeom prst="rect">
            <a:avLst/>
          </a:prstGeom>
          <a:noFill/>
          <a:ln/>
        </p:spPr>
        <p:txBody>
          <a:bodyPr wrap="square" rtlCol="0" anchor="ctr"/>
          <a:lstStyle/>
          <a:p>
            <a:pPr indent="0" marL="0">
              <a:buNone/>
            </a:pPr>
            <a:r>
              <a:rPr lang="en-US" sz="850" spc="240" kern="0" dirty="0">
                <a:solidFill>
                  <a:srgbClr val="C08D7C"/>
                </a:solidFill>
                <a:latin typeface="Century Gothic" pitchFamily="34" charset="0"/>
                <a:ea typeface="Century Gothic" pitchFamily="34" charset="-122"/>
                <a:cs typeface="Century Gothic" pitchFamily="34" charset="-120"/>
              </a:rPr>
              <a:t>BASE</a:t>
            </a:r>
            <a:endParaRPr lang="en-US" sz="850" dirty="0"/>
          </a:p>
        </p:txBody>
      </p:sp>
      <p:sp>
        <p:nvSpPr>
          <p:cNvPr id="19" name="Text 17"/>
          <p:cNvSpPr/>
          <p:nvPr/>
        </p:nvSpPr>
        <p:spPr>
          <a:xfrm>
            <a:off x="3416808" y="2011680"/>
            <a:ext cx="2310384" cy="365760"/>
          </a:xfrm>
          <a:prstGeom prst="rect">
            <a:avLst/>
          </a:prstGeom>
          <a:noFill/>
          <a:ln/>
        </p:spPr>
        <p:txBody>
          <a:bodyPr wrap="square" rtlCol="0" anchor="ctr"/>
          <a:lstStyle/>
          <a:p>
            <a:pPr indent="0" marL="0">
              <a:buNone/>
            </a:pPr>
            <a:r>
              <a:rPr lang="en-US" sz="1800" dirty="0">
                <a:solidFill>
                  <a:srgbClr val="C08D7C"/>
                </a:solidFill>
                <a:latin typeface="Century Gothic" pitchFamily="34" charset="0"/>
                <a:ea typeface="Century Gothic" pitchFamily="34" charset="-122"/>
                <a:cs typeface="Century Gothic" pitchFamily="34" charset="-120"/>
              </a:rPr>
              <a:t>$2.70M / yr</a:t>
            </a:r>
            <a:endParaRPr lang="en-US" sz="1800" dirty="0"/>
          </a:p>
        </p:txBody>
      </p:sp>
      <p:sp>
        <p:nvSpPr>
          <p:cNvPr id="20" name="Text 18"/>
          <p:cNvSpPr/>
          <p:nvPr/>
        </p:nvSpPr>
        <p:spPr>
          <a:xfrm>
            <a:off x="3416808"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Stated assumptions at stabilization</a:t>
            </a:r>
            <a:endParaRPr lang="en-US" sz="850" dirty="0"/>
          </a:p>
        </p:txBody>
      </p:sp>
      <p:sp>
        <p:nvSpPr>
          <p:cNvPr id="21" name="Text 19"/>
          <p:cNvSpPr/>
          <p:nvPr/>
        </p:nvSpPr>
        <p:spPr>
          <a:xfrm>
            <a:off x="3416808"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22" name="Text 20"/>
          <p:cNvSpPr/>
          <p:nvPr/>
        </p:nvSpPr>
        <p:spPr>
          <a:xfrm>
            <a:off x="4572000"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$598,036</a:t>
            </a:r>
            <a:endParaRPr lang="en-US" sz="900" dirty="0"/>
          </a:p>
        </p:txBody>
      </p:sp>
      <p:sp>
        <p:nvSpPr>
          <p:cNvPr id="23" name="Text 21"/>
          <p:cNvSpPr/>
          <p:nvPr/>
        </p:nvSpPr>
        <p:spPr>
          <a:xfrm>
            <a:off x="3416808"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24" name="Text 22"/>
          <p:cNvSpPr/>
          <p:nvPr/>
        </p:nvSpPr>
        <p:spPr>
          <a:xfrm>
            <a:off x="4572000"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$432,473</a:t>
            </a:r>
            <a:endParaRPr lang="en-US" sz="900" dirty="0"/>
          </a:p>
        </p:txBody>
      </p:sp>
      <p:sp>
        <p:nvSpPr>
          <p:cNvPr id="25" name="Text 23"/>
          <p:cNvSpPr/>
          <p:nvPr/>
        </p:nvSpPr>
        <p:spPr>
          <a:xfrm>
            <a:off x="3416808"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26" name="Text 24"/>
          <p:cNvSpPr/>
          <p:nvPr/>
        </p:nvSpPr>
        <p:spPr>
          <a:xfrm>
            <a:off x="4572000"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$224,801</a:t>
            </a:r>
            <a:endParaRPr lang="en-US" sz="900" dirty="0"/>
          </a:p>
        </p:txBody>
      </p:sp>
      <p:sp>
        <p:nvSpPr>
          <p:cNvPr id="27" name="Text 25"/>
          <p:cNvSpPr/>
          <p:nvPr/>
        </p:nvSpPr>
        <p:spPr>
          <a:xfrm>
            <a:off x="3416808"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Yield on equity</a:t>
            </a:r>
            <a:endParaRPr lang="en-US" sz="900" dirty="0"/>
          </a:p>
        </p:txBody>
      </p:sp>
      <p:sp>
        <p:nvSpPr>
          <p:cNvPr id="28" name="Text 26"/>
          <p:cNvSpPr/>
          <p:nvPr/>
        </p:nvSpPr>
        <p:spPr>
          <a:xfrm>
            <a:off x="4572000"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56.8%</a:t>
            </a:r>
            <a:endParaRPr lang="en-US" sz="900" dirty="0"/>
          </a:p>
        </p:txBody>
      </p:sp>
      <p:sp>
        <p:nvSpPr>
          <p:cNvPr id="29" name="Shape 27"/>
          <p:cNvSpPr/>
          <p:nvPr/>
        </p:nvSpPr>
        <p:spPr>
          <a:xfrm>
            <a:off x="6038088" y="1691640"/>
            <a:ext cx="2602992" cy="2468880"/>
          </a:xfrm>
          <a:prstGeom prst="roundRect">
            <a:avLst>
              <a:gd name="adj" fmla="val 2222"/>
            </a:avLst>
          </a:prstGeom>
          <a:solidFill>
            <a:srgbClr val="16241C"/>
          </a:solidFill>
          <a:ln w="12700">
            <a:solidFill>
              <a:srgbClr val="2E4237"/>
            </a:solidFill>
            <a:prstDash val="solid"/>
          </a:ln>
        </p:spPr>
      </p:sp>
      <p:sp>
        <p:nvSpPr>
          <p:cNvPr id="30" name="Text 28"/>
          <p:cNvSpPr/>
          <p:nvPr/>
        </p:nvSpPr>
        <p:spPr>
          <a:xfrm>
            <a:off x="6184392"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UPSIDE</a:t>
            </a:r>
            <a:endParaRPr lang="en-US" sz="850" dirty="0"/>
          </a:p>
        </p:txBody>
      </p:sp>
      <p:sp>
        <p:nvSpPr>
          <p:cNvPr id="31" name="Text 29"/>
          <p:cNvSpPr/>
          <p:nvPr/>
        </p:nvSpPr>
        <p:spPr>
          <a:xfrm>
            <a:off x="6184392"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$4.15M / yr</a:t>
            </a:r>
            <a:endParaRPr lang="en-US" sz="1800" dirty="0"/>
          </a:p>
        </p:txBody>
      </p:sp>
      <p:sp>
        <p:nvSpPr>
          <p:cNvPr id="32" name="Text 30"/>
          <p:cNvSpPr/>
          <p:nvPr/>
        </p:nvSpPr>
        <p:spPr>
          <a:xfrm>
            <a:off x="6184392"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Waitlist demand, 128% of base volume</a:t>
            </a:r>
            <a:endParaRPr lang="en-US" sz="850" dirty="0"/>
          </a:p>
        </p:txBody>
      </p:sp>
      <p:sp>
        <p:nvSpPr>
          <p:cNvPr id="33" name="Text 31"/>
          <p:cNvSpPr/>
          <p:nvPr/>
        </p:nvSpPr>
        <p:spPr>
          <a:xfrm>
            <a:off x="6184392"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34" name="Text 32"/>
          <p:cNvSpPr/>
          <p:nvPr/>
        </p:nvSpPr>
        <p:spPr>
          <a:xfrm>
            <a:off x="7339584"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$765,486</a:t>
            </a:r>
            <a:endParaRPr lang="en-US" sz="900" dirty="0"/>
          </a:p>
        </p:txBody>
      </p:sp>
      <p:sp>
        <p:nvSpPr>
          <p:cNvPr id="35" name="Text 33"/>
          <p:cNvSpPr/>
          <p:nvPr/>
        </p:nvSpPr>
        <p:spPr>
          <a:xfrm>
            <a:off x="6184392"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36" name="Text 34"/>
          <p:cNvSpPr/>
          <p:nvPr/>
        </p:nvSpPr>
        <p:spPr>
          <a:xfrm>
            <a:off x="7339584"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$553,566</a:t>
            </a:r>
            <a:endParaRPr lang="en-US" sz="900" dirty="0"/>
          </a:p>
        </p:txBody>
      </p:sp>
      <p:sp>
        <p:nvSpPr>
          <p:cNvPr id="37" name="Text 35"/>
          <p:cNvSpPr/>
          <p:nvPr/>
        </p:nvSpPr>
        <p:spPr>
          <a:xfrm>
            <a:off x="6184392"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38" name="Text 36"/>
          <p:cNvSpPr/>
          <p:nvPr/>
        </p:nvSpPr>
        <p:spPr>
          <a:xfrm>
            <a:off x="7339584"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$345,893</a:t>
            </a:r>
            <a:endParaRPr lang="en-US" sz="900" dirty="0"/>
          </a:p>
        </p:txBody>
      </p:sp>
      <p:sp>
        <p:nvSpPr>
          <p:cNvPr id="39" name="Text 37"/>
          <p:cNvSpPr/>
          <p:nvPr/>
        </p:nvSpPr>
        <p:spPr>
          <a:xfrm>
            <a:off x="6184392"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Yield on equity</a:t>
            </a:r>
            <a:endParaRPr lang="en-US" sz="900" dirty="0"/>
          </a:p>
        </p:txBody>
      </p:sp>
      <p:sp>
        <p:nvSpPr>
          <p:cNvPr id="40" name="Text 38"/>
          <p:cNvSpPr/>
          <p:nvPr/>
        </p:nvSpPr>
        <p:spPr>
          <a:xfrm>
            <a:off x="7339584"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87.4%</a:t>
            </a:r>
            <a:endParaRPr lang="en-US" sz="900" dirty="0"/>
          </a:p>
        </p:txBody>
      </p:sp>
      <p:sp>
        <p:nvSpPr>
          <p:cNvPr id="41" name="Text 3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42" name="Text 4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ASK</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$4.75M for 30%, ratcheted.</a:t>
            </a:r>
            <a:endParaRPr lang="en-US" sz="2600" dirty="0"/>
          </a:p>
        </p:txBody>
      </p:sp>
      <p:sp>
        <p:nvSpPr>
          <p:cNvPr id="4" name="Shape 2"/>
          <p:cNvSpPr/>
          <p:nvPr/>
        </p:nvSpPr>
        <p:spPr>
          <a:xfrm>
            <a:off x="502920" y="1417320"/>
            <a:ext cx="8138160" cy="2423160"/>
          </a:xfrm>
          <a:prstGeom prst="roundRect">
            <a:avLst>
              <a:gd name="adj" fmla="val 2264"/>
            </a:avLst>
          </a:prstGeom>
          <a:solidFill>
            <a:srgbClr val="241C1A"/>
          </a:solidFill>
          <a:ln w="15875">
            <a:solidFill>
              <a:srgbClr val="C08D7C"/>
            </a:solidFill>
            <a:prstDash val="solid"/>
          </a:ln>
        </p:spPr>
      </p:sp>
      <p:sp>
        <p:nvSpPr>
          <p:cNvPr id="5" name="Text 3"/>
          <p:cNvSpPr/>
          <p:nvPr/>
        </p:nvSpPr>
        <p:spPr>
          <a:xfrm>
            <a:off x="777240" y="1600200"/>
            <a:ext cx="7589520" cy="914400"/>
          </a:xfrm>
          <a:prstGeom prst="rect">
            <a:avLst/>
          </a:prstGeom>
          <a:noFill/>
          <a:ln/>
        </p:spPr>
        <p:txBody>
          <a:bodyPr wrap="square" rtlCol="0" anchor="ctr"/>
          <a:lstStyle/>
          <a:p>
            <a:pPr indent="0" marL="0">
              <a:buNone/>
            </a:pPr>
            <a:r>
              <a:rPr lang="en-US" sz="5200" dirty="0">
                <a:solidFill>
                  <a:srgbClr val="C08D7C"/>
                </a:solidFill>
                <a:latin typeface="Century Gothic" pitchFamily="34" charset="0"/>
                <a:ea typeface="Century Gothic" pitchFamily="34" charset="-122"/>
                <a:cs typeface="Century Gothic" pitchFamily="34" charset="-120"/>
              </a:rPr>
              <a:t>$4.75M</a:t>
            </a:r>
            <a:endParaRPr lang="en-US" sz="5200" dirty="0"/>
          </a:p>
        </p:txBody>
      </p:sp>
      <p:sp>
        <p:nvSpPr>
          <p:cNvPr id="6" name="Text 4"/>
          <p:cNvSpPr/>
          <p:nvPr/>
        </p:nvSpPr>
        <p:spPr>
          <a:xfrm>
            <a:off x="795528" y="2578608"/>
            <a:ext cx="7552944" cy="320040"/>
          </a:xfrm>
          <a:prstGeom prst="rect">
            <a:avLst/>
          </a:prstGeom>
          <a:noFill/>
          <a:ln/>
        </p:spPr>
        <p:txBody>
          <a:bodyPr wrap="square" rtlCol="0" anchor="ctr"/>
          <a:lstStyle/>
          <a:p>
            <a:pPr indent="0" marL="0">
              <a:buNone/>
            </a:pPr>
            <a:r>
              <a:rPr lang="en-US" sz="1150" dirty="0">
                <a:solidFill>
                  <a:srgbClr val="A8A296"/>
                </a:solidFill>
                <a:latin typeface="Calibri" pitchFamily="34" charset="0"/>
                <a:ea typeface="Calibri" pitchFamily="34" charset="-122"/>
                <a:cs typeface="Calibri" pitchFamily="34" charset="-120"/>
              </a:rPr>
              <a:t>Full contrast suite, owned equipment, the facility the brand deserves.</a:t>
            </a:r>
            <a:endParaRPr lang="en-US" sz="1150" dirty="0"/>
          </a:p>
        </p:txBody>
      </p:sp>
      <p:sp>
        <p:nvSpPr>
          <p:cNvPr id="7" name="Text 5"/>
          <p:cNvSpPr/>
          <p:nvPr/>
        </p:nvSpPr>
        <p:spPr>
          <a:xfrm>
            <a:off x="795528"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TOTAL RAISE</a:t>
            </a:r>
            <a:endParaRPr lang="en-US" sz="700" dirty="0"/>
          </a:p>
        </p:txBody>
      </p:sp>
      <p:sp>
        <p:nvSpPr>
          <p:cNvPr id="8" name="Text 6"/>
          <p:cNvSpPr/>
          <p:nvPr/>
        </p:nvSpPr>
        <p:spPr>
          <a:xfrm>
            <a:off x="795528"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$4,750,000</a:t>
            </a:r>
            <a:endParaRPr lang="en-US" sz="1400" dirty="0"/>
          </a:p>
        </p:txBody>
      </p:sp>
      <p:sp>
        <p:nvSpPr>
          <p:cNvPr id="9" name="Text 7"/>
          <p:cNvSpPr/>
          <p:nvPr/>
        </p:nvSpPr>
        <p:spPr>
          <a:xfrm>
            <a:off x="2683764"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STARTING STAKE</a:t>
            </a:r>
            <a:endParaRPr lang="en-US" sz="700" dirty="0"/>
          </a:p>
        </p:txBody>
      </p:sp>
      <p:sp>
        <p:nvSpPr>
          <p:cNvPr id="10" name="Text 8"/>
          <p:cNvSpPr/>
          <p:nvPr/>
        </p:nvSpPr>
        <p:spPr>
          <a:xfrm>
            <a:off x="2683764"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30%</a:t>
            </a:r>
            <a:endParaRPr lang="en-US" sz="1400" dirty="0"/>
          </a:p>
        </p:txBody>
      </p:sp>
      <p:sp>
        <p:nvSpPr>
          <p:cNvPr id="11" name="Text 9"/>
          <p:cNvSpPr/>
          <p:nvPr/>
        </p:nvSpPr>
        <p:spPr>
          <a:xfrm>
            <a:off x="4572000"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PRE-MONEY</a:t>
            </a:r>
            <a:endParaRPr lang="en-US" sz="700" dirty="0"/>
          </a:p>
        </p:txBody>
      </p:sp>
      <p:sp>
        <p:nvSpPr>
          <p:cNvPr id="12" name="Text 10"/>
          <p:cNvSpPr/>
          <p:nvPr/>
        </p:nvSpPr>
        <p:spPr>
          <a:xfrm>
            <a:off x="4572000"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$11,083,333</a:t>
            </a:r>
            <a:endParaRPr lang="en-US" sz="1400" dirty="0"/>
          </a:p>
        </p:txBody>
      </p:sp>
      <p:sp>
        <p:nvSpPr>
          <p:cNvPr id="13" name="Text 11"/>
          <p:cNvSpPr/>
          <p:nvPr/>
        </p:nvSpPr>
        <p:spPr>
          <a:xfrm>
            <a:off x="6460236"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POST-MONEY</a:t>
            </a:r>
            <a:endParaRPr lang="en-US" sz="700" dirty="0"/>
          </a:p>
        </p:txBody>
      </p:sp>
      <p:sp>
        <p:nvSpPr>
          <p:cNvPr id="14" name="Text 12"/>
          <p:cNvSpPr/>
          <p:nvPr/>
        </p:nvSpPr>
        <p:spPr>
          <a:xfrm>
            <a:off x="6460236"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$15,833,333</a:t>
            </a:r>
            <a:endParaRPr lang="en-US" sz="1400" dirty="0"/>
          </a:p>
        </p:txBody>
      </p:sp>
      <p:sp>
        <p:nvSpPr>
          <p:cNvPr id="15" name="Text 13"/>
          <p:cNvSpPr/>
          <p:nvPr/>
        </p:nvSpPr>
        <p:spPr>
          <a:xfrm>
            <a:off x="502920" y="4041648"/>
            <a:ext cx="8138160" cy="411480"/>
          </a:xfrm>
          <a:prstGeom prst="rect">
            <a:avLst/>
          </a:prstGeom>
          <a:noFill/>
          <a:ln/>
        </p:spPr>
        <p:txBody>
          <a:bodyPr wrap="square" rtlCol="0" anchor="ctr"/>
          <a:lstStyle/>
          <a:p>
            <a:pPr indent="0" marL="0">
              <a:lnSpc>
                <a:spcPct val="115000"/>
              </a:lnSpc>
              <a:buNone/>
            </a:pPr>
            <a:r>
              <a:rPr lang="en-US" sz="900" dirty="0">
                <a:solidFill>
                  <a:srgbClr val="6E6A62"/>
                </a:solidFill>
                <a:latin typeface="Calibri" pitchFamily="34" charset="0"/>
                <a:ea typeface="Calibri" pitchFamily="34" charset="-122"/>
                <a:cs typeface="Calibri" pitchFamily="34" charset="-120"/>
              </a:rPr>
              <a:t>The whole project is funded with equity, so no lender sits ahead of the investor. The stake starts at 30% and ratchets toward 40% if trailing operating income at stabilization comes in under $2.2M, which is set out overleaf. At base case the round prices at 5.87x operating income, inside the published range for a single location under a strong operator. Indicative terms, subject to definitive documents.</a:t>
            </a:r>
            <a:endParaRPr lang="en-US" sz="9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Where the $4.75M goes.</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working capital reserve is sized against the modeled cash trough of $42,467 at month 9, not to a round number.</a:t>
            </a:r>
            <a:endParaRPr lang="en-US" sz="11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4937760"/>
                <a:gridCol w="1600200"/>
                <a:gridCol w="1600200"/>
              </a:tblGrid>
              <a:tr h="18288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Use of funds</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Amount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 of project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Buildout and tenant improvements (4,925 SF @ $250/SF)</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$1,231,250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Wet areas: 2 saunas, 2 plunges, steam, drainage, ventilation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$465,000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and aesthetic equipment (purchased)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$780,000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 technology: HBOT purchased, Ammortal deposit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$165,950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GE iDXA bone densitometer, purchased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FF&amp;E, lounge, millwork, retail</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$430,000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Pre-opening: licensing, legal, insurance, hiring</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$310,000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Brand, launch, founding member campaign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$237,000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Working capital reserve</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$1,105,800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23%</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 project cost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$4,750,000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STRUCTURE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Aligned Downside Protection</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stake is priced against delivery. If the business underperforms, the investor owns more of it.</a:t>
            </a:r>
            <a:endParaRPr lang="en-US" sz="1150" dirty="0"/>
          </a:p>
        </p:txBody>
      </p:sp>
      <p:sp>
        <p:nvSpPr>
          <p:cNvPr id="5" name="Text 3"/>
          <p:cNvSpPr/>
          <p:nvPr/>
        </p:nvSpPr>
        <p:spPr>
          <a:xfrm>
            <a:off x="502920" y="1783080"/>
            <a:ext cx="8138160" cy="1051560"/>
          </a:xfrm>
          <a:prstGeom prst="rect">
            <a:avLst/>
          </a:prstGeom>
          <a:noFill/>
          <a:ln/>
        </p:spPr>
        <p:txBody>
          <a:bodyPr wrap="square" rtlCol="0" anchor="ctr"/>
          <a:lstStyle/>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Investors start at 30%, priced against base-case stabilized operating income of $2.70M a year.</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If trailing twelve-month operating income at stabilization lands below $2,200,000, ownership steps up on a straight line toward a hard cap of 40%, reached at the low case of $1,244,500.</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At or above base case the investor stays at 30% and the founder keeps the upside. The ratchet only moves one way.</a:t>
            </a:r>
            <a:endParaRPr lang="en-US" sz="10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2971800"/>
          <a:ext cx="8138160" cy="914400"/>
        </p:xfrm>
        <a:graphic>
          <a:graphicData uri="http://schemas.openxmlformats.org/drawingml/2006/table">
            <a:tbl>
              <a:tblPr/>
              <a:tblGrid>
                <a:gridCol w="1371600"/>
                <a:gridCol w="1828800"/>
                <a:gridCol w="1645920"/>
                <a:gridCol w="1645920"/>
                <a:gridCol w="164592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Scenario</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 income /yr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Investor ownership</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Investor cash /yr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Founder retained /yr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Low case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$1,244,500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40%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$497,800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$746,700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Base case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$2,697,611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$809,283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$1,888,328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Upside case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$4,150,722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$1,245,217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$2,905,505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7" name="Text 4"/>
          <p:cNvSpPr/>
          <p:nvPr/>
        </p:nvSpPr>
        <p:spPr>
          <a:xfrm>
            <a:off x="502920" y="4069080"/>
            <a:ext cx="8138160" cy="566928"/>
          </a:xfrm>
          <a:prstGeom prst="rect">
            <a:avLst/>
          </a:prstGeom>
          <a:noFill/>
          <a:ln/>
        </p:spPr>
        <p:txBody>
          <a:bodyPr wrap="square" rtlCol="0" anchor="t"/>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In valuation terms the ratchet is exactly a halving of the pre-money, $11,083,333 to $7,125,000. It cushions the downside without making the investor whole: at the low case 40% of $1.24M is $497,800, still below the $809,283 that 30% of base case pays. Indicative terms, subject to definitive documents.</a:t>
            </a:r>
            <a:endParaRPr lang="en-US" sz="850" dirty="0"/>
          </a:p>
        </p:txBody>
      </p:sp>
      <p:sp>
        <p:nvSpPr>
          <p:cNvPr id="8"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9"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CAPITAL AND RETURNS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Funded entirely with equity.</a:t>
            </a:r>
            <a:endParaRPr lang="en-US" sz="2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4023360" cy="914400"/>
        </p:xfrm>
        <a:graphic>
          <a:graphicData uri="http://schemas.openxmlformats.org/drawingml/2006/table">
            <a:tbl>
              <a:tblPr/>
              <a:tblGrid>
                <a:gridCol w="2514600"/>
                <a:gridCol w="1508760"/>
              </a:tblGrid>
              <a:tr h="19202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Capital structure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9202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Total project cost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$4,750,000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9202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Senior debt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None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9202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Starting stake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9202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Pre-money valuation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$11,083,333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9202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Post-money valuation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$15,833,333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9202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Entry multiple, base case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5.87x operating income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9202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Working capital reserve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$1,105,800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9202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Modeled cash trough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$42,467 at month 9</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9202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Equity payback</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month 37, extrapolated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4800600" y="1371600"/>
          <a:ext cx="3840480" cy="914400"/>
        </p:xfrm>
        <a:graphic>
          <a:graphicData uri="http://schemas.openxmlformats.org/drawingml/2006/table">
            <a:tbl>
              <a:tblPr/>
              <a:tblGrid>
                <a:gridCol w="777240"/>
                <a:gridCol w="1234440"/>
                <a:gridCol w="731520"/>
                <a:gridCol w="1097280"/>
              </a:tblGrid>
              <a:tr h="256032">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Case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Investor cash /yr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Yield</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After reserve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56032">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Low</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$497,800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7.9%</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56032">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Base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$809,283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17.0%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56032">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Upside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$1,245,217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26.2%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19.7%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2"/>
          <p:cNvSpPr/>
          <p:nvPr/>
        </p:nvSpPr>
        <p:spPr>
          <a:xfrm>
            <a:off x="4800600" y="2697480"/>
            <a:ext cx="3977640" cy="365760"/>
          </a:xfrm>
          <a:prstGeom prst="rect">
            <a:avLst/>
          </a:prstGeom>
          <a:noFill/>
          <a:ln/>
        </p:spPr>
        <p:txBody>
          <a:bodyPr wrap="square" rtlCol="0" anchor="t"/>
          <a:lstStyle/>
          <a:p>
            <a:pPr indent="0" marL="0">
              <a:lnSpc>
                <a:spcPct val="115000"/>
              </a:lnSpc>
              <a:buNone/>
            </a:pPr>
            <a:r>
              <a:rPr lang="en-US" sz="950" dirty="0">
                <a:solidFill>
                  <a:srgbClr val="EDE6DA"/>
                </a:solidFill>
                <a:latin typeface="Calibri" pitchFamily="34" charset="0"/>
                <a:ea typeface="Calibri" pitchFamily="34" charset="-122"/>
                <a:cs typeface="Calibri" pitchFamily="34" charset="-120"/>
              </a:rPr>
              <a:t>Founder and operator retains 70% at base case, $1,888,328 a year, and 60% if the ratchet reaches its cap.</a:t>
            </a:r>
            <a:endParaRPr lang="en-US" sz="950" dirty="0"/>
          </a:p>
        </p:txBody>
      </p:sp>
      <p:sp>
        <p:nvSpPr>
          <p:cNvPr id="7" name="Text 3"/>
          <p:cNvSpPr/>
          <p:nvPr/>
        </p:nvSpPr>
        <p:spPr>
          <a:xfrm>
            <a:off x="4800600" y="3108960"/>
            <a:ext cx="3977640" cy="685800"/>
          </a:xfrm>
          <a:prstGeom prst="rect">
            <a:avLst/>
          </a:prstGeom>
          <a:noFill/>
          <a:ln/>
        </p:spPr>
        <p:txBody>
          <a:bodyPr wrap="square" rtlCol="0" anchor="t"/>
          <a:lstStyle/>
          <a:p>
            <a:pPr indent="0" marL="0">
              <a:lnSpc>
                <a:spcPct val="115000"/>
              </a:lnSpc>
              <a:buNone/>
            </a:pPr>
            <a:r>
              <a:rPr lang="en-US" sz="800" dirty="0">
                <a:solidFill>
                  <a:srgbClr val="A8A296"/>
                </a:solidFill>
                <a:latin typeface="Calibri" pitchFamily="34" charset="0"/>
                <a:ea typeface="Calibri" pitchFamily="34" charset="-122"/>
                <a:cs typeface="Calibri" pitchFamily="34" charset="-120"/>
              </a:rPr>
              <a:t>Yield is the investor share of operating income against the $4.75M invested, assuming it is distributed in full. After reserve holds back 25% of operating income as retained cash for the second location, which is what the pro-rata page overleaf depends on. Both are before tax and before maintenance capital.</a:t>
            </a:r>
            <a:endParaRPr lang="en-US" sz="800" dirty="0"/>
          </a:p>
        </p:txBody>
      </p:sp>
      <p:sp>
        <p:nvSpPr>
          <p:cNvPr id="8" name="Text 4"/>
          <p:cNvSpPr/>
          <p:nvPr/>
        </p:nvSpPr>
        <p:spPr>
          <a:xfrm>
            <a:off x="502920" y="3931920"/>
            <a:ext cx="8138160" cy="658368"/>
          </a:xfrm>
          <a:prstGeom prst="rect">
            <a:avLst/>
          </a:prstGeom>
          <a:noFill/>
          <a:ln/>
        </p:spPr>
        <p:txBody>
          <a:bodyPr wrap="square" rtlCol="0" anchor="t"/>
          <a:lstStyle/>
          <a:p>
            <a:pPr indent="0" marL="0">
              <a:lnSpc>
                <a:spcPct val="120000"/>
              </a:lnSpc>
              <a:buNone/>
            </a:pPr>
            <a:r>
              <a:rPr lang="en-US" sz="800" dirty="0">
                <a:solidFill>
                  <a:srgbClr val="6E6A62"/>
                </a:solidFill>
                <a:latin typeface="Calibri" pitchFamily="34" charset="0"/>
                <a:ea typeface="Calibri" pitchFamily="34" charset="-122"/>
                <a:cs typeface="Calibri" pitchFamily="34" charset="-120"/>
              </a:rPr>
              <a:t>Cumulative cash across the modelled 36 months is $4,589,439, including the $540,000 of founding-member prepayments collected during construction. No internal rate of return is projected here: the paths by which an investor realises value, and the published multiples the strategic case rests on, are set out two pages on. Every figure on this page is indicative and subject to definitive documents.</a:t>
            </a:r>
            <a:endParaRPr lang="en-US" sz="800" dirty="0"/>
          </a:p>
        </p:txBody>
      </p:sp>
      <p:sp>
        <p:nvSpPr>
          <p:cNvPr id="9"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10"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21</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FOLLOW-ON RIGHTS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Investing Beyond Location One</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Playa Vista is the first building, and the terms treat it that way.</a:t>
            </a:r>
            <a:endParaRPr lang="en-US" sz="1150" dirty="0"/>
          </a:p>
        </p:txBody>
      </p:sp>
      <p:sp>
        <p:nvSpPr>
          <p:cNvPr id="5" name="Text 3"/>
          <p:cNvSpPr/>
          <p:nvPr/>
        </p:nvSpPr>
        <p:spPr>
          <a:xfrm>
            <a:off x="502920" y="1783080"/>
            <a:ext cx="8138160" cy="2286000"/>
          </a:xfrm>
          <a:prstGeom prst="rect">
            <a:avLst/>
          </a:prstGeom>
          <a:noFill/>
          <a:ln/>
        </p:spPr>
        <p:txBody>
          <a:bodyPr wrap="square" rtlCol="0" anchor="ctr"/>
          <a:lstStyle/>
          <a:p>
            <a:pPr marL="342900" indent="-342900">
              <a:lnSpc>
                <a:spcPct val="135000"/>
              </a:lnSpc>
              <a:buSzPct val="100000"/>
              <a:buChar char="•"/>
            </a:pPr>
            <a:r>
              <a:rPr lang="en-US" sz="1100" dirty="0">
                <a:solidFill>
                  <a:srgbClr val="A8A296"/>
                </a:solidFill>
                <a:latin typeface="Calibri" pitchFamily="34" charset="0"/>
                <a:ea typeface="Calibri" pitchFamily="34" charset="-122"/>
                <a:cs typeface="Calibri" pitchFamily="34" charset="-120"/>
              </a:rPr>
              <a:t>Location 1 is the proof of concept. It has to open, fill and stabilize before anything else is contemplated, and every figure in this brief describes that one building.</a:t>
            </a:r>
            <a:endParaRPr lang="en-US" sz="1100" dirty="0"/>
          </a:p>
          <a:p>
            <a:pPr marL="342900" indent="-342900">
              <a:lnSpc>
                <a:spcPct val="135000"/>
              </a:lnSpc>
              <a:buSzPct val="100000"/>
              <a:buChar char="•"/>
            </a:pPr>
            <a:r>
              <a:rPr lang="en-US" sz="1100" dirty="0">
                <a:solidFill>
                  <a:srgbClr val="A8A296"/>
                </a:solidFill>
                <a:latin typeface="Calibri" pitchFamily="34" charset="0"/>
                <a:ea typeface="Calibri" pitchFamily="34" charset="-122"/>
                <a:cs typeface="Calibri" pitchFamily="34" charset="-120"/>
              </a:rPr>
              <a:t>Round 1 investors receive pro-rata rights, not obligations, to invest in future locations at the same or improved terms, in proportion to their original stake. A 30% holder can maintain 30% of the platform without being required to.</a:t>
            </a:r>
            <a:endParaRPr lang="en-US" sz="1100" dirty="0"/>
          </a:p>
          <a:p>
            <a:pPr marL="342900" indent="-342900">
              <a:lnSpc>
                <a:spcPct val="135000"/>
              </a:lnSpc>
              <a:buSzPct val="100000"/>
              <a:buChar char="•"/>
            </a:pPr>
            <a:r>
              <a:rPr lang="en-US" sz="1100" dirty="0">
                <a:solidFill>
                  <a:srgbClr val="A8A296"/>
                </a:solidFill>
                <a:latin typeface="Calibri" pitchFamily="34" charset="0"/>
                <a:ea typeface="Calibri" pitchFamily="34" charset="-122"/>
                <a:cs typeface="Calibri" pitchFamily="34" charset="-120"/>
              </a:rPr>
              <a:t>Future locations target comparable high-income coastal and Westside markets, and only once Location 1 reaches stabilization.</a:t>
            </a:r>
            <a:endParaRPr lang="en-US" sz="1100" dirty="0"/>
          </a:p>
          <a:p>
            <a:pPr marL="342900" indent="-342900">
              <a:lnSpc>
                <a:spcPct val="135000"/>
              </a:lnSpc>
              <a:buSzPct val="100000"/>
              <a:buChar char="•"/>
            </a:pPr>
            <a:r>
              <a:rPr lang="en-US" sz="1100" dirty="0">
                <a:solidFill>
                  <a:srgbClr val="A8A296"/>
                </a:solidFill>
                <a:latin typeface="Calibri" pitchFamily="34" charset="0"/>
                <a:ea typeface="Calibri" pitchFamily="34" charset="-122"/>
                <a:cs typeface="Calibri" pitchFamily="34" charset="-120"/>
              </a:rPr>
              <a:t>The 25% expansion reserve shown on the previous page is what funds that optionality out of operating cash rather than out of a second raise. An investor who would rather take the cash can read the full-distribution column instead; the two are shown side by side because this is the actual trade.</a:t>
            </a:r>
            <a:endParaRPr lang="en-US" sz="1100" dirty="0"/>
          </a:p>
        </p:txBody>
      </p:sp>
      <p:sp>
        <p:nvSpPr>
          <p:cNvPr id="6" name="Text 4"/>
          <p:cNvSpPr/>
          <p:nvPr/>
        </p:nvSpPr>
        <p:spPr>
          <a:xfrm>
            <a:off x="502920" y="4160520"/>
            <a:ext cx="8138160" cy="411480"/>
          </a:xfrm>
          <a:prstGeom prst="rect">
            <a:avLst/>
          </a:prstGeom>
          <a:noFill/>
          <a:ln/>
        </p:spPr>
        <p:txBody>
          <a:bodyPr wrap="square" rtlCol="0" anchor="t"/>
          <a:lstStyle/>
          <a:p>
            <a:pPr indent="0" marL="0">
              <a:lnSpc>
                <a:spcPct val="120000"/>
              </a:lnSpc>
              <a:buNone/>
            </a:pPr>
            <a:r>
              <a:rPr lang="en-US" sz="800" dirty="0">
                <a:solidFill>
                  <a:srgbClr val="6E6A62"/>
                </a:solidFill>
                <a:latin typeface="Calibri" pitchFamily="34" charset="0"/>
                <a:ea typeface="Calibri" pitchFamily="34" charset="-122"/>
                <a:cs typeface="Calibri" pitchFamily="34" charset="-120"/>
              </a:rPr>
              <a:t>No location beyond Playa Vista exists today. Pro-rata rights are a mechanism, not a pipeline, and are indicative terms subject to definitive documents.</a:t>
            </a:r>
            <a:endParaRPr lang="en-US" sz="800" dirty="0"/>
          </a:p>
        </p:txBody>
      </p:sp>
      <p:sp>
        <p:nvSpPr>
          <p:cNvPr id="7"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8"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22</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EXIT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How Investors Realize Value</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Three paths, in the order they are most likely to matter.</a:t>
            </a:r>
            <a:endParaRPr lang="en-US" sz="11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4114800" cy="914400"/>
        </p:xfrm>
        <a:graphic>
          <a:graphicData uri="http://schemas.openxmlformats.org/drawingml/2006/table">
            <a:tbl>
              <a:tblPr/>
              <a:tblGrid>
                <a:gridCol w="1234440"/>
                <a:gridCol w="2880360"/>
              </a:tblGrid>
              <a:tr h="56692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Path</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How it works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566928">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Buyback</a:t>
                      </a:r>
                      <a:endParaRPr lang="en-US" sz="8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company holds a right, not an obligation, to repurchase investor equity in a defined window in years 3 to 5, priced off a formula tied to trailing twelve-month operating income at a multiple agreed in the definitive documents.</a:t>
                      </a:r>
                      <a:endParaRPr lang="en-US" sz="8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566928">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Right of first refusal</a:t>
                      </a:r>
                      <a:endParaRPr lang="en-US" sz="8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If a third-party offer for the business is received, existing investors get the first right to match it before any outside sale proceeds.</a:t>
                      </a:r>
                      <a:endParaRPr lang="en-US" sz="8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566928">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Strategic sale</a:t>
                      </a:r>
                      <a:endParaRPr lang="en-US" sz="8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primary long-term path. Multi-location platforms trade at materially higher multiples than single-location assets, so the value of building a second and third location is realised at exit rather than only in operating cash.</a:t>
                      </a:r>
                      <a:endParaRPr lang="en-US" sz="8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47" name="Table 1"/>
          <p:cNvGraphicFramePr>
            <a:graphicFrameLocks noGrp="1"/>
          </p:cNvGraphicFramePr>
          <p:nvPr>
            <p:extLst>
              <p:ext uri="{D42A27DB-BD31-4B8C-83A1-F6EECF244321}">
                <p14:modId xmlns:p14="http://schemas.microsoft.com/office/powerpoint/2010/main" val="1579011935"/>
              </p:ext>
            </p:extLst>
          </p:nvPr>
        </p:nvGraphicFramePr>
        <p:xfrm>
          <a:off x="4800600" y="1783080"/>
          <a:ext cx="3840480" cy="914400"/>
        </p:xfrm>
        <a:graphic>
          <a:graphicData uri="http://schemas.openxmlformats.org/drawingml/2006/table">
            <a:tbl>
              <a:tblPr/>
              <a:tblGrid>
                <a:gridCol w="2697480"/>
                <a:gridCol w="114300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Published EBITDA multiples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Range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Single location, owner is primary provider</a:t>
                      </a:r>
                      <a:endParaRPr lang="en-US" sz="8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3.5x to 5.0x</a:t>
                      </a:r>
                      <a:endParaRPr lang="en-US" sz="8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Single location, strong operator with SOPs</a:t>
                      </a:r>
                      <a:endParaRPr lang="en-US" sz="8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5.0x to 6.5x</a:t>
                      </a:r>
                      <a:endParaRPr lang="en-US" sz="8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Multi-location, two or more with management</a:t>
                      </a:r>
                      <a:endParaRPr lang="en-US" sz="8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6.0x to 7.5x</a:t>
                      </a:r>
                      <a:endParaRPr lang="en-US" sz="8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Multi-location, provider bench and recurring revenue</a:t>
                      </a:r>
                      <a:endParaRPr lang="en-US" sz="8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7.0x to 9.0x</a:t>
                      </a:r>
                      <a:endParaRPr lang="en-US" sz="8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92608">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Membership revenue premium</a:t>
                      </a:r>
                      <a:endParaRPr lang="en-US" sz="8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+0.5x to 1.0x</a:t>
                      </a:r>
                      <a:endParaRPr lang="en-US" sz="8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7" name="Text 3"/>
          <p:cNvSpPr/>
          <p:nvPr/>
        </p:nvSpPr>
        <p:spPr>
          <a:xfrm>
            <a:off x="4800600" y="3520440"/>
            <a:ext cx="3977640" cy="384048"/>
          </a:xfrm>
          <a:prstGeom prst="rect">
            <a:avLst/>
          </a:prstGeom>
          <a:noFill/>
          <a:ln/>
        </p:spPr>
        <p:txBody>
          <a:bodyPr wrap="square" rtlCol="0" anchor="t"/>
          <a:lstStyle/>
          <a:p>
            <a:pPr indent="0" marL="0">
              <a:lnSpc>
                <a:spcPct val="115000"/>
              </a:lnSpc>
              <a:buNone/>
            </a:pPr>
            <a:r>
              <a:rPr lang="en-US" sz="900" dirty="0">
                <a:solidFill>
                  <a:srgbClr val="EDE6DA"/>
                </a:solidFill>
                <a:latin typeface="Calibri" pitchFamily="34" charset="0"/>
                <a:ea typeface="Calibri" pitchFamily="34" charset="-122"/>
                <a:cs typeface="Calibri" pitchFamily="34" charset="-120"/>
              </a:rPr>
              <a:t>L&amp;K runs 41.9% of revenue from memberships and access, above the 30% to 40% band that source names as a premium driver.</a:t>
            </a:r>
            <a:endParaRPr lang="en-US" sz="900" dirty="0"/>
          </a:p>
        </p:txBody>
      </p:sp>
      <p:sp>
        <p:nvSpPr>
          <p:cNvPr id="8" name="Text 4"/>
          <p:cNvSpPr/>
          <p:nvPr/>
        </p:nvSpPr>
        <p:spPr>
          <a:xfrm>
            <a:off x="502920" y="4041648"/>
            <a:ext cx="8138160" cy="548640"/>
          </a:xfrm>
          <a:prstGeom prst="rect">
            <a:avLst/>
          </a:prstGeom>
          <a:noFill/>
          <a:ln/>
        </p:spPr>
        <p:txBody>
          <a:bodyPr wrap="square" rtlCol="0" anchor="t"/>
          <a:lstStyle/>
          <a:p>
            <a:pPr indent="0" marL="0">
              <a:lnSpc>
                <a:spcPct val="120000"/>
              </a:lnSpc>
              <a:buNone/>
            </a:pPr>
            <a:r>
              <a:rPr lang="en-US" sz="750" dirty="0">
                <a:solidFill>
                  <a:srgbClr val="6E6A62"/>
                </a:solidFill>
                <a:latin typeface="Calibri" pitchFamily="34" charset="0"/>
                <a:ea typeface="Calibri" pitchFamily="34" charset="-122"/>
                <a:cs typeface="Calibri" pitchFamily="34" charset="-120"/>
              </a:rPr>
              <a:t>Multiples: Breakwater M&amp;A, 20 February 2026. https://www.breakwaterma.com/blog/medical-spa-valuation-multiples-2026  ·  Industry M&amp;A comparables, not company projections. The entry price on this round is 5.87x base-case operating income, inside the single-location band above and below every multi-location band.</a:t>
            </a:r>
            <a:endParaRPr lang="en-US" sz="750" dirty="0"/>
          </a:p>
        </p:txBody>
      </p:sp>
      <p:sp>
        <p:nvSpPr>
          <p:cNvPr id="9"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10"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23</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DISCLOSURES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we are flagging before you ask.</a:t>
            </a:r>
            <a:endParaRPr lang="en-US" sz="2600" dirty="0"/>
          </a:p>
        </p:txBody>
      </p:sp>
      <p:sp>
        <p:nvSpPr>
          <p:cNvPr id="4" name="Text 2"/>
          <p:cNvSpPr/>
          <p:nvPr/>
        </p:nvSpPr>
        <p:spPr>
          <a:xfrm>
            <a:off x="502920" y="1417320"/>
            <a:ext cx="8138160" cy="3108960"/>
          </a:xfrm>
          <a:prstGeom prst="rect">
            <a:avLst/>
          </a:prstGeom>
          <a:noFill/>
          <a:ln/>
        </p:spPr>
        <p:txBody>
          <a:bodyPr wrap="square" rtlCol="0" anchor="ctr"/>
          <a:lstStyle/>
          <a:p>
            <a:pPr marL="342900" indent="-342900">
              <a:lnSpc>
                <a:spcPct val="135000"/>
              </a:lnSpc>
              <a:buSzPct val="100000"/>
              <a:buChar char="•"/>
            </a:pPr>
            <a:r>
              <a:rPr lang="en-US" sz="950" dirty="0">
                <a:solidFill>
                  <a:srgbClr val="A8A296"/>
                </a:solidFill>
                <a:latin typeface="Calibri" pitchFamily="34" charset="0"/>
                <a:ea typeface="Calibri" pitchFamily="34" charset="-122"/>
                <a:cs typeface="Calibri" pitchFamily="34" charset="-120"/>
              </a:rPr>
              <a:t>Year 1 operating income is negative. Six of those months are construction and the rest are the opening ramp. There is no debt service to carry through it, and the $1,105,800 working capital reserve inside use of funds is sized against a modeled cash trough of $42,467 at month 9.</a:t>
            </a:r>
            <a:endParaRPr lang="en-US" sz="950" dirty="0"/>
          </a:p>
          <a:p>
            <a:pPr marL="342900" indent="-342900">
              <a:lnSpc>
                <a:spcPct val="135000"/>
              </a:lnSpc>
              <a:buSzPct val="100000"/>
              <a:buChar char="•"/>
            </a:pPr>
            <a:r>
              <a:rPr lang="en-US" sz="950" dirty="0">
                <a:solidFill>
                  <a:srgbClr val="A8A296"/>
                </a:solidFill>
                <a:latin typeface="Calibri" pitchFamily="34" charset="0"/>
                <a:ea typeface="Calibri" pitchFamily="34" charset="-122"/>
                <a:cs typeface="Calibri" pitchFamily="34" charset="-120"/>
              </a:rPr>
              <a:t>The reserve is deliberately larger than the trough it covers, 26.0 times over. With no lender there is no mandated reserve and no covenant to cure, so the cushion is a choice: it funds a materially slower ramp than the one modeled without a second raise. It is idle cash and we are naming it rather than leaving it to be found.</a:t>
            </a:r>
            <a:endParaRPr lang="en-US" sz="950" dirty="0"/>
          </a:p>
          <a:p>
            <a:pPr marL="342900" indent="-342900">
              <a:lnSpc>
                <a:spcPct val="135000"/>
              </a:lnSpc>
              <a:buSzPct val="100000"/>
              <a:buChar char="•"/>
            </a:pPr>
            <a:r>
              <a:rPr lang="en-US" sz="950" dirty="0">
                <a:solidFill>
                  <a:srgbClr val="A8A296"/>
                </a:solidFill>
                <a:latin typeface="Calibri" pitchFamily="34" charset="0"/>
                <a:ea typeface="Calibri" pitchFamily="34" charset="-122"/>
                <a:cs typeface="Calibri" pitchFamily="34" charset="-120"/>
              </a:rPr>
              <a:t>The ratchet cushions the downside without making the investor whole. At the low case 40% of $1.24M pays $497,800, which is still less than the $809,283 that 30% of base case pays. Every ownership percentage, valuation and buyback term in this deck is indicative and subject to definitive documents.</a:t>
            </a:r>
            <a:endParaRPr lang="en-US" sz="950" dirty="0"/>
          </a:p>
          <a:p>
            <a:pPr marL="342900" indent="-342900">
              <a:lnSpc>
                <a:spcPct val="135000"/>
              </a:lnSpc>
              <a:buSzPct val="100000"/>
              <a:buChar char="•"/>
            </a:pPr>
            <a:r>
              <a:rPr lang="en-US" sz="950" dirty="0">
                <a:solidFill>
                  <a:srgbClr val="A8A296"/>
                </a:solidFill>
                <a:latin typeface="Calibri" pitchFamily="34" charset="0"/>
                <a:ea typeface="Calibri" pitchFamily="34" charset="-122"/>
                <a:cs typeface="Calibri" pitchFamily="34" charset="-120"/>
              </a:rPr>
              <a:t>The multi-location expansion and platform exit thesis represent optionality this structure creates, not a guaranteed roadmap. No location beyond Playa Vista currently exists, and all forward-looking multiples are sourced from industry M&amp;A comparables, not company-specific projections.</a:t>
            </a:r>
            <a:endParaRPr lang="en-US" sz="950" dirty="0"/>
          </a:p>
          <a:p>
            <a:pPr marL="342900" indent="-342900">
              <a:lnSpc>
                <a:spcPct val="135000"/>
              </a:lnSpc>
              <a:buSzPct val="100000"/>
              <a:buChar char="•"/>
            </a:pPr>
            <a:r>
              <a:rPr lang="en-US" sz="950" dirty="0">
                <a:solidFill>
                  <a:srgbClr val="A8A296"/>
                </a:solidFill>
                <a:latin typeface="Calibri" pitchFamily="34" charset="0"/>
                <a:ea typeface="Calibri" pitchFamily="34" charset="-122"/>
                <a:cs typeface="Calibri" pitchFamily="34" charset="-120"/>
              </a:rPr>
              <a:t>Volume is flexed to 72% of base in the low case and the business still produces $1.24M of annual operating income, with fixed overhead held constant. That is the conservative treatment: in a genuine downside you would cut staff before you cut the lease.</a:t>
            </a:r>
            <a:endParaRPr lang="en-US" sz="950" dirty="0"/>
          </a:p>
          <a:p>
            <a:pPr marL="342900" indent="-342900">
              <a:lnSpc>
                <a:spcPct val="135000"/>
              </a:lnSpc>
              <a:buSzPct val="100000"/>
              <a:buChar char="•"/>
            </a:pPr>
            <a:r>
              <a:rPr lang="en-US" sz="950" dirty="0">
                <a:solidFill>
                  <a:srgbClr val="A8A296"/>
                </a:solidFill>
                <a:latin typeface="Calibri" pitchFamily="34" charset="0"/>
                <a:ea typeface="Calibri" pitchFamily="34" charset="-122"/>
                <a:cs typeface="Calibri" pitchFamily="34" charset="-120"/>
              </a:rPr>
              <a:t>All forward-looking figures are projections on the stated assumptions and are not guarantees. Market and demographic figures carry their sources; anything unsourced was cut rather than estimated.</a:t>
            </a:r>
            <a:endParaRPr lang="en-US" sz="950" dirty="0"/>
          </a:p>
        </p:txBody>
      </p:sp>
      <p:sp>
        <p:nvSpPr>
          <p:cNvPr id="5"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6"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24</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TIMELINE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From signature to stabilization.</a:t>
            </a:r>
            <a:endParaRPr lang="en-US" sz="2600" dirty="0"/>
          </a:p>
        </p:txBody>
      </p:sp>
      <p:sp>
        <p:nvSpPr>
          <p:cNvPr id="4" name="Shape 2"/>
          <p:cNvSpPr/>
          <p:nvPr/>
        </p:nvSpPr>
        <p:spPr>
          <a:xfrm>
            <a:off x="502920" y="1600200"/>
            <a:ext cx="1525219" cy="25603"/>
          </a:xfrm>
          <a:prstGeom prst="rect">
            <a:avLst/>
          </a:prstGeom>
          <a:solidFill>
            <a:srgbClr val="2E4237"/>
          </a:solidFill>
          <a:ln w="12700">
            <a:solidFill>
              <a:srgbClr val="2E4237"/>
            </a:solidFill>
            <a:prstDash val="solid"/>
          </a:ln>
        </p:spPr>
      </p:sp>
      <p:sp>
        <p:nvSpPr>
          <p:cNvPr id="5" name="Shape 3"/>
          <p:cNvSpPr/>
          <p:nvPr/>
        </p:nvSpPr>
        <p:spPr>
          <a:xfrm>
            <a:off x="502920" y="1563624"/>
            <a:ext cx="100584" cy="100584"/>
          </a:xfrm>
          <a:prstGeom prst="ellipse">
            <a:avLst/>
          </a:prstGeom>
          <a:solidFill>
            <a:srgbClr val="C08D7C"/>
          </a:solidFill>
          <a:ln w="12700">
            <a:solidFill>
              <a:srgbClr val="C08D7C"/>
            </a:solidFill>
            <a:prstDash val="solid"/>
          </a:ln>
        </p:spPr>
      </p:sp>
      <p:sp>
        <p:nvSpPr>
          <p:cNvPr id="6" name="Text 4"/>
          <p:cNvSpPr/>
          <p:nvPr/>
        </p:nvSpPr>
        <p:spPr>
          <a:xfrm>
            <a:off x="50292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0–3</a:t>
            </a:r>
            <a:endParaRPr lang="en-US" sz="750" dirty="0"/>
          </a:p>
        </p:txBody>
      </p:sp>
      <p:sp>
        <p:nvSpPr>
          <p:cNvPr id="7" name="Text 5"/>
          <p:cNvSpPr/>
          <p:nvPr/>
        </p:nvSpPr>
        <p:spPr>
          <a:xfrm>
            <a:off x="50292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Close and design</a:t>
            </a:r>
            <a:endParaRPr lang="en-US" sz="1150" dirty="0"/>
          </a:p>
        </p:txBody>
      </p:sp>
      <p:sp>
        <p:nvSpPr>
          <p:cNvPr id="8" name="Text 6"/>
          <p:cNvSpPr/>
          <p:nvPr/>
        </p:nvSpPr>
        <p:spPr>
          <a:xfrm>
            <a:off x="50292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Funds close, lease executed, architect and contractor engaged, permits filed. Founding member campaign opens.</a:t>
            </a:r>
            <a:endParaRPr lang="en-US" sz="850" dirty="0"/>
          </a:p>
        </p:txBody>
      </p:sp>
      <p:sp>
        <p:nvSpPr>
          <p:cNvPr id="9" name="Shape 7"/>
          <p:cNvSpPr/>
          <p:nvPr/>
        </p:nvSpPr>
        <p:spPr>
          <a:xfrm>
            <a:off x="2156155" y="1600200"/>
            <a:ext cx="1525219" cy="25603"/>
          </a:xfrm>
          <a:prstGeom prst="rect">
            <a:avLst/>
          </a:prstGeom>
          <a:solidFill>
            <a:srgbClr val="2E4237"/>
          </a:solidFill>
          <a:ln w="12700">
            <a:solidFill>
              <a:srgbClr val="2E4237"/>
            </a:solidFill>
            <a:prstDash val="solid"/>
          </a:ln>
        </p:spPr>
      </p:sp>
      <p:sp>
        <p:nvSpPr>
          <p:cNvPr id="10" name="Shape 8"/>
          <p:cNvSpPr/>
          <p:nvPr/>
        </p:nvSpPr>
        <p:spPr>
          <a:xfrm>
            <a:off x="2156155" y="1563624"/>
            <a:ext cx="100584" cy="100584"/>
          </a:xfrm>
          <a:prstGeom prst="ellipse">
            <a:avLst/>
          </a:prstGeom>
          <a:solidFill>
            <a:srgbClr val="C08D7C"/>
          </a:solidFill>
          <a:ln w="12700">
            <a:solidFill>
              <a:srgbClr val="C08D7C"/>
            </a:solidFill>
            <a:prstDash val="solid"/>
          </a:ln>
        </p:spPr>
      </p:sp>
      <p:sp>
        <p:nvSpPr>
          <p:cNvPr id="11" name="Text 9"/>
          <p:cNvSpPr/>
          <p:nvPr/>
        </p:nvSpPr>
        <p:spPr>
          <a:xfrm>
            <a:off x="2156155"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3–6</a:t>
            </a:r>
            <a:endParaRPr lang="en-US" sz="750" dirty="0"/>
          </a:p>
        </p:txBody>
      </p:sp>
      <p:sp>
        <p:nvSpPr>
          <p:cNvPr id="12" name="Text 10"/>
          <p:cNvSpPr/>
          <p:nvPr/>
        </p:nvSpPr>
        <p:spPr>
          <a:xfrm>
            <a:off x="2156155"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Build</a:t>
            </a:r>
            <a:endParaRPr lang="en-US" sz="1150" dirty="0"/>
          </a:p>
        </p:txBody>
      </p:sp>
      <p:sp>
        <p:nvSpPr>
          <p:cNvPr id="13" name="Text 11"/>
          <p:cNvSpPr/>
          <p:nvPr/>
        </p:nvSpPr>
        <p:spPr>
          <a:xfrm>
            <a:off x="2156155"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Buildout, wet-area rough-in, equipment ordered. Medical director and injector recruited and credentialed.</a:t>
            </a:r>
            <a:endParaRPr lang="en-US" sz="850" dirty="0"/>
          </a:p>
        </p:txBody>
      </p:sp>
      <p:sp>
        <p:nvSpPr>
          <p:cNvPr id="14" name="Shape 12"/>
          <p:cNvSpPr/>
          <p:nvPr/>
        </p:nvSpPr>
        <p:spPr>
          <a:xfrm>
            <a:off x="3809390" y="1600200"/>
            <a:ext cx="1525219" cy="25603"/>
          </a:xfrm>
          <a:prstGeom prst="rect">
            <a:avLst/>
          </a:prstGeom>
          <a:solidFill>
            <a:srgbClr val="2E4237"/>
          </a:solidFill>
          <a:ln w="12700">
            <a:solidFill>
              <a:srgbClr val="2E4237"/>
            </a:solidFill>
            <a:prstDash val="solid"/>
          </a:ln>
        </p:spPr>
      </p:sp>
      <p:sp>
        <p:nvSpPr>
          <p:cNvPr id="15" name="Shape 13"/>
          <p:cNvSpPr/>
          <p:nvPr/>
        </p:nvSpPr>
        <p:spPr>
          <a:xfrm>
            <a:off x="3809390" y="1563624"/>
            <a:ext cx="100584" cy="100584"/>
          </a:xfrm>
          <a:prstGeom prst="ellipse">
            <a:avLst/>
          </a:prstGeom>
          <a:solidFill>
            <a:srgbClr val="C08D7C"/>
          </a:solidFill>
          <a:ln w="12700">
            <a:solidFill>
              <a:srgbClr val="C08D7C"/>
            </a:solidFill>
            <a:prstDash val="solid"/>
          </a:ln>
        </p:spPr>
      </p:sp>
      <p:sp>
        <p:nvSpPr>
          <p:cNvPr id="16" name="Text 14"/>
          <p:cNvSpPr/>
          <p:nvPr/>
        </p:nvSpPr>
        <p:spPr>
          <a:xfrm>
            <a:off x="380939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7</a:t>
            </a:r>
            <a:endParaRPr lang="en-US" sz="750" dirty="0"/>
          </a:p>
        </p:txBody>
      </p:sp>
      <p:sp>
        <p:nvSpPr>
          <p:cNvPr id="17" name="Text 15"/>
          <p:cNvSpPr/>
          <p:nvPr/>
        </p:nvSpPr>
        <p:spPr>
          <a:xfrm>
            <a:off x="380939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Open</a:t>
            </a:r>
            <a:endParaRPr lang="en-US" sz="1150" dirty="0"/>
          </a:p>
        </p:txBody>
      </p:sp>
      <p:sp>
        <p:nvSpPr>
          <p:cNvPr id="18" name="Text 16"/>
          <p:cNvSpPr/>
          <p:nvPr/>
        </p:nvSpPr>
        <p:spPr>
          <a:xfrm>
            <a:off x="380939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Doors open to founding members first, public booking the same week. Clinic and club launch together.</a:t>
            </a:r>
            <a:endParaRPr lang="en-US" sz="850" dirty="0"/>
          </a:p>
        </p:txBody>
      </p:sp>
      <p:sp>
        <p:nvSpPr>
          <p:cNvPr id="19" name="Shape 17"/>
          <p:cNvSpPr/>
          <p:nvPr/>
        </p:nvSpPr>
        <p:spPr>
          <a:xfrm>
            <a:off x="5462626" y="1600200"/>
            <a:ext cx="1525219" cy="25603"/>
          </a:xfrm>
          <a:prstGeom prst="rect">
            <a:avLst/>
          </a:prstGeom>
          <a:solidFill>
            <a:srgbClr val="2E4237"/>
          </a:solidFill>
          <a:ln w="12700">
            <a:solidFill>
              <a:srgbClr val="2E4237"/>
            </a:solidFill>
            <a:prstDash val="solid"/>
          </a:ln>
        </p:spPr>
      </p:sp>
      <p:sp>
        <p:nvSpPr>
          <p:cNvPr id="20" name="Shape 18"/>
          <p:cNvSpPr/>
          <p:nvPr/>
        </p:nvSpPr>
        <p:spPr>
          <a:xfrm>
            <a:off x="5462626" y="1563624"/>
            <a:ext cx="100584" cy="100584"/>
          </a:xfrm>
          <a:prstGeom prst="ellipse">
            <a:avLst/>
          </a:prstGeom>
          <a:solidFill>
            <a:srgbClr val="C08D7C"/>
          </a:solidFill>
          <a:ln w="12700">
            <a:solidFill>
              <a:srgbClr val="C08D7C"/>
            </a:solidFill>
            <a:prstDash val="solid"/>
          </a:ln>
        </p:spPr>
      </p:sp>
      <p:sp>
        <p:nvSpPr>
          <p:cNvPr id="21" name="Text 19"/>
          <p:cNvSpPr/>
          <p:nvPr/>
        </p:nvSpPr>
        <p:spPr>
          <a:xfrm>
            <a:off x="5462626"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8–14</a:t>
            </a:r>
            <a:endParaRPr lang="en-US" sz="750" dirty="0"/>
          </a:p>
        </p:txBody>
      </p:sp>
      <p:sp>
        <p:nvSpPr>
          <p:cNvPr id="22" name="Text 20"/>
          <p:cNvSpPr/>
          <p:nvPr/>
        </p:nvSpPr>
        <p:spPr>
          <a:xfrm>
            <a:off x="5462626"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Fill</a:t>
            </a:r>
            <a:endParaRPr lang="en-US" sz="1150" dirty="0"/>
          </a:p>
        </p:txBody>
      </p:sp>
      <p:sp>
        <p:nvSpPr>
          <p:cNvPr id="23" name="Text 21"/>
          <p:cNvSpPr/>
          <p:nvPr/>
        </p:nvSpPr>
        <p:spPr>
          <a:xfrm>
            <a:off x="5462626"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Membership ramp, events programming, referral engine from the open clinic. Operating breakeven lands here.</a:t>
            </a:r>
            <a:endParaRPr lang="en-US" sz="850" dirty="0"/>
          </a:p>
        </p:txBody>
      </p:sp>
      <p:sp>
        <p:nvSpPr>
          <p:cNvPr id="24" name="Shape 22"/>
          <p:cNvSpPr/>
          <p:nvPr/>
        </p:nvSpPr>
        <p:spPr>
          <a:xfrm>
            <a:off x="7115861" y="1600200"/>
            <a:ext cx="1525219" cy="25603"/>
          </a:xfrm>
          <a:prstGeom prst="rect">
            <a:avLst/>
          </a:prstGeom>
          <a:solidFill>
            <a:srgbClr val="2E4237"/>
          </a:solidFill>
          <a:ln w="12700">
            <a:solidFill>
              <a:srgbClr val="2E4237"/>
            </a:solidFill>
            <a:prstDash val="solid"/>
          </a:ln>
        </p:spPr>
      </p:sp>
      <p:sp>
        <p:nvSpPr>
          <p:cNvPr id="25" name="Shape 23"/>
          <p:cNvSpPr/>
          <p:nvPr/>
        </p:nvSpPr>
        <p:spPr>
          <a:xfrm>
            <a:off x="7115861" y="1563624"/>
            <a:ext cx="100584" cy="100584"/>
          </a:xfrm>
          <a:prstGeom prst="ellipse">
            <a:avLst/>
          </a:prstGeom>
          <a:solidFill>
            <a:srgbClr val="C08D7C"/>
          </a:solidFill>
          <a:ln w="12700">
            <a:solidFill>
              <a:srgbClr val="C08D7C"/>
            </a:solidFill>
            <a:prstDash val="solid"/>
          </a:ln>
        </p:spPr>
      </p:sp>
      <p:sp>
        <p:nvSpPr>
          <p:cNvPr id="26" name="Text 24"/>
          <p:cNvSpPr/>
          <p:nvPr/>
        </p:nvSpPr>
        <p:spPr>
          <a:xfrm>
            <a:off x="7115861"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15–36</a:t>
            </a:r>
            <a:endParaRPr lang="en-US" sz="750" dirty="0"/>
          </a:p>
        </p:txBody>
      </p:sp>
      <p:sp>
        <p:nvSpPr>
          <p:cNvPr id="27" name="Text 25"/>
          <p:cNvSpPr/>
          <p:nvPr/>
        </p:nvSpPr>
        <p:spPr>
          <a:xfrm>
            <a:off x="7115861"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Stabilize</a:t>
            </a:r>
            <a:endParaRPr lang="en-US" sz="1150" dirty="0"/>
          </a:p>
        </p:txBody>
      </p:sp>
      <p:sp>
        <p:nvSpPr>
          <p:cNvPr id="28" name="Text 26"/>
          <p:cNvSpPr/>
          <p:nvPr/>
        </p:nvSpPr>
        <p:spPr>
          <a:xfrm>
            <a:off x="7115861"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Caps approached on Resident and Longevity. Waitlist opens.</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25</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TEAM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operating team is in place.</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Clinical, aesthetic, longevity and hospitality leadership are all seated. No key role is open at opening.</a:t>
            </a:r>
            <a:endParaRPr lang="en-US" sz="11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2651760"/>
                <a:gridCol w="3840480"/>
                <a:gridCol w="164592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Seat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Responsibility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Status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Founder &amp; Operator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Operations, brand, capital, compliance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Medical Director (MD/DO)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Clinical oversight, protocols, standing orders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Aesthetics Injector (NP or PA)</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Neuromodulators, filler, energy devices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Clinical Lead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Therapeutic medications, GLP-1 and biomarker programs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Club General Manager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Membership, events, hospitality, retention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Registered Nurses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therapy, regenerative, recovery floor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26</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RISKS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could go wrong, and what we did about it.</a:t>
            </a:r>
            <a:endParaRPr lang="en-US" sz="2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8138160" cy="914400"/>
        </p:xfrm>
        <a:graphic>
          <a:graphicData uri="http://schemas.openxmlformats.org/drawingml/2006/table">
            <a:tbl>
              <a:tblPr/>
              <a:tblGrid>
                <a:gridCol w="2743200"/>
                <a:gridCol w="5394960"/>
              </a:tblGrid>
              <a:tr h="36576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Risk</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Mitigation</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Membership fills slower than modeled.</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clinic is open to non-members from day one, so revenue does not depend on the club filling. The low case flexes volume to 72% of base and still produces positive operating income.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Members redeem more than their fees cover.</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Credit banks are sized against measured redemption and the model asserts the ratio stays below 100%. The three-month minimum with 30-day change notice makes repricing operationally possible.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 key clinical seat turns over during the ramp.</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asset is the facility, not any one clinician. The club layer, recovery floor and infusion suite run on materially less scarce staffing than the injectable and prescribing lines, so a temporary gap narrows the offering without closing the building. A licensed, equipped facility can credential a replacement. Clinical compensation carries retention terms through the ramp.</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ramp runs slower than modeled and the cash runs out.</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This is the risk that replaces financing risk when there is no lender. There is no payment to miss and no covenant to breach, so the only hard constraint is cash. The reserve is sized against the modeled trough, the low case still produces positive operating income at stabilization, and founding presales land during construction rather than after opening.</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 national brand opens nearby.</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defensible asset is the licensed facility, not the sauna. Adding injectables, infusions and physician oversight is not a product decision for a recovery studio: it means becoming a licensed medical facility, with the staffing, supervision, malpractice and accreditation that implies.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Wet-area construction overruns.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highest-variance line in the buildout. The lean case exists precisely as the fallback scope, and the reserve is sized against the modeled cash trough rather than to a round number.</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27</a:t>
            </a:r>
            <a:endParaRPr lang="en-US" sz="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502920" y="1051560"/>
            <a:ext cx="8138160" cy="2834640"/>
          </a:xfrm>
          <a:prstGeom prst="roundRect">
            <a:avLst>
              <a:gd name="adj" fmla="val 2581"/>
            </a:avLst>
          </a:prstGeom>
          <a:solidFill>
            <a:srgbClr val="241C1A"/>
          </a:solidFill>
          <a:ln w="15875">
            <a:solidFill>
              <a:srgbClr val="C08D7C"/>
            </a:solidFill>
            <a:prstDash val="solid"/>
          </a:ln>
        </p:spPr>
      </p:sp>
      <p:sp>
        <p:nvSpPr>
          <p:cNvPr id="3" name="Text 1"/>
          <p:cNvSpPr/>
          <p:nvPr/>
        </p:nvSpPr>
        <p:spPr>
          <a:xfrm>
            <a:off x="502920" y="1371600"/>
            <a:ext cx="8138160" cy="228600"/>
          </a:xfrm>
          <a:prstGeom prst="rect">
            <a:avLst/>
          </a:prstGeom>
          <a:noFill/>
          <a:ln/>
        </p:spPr>
        <p:txBody>
          <a:bodyPr wrap="square" rtlCol="0" anchor="ctr"/>
          <a:lstStyle/>
          <a:p>
            <a:pPr algn="ctr" indent="0" marL="0">
              <a:buNone/>
            </a:pPr>
            <a:r>
              <a:rPr lang="en-US" sz="900" spc="300" kern="0" dirty="0">
                <a:solidFill>
                  <a:srgbClr val="C08D7C"/>
                </a:solidFill>
                <a:latin typeface="Century Gothic" pitchFamily="34" charset="0"/>
                <a:ea typeface="Century Gothic" pitchFamily="34" charset="-122"/>
                <a:cs typeface="Century Gothic" pitchFamily="34" charset="-120"/>
              </a:rPr>
              <a:t>PLAYA VISTA, CALIFORNIA</a:t>
            </a:r>
            <a:endParaRPr lang="en-US" sz="900" dirty="0"/>
          </a:p>
        </p:txBody>
      </p:sp>
      <p:sp>
        <p:nvSpPr>
          <p:cNvPr id="4" name="Text 2"/>
          <p:cNvSpPr/>
          <p:nvPr/>
        </p:nvSpPr>
        <p:spPr>
          <a:xfrm>
            <a:off x="502920" y="1691640"/>
            <a:ext cx="8138160" cy="960120"/>
          </a:xfrm>
          <a:prstGeom prst="rect">
            <a:avLst/>
          </a:prstGeom>
          <a:noFill/>
          <a:ln/>
        </p:spPr>
        <p:txBody>
          <a:bodyPr wrap="square" rtlCol="0" anchor="t"/>
          <a:lstStyle/>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Self-care is already social.</a:t>
            </a:r>
            <a:endParaRPr lang="en-US" sz="2400" dirty="0"/>
          </a:p>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Few rooms are licensed to treat you in one.</a:t>
            </a:r>
            <a:endParaRPr lang="en-US" sz="2400" dirty="0"/>
          </a:p>
        </p:txBody>
      </p:sp>
      <p:sp>
        <p:nvSpPr>
          <p:cNvPr id="5" name="Text 3"/>
          <p:cNvSpPr/>
          <p:nvPr/>
        </p:nvSpPr>
        <p:spPr>
          <a:xfrm>
            <a:off x="502920" y="2743200"/>
            <a:ext cx="8138160" cy="274320"/>
          </a:xfrm>
          <a:prstGeom prst="rect">
            <a:avLst/>
          </a:prstGeom>
          <a:noFill/>
          <a:ln/>
        </p:spPr>
        <p:txBody>
          <a:bodyPr wrap="square" rtlCol="0" anchor="ctr"/>
          <a:lstStyle/>
          <a:p>
            <a:pPr algn="ctr" indent="0" marL="0">
              <a:buNone/>
            </a:pPr>
            <a:r>
              <a:rPr lang="en-US" sz="1150" dirty="0">
                <a:solidFill>
                  <a:srgbClr val="A8A296"/>
                </a:solidFill>
                <a:latin typeface="Calibri" pitchFamily="34" charset="0"/>
                <a:ea typeface="Calibri" pitchFamily="34" charset="-122"/>
                <a:cs typeface="Calibri" pitchFamily="34" charset="-120"/>
              </a:rPr>
              <a:t>Ample · private  ·  $4.75M all equity  ·  4,925 SF  ·  56.8% unlevered yield</a:t>
            </a:r>
            <a:endParaRPr lang="en-US" sz="1150" dirty="0"/>
          </a:p>
        </p:txBody>
      </p:sp>
      <p:sp>
        <p:nvSpPr>
          <p:cNvPr id="6" name="Text 4"/>
          <p:cNvSpPr/>
          <p:nvPr/>
        </p:nvSpPr>
        <p:spPr>
          <a:xfrm>
            <a:off x="502920" y="3017520"/>
            <a:ext cx="8138160" cy="274320"/>
          </a:xfrm>
          <a:prstGeom prst="rect">
            <a:avLst/>
          </a:prstGeom>
          <a:noFill/>
          <a:ln/>
        </p:spPr>
        <p:txBody>
          <a:bodyPr wrap="square" rtlCol="0" anchor="ctr"/>
          <a:lstStyle/>
          <a:p>
            <a:pPr algn="ctr" indent="0" marL="0">
              <a:buNone/>
            </a:pPr>
            <a:r>
              <a:rPr lang="en-US" sz="1050" dirty="0">
                <a:solidFill>
                  <a:srgbClr val="6E6A62"/>
                </a:solidFill>
                <a:latin typeface="Calibri" pitchFamily="34" charset="0"/>
                <a:ea typeface="Calibri" pitchFamily="34" charset="-122"/>
                <a:cs typeface="Calibri" pitchFamily="34" charset="-120"/>
              </a:rPr>
              <a:t>Full model, capacity workbook and buildout detail available under NDA.</a:t>
            </a:r>
            <a:endParaRPr lang="en-US" sz="1050" dirty="0"/>
          </a:p>
        </p:txBody>
      </p:sp>
      <p:sp>
        <p:nvSpPr>
          <p:cNvPr id="7" name="Text 5"/>
          <p:cNvSpPr/>
          <p:nvPr/>
        </p:nvSpPr>
        <p:spPr>
          <a:xfrm>
            <a:off x="502920" y="3364992"/>
            <a:ext cx="8138160" cy="320040"/>
          </a:xfrm>
          <a:prstGeom prst="rect">
            <a:avLst/>
          </a:prstGeom>
          <a:noFill/>
          <a:ln/>
        </p:spPr>
        <p:txBody>
          <a:bodyPr wrap="square" rtlCol="0" anchor="ctr"/>
          <a:lstStyle/>
          <a:p>
            <a:pPr algn="ctr" indent="0" marL="0">
              <a:buNone/>
            </a:pPr>
            <a:r>
              <a:rPr lang="en-US" sz="1400" dirty="0">
                <a:solidFill>
                  <a:srgbClr val="C08D7C"/>
                </a:solidFill>
                <a:latin typeface="Century Gothic" pitchFamily="34" charset="0"/>
                <a:ea typeface="Century Gothic" pitchFamily="34" charset="-122"/>
                <a:cs typeface="Century Gothic" pitchFamily="34" charset="-120"/>
              </a:rPr>
              <a:t>Laura@culvercitysurgical.com</a:t>
            </a:r>
            <a:endParaRPr lang="en-US" sz="1400" dirty="0"/>
          </a:p>
        </p:txBody>
      </p:sp>
      <p:sp>
        <p:nvSpPr>
          <p:cNvPr id="8" name="Text 6"/>
          <p:cNvSpPr/>
          <p:nvPr/>
        </p:nvSpPr>
        <p:spPr>
          <a:xfrm>
            <a:off x="502920" y="4206240"/>
            <a:ext cx="8138160" cy="457200"/>
          </a:xfrm>
          <a:prstGeom prst="rect">
            <a:avLst/>
          </a:prstGeom>
          <a:noFill/>
          <a:ln/>
        </p:spPr>
        <p:txBody>
          <a:bodyPr wrap="square" rtlCol="0" anchor="ctr"/>
          <a:lstStyle/>
          <a:p>
            <a:pPr algn="ctr" indent="0" marL="0">
              <a:buNone/>
            </a:pPr>
            <a:r>
              <a:rPr lang="en-US" sz="750" dirty="0">
                <a:solidFill>
                  <a:srgbClr val="6E6A62"/>
                </a:solidFill>
                <a:latin typeface="Calibri" pitchFamily="34" charset="0"/>
                <a:ea typeface="Calibri" pitchFamily="34" charset="-122"/>
                <a:cs typeface="Calibri" pitchFamily="34" charset="-120"/>
              </a:rPr>
              <a:t>This document is not an offer to sell or a solicitation of an offer to buy any security. Forward-looking figures are projections and not guarantees of future performance.</a:t>
            </a:r>
            <a:endParaRPr lang="en-US" sz="7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Text 1"/>
          <p:cNvSpPr/>
          <p:nvPr/>
        </p:nvSpPr>
        <p:spPr>
          <a:xfrm>
            <a:off x="502920" y="1417320"/>
            <a:ext cx="8138160" cy="219456"/>
          </a:xfrm>
          <a:prstGeom prst="rect">
            <a:avLst/>
          </a:prstGeom>
          <a:noFill/>
          <a:ln/>
        </p:spPr>
        <p:txBody>
          <a:bodyPr wrap="square" rtlCol="0" anchor="ctr"/>
          <a:lstStyle/>
          <a:p>
            <a:pPr indent="0" marL="0">
              <a:buNone/>
            </a:pPr>
            <a:r>
              <a:rPr lang="en-US" sz="900" spc="340" kern="0" dirty="0">
                <a:solidFill>
                  <a:srgbClr val="C08D7C"/>
                </a:solidFill>
                <a:latin typeface="Century Gothic" pitchFamily="34" charset="0"/>
                <a:ea typeface="Century Gothic" pitchFamily="34" charset="-122"/>
                <a:cs typeface="Century Gothic" pitchFamily="34" charset="-120"/>
              </a:rPr>
              <a:t>APPENDIX</a:t>
            </a:r>
            <a:endParaRPr lang="en-US" sz="900" dirty="0"/>
          </a:p>
        </p:txBody>
      </p:sp>
      <p:sp>
        <p:nvSpPr>
          <p:cNvPr id="4" name="Text 2"/>
          <p:cNvSpPr/>
          <p:nvPr/>
        </p:nvSpPr>
        <p:spPr>
          <a:xfrm>
            <a:off x="502920" y="1691640"/>
            <a:ext cx="8138160" cy="548640"/>
          </a:xfrm>
          <a:prstGeom prst="rect">
            <a:avLst/>
          </a:prstGeom>
          <a:noFill/>
          <a:ln/>
        </p:spPr>
        <p:txBody>
          <a:bodyPr wrap="square" rtlCol="0" anchor="ctr"/>
          <a:lstStyle/>
          <a:p>
            <a:pPr indent="0" marL="0">
              <a:buNone/>
            </a:pPr>
            <a:r>
              <a:rPr lang="en-US" sz="3000" dirty="0">
                <a:solidFill>
                  <a:srgbClr val="EDE6DA"/>
                </a:solidFill>
                <a:latin typeface="Century Gothic" pitchFamily="34" charset="0"/>
                <a:ea typeface="Century Gothic" pitchFamily="34" charset="-122"/>
                <a:cs typeface="Century Gothic" pitchFamily="34" charset="-120"/>
              </a:rPr>
              <a:t>How these numbers were built.</a:t>
            </a:r>
            <a:endParaRPr lang="en-US" sz="3000" dirty="0"/>
          </a:p>
        </p:txBody>
      </p:sp>
      <p:sp>
        <p:nvSpPr>
          <p:cNvPr id="5" name="Shape 3"/>
          <p:cNvSpPr/>
          <p:nvPr/>
        </p:nvSpPr>
        <p:spPr>
          <a:xfrm>
            <a:off x="502920" y="2359152"/>
            <a:ext cx="822960" cy="36576"/>
          </a:xfrm>
          <a:prstGeom prst="rect">
            <a:avLst/>
          </a:prstGeom>
          <a:solidFill>
            <a:srgbClr val="C08D7C"/>
          </a:solidFill>
          <a:ln w="12700">
            <a:solidFill>
              <a:srgbClr val="C08D7C"/>
            </a:solidFill>
            <a:prstDash val="solid"/>
          </a:ln>
        </p:spPr>
      </p:sp>
      <p:sp>
        <p:nvSpPr>
          <p:cNvPr id="6" name="Text 4"/>
          <p:cNvSpPr/>
          <p:nvPr/>
        </p:nvSpPr>
        <p:spPr>
          <a:xfrm>
            <a:off x="502920" y="2606040"/>
            <a:ext cx="6673291" cy="640080"/>
          </a:xfrm>
          <a:prstGeom prst="rect">
            <a:avLst/>
          </a:prstGeom>
          <a:noFill/>
          <a:ln/>
        </p:spPr>
        <p:txBody>
          <a:bodyPr wrap="square" rtlCol="0" anchor="ctr"/>
          <a:lstStyle/>
          <a:p>
            <a:pPr indent="0" marL="0">
              <a:lnSpc>
                <a:spcPct val="125000"/>
              </a:lnSpc>
              <a:buNone/>
            </a:pPr>
            <a:r>
              <a:rPr lang="en-US" sz="1200" dirty="0">
                <a:solidFill>
                  <a:srgbClr val="A8A296"/>
                </a:solidFill>
                <a:latin typeface="Calibri" pitchFamily="34" charset="0"/>
                <a:ea typeface="Calibri" pitchFamily="34" charset="-122"/>
                <a:cs typeface="Calibri" pitchFamily="34" charset="-120"/>
              </a:rPr>
              <a:t>Everything in this brief resolves to a stabilized P&amp;L and a use-of-funds table. The slides that follow itemise both, every overhead line broken into its components, every capital line into what it buys, and the staffing plan named role by role.</a:t>
            </a:r>
            <a:endParaRPr lang="en-US" sz="1200" dirty="0"/>
          </a:p>
        </p:txBody>
      </p:sp>
      <p:sp>
        <p:nvSpPr>
          <p:cNvPr id="7" name="Text 5"/>
          <p:cNvSpPr/>
          <p:nvPr/>
        </p:nvSpPr>
        <p:spPr>
          <a:xfrm>
            <a:off x="502920" y="3291840"/>
            <a:ext cx="6673291" cy="868680"/>
          </a:xfrm>
          <a:prstGeom prst="rect">
            <a:avLst/>
          </a:prstGeom>
          <a:noFill/>
          <a:ln/>
        </p:spPr>
        <p:txBody>
          <a:bodyPr wrap="square" rtlCol="0" anchor="t"/>
          <a:lstStyle/>
          <a:p>
            <a:pPr indent="0" marL="0">
              <a:lnSpc>
                <a:spcPct val="125000"/>
              </a:lnSpc>
              <a:buNone/>
            </a:pPr>
            <a:r>
              <a:rPr lang="en-US" sz="1050" dirty="0">
                <a:solidFill>
                  <a:srgbClr val="6E6A62"/>
                </a:solidFill>
                <a:latin typeface="Calibri" pitchFamily="34" charset="0"/>
                <a:ea typeface="Calibri" pitchFamily="34" charset="-122"/>
                <a:cs typeface="Calibri" pitchFamily="34" charset="-120"/>
              </a:rPr>
              <a:t>These figures come from the same model that produces the rest of the deck, and each build-up is checked at build time to sum to the total it explains. Every figure resting on judgment rather than a quote is named in the provenance pages. The full written methodology, with sources, ships alongside this deck as ASSUMPTIONS.md and as methodology.html on the site.</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Rent, equipment and administration.</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Fixed overhead totals $207,673 a month. Rent is 4,925 SF at $5.50/SF/month NNN.</a:t>
            </a:r>
            <a:endParaRPr lang="en-US" sz="1150" dirty="0"/>
          </a:p>
        </p:txBody>
      </p:sp>
      <p:sp>
        <p:nvSpPr>
          <p:cNvPr id="5" name="Text 3"/>
          <p:cNvSpPr/>
          <p:nvPr/>
        </p:nvSpPr>
        <p:spPr>
          <a:xfrm>
            <a:off x="502920" y="16916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EQUIPMENT LEASES</a:t>
            </a:r>
            <a:endParaRPr lang="en-US" sz="7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02920" y="1911096"/>
          <a:ext cx="3968496" cy="914400"/>
        </p:xfrm>
        <a:graphic>
          <a:graphicData uri="http://schemas.openxmlformats.org/drawingml/2006/table">
            <a:tbl>
              <a:tblPr/>
              <a:tblGrid>
                <a:gridCol w="2619207"/>
                <a:gridCol w="1349289"/>
              </a:tblGrid>
              <a:tr h="20116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Component</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Ammortal chamber (1 unit) financed</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Aescape robotic massage (1 unit) subscription</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5000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Second red light bed financed</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1375</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Other leased equipment</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Balance of clinical equipment financed (~$190,000 @ 2.2%/mo)</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4180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$16,555</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7" name="Text 4"/>
          <p:cNvSpPr/>
          <p:nvPr/>
        </p:nvSpPr>
        <p:spPr>
          <a:xfrm>
            <a:off x="4672584" y="16916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ADMIN AND MANAGEMENT</a:t>
            </a:r>
            <a:endParaRPr lang="en-US" sz="750" dirty="0"/>
          </a:p>
        </p:txBody>
      </p:sp>
      <p:graphicFrame>
        <p:nvGraphicFramePr>
          <p:cNvPr id="61" name="Table 1"/>
          <p:cNvGraphicFramePr>
            <a:graphicFrameLocks noGrp="1"/>
          </p:cNvGraphicFramePr>
          <p:nvPr>
            <p:extLst>
              <p:ext uri="{D42A27DB-BD31-4B8C-83A1-F6EECF244321}">
                <p14:modId xmlns:p14="http://schemas.microsoft.com/office/powerpoint/2010/main" val="1579011935"/>
              </p:ext>
            </p:extLst>
          </p:nvPr>
        </p:nvGraphicFramePr>
        <p:xfrm>
          <a:off x="4672584" y="1911096"/>
          <a:ext cx="3968496" cy="914400"/>
        </p:xfrm>
        <a:graphic>
          <a:graphicData uri="http://schemas.openxmlformats.org/drawingml/2006/table">
            <a:tbl>
              <a:tblPr/>
              <a:tblGrid>
                <a:gridCol w="2619207"/>
                <a:gridCol w="1349289"/>
              </a:tblGrid>
              <a:tr h="20116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Component</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Bookkeeping and accounting</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Legal and compliance retainer</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IT and managed services</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Business insurance (GL, property, cyber)</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Merchant processing and banking</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9500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$18,500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9" name="Text 5"/>
          <p:cNvSpPr/>
          <p:nvPr/>
        </p:nvSpPr>
        <p:spPr>
          <a:xfrm>
            <a:off x="502920" y="3886200"/>
            <a:ext cx="8138160" cy="594360"/>
          </a:xfrm>
          <a:prstGeom prst="rect">
            <a:avLst/>
          </a:prstGeom>
          <a:noFill/>
          <a:ln/>
        </p:spPr>
        <p:txBody>
          <a:bodyPr wrap="square" rtlCol="0" anchor="ctr"/>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One Ammortal chamber, not two: $159,500 list including delivery, install and onboarding, a 10% deposit, and roughly $3,000 a month on vendor financing. Aescape cannot be purchased at all, and the single unit runs $5,000 a month on enterprise terms plus $10 for every completed massage, which is a variable cost already sitting inside that service line’s margin rather than here. The second red light bed is vendor-financed at $1,375 a month: red light runs 650 sessions a month on the current menu, which one bed cannot physically deliver.</a:t>
            </a:r>
            <a:endParaRPr lang="en-US" sz="85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30</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Clinical and club staff: $85,920/month.</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named roster of nine posts priced off hourly rates at 160 hours a month, carried as fully loaded. Coverage against a 14-hour, 7-day week has not yet been tested.</a:t>
            </a:r>
            <a:endParaRPr lang="en-US" sz="11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120640"/>
                <a:gridCol w="1097280"/>
                <a:gridCol w="192024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Role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FTE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 loaded</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Officers (2 @ $150,000/yr)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$25,000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Medical Director (MD/DO)</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0.4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Aesthetics Injector (NP or PA): $85/hr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$13,600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Longevity Clinical Lead (NP or PA): $100/hr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$16,000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Registered Nurse (IV, regenerative, recovery): $55/hr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$8,800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LVN: $30/hr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$4,800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Medical assistant / technician: $25/hr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Administrator: $45/hr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$7,200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Front desk / concierge: $22/hr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$3,520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$85,920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31</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Marketing and insurance.</a:t>
            </a:r>
            <a:endParaRPr lang="en-US" sz="2600" dirty="0"/>
          </a:p>
        </p:txBody>
      </p:sp>
      <p:sp>
        <p:nvSpPr>
          <p:cNvPr id="4" name="Text 2"/>
          <p:cNvSpPr/>
          <p:nvPr/>
        </p:nvSpPr>
        <p:spPr>
          <a:xfrm>
            <a:off x="502920"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MARKETING AND MEMBER ACQUISITION</a:t>
            </a:r>
            <a:endParaRPr lang="en-US" sz="7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02920"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Paid digital and social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Content, photography, video</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Events and community programming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Agency / fractional marketing lead</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Referral and partnership incentives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$30,000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MALPRACTICE AND LIABILITY</a:t>
            </a:r>
            <a:endParaRPr lang="en-US" sz="750" dirty="0"/>
          </a:p>
        </p:txBody>
      </p:sp>
      <p:graphicFrame>
        <p:nvGraphicFramePr>
          <p:cNvPr id="65" name="Table 1"/>
          <p:cNvGraphicFramePr>
            <a:graphicFrameLocks noGrp="1"/>
          </p:cNvGraphicFramePr>
          <p:nvPr>
            <p:extLst>
              <p:ext uri="{D42A27DB-BD31-4B8C-83A1-F6EECF244321}">
                <p14:modId xmlns:p14="http://schemas.microsoft.com/office/powerpoint/2010/main" val="1579011935"/>
              </p:ext>
            </p:extLst>
          </p:nvPr>
        </p:nvGraphicFramePr>
        <p:xfrm>
          <a:off x="4672584"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Director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Aesthetics injector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Longevity clinical lead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Nursing coverage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Entity policy and umbrella</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3840480"/>
            <a:ext cx="8138160" cy="502920"/>
          </a:xfrm>
          <a:prstGeom prst="rect">
            <a:avLst/>
          </a:prstGeom>
          <a:noFill/>
          <a:ln/>
        </p:spPr>
        <p:txBody>
          <a:bodyPr wrap="square" rtlCol="0" anchor="ctr"/>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Priced per credentialed provider plus an entity policy and umbrella. The surgical case adds facility coverage for an accredited operating room, which is the single largest driver of the difference.</a:t>
            </a:r>
            <a:endParaRPr lang="en-US" sz="850" dirty="0"/>
          </a:p>
        </p:txBody>
      </p:sp>
      <p:sp>
        <p:nvSpPr>
          <p:cNvPr id="9"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10"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32</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Utilities and compliance.</a:t>
            </a:r>
            <a:endParaRPr lang="en-US" sz="2600" dirty="0"/>
          </a:p>
        </p:txBody>
      </p:sp>
      <p:sp>
        <p:nvSpPr>
          <p:cNvPr id="4" name="Text 2"/>
          <p:cNvSpPr/>
          <p:nvPr/>
        </p:nvSpPr>
        <p:spPr>
          <a:xfrm>
            <a:off x="502920"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UTILITIES, SOFTWARE, MEMBER PLATFORM</a:t>
            </a:r>
            <a:endParaRPr lang="en-US" sz="7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02920"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Utilities (electric, gas, water)</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 platform and booking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EMR / charting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Phone, internet, security monitoring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Laundry and linen service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Music, AV, miscellaneous systems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$16,000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LICENSING AND COMPLIANCE</a:t>
            </a:r>
            <a:endParaRPr lang="en-US" sz="750" dirty="0"/>
          </a:p>
        </p:txBody>
      </p:sp>
      <p:graphicFrame>
        <p:nvGraphicFramePr>
          <p:cNvPr id="67" name="Table 1"/>
          <p:cNvGraphicFramePr>
            <a:graphicFrameLocks noGrp="1"/>
          </p:cNvGraphicFramePr>
          <p:nvPr>
            <p:extLst>
              <p:ext uri="{D42A27DB-BD31-4B8C-83A1-F6EECF244321}">
                <p14:modId xmlns:p14="http://schemas.microsoft.com/office/powerpoint/2010/main" val="1579011935"/>
              </p:ext>
            </p:extLst>
          </p:nvPr>
        </p:nvGraphicFramePr>
        <p:xfrm>
          <a:off x="4672584"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Business licenses and permits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1600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CLIA waiver / lab (bi-annual, amortised)</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$1,610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33</a:t>
            </a:r>
            <a:endParaRPr lang="en-US" sz="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COST OF GOODS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the margins pay for.</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Cost of goods runs $165,563 a month against $598,036 of revenue, a blended 72.3% margin.</a:t>
            </a:r>
            <a:endParaRPr lang="en-US" sz="11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8138160" cy="914400"/>
        </p:xfrm>
        <a:graphic>
          <a:graphicData uri="http://schemas.openxmlformats.org/drawingml/2006/table">
            <a:tbl>
              <a:tblPr/>
              <a:tblGrid>
                <a:gridCol w="1737360"/>
                <a:gridCol w="822960"/>
                <a:gridCol w="557784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Category</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Margin</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What the cost side is</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80–82%</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Consumables, filters and water treatment, linens, device servicing contracts. Almost no per-session variable cost, which is why these margins are the highest in the building.</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PRP</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60–72%</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Draw kits, separation tubes and centrifuge consumables, needles and sharps, topical anaesthetic. Cost per case is close to fixed, so the margin spread across the six lines is a pricing decision rather than a cost one.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Regenerative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56–78%</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IV bags and tubing, vitamins, glutathione and NAD+ compound, pharmacy cost on prescribed therapeutics. The widest band in the book: NAD+ carries the compound cost and the hydration drips carry almost none.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Aesthetics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65–75%</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Neuromodulator and filler units at acquisition cost, RF microneedling tips, laser consumables, topicals. Filler is the thinnest because product cost dominates a single syringe.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Diagnostics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65–77%</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Reference lab send-out fees, DEXA consumables, DNA and DUTCH collection kits, interpretation time. DEXA sits at the top because the scanner is owned and the marginal cost of a scan is small.</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Surgery: facility fee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78–80%</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Disposables, implants, drugs and linens, instrument reprocessing. Clinical staff sits in fixed overhead and the surgeon takes no share of the facility fee, which is why these exceed the treatment-room lines.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Surgery: full fee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73–76%</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As above, plus graft handling and technician time on hair restoration and laser consumables on ablative resurfacing.</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069080"/>
            <a:ext cx="8138160" cy="365760"/>
          </a:xfrm>
          <a:prstGeom prst="rect">
            <a:avLst/>
          </a:prstGeom>
          <a:noFill/>
          <a:ln/>
        </p:spPr>
        <p:txBody>
          <a:bodyPr wrap="square" rtlCol="0" anchor="ctr"/>
          <a:lstStyle/>
          <a:p>
            <a:pPr indent="0" marL="0">
              <a:buNone/>
            </a:pPr>
            <a:r>
              <a:rPr lang="en-US" sz="850" dirty="0">
                <a:solidFill>
                  <a:srgbClr val="6E6A62"/>
                </a:solidFill>
                <a:latin typeface="Calibri" pitchFamily="34" charset="0"/>
                <a:ea typeface="Calibri" pitchFamily="34" charset="-122"/>
                <a:cs typeface="Calibri" pitchFamily="34" charset="-120"/>
              </a:rPr>
              <a:t>Circuit consumables (towels, laundry, water and amenities) are carried separately at $8 a visit across 2,345 monthly visits, or $18,760.</a:t>
            </a:r>
            <a:endParaRPr lang="en-US" sz="85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34</a:t>
            </a:r>
            <a:endParaRPr lang="en-US" sz="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itemised capital lines.</a:t>
            </a:r>
            <a:endParaRPr lang="en-US" sz="2600" dirty="0"/>
          </a:p>
        </p:txBody>
      </p:sp>
      <p:sp>
        <p:nvSpPr>
          <p:cNvPr id="4" name="Text 2"/>
          <p:cNvSpPr/>
          <p:nvPr/>
        </p:nvSpPr>
        <p:spPr>
          <a:xfrm>
            <a:off x="502920" y="14630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WET AREAS</a:t>
            </a:r>
            <a:endParaRPr lang="en-US" sz="7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02920" y="1682496"/>
          <a:ext cx="3968496" cy="914400"/>
        </p:xfrm>
        <a:graphic>
          <a:graphicData uri="http://schemas.openxmlformats.org/drawingml/2006/table">
            <a:tbl>
              <a:tblPr/>
              <a:tblGrid>
                <a:gridCol w="2619207"/>
                <a:gridCol w="1349289"/>
              </a:tblGrid>
              <a:tr h="18288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Component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Saunas (2), cedar, heaters, controls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Cold plunges (2), chillers, filtration</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Steam room and generator</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Waterproofing, drainage, floor slopes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Dedicated ventilation and dehumidification</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Tile, benching, finishes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$465,000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4630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RECOVERY TECHNOLOGY</a:t>
            </a:r>
            <a:endParaRPr lang="en-US" sz="750" dirty="0"/>
          </a:p>
        </p:txBody>
      </p:sp>
      <p:graphicFrame>
        <p:nvGraphicFramePr>
          <p:cNvPr id="71" name="Table 1"/>
          <p:cNvGraphicFramePr>
            <a:graphicFrameLocks noGrp="1"/>
          </p:cNvGraphicFramePr>
          <p:nvPr>
            <p:extLst>
              <p:ext uri="{D42A27DB-BD31-4B8C-83A1-F6EECF244321}">
                <p14:modId xmlns:p14="http://schemas.microsoft.com/office/powerpoint/2010/main" val="1579011935"/>
              </p:ext>
            </p:extLst>
          </p:nvPr>
        </p:nvGraphicFramePr>
        <p:xfrm>
          <a:off x="4672584" y="1682496"/>
          <a:ext cx="3968496" cy="914400"/>
        </p:xfrm>
        <a:graphic>
          <a:graphicData uri="http://schemas.openxmlformats.org/drawingml/2006/table">
            <a:tbl>
              <a:tblPr/>
              <a:tblGrid>
                <a:gridCol w="2619207"/>
                <a:gridCol w="1349289"/>
              </a:tblGrid>
              <a:tr h="18288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Component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 chamber, purchased</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 ($159,500 list), 10% finance deposit</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15950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 (1 unit), subscription only</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$165,950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35</a:t>
            </a:r>
            <a:endParaRPr lang="en-US" sz="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each capital line covers.</a:t>
            </a:r>
            <a:endParaRPr lang="en-US" sz="26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2697480"/>
                <a:gridCol w="1280160"/>
                <a:gridCol w="4160520"/>
              </a:tblGrid>
              <a:tr h="219456">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Line</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Basis</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Buildout and tenant improvements (4,925 SF @ $250/SF)</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$1,231,250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Square footage × $250/SF for clinic and club space.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Wet areas: 2 saunas, 2 plunges, steam, drainage…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$465,000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Itemised below. Wet construction is the highest-variance line in the whole buildout: waterproofing failures and ventilation rework are the classic overrun.</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Medical and aesthetic equipment (purchased)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Purchased portion of the medical and aesthetic package. Excludes bone densitometry, which is itemised on its own line below.</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 technology: HBOT purchased, Ammortal deposit</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$165,950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Only the hyperbaric chamber is bought outright. The Ammortal chamber is financed, so the capital cost is the deposit alone.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GE iDXA bone densitometer, purchased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 GE Lunar iDXA bone densitometer, bought outright rather than leased, plus the 125 SF room it occupies.</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FF&amp;E, lounge, millwork, retail</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$430,000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Furniture, lounge fit-out, millwork and retail fixtures.</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Pre-opening: licensing, legal, insurance, hiring</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$310,000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Licensing, legal, insurance binders, recruiting and pre-opening payroll.</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Brand, launch, founding member campaign</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$237,000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Identity, site, photography, launch campaign and the founding member drive.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Working capital reserve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$1,105,800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Sized against the modelled cash trough, not set to a round number.</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 project cost</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$4,750,000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36</a:t>
            </a:r>
            <a:endParaRPr lang="en-US" sz="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PROVENANCE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rests on judgment (1 of 3).</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Each figure below is an estimate, an inherited assumption or a single vendor quote.</a:t>
            </a:r>
            <a:endParaRPr lang="en-US" sz="1150" dirty="0"/>
          </a:p>
        </p:txBody>
      </p:sp>
      <p:sp>
        <p:nvSpPr>
          <p:cNvPr id="5" name="Text 3"/>
          <p:cNvSpPr/>
          <p:nvPr/>
        </p:nvSpPr>
        <p:spPr>
          <a:xfrm>
            <a:off x="502920" y="1572768"/>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RENT (4,925 SF NNN)</a:t>
            </a:r>
            <a:endParaRPr lang="en-US" sz="800" dirty="0"/>
          </a:p>
        </p:txBody>
      </p:sp>
      <p:sp>
        <p:nvSpPr>
          <p:cNvPr id="6" name="Text 4"/>
          <p:cNvSpPr/>
          <p:nvPr/>
        </p:nvSpPr>
        <p:spPr>
          <a:xfrm>
            <a:off x="502920" y="1737360"/>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This is the most exposed number in the model. There is no broker letter, no comparable set and no listing behind it anywhere in the lineage. The prior Playa Vista model implied $6.77/SF, so $5.50 is the more aggressive figure. Sensitivity is shown at the end of this document.</a:t>
            </a:r>
            <a:endParaRPr lang="en-US" sz="800" dirty="0"/>
          </a:p>
        </p:txBody>
      </p:sp>
      <p:sp>
        <p:nvSpPr>
          <p:cNvPr id="7" name="Text 5"/>
          <p:cNvSpPr/>
          <p:nvPr/>
        </p:nvSpPr>
        <p:spPr>
          <a:xfrm>
            <a:off x="502920" y="2115922"/>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EQUIPMENT LEASES</a:t>
            </a:r>
            <a:endParaRPr lang="en-US" sz="800" dirty="0"/>
          </a:p>
        </p:txBody>
      </p:sp>
      <p:sp>
        <p:nvSpPr>
          <p:cNvPr id="8" name="Text 6"/>
          <p:cNvSpPr/>
          <p:nvPr/>
        </p:nvSpPr>
        <p:spPr>
          <a:xfrm>
            <a:off x="502920" y="2280514"/>
            <a:ext cx="8138160" cy="482803"/>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One Ammortal chamber, not two: $159,500 list including delivery, install and onboarding, a 10% deposit, and roughly $3,000 a month on vendor financing. Aescape cannot be purchased at all, and the single unit runs $5,000 a month on enterprise terms plus $10 for every completed massage, which is a variable cost already sitting inside that service line’s margin rather than here. The second red light bed is vendor-financed at $1,375 a month: red light runs 650 sessions a month on the current menu, which one bed cannot physically deliver.</a:t>
            </a:r>
            <a:endParaRPr lang="en-US" sz="800" dirty="0"/>
          </a:p>
        </p:txBody>
      </p:sp>
      <p:sp>
        <p:nvSpPr>
          <p:cNvPr id="9" name="Text 7"/>
          <p:cNvSpPr/>
          <p:nvPr/>
        </p:nvSpPr>
        <p:spPr>
          <a:xfrm>
            <a:off x="502920" y="2900477"/>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ADMIN AND MANAGEMENT</a:t>
            </a:r>
            <a:endParaRPr lang="en-US" sz="800" dirty="0"/>
          </a:p>
        </p:txBody>
      </p:sp>
      <p:sp>
        <p:nvSpPr>
          <p:cNvPr id="10" name="Text 8"/>
          <p:cNvSpPr/>
          <p:nvPr/>
        </p:nvSpPr>
        <p:spPr>
          <a:xfrm>
            <a:off x="502920" y="3065069"/>
            <a:ext cx="8138160" cy="120701"/>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Merchant processing is the largest component and scales with card revenue at roughly 2.6%. Everything else is a fixed vendor cost.</a:t>
            </a:r>
            <a:endParaRPr lang="en-US" sz="800" dirty="0"/>
          </a:p>
        </p:txBody>
      </p:sp>
      <p:sp>
        <p:nvSpPr>
          <p:cNvPr id="11" name="Text 9"/>
          <p:cNvSpPr/>
          <p:nvPr/>
        </p:nvSpPr>
        <p:spPr>
          <a:xfrm>
            <a:off x="502920" y="3322930"/>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MARKETING AND MEMBER ACQUISITION</a:t>
            </a:r>
            <a:endParaRPr lang="en-US" sz="800" dirty="0"/>
          </a:p>
        </p:txBody>
      </p:sp>
      <p:sp>
        <p:nvSpPr>
          <p:cNvPr id="12" name="Text 10"/>
          <p:cNvSpPr/>
          <p:nvPr/>
        </p:nvSpPr>
        <p:spPr>
          <a:xfrm>
            <a:off x="502920" y="3487522"/>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Weighted toward paid digital during the ramp and toward events and referral once the membership base exists. No blended CAC target is claimed, because none has been measured.</a:t>
            </a:r>
            <a:endParaRPr lang="en-US" sz="800" dirty="0"/>
          </a:p>
        </p:txBody>
      </p:sp>
      <p:sp>
        <p:nvSpPr>
          <p:cNvPr id="13" name="Text 11"/>
          <p:cNvSpPr/>
          <p:nvPr/>
        </p:nvSpPr>
        <p:spPr>
          <a:xfrm>
            <a:off x="502920" y="3866083"/>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MALPRACTICE AND LIABILITY</a:t>
            </a:r>
            <a:endParaRPr lang="en-US" sz="800" dirty="0"/>
          </a:p>
        </p:txBody>
      </p:sp>
      <p:sp>
        <p:nvSpPr>
          <p:cNvPr id="14" name="Text 12"/>
          <p:cNvSpPr/>
          <p:nvPr/>
        </p:nvSpPr>
        <p:spPr>
          <a:xfrm>
            <a:off x="502920" y="4030675"/>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Priced per credentialed provider plus an entity policy and umbrella. The surgical case adds facility coverage for an accredited operating room, which is the single largest driver of the difference.</a:t>
            </a:r>
            <a:endParaRPr lang="en-US" sz="8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37</a:t>
            </a:r>
            <a:endParaRPr lang="en-US" sz="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PROVENANCE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rests on judgment (2 of 3).</a:t>
            </a:r>
            <a:endParaRPr lang="en-US" sz="2600" dirty="0"/>
          </a:p>
        </p:txBody>
      </p:sp>
      <p:sp>
        <p:nvSpPr>
          <p:cNvPr id="4" name="Text 2"/>
          <p:cNvSpPr/>
          <p:nvPr/>
        </p:nvSpPr>
        <p:spPr>
          <a:xfrm>
            <a:off x="502920" y="1298448"/>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UTILITIES, SOFTWARE, MEMBER PLATFORM</a:t>
            </a:r>
            <a:endParaRPr lang="en-US" sz="800" dirty="0"/>
          </a:p>
        </p:txBody>
      </p:sp>
      <p:sp>
        <p:nvSpPr>
          <p:cNvPr id="5" name="Text 3"/>
          <p:cNvSpPr/>
          <p:nvPr/>
        </p:nvSpPr>
        <p:spPr>
          <a:xfrm>
            <a:off x="502920" y="1463040"/>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Wet areas dominate the utility line: saunas, plunges and their dehumidification run continuously and are materially more energy intensive than a dry medspa of the same footprint.</a:t>
            </a:r>
            <a:endParaRPr lang="en-US" sz="800" dirty="0"/>
          </a:p>
        </p:txBody>
      </p:sp>
      <p:sp>
        <p:nvSpPr>
          <p:cNvPr id="6" name="Text 4"/>
          <p:cNvSpPr/>
          <p:nvPr/>
        </p:nvSpPr>
        <p:spPr>
          <a:xfrm>
            <a:off x="502920" y="1841602"/>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LICENSING AND COMPLIANCE</a:t>
            </a:r>
            <a:endParaRPr lang="en-US" sz="800" dirty="0"/>
          </a:p>
        </p:txBody>
      </p:sp>
      <p:sp>
        <p:nvSpPr>
          <p:cNvPr id="7" name="Text 5"/>
          <p:cNvSpPr/>
          <p:nvPr/>
        </p:nvSpPr>
        <p:spPr>
          <a:xfrm>
            <a:off x="502920" y="2006194"/>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Routine regulatory carrying cost. The surgical case adds accreditation maintenance and a standing quality and performance improvement programme, both of which the accrediting body requires between surveys.</a:t>
            </a:r>
            <a:endParaRPr lang="en-US" sz="800" dirty="0"/>
          </a:p>
        </p:txBody>
      </p:sp>
      <p:sp>
        <p:nvSpPr>
          <p:cNvPr id="8" name="Text 6"/>
          <p:cNvSpPr/>
          <p:nvPr/>
        </p:nvSpPr>
        <p:spPr>
          <a:xfrm>
            <a:off x="502920" y="2384755"/>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BUILDOUT AND TENANT IMPROVEMENTS (4,925 SF @ $250/SF)</a:t>
            </a:r>
            <a:endParaRPr lang="en-US" sz="800" dirty="0"/>
          </a:p>
        </p:txBody>
      </p:sp>
      <p:sp>
        <p:nvSpPr>
          <p:cNvPr id="9" name="Text 7"/>
          <p:cNvSpPr/>
          <p:nvPr/>
        </p:nvSpPr>
        <p:spPr>
          <a:xfrm>
            <a:off x="502920" y="2549347"/>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The prior Playa Vista model used $200–$300/SF for comparable clinic buildout, so $250 sits mid-range. It is not a contractor bid; a general contractor bid remains the most valuable document to obtain before closing.</a:t>
            </a:r>
            <a:endParaRPr lang="en-US" sz="800" dirty="0"/>
          </a:p>
        </p:txBody>
      </p:sp>
      <p:sp>
        <p:nvSpPr>
          <p:cNvPr id="10" name="Text 8"/>
          <p:cNvSpPr/>
          <p:nvPr/>
        </p:nvSpPr>
        <p:spPr>
          <a:xfrm>
            <a:off x="502920" y="2927909"/>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MEDICAL AND AESTHETIC EQUIPMENT (PURCHASED)</a:t>
            </a:r>
            <a:endParaRPr lang="en-US" sz="800" dirty="0"/>
          </a:p>
        </p:txBody>
      </p:sp>
      <p:sp>
        <p:nvSpPr>
          <p:cNvPr id="11" name="Text 9"/>
          <p:cNvSpPr/>
          <p:nvPr/>
        </p:nvSpPr>
        <p:spPr>
          <a:xfrm>
            <a:off x="502920" y="3092501"/>
            <a:ext cx="8138160" cy="3621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Category ranges come from the prior Playa Vista line-item budget: IV and exam $80K–$150K, PRP processing $40K–$125K, aesthetic laser $150K–$400K, RF microneedling $80K–$180K, body contouring $100K–$275K, diagnostics $80K–$180K. That budget is an internal planning document, not vendor quotes. The diagnostics range above covers biometrics, phlebotomy and the lab interface only: the GE iDXA is named and priced separately so the two cannot be counted twice.</a:t>
            </a:r>
            <a:endParaRPr lang="en-US" sz="800" dirty="0"/>
          </a:p>
        </p:txBody>
      </p:sp>
      <p:sp>
        <p:nvSpPr>
          <p:cNvPr id="12" name="Text 10"/>
          <p:cNvSpPr/>
          <p:nvPr/>
        </p:nvSpPr>
        <p:spPr>
          <a:xfrm>
            <a:off x="502920" y="3591763"/>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RECOVERY TECHNOLOGY: HBOT PURCHASED, AMMORTAL DEPOSIT</a:t>
            </a:r>
            <a:endParaRPr lang="en-US" sz="800" dirty="0"/>
          </a:p>
        </p:txBody>
      </p:sp>
      <p:sp>
        <p:nvSpPr>
          <p:cNvPr id="13" name="Text 11"/>
          <p:cNvSpPr/>
          <p:nvPr/>
        </p:nvSpPr>
        <p:spPr>
          <a:xfrm>
            <a:off x="502920" y="3756355"/>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The single Ammortal chamber lists at $159,500 including delivery, install and onboarding, with $15,950 down and roughly $3,000 a month thereafter. Both the Ammortal payment and the Aescape subscription appear in the monthly equipment lease line rather than here, along with the red light beds.</a:t>
            </a:r>
            <a:endParaRPr lang="en-US" sz="8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38</a:t>
            </a:r>
            <a:endParaRPr lang="en-US" sz="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PROVENANCE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rests on judgment (3 of 3).</a:t>
            </a:r>
            <a:endParaRPr lang="en-US" sz="2600" dirty="0"/>
          </a:p>
        </p:txBody>
      </p:sp>
      <p:sp>
        <p:nvSpPr>
          <p:cNvPr id="4" name="Text 2"/>
          <p:cNvSpPr/>
          <p:nvPr/>
        </p:nvSpPr>
        <p:spPr>
          <a:xfrm>
            <a:off x="502920" y="1298448"/>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GE IDXA BONE DENSITOMETER, PURCHASED</a:t>
            </a:r>
            <a:endParaRPr lang="en-US" sz="800" dirty="0"/>
          </a:p>
        </p:txBody>
      </p:sp>
      <p:sp>
        <p:nvSpPr>
          <p:cNvPr id="5" name="Text 3"/>
          <p:cNvSpPr/>
          <p:nvPr/>
        </p:nvSpPr>
        <p:spPr>
          <a:xfrm>
            <a:off x="502920" y="1463040"/>
            <a:ext cx="8138160" cy="482803"/>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Price supplied by the operator. It is well below new-unit list, so it assumes a refurbished or off-lease scanner: confirm the condition, the remaining tube life and whether a service contract is included before closing. The room it needs added 125 SF to the footprint, which carries $31,250 of buildout at $250/SF; both that and the scanner itself are funded from the working capital reserve, so the project cost is unchanged. Owning the scanner rather than referring out is what puts the DEXA service line at a 77% margin and lets it be priced as a $95 screening entry point.</a:t>
            </a:r>
            <a:endParaRPr lang="en-US" sz="800" dirty="0"/>
          </a:p>
        </p:txBody>
      </p:sp>
      <p:sp>
        <p:nvSpPr>
          <p:cNvPr id="6" name="Text 4"/>
          <p:cNvSpPr/>
          <p:nvPr/>
        </p:nvSpPr>
        <p:spPr>
          <a:xfrm>
            <a:off x="502920" y="2083003"/>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FF&amp;E, LOUNGE, MILLWORK, RETAIL</a:t>
            </a:r>
            <a:endParaRPr lang="en-US" sz="800" dirty="0"/>
          </a:p>
        </p:txBody>
      </p:sp>
      <p:sp>
        <p:nvSpPr>
          <p:cNvPr id="7" name="Text 5"/>
          <p:cNvSpPr/>
          <p:nvPr/>
        </p:nvSpPr>
        <p:spPr>
          <a:xfrm>
            <a:off x="502920" y="2247595"/>
            <a:ext cx="8138160" cy="120701"/>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Hospitality-grade rather than clinical-grade, because the lounge is the product. Per square foot this is the line most exposed to taste and specification drift.</a:t>
            </a:r>
            <a:endParaRPr lang="en-US" sz="800" dirty="0"/>
          </a:p>
        </p:txBody>
      </p:sp>
      <p:sp>
        <p:nvSpPr>
          <p:cNvPr id="8" name="Text 6"/>
          <p:cNvSpPr/>
          <p:nvPr/>
        </p:nvSpPr>
        <p:spPr>
          <a:xfrm>
            <a:off x="502920" y="2505456"/>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PRE-OPENING: LICENSING, LEGAL, INSURANCE, HIRING</a:t>
            </a:r>
            <a:endParaRPr lang="en-US" sz="800" dirty="0"/>
          </a:p>
        </p:txBody>
      </p:sp>
      <p:sp>
        <p:nvSpPr>
          <p:cNvPr id="9" name="Text 7"/>
          <p:cNvSpPr/>
          <p:nvPr/>
        </p:nvSpPr>
        <p:spPr>
          <a:xfrm>
            <a:off x="502920" y="2670048"/>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The surgical case additionally carries the written transfer agreement with a nearby acute-care facility, which the accrediting body expects. It is priced inside this line rather than broken out.</a:t>
            </a:r>
            <a:endParaRPr lang="en-US" sz="800" dirty="0"/>
          </a:p>
        </p:txBody>
      </p:sp>
      <p:sp>
        <p:nvSpPr>
          <p:cNvPr id="10" name="Text 8"/>
          <p:cNvSpPr/>
          <p:nvPr/>
        </p:nvSpPr>
        <p:spPr>
          <a:xfrm>
            <a:off x="502920" y="3048610"/>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BRAND, LAUNCH, FOUNDING MEMBER CAMPAIGN</a:t>
            </a:r>
            <a:endParaRPr lang="en-US" sz="800" dirty="0"/>
          </a:p>
        </p:txBody>
      </p:sp>
      <p:sp>
        <p:nvSpPr>
          <p:cNvPr id="11" name="Text 9"/>
          <p:cNvSpPr/>
          <p:nvPr/>
        </p:nvSpPr>
        <p:spPr>
          <a:xfrm>
            <a:off x="502920" y="3213202"/>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Sized against the founding member target: the campaign has to convert enough pre-opening memberships to matter, and those proceeds are modelled as offsetting construction-period burn.</a:t>
            </a:r>
            <a:endParaRPr lang="en-US" sz="800" dirty="0"/>
          </a:p>
        </p:txBody>
      </p:sp>
      <p:sp>
        <p:nvSpPr>
          <p:cNvPr id="12" name="Text 10"/>
          <p:cNvSpPr/>
          <p:nvPr/>
        </p:nvSpPr>
        <p:spPr>
          <a:xfrm>
            <a:off x="502920" y="3591763"/>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WORKING CAPITAL RESERVE</a:t>
            </a:r>
            <a:endParaRPr lang="en-US" sz="800" dirty="0"/>
          </a:p>
        </p:txBody>
      </p:sp>
      <p:sp>
        <p:nvSpPr>
          <p:cNvPr id="13" name="Text 11"/>
          <p:cNvSpPr/>
          <p:nvPr/>
        </p:nvSpPr>
        <p:spPr>
          <a:xfrm>
            <a:off x="502920" y="3756355"/>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This is the one capital line that is computed rather than estimated. The model runs a 36-month cash curve and this reserve must exceed the deepest cumulative shortfall; a build assert fails if it does not. That is why the figure is not round.</a:t>
            </a:r>
            <a:endParaRPr lang="en-US" sz="8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39</a:t>
            </a:r>
            <a:endParaRPr lang="en-US" sz="7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If rent is wrong, what happens.</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Rent is the largest single assumption in the model and the easiest to check. Everything else is held constant.</a:t>
            </a:r>
            <a:endParaRPr lang="en-US" sz="11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02920" y="1828800"/>
          <a:ext cx="8138160" cy="914400"/>
        </p:xfrm>
        <a:graphic>
          <a:graphicData uri="http://schemas.openxmlformats.org/drawingml/2006/table">
            <a:tbl>
              <a:tblPr/>
              <a:tblGrid>
                <a:gridCol w="2103120"/>
                <a:gridCol w="1463040"/>
                <a:gridCol w="1645920"/>
                <a:gridCol w="1554480"/>
                <a:gridCol w="137160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Rent $/SF/month NNN</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 rent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 /mo</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Annual</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Yield on equity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5.50  (modelled)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$27,088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$224,801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$2,697,611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56.8%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6.00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$29,550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$222,338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$2,668,061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56.2%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6.50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$32,013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$219,876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$2,638,511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55.5%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$34,475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$217,413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$2,608,961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54.9%</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361188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Yield is stabilized operating income against the equity raised, before tax and before any distribution. The modelled rate is the more aggressive of the figures shown; a broker letter or signed lease would replace this assumption with a fact.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40</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LK Wellness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L and K Wellness: Private Investment Brief</dc:subject>
  <dc:creator>LK Wellness</dc:creator>
  <cp:lastModifiedBy>LK Wellness</cp:lastModifiedBy>
  <cp:revision>1</cp:revision>
  <dcterms:created xsi:type="dcterms:W3CDTF">2026-08-18T18:11:10Z</dcterms:created>
  <dcterms:modified xsi:type="dcterms:W3CDTF">2026-08-18T18:11:10Z</dcterms:modified>
</cp:coreProperties>
</file>