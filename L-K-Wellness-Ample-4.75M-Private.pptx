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4,925 SF   ·   Est. 2026   ·   Ample · private, $4.75M all equity</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PRIVATE INVESTMENT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24 of 30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Services on the L&amp;K menu that require a physician, nurse practitioner or nurse. A recovery studio without a physician can offer 6.</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Others proved the format.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Only a licensed facility can deliver it.</a:t>
            </a:r>
            <a:endParaRPr lang="en-US" sz="1150" dirty="0"/>
          </a:p>
        </p:txBody>
      </p:sp>
      <p:sp>
        <p:nvSpPr>
          <p:cNvPr id="5" name="Shape 3"/>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6" name="Text 4"/>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7" name="Text 5"/>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a non-medical operator stops. No physician on site means no PRP, no IV therapy, no neuromodulators, no filler, no laser. Not features they skipped: the other side of a licensing threshold.</a:t>
            </a:r>
            <a:endParaRPr lang="en-US" sz="900" dirty="0"/>
          </a:p>
        </p:txBody>
      </p:sp>
      <p:sp>
        <p:nvSpPr>
          <p:cNvPr id="8" name="Shape 6"/>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9" name="Text 7"/>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10" name="Text 8"/>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the ladder was proven. Soho Friends is a published annual tier buying discounts and event invitations but no club access. What they lack is medicine.</a:t>
            </a:r>
            <a:endParaRPr lang="en-US" sz="900" dirty="0"/>
          </a:p>
        </p:txBody>
      </p:sp>
      <p:sp>
        <p:nvSpPr>
          <p:cNvPr id="11" name="Shape 9"/>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2" name="Text 10"/>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DIFFERENCE</a:t>
            </a:r>
            <a:endParaRPr lang="en-US" sz="850" dirty="0"/>
          </a:p>
        </p:txBody>
      </p:sp>
      <p:sp>
        <p:nvSpPr>
          <p:cNvPr id="13" name="Text 11"/>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L&amp;K is not a practice built around a doctor. It is the facility a doctor needs.</a:t>
            </a:r>
            <a:endParaRPr lang="en-US" sz="1450" dirty="0"/>
          </a:p>
        </p:txBody>
      </p:sp>
      <p:sp>
        <p:nvSpPr>
          <p:cNvPr id="14" name="Text 12"/>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The rooms, the diagnostics, the infusion suite, the operating suite, the staff and the accreditation, already standing. Physicians practice here. Investors own the building they practice in, which is why the surgical lines bill a facility fee while the surgeon bills their own patients directly.</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600200"/>
          </a:xfrm>
          <a:prstGeom prst="roundRect">
            <a:avLst>
              <a:gd name="adj" fmla="val 3429"/>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291840"/>
            <a:ext cx="7735824" cy="274320"/>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02736"/>
            <a:ext cx="7735824" cy="932688"/>
          </a:xfrm>
          <a:prstGeom prst="rect">
            <a:avLst/>
          </a:prstGeom>
          <a:noFill/>
          <a:ln/>
        </p:spPr>
        <p:txBody>
          <a:bodyPr wrap="square" rtlCol="0" anchor="t"/>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OFFERING</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Five verbs, not a billing menu.</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information architecture borrows from how a health club organizes itself rather than how a clinic does. Patients do not shop by billing code; they arrive wanting to feel a specific way.</a:t>
            </a:r>
            <a:endParaRPr lang="en-US" sz="1150" dirty="0"/>
          </a:p>
        </p:txBody>
      </p:sp>
      <p:sp>
        <p:nvSpPr>
          <p:cNvPr id="5" name="Shape 3"/>
          <p:cNvSpPr/>
          <p:nvPr/>
        </p:nvSpPr>
        <p:spPr>
          <a:xfrm>
            <a:off x="502920" y="1965960"/>
            <a:ext cx="1525219" cy="2286000"/>
          </a:xfrm>
          <a:prstGeom prst="roundRect">
            <a:avLst>
              <a:gd name="adj" fmla="val 3597"/>
            </a:avLst>
          </a:prstGeom>
          <a:solidFill>
            <a:srgbClr val="16241C"/>
          </a:solidFill>
          <a:ln w="12700">
            <a:solidFill>
              <a:srgbClr val="2E4237"/>
            </a:solidFill>
            <a:prstDash val="solid"/>
          </a:ln>
        </p:spPr>
      </p:sp>
      <p:sp>
        <p:nvSpPr>
          <p:cNvPr id="6" name="Text 4"/>
          <p:cNvSpPr/>
          <p:nvPr/>
        </p:nvSpPr>
        <p:spPr>
          <a:xfrm>
            <a:off x="621792"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RESTORE</a:t>
            </a:r>
            <a:endParaRPr lang="en-US" sz="750" dirty="0"/>
          </a:p>
        </p:txBody>
      </p:sp>
      <p:sp>
        <p:nvSpPr>
          <p:cNvPr id="7" name="Text 5"/>
          <p:cNvSpPr/>
          <p:nvPr/>
        </p:nvSpPr>
        <p:spPr>
          <a:xfrm>
            <a:off x="621792"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Regenerative</a:t>
            </a:r>
            <a:endParaRPr lang="en-US" sz="1200" dirty="0"/>
          </a:p>
        </p:txBody>
      </p:sp>
      <p:sp>
        <p:nvSpPr>
          <p:cNvPr id="8" name="Text 6"/>
          <p:cNvSpPr/>
          <p:nvPr/>
        </p:nvSpPr>
        <p:spPr>
          <a:xfrm>
            <a:off x="621792"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Six PRP protocols, therapeutic medications, a ten-drip infusion menu and NAD+ by dose.</a:t>
            </a:r>
            <a:endParaRPr lang="en-US" sz="800" dirty="0"/>
          </a:p>
        </p:txBody>
      </p:sp>
      <p:sp>
        <p:nvSpPr>
          <p:cNvPr id="9" name="Shape 7"/>
          <p:cNvSpPr/>
          <p:nvPr/>
        </p:nvSpPr>
        <p:spPr>
          <a:xfrm>
            <a:off x="2156155" y="1965960"/>
            <a:ext cx="1525219" cy="2286000"/>
          </a:xfrm>
          <a:prstGeom prst="roundRect">
            <a:avLst>
              <a:gd name="adj" fmla="val 3597"/>
            </a:avLst>
          </a:prstGeom>
          <a:solidFill>
            <a:srgbClr val="16241C"/>
          </a:solidFill>
          <a:ln w="12700">
            <a:solidFill>
              <a:srgbClr val="2E4237"/>
            </a:solidFill>
            <a:prstDash val="solid"/>
          </a:ln>
        </p:spPr>
      </p:sp>
      <p:sp>
        <p:nvSpPr>
          <p:cNvPr id="10" name="Text 8"/>
          <p:cNvSpPr/>
          <p:nvPr/>
        </p:nvSpPr>
        <p:spPr>
          <a:xfrm>
            <a:off x="2275027"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RENEW</a:t>
            </a:r>
            <a:endParaRPr lang="en-US" sz="750" dirty="0"/>
          </a:p>
        </p:txBody>
      </p:sp>
      <p:sp>
        <p:nvSpPr>
          <p:cNvPr id="11" name="Text 9"/>
          <p:cNvSpPr/>
          <p:nvPr/>
        </p:nvSpPr>
        <p:spPr>
          <a:xfrm>
            <a:off x="2275027"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Aesthetics</a:t>
            </a:r>
            <a:endParaRPr lang="en-US" sz="1200" dirty="0"/>
          </a:p>
        </p:txBody>
      </p:sp>
      <p:sp>
        <p:nvSpPr>
          <p:cNvPr id="12" name="Text 10"/>
          <p:cNvSpPr/>
          <p:nvPr/>
        </p:nvSpPr>
        <p:spPr>
          <a:xfrm>
            <a:off x="2275027"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Neuromodulators and filler, RF microneedling, laser resurfacing.</a:t>
            </a:r>
            <a:endParaRPr lang="en-US" sz="800" dirty="0"/>
          </a:p>
        </p:txBody>
      </p:sp>
      <p:sp>
        <p:nvSpPr>
          <p:cNvPr id="13" name="Shape 11"/>
          <p:cNvSpPr/>
          <p:nvPr/>
        </p:nvSpPr>
        <p:spPr>
          <a:xfrm>
            <a:off x="3809390" y="1965960"/>
            <a:ext cx="1525219" cy="2286000"/>
          </a:xfrm>
          <a:prstGeom prst="roundRect">
            <a:avLst>
              <a:gd name="adj" fmla="val 3597"/>
            </a:avLst>
          </a:prstGeom>
          <a:solidFill>
            <a:srgbClr val="16241C"/>
          </a:solidFill>
          <a:ln w="12700">
            <a:solidFill>
              <a:srgbClr val="2E4237"/>
            </a:solidFill>
            <a:prstDash val="solid"/>
          </a:ln>
        </p:spPr>
      </p:sp>
      <p:sp>
        <p:nvSpPr>
          <p:cNvPr id="14" name="Text 12"/>
          <p:cNvSpPr/>
          <p:nvPr/>
        </p:nvSpPr>
        <p:spPr>
          <a:xfrm>
            <a:off x="3928262"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RECOVER</a:t>
            </a:r>
            <a:endParaRPr lang="en-US" sz="750" dirty="0"/>
          </a:p>
        </p:txBody>
      </p:sp>
      <p:sp>
        <p:nvSpPr>
          <p:cNvPr id="15" name="Text 13"/>
          <p:cNvSpPr/>
          <p:nvPr/>
        </p:nvSpPr>
        <p:spPr>
          <a:xfrm>
            <a:off x="3928262"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Recovery</a:t>
            </a:r>
            <a:endParaRPr lang="en-US" sz="1200" dirty="0"/>
          </a:p>
        </p:txBody>
      </p:sp>
      <p:sp>
        <p:nvSpPr>
          <p:cNvPr id="16" name="Text 14"/>
          <p:cNvSpPr/>
          <p:nvPr/>
        </p:nvSpPr>
        <p:spPr>
          <a:xfrm>
            <a:off x="3928262"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Hyperbaric oxygen, Ammortal chambers, robotic massage, compression, red light.</a:t>
            </a:r>
            <a:endParaRPr lang="en-US" sz="800" dirty="0"/>
          </a:p>
        </p:txBody>
      </p:sp>
      <p:sp>
        <p:nvSpPr>
          <p:cNvPr id="17" name="Shape 15"/>
          <p:cNvSpPr/>
          <p:nvPr/>
        </p:nvSpPr>
        <p:spPr>
          <a:xfrm>
            <a:off x="5462626" y="1965960"/>
            <a:ext cx="1525219" cy="2286000"/>
          </a:xfrm>
          <a:prstGeom prst="roundRect">
            <a:avLst>
              <a:gd name="adj" fmla="val 3597"/>
            </a:avLst>
          </a:prstGeom>
          <a:solidFill>
            <a:srgbClr val="16241C"/>
          </a:solidFill>
          <a:ln w="12700">
            <a:solidFill>
              <a:srgbClr val="2E4237"/>
            </a:solidFill>
            <a:prstDash val="solid"/>
          </a:ln>
        </p:spPr>
      </p:sp>
      <p:sp>
        <p:nvSpPr>
          <p:cNvPr id="18" name="Text 16"/>
          <p:cNvSpPr/>
          <p:nvPr/>
        </p:nvSpPr>
        <p:spPr>
          <a:xfrm>
            <a:off x="5581498"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RESET</a:t>
            </a:r>
            <a:endParaRPr lang="en-US" sz="750" dirty="0"/>
          </a:p>
        </p:txBody>
      </p:sp>
      <p:sp>
        <p:nvSpPr>
          <p:cNvPr id="19" name="Text 17"/>
          <p:cNvSpPr/>
          <p:nvPr/>
        </p:nvSpPr>
        <p:spPr>
          <a:xfrm>
            <a:off x="5581498"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Diagnostics</a:t>
            </a:r>
            <a:endParaRPr lang="en-US" sz="1200" dirty="0"/>
          </a:p>
        </p:txBody>
      </p:sp>
      <p:sp>
        <p:nvSpPr>
          <p:cNvPr id="20" name="Text 18"/>
          <p:cNvSpPr/>
          <p:nvPr/>
        </p:nvSpPr>
        <p:spPr>
          <a:xfrm>
            <a:off x="5581498"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Advanced biometrics, DEXA, DUTCH, DNA analysis. The baseline everything else is measured against.</a:t>
            </a:r>
            <a:endParaRPr lang="en-US" sz="800" dirty="0"/>
          </a:p>
        </p:txBody>
      </p:sp>
      <p:sp>
        <p:nvSpPr>
          <p:cNvPr id="21" name="Shape 19"/>
          <p:cNvSpPr/>
          <p:nvPr/>
        </p:nvSpPr>
        <p:spPr>
          <a:xfrm>
            <a:off x="7115861" y="1965960"/>
            <a:ext cx="1525219" cy="2286000"/>
          </a:xfrm>
          <a:prstGeom prst="roundRect">
            <a:avLst>
              <a:gd name="adj" fmla="val 3597"/>
            </a:avLst>
          </a:prstGeom>
          <a:solidFill>
            <a:srgbClr val="16241C"/>
          </a:solidFill>
          <a:ln w="12700">
            <a:solidFill>
              <a:srgbClr val="2E4237"/>
            </a:solidFill>
            <a:prstDash val="solid"/>
          </a:ln>
        </p:spPr>
      </p:sp>
      <p:sp>
        <p:nvSpPr>
          <p:cNvPr id="22" name="Text 20"/>
          <p:cNvSpPr/>
          <p:nvPr/>
        </p:nvSpPr>
        <p:spPr>
          <a:xfrm>
            <a:off x="7234733" y="2084832"/>
            <a:ext cx="1287475"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RECONNECT</a:t>
            </a:r>
            <a:endParaRPr lang="en-US" sz="750" dirty="0"/>
          </a:p>
        </p:txBody>
      </p:sp>
      <p:sp>
        <p:nvSpPr>
          <p:cNvPr id="23" name="Text 21"/>
          <p:cNvSpPr/>
          <p:nvPr/>
        </p:nvSpPr>
        <p:spPr>
          <a:xfrm>
            <a:off x="7234733" y="2286000"/>
            <a:ext cx="1287475" cy="237744"/>
          </a:xfrm>
          <a:prstGeom prst="rect">
            <a:avLst/>
          </a:prstGeom>
          <a:noFill/>
          <a:ln/>
        </p:spPr>
        <p:txBody>
          <a:bodyPr wrap="square" rtlCol="0" anchor="t"/>
          <a:lstStyle/>
          <a:p>
            <a:pPr indent="0" marL="0">
              <a:buNone/>
            </a:pPr>
            <a:r>
              <a:rPr lang="en-US" sz="1200" dirty="0">
                <a:solidFill>
                  <a:srgbClr val="EDE6DA"/>
                </a:solidFill>
                <a:latin typeface="Century Gothic" pitchFamily="34" charset="0"/>
                <a:ea typeface="Century Gothic" pitchFamily="34" charset="-122"/>
                <a:cs typeface="Century Gothic" pitchFamily="34" charset="-120"/>
              </a:rPr>
              <a:t>The Club</a:t>
            </a:r>
            <a:endParaRPr lang="en-US" sz="1200" dirty="0"/>
          </a:p>
        </p:txBody>
      </p:sp>
      <p:sp>
        <p:nvSpPr>
          <p:cNvPr id="24" name="Text 22"/>
          <p:cNvSpPr/>
          <p:nvPr/>
        </p:nvSpPr>
        <p:spPr>
          <a:xfrm>
            <a:off x="7234733" y="2578608"/>
            <a:ext cx="1287475" cy="1554480"/>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contrast suite, the Lounge, member events, and guest privileges. The reason your membership becomes part of your routine, not just your recovery.</a:t>
            </a:r>
            <a:endParaRPr lang="en-US" sz="800" dirty="0"/>
          </a:p>
        </p:txBody>
      </p:sp>
      <p:sp>
        <p:nvSpPr>
          <p:cNvPr id="25" name="Text 2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26" name="Text 2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list price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275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900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350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Therapeutic medications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40 members · capped</a:t>
            </a:r>
            <a:endParaRPr lang="en-US" sz="800" dirty="0"/>
          </a:p>
        </p:txBody>
      </p:sp>
      <p:sp>
        <p:nvSpPr>
          <p:cNvPr id="28" name="Text 26"/>
          <p:cNvSpPr/>
          <p:nvPr/>
        </p:nvSpPr>
        <p:spPr>
          <a:xfrm>
            <a:off x="502920" y="4352544"/>
            <a:ext cx="8138160" cy="402336"/>
          </a:xfrm>
          <a:prstGeom prst="rect">
            <a:avLst/>
          </a:prstGeom>
          <a:noFill/>
          <a:ln/>
        </p:spPr>
        <p:txBody>
          <a:bodyPr wrap="square" rtlCol="0" anchor="t"/>
          <a:lstStyle/>
          <a:p>
            <a:pPr indent="0" marL="0">
              <a:lnSpc>
                <a:spcPct val="115000"/>
              </a:lnSpc>
              <a:buNone/>
            </a:pPr>
            <a:r>
              <a:rPr lang="en-US" sz="750" dirty="0">
                <a:solidFill>
                  <a:srgbClr val="6E6A62"/>
                </a:solidFill>
                <a:latin typeface="Calibri" pitchFamily="34" charset="0"/>
                <a:ea typeface="Calibri" pitchFamily="34" charset="-122"/>
                <a:cs typeface="Calibri" pitchFamily="34" charset="-120"/>
              </a:rPr>
              <a:t>A three-month initial commitment followed by month-to-month billing. Credits roll over while membership remains active and expire upon cancellation. Freezes with seven days’ notice. Tier changes available after the initial commitment.</a:t>
            </a:r>
            <a:endParaRPr lang="en-US" sz="7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HOW THE LADDER FILLS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open clinic is the top of the funnel.</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Because anyone can book a procedure without joining, every non-member treatment is a paid introduction. The conversion path runs in one direction and each step is cheap to take.</a:t>
            </a:r>
            <a:endParaRPr lang="en-US" sz="1150" dirty="0"/>
          </a:p>
        </p:txBody>
      </p:sp>
      <p:sp>
        <p:nvSpPr>
          <p:cNvPr id="5" name="Shape 3"/>
          <p:cNvSpPr/>
          <p:nvPr/>
        </p:nvSpPr>
        <p:spPr>
          <a:xfrm>
            <a:off x="502920" y="2103120"/>
            <a:ext cx="1924812" cy="2103120"/>
          </a:xfrm>
          <a:prstGeom prst="roundRect">
            <a:avLst>
              <a:gd name="adj" fmla="val 2850"/>
            </a:avLst>
          </a:prstGeom>
          <a:solidFill>
            <a:srgbClr val="16241C"/>
          </a:solidFill>
          <a:ln w="12700">
            <a:solidFill>
              <a:srgbClr val="2E4237"/>
            </a:solidFill>
            <a:prstDash val="solid"/>
          </a:ln>
        </p:spPr>
      </p:sp>
      <p:sp>
        <p:nvSpPr>
          <p:cNvPr id="6" name="Text 4"/>
          <p:cNvSpPr/>
          <p:nvPr/>
        </p:nvSpPr>
        <p:spPr>
          <a:xfrm>
            <a:off x="630936" y="2231136"/>
            <a:ext cx="1668780" cy="182880"/>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STEP ONE</a:t>
            </a:r>
            <a:endParaRPr lang="en-US" sz="750" dirty="0"/>
          </a:p>
        </p:txBody>
      </p:sp>
      <p:sp>
        <p:nvSpPr>
          <p:cNvPr id="7" name="Text 5"/>
          <p:cNvSpPr/>
          <p:nvPr/>
        </p:nvSpPr>
        <p:spPr>
          <a:xfrm>
            <a:off x="630936" y="2432304"/>
            <a:ext cx="1668780" cy="457200"/>
          </a:xfrm>
          <a:prstGeom prst="rect">
            <a:avLst/>
          </a:prstGeom>
          <a:noFill/>
          <a:ln/>
        </p:spPr>
        <p:txBody>
          <a:bodyPr wrap="square" rtlCol="0" anchor="t"/>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Walks in</a:t>
            </a:r>
            <a:endParaRPr lang="en-US" sz="1300" dirty="0"/>
          </a:p>
        </p:txBody>
      </p:sp>
      <p:sp>
        <p:nvSpPr>
          <p:cNvPr id="8" name="Text 6"/>
          <p:cNvSpPr/>
          <p:nvPr/>
        </p:nvSpPr>
        <p:spPr>
          <a:xfrm>
            <a:off x="630936" y="2889504"/>
            <a:ext cx="1668780" cy="118872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Books a procedure or buys a day pass. Pays list price. Owes nothing further.</a:t>
            </a:r>
            <a:endParaRPr lang="en-US" sz="850" dirty="0"/>
          </a:p>
        </p:txBody>
      </p:sp>
      <p:sp>
        <p:nvSpPr>
          <p:cNvPr id="9" name="Shape 7"/>
          <p:cNvSpPr/>
          <p:nvPr/>
        </p:nvSpPr>
        <p:spPr>
          <a:xfrm>
            <a:off x="2574036" y="2103120"/>
            <a:ext cx="1924812" cy="2103120"/>
          </a:xfrm>
          <a:prstGeom prst="roundRect">
            <a:avLst>
              <a:gd name="adj" fmla="val 2850"/>
            </a:avLst>
          </a:prstGeom>
          <a:solidFill>
            <a:srgbClr val="16241C"/>
          </a:solidFill>
          <a:ln w="12700">
            <a:solidFill>
              <a:srgbClr val="2E4237"/>
            </a:solidFill>
            <a:prstDash val="solid"/>
          </a:ln>
        </p:spPr>
      </p:sp>
      <p:sp>
        <p:nvSpPr>
          <p:cNvPr id="10" name="Text 8"/>
          <p:cNvSpPr/>
          <p:nvPr/>
        </p:nvSpPr>
        <p:spPr>
          <a:xfrm>
            <a:off x="2702052" y="2231136"/>
            <a:ext cx="1668780" cy="182880"/>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STEP TWO</a:t>
            </a:r>
            <a:endParaRPr lang="en-US" sz="750" dirty="0"/>
          </a:p>
        </p:txBody>
      </p:sp>
      <p:sp>
        <p:nvSpPr>
          <p:cNvPr id="11" name="Text 9"/>
          <p:cNvSpPr/>
          <p:nvPr/>
        </p:nvSpPr>
        <p:spPr>
          <a:xfrm>
            <a:off x="2702052" y="2432304"/>
            <a:ext cx="1668780" cy="457200"/>
          </a:xfrm>
          <a:prstGeom prst="rect">
            <a:avLst/>
          </a:prstGeom>
          <a:noFill/>
          <a:ln/>
        </p:spPr>
        <p:txBody>
          <a:bodyPr wrap="square" rtlCol="0" anchor="t"/>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Becomes a Friend</a:t>
            </a:r>
            <a:endParaRPr lang="en-US" sz="1300" dirty="0"/>
          </a:p>
        </p:txBody>
      </p:sp>
      <p:sp>
        <p:nvSpPr>
          <p:cNvPr id="12" name="Text 10"/>
          <p:cNvSpPr/>
          <p:nvPr/>
        </p:nvSpPr>
        <p:spPr>
          <a:xfrm>
            <a:off x="2702052" y="2889504"/>
            <a:ext cx="1668780" cy="118872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$300 a year pays for itself on roughly two procedures. Low friction, high volume, and it captures the database.</a:t>
            </a:r>
            <a:endParaRPr lang="en-US" sz="850" dirty="0"/>
          </a:p>
        </p:txBody>
      </p:sp>
      <p:sp>
        <p:nvSpPr>
          <p:cNvPr id="13" name="Shape 11"/>
          <p:cNvSpPr/>
          <p:nvPr/>
        </p:nvSpPr>
        <p:spPr>
          <a:xfrm>
            <a:off x="4645152" y="2103120"/>
            <a:ext cx="1924812" cy="2103120"/>
          </a:xfrm>
          <a:prstGeom prst="roundRect">
            <a:avLst>
              <a:gd name="adj" fmla="val 2850"/>
            </a:avLst>
          </a:prstGeom>
          <a:solidFill>
            <a:srgbClr val="16241C"/>
          </a:solidFill>
          <a:ln w="12700">
            <a:solidFill>
              <a:srgbClr val="2E4237"/>
            </a:solidFill>
            <a:prstDash val="solid"/>
          </a:ln>
        </p:spPr>
      </p:sp>
      <p:sp>
        <p:nvSpPr>
          <p:cNvPr id="14" name="Text 12"/>
          <p:cNvSpPr/>
          <p:nvPr/>
        </p:nvSpPr>
        <p:spPr>
          <a:xfrm>
            <a:off x="4773168" y="2231136"/>
            <a:ext cx="1668780" cy="182880"/>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STEP THREE</a:t>
            </a:r>
            <a:endParaRPr lang="en-US" sz="750" dirty="0"/>
          </a:p>
        </p:txBody>
      </p:sp>
      <p:sp>
        <p:nvSpPr>
          <p:cNvPr id="15" name="Text 13"/>
          <p:cNvSpPr/>
          <p:nvPr/>
        </p:nvSpPr>
        <p:spPr>
          <a:xfrm>
            <a:off x="4773168" y="2432304"/>
            <a:ext cx="1668780" cy="457200"/>
          </a:xfrm>
          <a:prstGeom prst="rect">
            <a:avLst/>
          </a:prstGeom>
          <a:noFill/>
          <a:ln/>
        </p:spPr>
        <p:txBody>
          <a:bodyPr wrap="square" rtlCol="0" anchor="t"/>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Becomes a Resident</a:t>
            </a:r>
            <a:endParaRPr lang="en-US" sz="1300" dirty="0"/>
          </a:p>
        </p:txBody>
      </p:sp>
      <p:sp>
        <p:nvSpPr>
          <p:cNvPr id="16" name="Text 14"/>
          <p:cNvSpPr/>
          <p:nvPr/>
        </p:nvSpPr>
        <p:spPr>
          <a:xfrm>
            <a:off x="4773168" y="2889504"/>
            <a:ext cx="1668780" cy="118872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Wants the circuit and the room, not just the treatment. This is where recurring revenue begins.</a:t>
            </a:r>
            <a:endParaRPr lang="en-US" sz="850" dirty="0"/>
          </a:p>
        </p:txBody>
      </p:sp>
      <p:sp>
        <p:nvSpPr>
          <p:cNvPr id="17" name="Shape 15"/>
          <p:cNvSpPr/>
          <p:nvPr/>
        </p:nvSpPr>
        <p:spPr>
          <a:xfrm>
            <a:off x="6716268" y="2103120"/>
            <a:ext cx="1924812" cy="2103120"/>
          </a:xfrm>
          <a:prstGeom prst="roundRect">
            <a:avLst>
              <a:gd name="adj" fmla="val 2850"/>
            </a:avLst>
          </a:prstGeom>
          <a:solidFill>
            <a:srgbClr val="241C1A"/>
          </a:solidFill>
          <a:ln w="12700">
            <a:solidFill>
              <a:srgbClr val="C08D7C"/>
            </a:solidFill>
            <a:prstDash val="solid"/>
          </a:ln>
        </p:spPr>
      </p:sp>
      <p:sp>
        <p:nvSpPr>
          <p:cNvPr id="18" name="Text 16"/>
          <p:cNvSpPr/>
          <p:nvPr/>
        </p:nvSpPr>
        <p:spPr>
          <a:xfrm>
            <a:off x="6844284" y="2231136"/>
            <a:ext cx="1668780" cy="182880"/>
          </a:xfrm>
          <a:prstGeom prst="rect">
            <a:avLst/>
          </a:prstGeom>
          <a:noFill/>
          <a:ln/>
        </p:spPr>
        <p:txBody>
          <a:bodyPr wrap="square" rtlCol="0" anchor="ctr"/>
          <a:lstStyle/>
          <a:p>
            <a:pPr indent="0" marL="0">
              <a:buNone/>
            </a:pPr>
            <a:r>
              <a:rPr lang="en-US" sz="750" spc="140" kern="0" dirty="0">
                <a:solidFill>
                  <a:srgbClr val="C08D7C"/>
                </a:solidFill>
                <a:latin typeface="Century Gothic" pitchFamily="34" charset="0"/>
                <a:ea typeface="Century Gothic" pitchFamily="34" charset="-122"/>
                <a:cs typeface="Century Gothic" pitchFamily="34" charset="-120"/>
              </a:rPr>
              <a:t>STEP FOUR</a:t>
            </a:r>
            <a:endParaRPr lang="en-US" sz="750" dirty="0"/>
          </a:p>
        </p:txBody>
      </p:sp>
      <p:sp>
        <p:nvSpPr>
          <p:cNvPr id="19" name="Text 17"/>
          <p:cNvSpPr/>
          <p:nvPr/>
        </p:nvSpPr>
        <p:spPr>
          <a:xfrm>
            <a:off x="6844284" y="2432304"/>
            <a:ext cx="1668780" cy="457200"/>
          </a:xfrm>
          <a:prstGeom prst="rect">
            <a:avLst/>
          </a:prstGeom>
          <a:noFill/>
          <a:ln/>
        </p:spPr>
        <p:txBody>
          <a:bodyPr wrap="square" rtlCol="0" anchor="t"/>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Becomes Longevity</a:t>
            </a:r>
            <a:endParaRPr lang="en-US" sz="1300" dirty="0"/>
          </a:p>
        </p:txBody>
      </p:sp>
      <p:sp>
        <p:nvSpPr>
          <p:cNvPr id="20" name="Text 18"/>
          <p:cNvSpPr/>
          <p:nvPr/>
        </p:nvSpPr>
        <p:spPr>
          <a:xfrm>
            <a:off x="6844284" y="2889504"/>
            <a:ext cx="1668780" cy="118872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Physician-delivered programming. Hard capped. The highest retention and the highest lifetime value in the building.</a:t>
            </a:r>
            <a:endParaRPr lang="en-US" sz="850" dirty="0"/>
          </a:p>
        </p:txBody>
      </p:sp>
      <p:sp>
        <p:nvSpPr>
          <p:cNvPr id="21" name="Text 19"/>
          <p:cNvSpPr/>
          <p:nvPr/>
        </p:nvSpPr>
        <p:spPr>
          <a:xfrm>
            <a:off x="2409444" y="3017520"/>
            <a:ext cx="182880" cy="274320"/>
          </a:xfrm>
          <a:prstGeom prst="rect">
            <a:avLst/>
          </a:prstGeom>
          <a:noFill/>
          <a:ln/>
        </p:spPr>
        <p:txBody>
          <a:bodyPr wrap="square" rtlCol="0" anchor="ctr"/>
          <a:lstStyle/>
          <a:p>
            <a:pPr algn="ctr" indent="0" marL="0">
              <a:buNone/>
            </a:pPr>
            <a:r>
              <a:rPr lang="en-US" sz="1300" dirty="0">
                <a:solidFill>
                  <a:srgbClr val="2E4237"/>
                </a:solidFill>
                <a:latin typeface="Century Gothic" pitchFamily="34" charset="0"/>
                <a:ea typeface="Century Gothic" pitchFamily="34" charset="-122"/>
                <a:cs typeface="Century Gothic" pitchFamily="34" charset="-120"/>
              </a:rPr>
              <a:t>›</a:t>
            </a:r>
            <a:endParaRPr lang="en-US" sz="1300" dirty="0"/>
          </a:p>
        </p:txBody>
      </p:sp>
      <p:sp>
        <p:nvSpPr>
          <p:cNvPr id="22" name="Text 20"/>
          <p:cNvSpPr/>
          <p:nvPr/>
        </p:nvSpPr>
        <p:spPr>
          <a:xfrm>
            <a:off x="4480560" y="3017520"/>
            <a:ext cx="182880" cy="274320"/>
          </a:xfrm>
          <a:prstGeom prst="rect">
            <a:avLst/>
          </a:prstGeom>
          <a:noFill/>
          <a:ln/>
        </p:spPr>
        <p:txBody>
          <a:bodyPr wrap="square" rtlCol="0" anchor="ctr"/>
          <a:lstStyle/>
          <a:p>
            <a:pPr algn="ctr" indent="0" marL="0">
              <a:buNone/>
            </a:pPr>
            <a:r>
              <a:rPr lang="en-US" sz="1300" dirty="0">
                <a:solidFill>
                  <a:srgbClr val="2E4237"/>
                </a:solidFill>
                <a:latin typeface="Century Gothic" pitchFamily="34" charset="0"/>
                <a:ea typeface="Century Gothic" pitchFamily="34" charset="-122"/>
                <a:cs typeface="Century Gothic" pitchFamily="34" charset="-120"/>
              </a:rPr>
              <a:t>›</a:t>
            </a:r>
            <a:endParaRPr lang="en-US" sz="1300" dirty="0"/>
          </a:p>
        </p:txBody>
      </p:sp>
      <p:sp>
        <p:nvSpPr>
          <p:cNvPr id="23" name="Text 21"/>
          <p:cNvSpPr/>
          <p:nvPr/>
        </p:nvSpPr>
        <p:spPr>
          <a:xfrm>
            <a:off x="6551676" y="3017520"/>
            <a:ext cx="182880" cy="274320"/>
          </a:xfrm>
          <a:prstGeom prst="rect">
            <a:avLst/>
          </a:prstGeom>
          <a:noFill/>
          <a:ln/>
        </p:spPr>
        <p:txBody>
          <a:bodyPr wrap="square" rtlCol="0" anchor="ctr"/>
          <a:lstStyle/>
          <a:p>
            <a:pPr algn="ctr" indent="0" marL="0">
              <a:buNone/>
            </a:pPr>
            <a:r>
              <a:rPr lang="en-US" sz="1300" dirty="0">
                <a:solidFill>
                  <a:srgbClr val="2E4237"/>
                </a:solidFill>
                <a:latin typeface="Century Gothic" pitchFamily="34" charset="0"/>
                <a:ea typeface="Century Gothic" pitchFamily="34" charset="-122"/>
                <a:cs typeface="Century Gothic" pitchFamily="34" charset="-120"/>
              </a:rPr>
              <a:t>›</a:t>
            </a:r>
            <a:endParaRPr lang="en-US" sz="1300" dirty="0"/>
          </a:p>
        </p:txBody>
      </p:sp>
      <p:sp>
        <p:nvSpPr>
          <p:cNvPr id="24" name="Text 2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25" name="Text 2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4,925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room (seated)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 light beds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imaging (GE iDXA densitometer)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 bathrooms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Admin offices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Kitchen and breakroom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Storage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Biohazard and linen closets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Circulation and grossing factor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4,925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8"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4,925 square feet, and how it is paid for.</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4754880" y="1645920"/>
          <a:ext cx="3520440" cy="914400"/>
        </p:xfrm>
        <a:graphic>
          <a:graphicData uri="http://schemas.openxmlformats.org/drawingml/2006/table">
            <a:tbl>
              <a:tblPr/>
              <a:tblGrid>
                <a:gridCol w="260604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Redlight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DEXA scan 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Shape 3"/>
          <p:cNvSpPr/>
          <p:nvPr/>
        </p:nvSpPr>
        <p:spPr>
          <a:xfrm>
            <a:off x="502920" y="3456432"/>
            <a:ext cx="8138160" cy="1024128"/>
          </a:xfrm>
          <a:prstGeom prst="roundRect">
            <a:avLst>
              <a:gd name="adj" fmla="val 5357"/>
            </a:avLst>
          </a:prstGeom>
          <a:solidFill>
            <a:srgbClr val="16241C"/>
          </a:solidFill>
          <a:ln w="12700">
            <a:solidFill>
              <a:srgbClr val="2E4237"/>
            </a:solidFill>
            <a:prstDash val="solid"/>
          </a:ln>
        </p:spPr>
      </p:sp>
      <p:sp>
        <p:nvSpPr>
          <p:cNvPr id="8" name="Text 4"/>
          <p:cNvSpPr/>
          <p:nvPr/>
        </p:nvSpPr>
        <p:spPr>
          <a:xfrm>
            <a:off x="649224" y="3566160"/>
            <a:ext cx="7845552"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9" name="Text 5"/>
          <p:cNvSpPr/>
          <p:nvPr/>
        </p:nvSpPr>
        <p:spPr>
          <a:xfrm>
            <a:off x="649224" y="3767328"/>
            <a:ext cx="7845552" cy="6400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Wet areas drive cost, plunges, saunas and steam carry a materially higher per-SF buildout than a dry medspa, which is why the lean case trims the contrast suite before it trims treatment rooms.</a:t>
            </a:r>
            <a:endParaRPr lang="en-US" sz="9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Enough capacity for what is sold.</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3986784"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4654296" y="2240280"/>
            <a:ext cx="3986784"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4800600" y="236829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83%</a:t>
            </a:r>
            <a:endParaRPr lang="en-US" sz="2000" dirty="0"/>
          </a:p>
        </p:txBody>
      </p:sp>
      <p:sp>
        <p:nvSpPr>
          <p:cNvPr id="10" name="Text 8"/>
          <p:cNvSpPr/>
          <p:nvPr/>
        </p:nvSpPr>
        <p:spPr>
          <a:xfrm>
            <a:off x="4800600" y="2807208"/>
            <a:ext cx="3694176"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419 procedures against 507 practical capacity, leaving 88 slots of headroom.</a:t>
            </a:r>
            <a:endParaRPr lang="en-US" sz="900" dirty="0"/>
          </a:p>
        </p:txBody>
      </p:sp>
      <p:sp>
        <p:nvSpPr>
          <p:cNvPr id="11" name="Text 9"/>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2"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3"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Silicon Beach, at its densest.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Playa Vista is a master-planned innovation district on the old Hughes Aircraft site, and it has become the centre of gravity for the Westside’s technology, media, advertising and creator economy. Google, YouTube and Meta campuses sit within a walk of one another. LAX is four miles south, the studios fifteen minutes north, and the district was designed to be walked rather than driven.</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market.  (US Census Bureau, via Point2Homes)</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4" name="Text 12"/>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5" name="Text 13"/>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(1 of 2).</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Prices are exact, not banded.</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$11,480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$13,776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$31,980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$10,125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$8,303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Hair &amp; Scalp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$32,835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$23,641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Face &amp; Aesthetic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$16,660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Scar &amp; Skin Repair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Soft Tissue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Joint &amp; Cartilage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Post-procedure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Basic Hydration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$7,029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Myers Cocktail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 Hangover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$8,466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Immunity / High-Dose 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$4,407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Subtotal, continued overleaf</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1,552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$247,496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$176,665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(2 of 2).</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Beauty / Glutathione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$9,405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Athletic Performance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$6,474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NAD+ 100mg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$5,347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NAD+ 250mg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$8,778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NAD+ 500mg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$14,157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 Shot: B12 / Lipo</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Therapeutic medications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(15-unit minimum)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$13,440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Filler (0.5 ml)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$30,940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$17,850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Plus Test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$6,949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list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672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$259,625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$183,654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list price, so redemption is netted out first.</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list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$507,121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-$30,210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$347,411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$598,036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10.</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There is no debt service at any point, so operating income is what the business keeps.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3323338"/>
            <a:ext cx="8138160" cy="10973"/>
          </a:xfrm>
          <a:prstGeom prst="rect">
            <a:avLst/>
          </a:prstGeom>
          <a:solidFill>
            <a:srgbClr val="2E4237"/>
          </a:solidFill>
          <a:ln w="12700">
            <a:solidFill>
              <a:srgbClr val="2E4237"/>
            </a:solidFill>
            <a:prstDash val="solid"/>
          </a:ln>
        </p:spPr>
      </p:sp>
      <p:sp>
        <p:nvSpPr>
          <p:cNvPr id="7" name="Shape 5"/>
          <p:cNvSpPr/>
          <p:nvPr/>
        </p:nvSpPr>
        <p:spPr>
          <a:xfrm>
            <a:off x="539090" y="3323338"/>
            <a:ext cx="153721" cy="566013"/>
          </a:xfrm>
          <a:prstGeom prst="rect">
            <a:avLst/>
          </a:prstGeom>
          <a:solidFill>
            <a:srgbClr val="2E4237"/>
          </a:solidFill>
          <a:ln w="12700">
            <a:solidFill>
              <a:srgbClr val="2E4237"/>
            </a:solidFill>
            <a:prstDash val="solid"/>
          </a:ln>
        </p:spPr>
      </p:sp>
      <p:sp>
        <p:nvSpPr>
          <p:cNvPr id="8" name="Shape 6"/>
          <p:cNvSpPr/>
          <p:nvPr/>
        </p:nvSpPr>
        <p:spPr>
          <a:xfrm>
            <a:off x="765150" y="3323338"/>
            <a:ext cx="153721" cy="566013"/>
          </a:xfrm>
          <a:prstGeom prst="rect">
            <a:avLst/>
          </a:prstGeom>
          <a:solidFill>
            <a:srgbClr val="2E4237"/>
          </a:solidFill>
          <a:ln w="12700">
            <a:solidFill>
              <a:srgbClr val="2E4237"/>
            </a:solidFill>
            <a:prstDash val="solid"/>
          </a:ln>
        </p:spPr>
      </p:sp>
      <p:sp>
        <p:nvSpPr>
          <p:cNvPr id="9" name="Shape 7"/>
          <p:cNvSpPr/>
          <p:nvPr/>
        </p:nvSpPr>
        <p:spPr>
          <a:xfrm>
            <a:off x="991210" y="3323338"/>
            <a:ext cx="153721" cy="566013"/>
          </a:xfrm>
          <a:prstGeom prst="rect">
            <a:avLst/>
          </a:prstGeom>
          <a:solidFill>
            <a:srgbClr val="2E4237"/>
          </a:solidFill>
          <a:ln w="12700">
            <a:solidFill>
              <a:srgbClr val="2E4237"/>
            </a:solidFill>
            <a:prstDash val="solid"/>
          </a:ln>
        </p:spPr>
      </p:sp>
      <p:sp>
        <p:nvSpPr>
          <p:cNvPr id="10" name="Shape 8"/>
          <p:cNvSpPr/>
          <p:nvPr/>
        </p:nvSpPr>
        <p:spPr>
          <a:xfrm>
            <a:off x="1217270" y="3323338"/>
            <a:ext cx="153721" cy="566013"/>
          </a:xfrm>
          <a:prstGeom prst="rect">
            <a:avLst/>
          </a:prstGeom>
          <a:solidFill>
            <a:srgbClr val="2E4237"/>
          </a:solidFill>
          <a:ln w="12700">
            <a:solidFill>
              <a:srgbClr val="2E4237"/>
            </a:solidFill>
            <a:prstDash val="solid"/>
          </a:ln>
        </p:spPr>
      </p:sp>
      <p:sp>
        <p:nvSpPr>
          <p:cNvPr id="11" name="Shape 9"/>
          <p:cNvSpPr/>
          <p:nvPr/>
        </p:nvSpPr>
        <p:spPr>
          <a:xfrm>
            <a:off x="1443330" y="3323338"/>
            <a:ext cx="153721" cy="566013"/>
          </a:xfrm>
          <a:prstGeom prst="rect">
            <a:avLst/>
          </a:prstGeom>
          <a:solidFill>
            <a:srgbClr val="2E4237"/>
          </a:solidFill>
          <a:ln w="12700">
            <a:solidFill>
              <a:srgbClr val="2E4237"/>
            </a:solidFill>
            <a:prstDash val="solid"/>
          </a:ln>
        </p:spPr>
      </p:sp>
      <p:sp>
        <p:nvSpPr>
          <p:cNvPr id="12" name="Shape 10"/>
          <p:cNvSpPr/>
          <p:nvPr/>
        </p:nvSpPr>
        <p:spPr>
          <a:xfrm>
            <a:off x="1669390" y="3323338"/>
            <a:ext cx="153721" cy="566013"/>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3323338"/>
            <a:ext cx="153721" cy="626870"/>
          </a:xfrm>
          <a:prstGeom prst="rect">
            <a:avLst/>
          </a:prstGeom>
          <a:solidFill>
            <a:srgbClr val="2E4237"/>
          </a:solidFill>
          <a:ln w="12700">
            <a:solidFill>
              <a:srgbClr val="2E4237"/>
            </a:solidFill>
            <a:prstDash val="solid"/>
          </a:ln>
        </p:spPr>
      </p:sp>
      <p:sp>
        <p:nvSpPr>
          <p:cNvPr id="15" name="Shape 13"/>
          <p:cNvSpPr/>
          <p:nvPr/>
        </p:nvSpPr>
        <p:spPr>
          <a:xfrm>
            <a:off x="2121510" y="3323338"/>
            <a:ext cx="153721" cy="391128"/>
          </a:xfrm>
          <a:prstGeom prst="rect">
            <a:avLst/>
          </a:prstGeom>
          <a:solidFill>
            <a:srgbClr val="2E4237"/>
          </a:solidFill>
          <a:ln w="12700">
            <a:solidFill>
              <a:srgbClr val="2E4237"/>
            </a:solidFill>
            <a:prstDash val="solid"/>
          </a:ln>
        </p:spPr>
      </p:sp>
      <p:sp>
        <p:nvSpPr>
          <p:cNvPr id="16" name="Shape 14"/>
          <p:cNvSpPr/>
          <p:nvPr/>
        </p:nvSpPr>
        <p:spPr>
          <a:xfrm>
            <a:off x="2347570" y="3323338"/>
            <a:ext cx="153721" cy="121706"/>
          </a:xfrm>
          <a:prstGeom prst="rect">
            <a:avLst/>
          </a:prstGeom>
          <a:solidFill>
            <a:srgbClr val="2E4237"/>
          </a:solidFill>
          <a:ln w="12700">
            <a:solidFill>
              <a:srgbClr val="2E4237"/>
            </a:solidFill>
            <a:prstDash val="solid"/>
          </a:ln>
        </p:spPr>
      </p:sp>
      <p:sp>
        <p:nvSpPr>
          <p:cNvPr id="17" name="Shape 15"/>
          <p:cNvSpPr/>
          <p:nvPr/>
        </p:nvSpPr>
        <p:spPr>
          <a:xfrm>
            <a:off x="2573630" y="3242974"/>
            <a:ext cx="153721" cy="80364"/>
          </a:xfrm>
          <a:prstGeom prst="rect">
            <a:avLst/>
          </a:prstGeom>
          <a:solidFill>
            <a:srgbClr val="C08D7C"/>
          </a:solidFill>
          <a:ln w="12700">
            <a:solidFill>
              <a:srgbClr val="C08D7C"/>
            </a:solidFill>
            <a:prstDash val="solid"/>
          </a:ln>
        </p:spPr>
      </p:sp>
      <p:sp>
        <p:nvSpPr>
          <p:cNvPr id="18" name="Shape 16"/>
          <p:cNvSpPr/>
          <p:nvPr/>
        </p:nvSpPr>
        <p:spPr>
          <a:xfrm>
            <a:off x="2799690" y="3040912"/>
            <a:ext cx="153721" cy="282426"/>
          </a:xfrm>
          <a:prstGeom prst="rect">
            <a:avLst/>
          </a:prstGeom>
          <a:solidFill>
            <a:srgbClr val="C08D7C"/>
          </a:solidFill>
          <a:ln w="12700">
            <a:solidFill>
              <a:srgbClr val="C08D7C"/>
            </a:solidFill>
            <a:prstDash val="solid"/>
          </a:ln>
        </p:spPr>
      </p:sp>
      <p:sp>
        <p:nvSpPr>
          <p:cNvPr id="19" name="Shape 17"/>
          <p:cNvSpPr/>
          <p:nvPr/>
        </p:nvSpPr>
        <p:spPr>
          <a:xfrm>
            <a:off x="3025750" y="2838850"/>
            <a:ext cx="153721" cy="484488"/>
          </a:xfrm>
          <a:prstGeom prst="rect">
            <a:avLst/>
          </a:prstGeom>
          <a:solidFill>
            <a:srgbClr val="C08D7C"/>
          </a:solidFill>
          <a:ln w="12700">
            <a:solidFill>
              <a:srgbClr val="C08D7C"/>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636780"/>
            <a:ext cx="153721" cy="686559"/>
          </a:xfrm>
          <a:prstGeom prst="rect">
            <a:avLst/>
          </a:prstGeom>
          <a:solidFill>
            <a:srgbClr val="C08D7C"/>
          </a:solidFill>
          <a:ln w="12700">
            <a:solidFill>
              <a:srgbClr val="C08D7C"/>
            </a:solidFill>
            <a:prstDash val="solid"/>
          </a:ln>
        </p:spPr>
      </p:sp>
      <p:sp>
        <p:nvSpPr>
          <p:cNvPr id="22" name="Shape 20"/>
          <p:cNvSpPr/>
          <p:nvPr/>
        </p:nvSpPr>
        <p:spPr>
          <a:xfrm>
            <a:off x="3477870" y="2502069"/>
            <a:ext cx="153721" cy="821269"/>
          </a:xfrm>
          <a:prstGeom prst="rect">
            <a:avLst/>
          </a:prstGeom>
          <a:solidFill>
            <a:srgbClr val="C08D7C"/>
          </a:solidFill>
          <a:ln w="12700">
            <a:solidFill>
              <a:srgbClr val="C08D7C"/>
            </a:solidFill>
            <a:prstDash val="solid"/>
          </a:ln>
        </p:spPr>
      </p:sp>
      <p:sp>
        <p:nvSpPr>
          <p:cNvPr id="23" name="Shape 21"/>
          <p:cNvSpPr/>
          <p:nvPr/>
        </p:nvSpPr>
        <p:spPr>
          <a:xfrm>
            <a:off x="3703930" y="2367358"/>
            <a:ext cx="153721" cy="955980"/>
          </a:xfrm>
          <a:prstGeom prst="rect">
            <a:avLst/>
          </a:prstGeom>
          <a:solidFill>
            <a:srgbClr val="C08D7C"/>
          </a:solidFill>
          <a:ln w="12700">
            <a:solidFill>
              <a:srgbClr val="C08D7C"/>
            </a:solidFill>
            <a:prstDash val="solid"/>
          </a:ln>
        </p:spPr>
      </p:sp>
      <p:sp>
        <p:nvSpPr>
          <p:cNvPr id="24" name="Shape 22"/>
          <p:cNvSpPr/>
          <p:nvPr/>
        </p:nvSpPr>
        <p:spPr>
          <a:xfrm>
            <a:off x="3929990" y="2232648"/>
            <a:ext cx="153721" cy="1090691"/>
          </a:xfrm>
          <a:prstGeom prst="rect">
            <a:avLst/>
          </a:prstGeom>
          <a:solidFill>
            <a:srgbClr val="C08D7C"/>
          </a:solidFill>
          <a:ln w="12700">
            <a:solidFill>
              <a:srgbClr val="C08D7C"/>
            </a:solidFill>
            <a:prstDash val="solid"/>
          </a:ln>
        </p:spPr>
      </p:sp>
      <p:sp>
        <p:nvSpPr>
          <p:cNvPr id="25" name="Shape 23"/>
          <p:cNvSpPr/>
          <p:nvPr/>
        </p:nvSpPr>
        <p:spPr>
          <a:xfrm>
            <a:off x="4156050" y="2097937"/>
            <a:ext cx="153721" cy="1225402"/>
          </a:xfrm>
          <a:prstGeom prst="rect">
            <a:avLst/>
          </a:prstGeom>
          <a:solidFill>
            <a:srgbClr val="C08D7C"/>
          </a:solidFill>
          <a:ln w="12700">
            <a:solidFill>
              <a:srgbClr val="C08D7C"/>
            </a:solidFill>
            <a:prstDash val="solid"/>
          </a:ln>
        </p:spPr>
      </p:sp>
      <p:sp>
        <p:nvSpPr>
          <p:cNvPr id="26" name="Shape 24"/>
          <p:cNvSpPr/>
          <p:nvPr/>
        </p:nvSpPr>
        <p:spPr>
          <a:xfrm>
            <a:off x="4382110" y="2045420"/>
            <a:ext cx="153721" cy="1277918"/>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992903"/>
            <a:ext cx="153721" cy="1330435"/>
          </a:xfrm>
          <a:prstGeom prst="rect">
            <a:avLst/>
          </a:prstGeom>
          <a:solidFill>
            <a:srgbClr val="C08D7C"/>
          </a:solidFill>
          <a:ln w="12700">
            <a:solidFill>
              <a:srgbClr val="C08D7C"/>
            </a:solidFill>
            <a:prstDash val="solid"/>
          </a:ln>
        </p:spPr>
      </p:sp>
      <p:sp>
        <p:nvSpPr>
          <p:cNvPr id="29" name="Shape 27"/>
          <p:cNvSpPr/>
          <p:nvPr/>
        </p:nvSpPr>
        <p:spPr>
          <a:xfrm>
            <a:off x="4834230" y="1940386"/>
            <a:ext cx="153721" cy="1382952"/>
          </a:xfrm>
          <a:prstGeom prst="rect">
            <a:avLst/>
          </a:prstGeom>
          <a:solidFill>
            <a:srgbClr val="C08D7C"/>
          </a:solidFill>
          <a:ln w="12700">
            <a:solidFill>
              <a:srgbClr val="C08D7C"/>
            </a:solidFill>
            <a:prstDash val="solid"/>
          </a:ln>
        </p:spPr>
      </p:sp>
      <p:sp>
        <p:nvSpPr>
          <p:cNvPr id="30" name="Shape 28"/>
          <p:cNvSpPr/>
          <p:nvPr/>
        </p:nvSpPr>
        <p:spPr>
          <a:xfrm>
            <a:off x="5060290" y="1887869"/>
            <a:ext cx="153721" cy="1435469"/>
          </a:xfrm>
          <a:prstGeom prst="rect">
            <a:avLst/>
          </a:prstGeom>
          <a:solidFill>
            <a:srgbClr val="C08D7C"/>
          </a:solidFill>
          <a:ln w="12700">
            <a:solidFill>
              <a:srgbClr val="C08D7C"/>
            </a:solidFill>
            <a:prstDash val="solid"/>
          </a:ln>
        </p:spPr>
      </p:sp>
      <p:sp>
        <p:nvSpPr>
          <p:cNvPr id="31" name="Shape 29"/>
          <p:cNvSpPr/>
          <p:nvPr/>
        </p:nvSpPr>
        <p:spPr>
          <a:xfrm>
            <a:off x="5286350" y="1835352"/>
            <a:ext cx="153721" cy="1487986"/>
          </a:xfrm>
          <a:prstGeom prst="rect">
            <a:avLst/>
          </a:prstGeom>
          <a:solidFill>
            <a:srgbClr val="C08D7C"/>
          </a:solidFill>
          <a:ln w="12700">
            <a:solidFill>
              <a:srgbClr val="C08D7C"/>
            </a:solidFill>
            <a:prstDash val="solid"/>
          </a:ln>
        </p:spPr>
      </p:sp>
      <p:sp>
        <p:nvSpPr>
          <p:cNvPr id="32" name="Shape 30"/>
          <p:cNvSpPr/>
          <p:nvPr/>
        </p:nvSpPr>
        <p:spPr>
          <a:xfrm>
            <a:off x="5512410" y="1800341"/>
            <a:ext cx="153721" cy="1522997"/>
          </a:xfrm>
          <a:prstGeom prst="rect">
            <a:avLst/>
          </a:prstGeom>
          <a:solidFill>
            <a:srgbClr val="C08D7C"/>
          </a:solidFill>
          <a:ln w="12700">
            <a:solidFill>
              <a:srgbClr val="C08D7C"/>
            </a:solidFill>
            <a:prstDash val="solid"/>
          </a:ln>
        </p:spPr>
      </p:sp>
      <p:sp>
        <p:nvSpPr>
          <p:cNvPr id="33" name="Shape 31"/>
          <p:cNvSpPr/>
          <p:nvPr/>
        </p:nvSpPr>
        <p:spPr>
          <a:xfrm>
            <a:off x="5738470" y="1765330"/>
            <a:ext cx="153721" cy="1558009"/>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730319"/>
            <a:ext cx="153721" cy="1593020"/>
          </a:xfrm>
          <a:prstGeom prst="rect">
            <a:avLst/>
          </a:prstGeom>
          <a:solidFill>
            <a:srgbClr val="C08D7C"/>
          </a:solidFill>
          <a:ln w="12700">
            <a:solidFill>
              <a:srgbClr val="C08D7C"/>
            </a:solidFill>
            <a:prstDash val="solid"/>
          </a:ln>
        </p:spPr>
      </p:sp>
      <p:sp>
        <p:nvSpPr>
          <p:cNvPr id="36" name="Shape 34"/>
          <p:cNvSpPr/>
          <p:nvPr/>
        </p:nvSpPr>
        <p:spPr>
          <a:xfrm>
            <a:off x="6190590" y="1695307"/>
            <a:ext cx="153721" cy="1628031"/>
          </a:xfrm>
          <a:prstGeom prst="rect">
            <a:avLst/>
          </a:prstGeom>
          <a:solidFill>
            <a:srgbClr val="C08D7C"/>
          </a:solidFill>
          <a:ln w="12700">
            <a:solidFill>
              <a:srgbClr val="C08D7C"/>
            </a:solidFill>
            <a:prstDash val="solid"/>
          </a:ln>
        </p:spPr>
      </p:sp>
      <p:sp>
        <p:nvSpPr>
          <p:cNvPr id="37" name="Shape 35"/>
          <p:cNvSpPr/>
          <p:nvPr/>
        </p:nvSpPr>
        <p:spPr>
          <a:xfrm>
            <a:off x="6416650" y="1677802"/>
            <a:ext cx="153721" cy="1645537"/>
          </a:xfrm>
          <a:prstGeom prst="rect">
            <a:avLst/>
          </a:prstGeom>
          <a:solidFill>
            <a:srgbClr val="C08D7C"/>
          </a:solidFill>
          <a:ln w="12700">
            <a:solidFill>
              <a:srgbClr val="C08D7C"/>
            </a:solidFill>
            <a:prstDash val="solid"/>
          </a:ln>
        </p:spPr>
      </p:sp>
      <p:sp>
        <p:nvSpPr>
          <p:cNvPr id="38" name="Shape 36"/>
          <p:cNvSpPr/>
          <p:nvPr/>
        </p:nvSpPr>
        <p:spPr>
          <a:xfrm>
            <a:off x="6642710" y="1642791"/>
            <a:ext cx="153721" cy="1680548"/>
          </a:xfrm>
          <a:prstGeom prst="rect">
            <a:avLst/>
          </a:prstGeom>
          <a:solidFill>
            <a:srgbClr val="C08D7C"/>
          </a:solidFill>
          <a:ln w="12700">
            <a:solidFill>
              <a:srgbClr val="C08D7C"/>
            </a:solidFill>
            <a:prstDash val="solid"/>
          </a:ln>
        </p:spPr>
      </p:sp>
      <p:sp>
        <p:nvSpPr>
          <p:cNvPr id="39" name="Shape 37"/>
          <p:cNvSpPr/>
          <p:nvPr/>
        </p:nvSpPr>
        <p:spPr>
          <a:xfrm>
            <a:off x="6868770" y="1625285"/>
            <a:ext cx="153721" cy="1698054"/>
          </a:xfrm>
          <a:prstGeom prst="rect">
            <a:avLst/>
          </a:prstGeom>
          <a:solidFill>
            <a:srgbClr val="C08D7C"/>
          </a:solidFill>
          <a:ln w="12700">
            <a:solidFill>
              <a:srgbClr val="C08D7C"/>
            </a:solidFill>
            <a:prstDash val="solid"/>
          </a:ln>
        </p:spPr>
      </p:sp>
      <p:sp>
        <p:nvSpPr>
          <p:cNvPr id="40" name="Shape 38"/>
          <p:cNvSpPr/>
          <p:nvPr/>
        </p:nvSpPr>
        <p:spPr>
          <a:xfrm>
            <a:off x="7094830" y="1607779"/>
            <a:ext cx="153721" cy="1715559"/>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90274"/>
            <a:ext cx="153721" cy="1733065"/>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1750570"/>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1750570"/>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1750570"/>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1750570"/>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1750570"/>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$224,801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$-80,500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-$42,467 at month 9, against a $1,105,800 working capital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$598,036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-$146,803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$432,473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(4,925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-$27,088</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-$16,555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and compliance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-$207,673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$224,801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38%</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$1.24M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$430,586</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$311,381</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$103,708</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Yield on equity</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26.2%</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$2.70M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$598,036</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$432,473</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$224,801</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Yield on equity</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56.8%</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$4.15M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$765,486</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$553,566</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$345,893</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Yield on equity</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87.4%</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$4.75M for 30%, ratcheted.</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$4.75M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Full contrast suite, owned equipment, the facility the brand deserves.</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TOTAL RAISE</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$4,750,000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STARTING STAKE</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30%</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PRE-MONEY</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$11,083,333</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POST-MONEY</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$15,833,333</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The whole project is funded with equity, so no lender sits ahead of the investor. The stake starts at 30% and ratchets toward 40% if trailing operating income at stabilization comes in under $2.2M, which is set out overleaf. At base case the round prices at 5.87x operating income, inside the published range for a single location under a strong operator. Indicative terms, subject to definitive documents.</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$4.75M goes.</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reserve is sized against the modeled cash trough of $42,467 at month 9, not to a round number.</a:t>
            </a:r>
            <a:endParaRPr lang="en-US" sz="11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(4,925 SF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$1,231,250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$165,950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GE iDXA bone densitometer,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$430,000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$237,000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$1,105,800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$4,750,000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STRUCTURE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Aligned Downside Protection</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stake is priced against delivery. If the business underperforms, the investor owns more of it.</a:t>
            </a:r>
            <a:endParaRPr lang="en-US" sz="1150" dirty="0"/>
          </a:p>
        </p:txBody>
      </p:sp>
      <p:sp>
        <p:nvSpPr>
          <p:cNvPr id="5" name="Text 3"/>
          <p:cNvSpPr/>
          <p:nvPr/>
        </p:nvSpPr>
        <p:spPr>
          <a:xfrm>
            <a:off x="502920" y="1783080"/>
            <a:ext cx="8138160" cy="10515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Investors start at 30%, priced against base-case stabilized operating income of $2.70M a year.</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If trailing twelve-month operating income at stabilization lands below $2,200,000, ownership steps up on a straight line toward a hard cap of 40%, reached at the low case of $1,244,500.</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At or above base case the investor stays at 30% and the founder keeps the upside. The ratchet only moves one way.</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2971800"/>
          <a:ext cx="8138160" cy="914400"/>
        </p:xfrm>
        <a:graphic>
          <a:graphicData uri="http://schemas.openxmlformats.org/drawingml/2006/table">
            <a:tbl>
              <a:tblPr/>
              <a:tblGrid>
                <a:gridCol w="1371600"/>
                <a:gridCol w="1828800"/>
                <a:gridCol w="1645920"/>
                <a:gridCol w="1645920"/>
                <a:gridCol w="16459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Scenario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income /yr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Investor ownership</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Investor cash /yr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Founder retained /yr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Low case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$1,244,500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$497,800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$746,700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$2,697,611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$809,283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$1,888,328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Upside case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$4,150,722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$1,245,217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$2,905,505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Text 4"/>
          <p:cNvSpPr/>
          <p:nvPr/>
        </p:nvSpPr>
        <p:spPr>
          <a:xfrm>
            <a:off x="502920" y="4069080"/>
            <a:ext cx="8138160" cy="566928"/>
          </a:xfrm>
          <a:prstGeom prst="rect">
            <a:avLst/>
          </a:prstGeom>
          <a:noFill/>
          <a:ln/>
        </p:spPr>
        <p:txBody>
          <a:bodyPr wrap="square" rtlCol="0" anchor="t"/>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In valuation terms the ratchet is exactly a halving of the pre-money, $11,083,333 to $7,125,000. It cushions the downside without making the investor whole: at the low case 40% of $1.24M is $497,800, still below the $809,283 that 30% of base case pays. Indicative terms, subject to definitive documents.</a:t>
            </a:r>
            <a:endParaRPr lang="en-US" sz="85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CAPITAL AND RETURNS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Funded entirely with equity.</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19202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Capital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9202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$4,750,000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9202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Senior debt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9202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Starting stake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9202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Pre-money valuation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$11,083,333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9202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Post-money valuation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$15,833,333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9202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Entry multiple, base case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5.87x operating income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9202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$1,105,800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9202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Modeled cash trough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$42,467 at month 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9202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Equity payback</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month 37, extrapolated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47"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840480" cy="914400"/>
        </p:xfrm>
        <a:graphic>
          <a:graphicData uri="http://schemas.openxmlformats.org/drawingml/2006/table">
            <a:tbl>
              <a:tblPr/>
              <a:tblGrid>
                <a:gridCol w="777240"/>
                <a:gridCol w="1234440"/>
                <a:gridCol w="731520"/>
                <a:gridCol w="1097280"/>
              </a:tblGrid>
              <a:tr h="256032">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Case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Investor cash /yr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Yield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After reserve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56032">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Low</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$497,800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56032">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Base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$809,283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17.0%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56032">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Upside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$1,245,217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2"/>
          <p:cNvSpPr/>
          <p:nvPr/>
        </p:nvSpPr>
        <p:spPr>
          <a:xfrm>
            <a:off x="4800600" y="2697480"/>
            <a:ext cx="3977640" cy="365760"/>
          </a:xfrm>
          <a:prstGeom prst="rect">
            <a:avLst/>
          </a:prstGeom>
          <a:noFill/>
          <a:ln/>
        </p:spPr>
        <p:txBody>
          <a:bodyPr wrap="square" rtlCol="0" anchor="t"/>
          <a:lstStyle/>
          <a:p>
            <a:pPr indent="0" marL="0">
              <a:lnSpc>
                <a:spcPct val="115000"/>
              </a:lnSpc>
              <a:buNone/>
            </a:pPr>
            <a:r>
              <a:rPr lang="en-US" sz="950" dirty="0">
                <a:solidFill>
                  <a:srgbClr val="EDE6DA"/>
                </a:solidFill>
                <a:latin typeface="Calibri" pitchFamily="34" charset="0"/>
                <a:ea typeface="Calibri" pitchFamily="34" charset="-122"/>
                <a:cs typeface="Calibri" pitchFamily="34" charset="-120"/>
              </a:rPr>
              <a:t>Founder and operator retains 70% at base case, $1,888,328 a year, and 60% if the ratchet reaches its cap.</a:t>
            </a:r>
            <a:endParaRPr lang="en-US" sz="950" dirty="0"/>
          </a:p>
        </p:txBody>
      </p:sp>
      <p:sp>
        <p:nvSpPr>
          <p:cNvPr id="7" name="Text 3"/>
          <p:cNvSpPr/>
          <p:nvPr/>
        </p:nvSpPr>
        <p:spPr>
          <a:xfrm>
            <a:off x="4800600" y="3108960"/>
            <a:ext cx="3977640" cy="685800"/>
          </a:xfrm>
          <a:prstGeom prst="rect">
            <a:avLst/>
          </a:prstGeom>
          <a:noFill/>
          <a:ln/>
        </p:spPr>
        <p:txBody>
          <a:bodyPr wrap="square" rtlCol="0" anchor="t"/>
          <a:lstStyle/>
          <a:p>
            <a:pPr indent="0" marL="0">
              <a:lnSpc>
                <a:spcPct val="115000"/>
              </a:lnSpc>
              <a:buNone/>
            </a:pPr>
            <a:r>
              <a:rPr lang="en-US" sz="800" dirty="0">
                <a:solidFill>
                  <a:srgbClr val="A8A296"/>
                </a:solidFill>
                <a:latin typeface="Calibri" pitchFamily="34" charset="0"/>
                <a:ea typeface="Calibri" pitchFamily="34" charset="-122"/>
                <a:cs typeface="Calibri" pitchFamily="34" charset="-120"/>
              </a:rPr>
              <a:t>Yield is the investor share of operating income against the $4.75M invested, assuming it is distributed in full. After reserve holds back 25% of operating income as retained cash for the second location, which is what the pro-rata page overleaf depends on. Both are before tax and before maintenance capital.</a:t>
            </a:r>
            <a:endParaRPr lang="en-US" sz="800" dirty="0"/>
          </a:p>
        </p:txBody>
      </p:sp>
      <p:sp>
        <p:nvSpPr>
          <p:cNvPr id="8" name="Text 4"/>
          <p:cNvSpPr/>
          <p:nvPr/>
        </p:nvSpPr>
        <p:spPr>
          <a:xfrm>
            <a:off x="502920" y="3931920"/>
            <a:ext cx="8138160" cy="658368"/>
          </a:xfrm>
          <a:prstGeom prst="rect">
            <a:avLst/>
          </a:prstGeom>
          <a:noFill/>
          <a:ln/>
        </p:spPr>
        <p:txBody>
          <a:bodyPr wrap="square" rtlCol="0" anchor="t"/>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Cumulative cash across the modelled 36 months is $4,589,439, including the $540,000 of founding-member prepayments collected during construction. No internal rate of return is projected here: the paths by which an investor realises value, and the published multiples the strategic case rests on, are set out two pages on. Every figure on this page is indicative and subject to definitive documents.</a:t>
            </a:r>
            <a:endParaRPr lang="en-US" sz="80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FOLLOW-ON RIGHTS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Investing Beyond Location One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Playa Vista is the first building, and the terms treat it that way.</a:t>
            </a:r>
            <a:endParaRPr lang="en-US" sz="1150" dirty="0"/>
          </a:p>
        </p:txBody>
      </p:sp>
      <p:sp>
        <p:nvSpPr>
          <p:cNvPr id="5" name="Text 3"/>
          <p:cNvSpPr/>
          <p:nvPr/>
        </p:nvSpPr>
        <p:spPr>
          <a:xfrm>
            <a:off x="502920" y="1783080"/>
            <a:ext cx="8138160" cy="2286000"/>
          </a:xfrm>
          <a:prstGeom prst="rect">
            <a:avLst/>
          </a:prstGeom>
          <a:noFill/>
          <a:ln/>
        </p:spPr>
        <p:txBody>
          <a:bodyPr wrap="square" rtlCol="0" anchor="ctr"/>
          <a:lstStyle/>
          <a:p>
            <a:pPr marL="342900" indent="-342900">
              <a:lnSpc>
                <a:spcPct val="135000"/>
              </a:lnSpc>
              <a:buSzPct val="100000"/>
              <a:buChar char="•"/>
            </a:pPr>
            <a:r>
              <a:rPr lang="en-US" sz="1100" dirty="0">
                <a:solidFill>
                  <a:srgbClr val="A8A296"/>
                </a:solidFill>
                <a:latin typeface="Calibri" pitchFamily="34" charset="0"/>
                <a:ea typeface="Calibri" pitchFamily="34" charset="-122"/>
                <a:cs typeface="Calibri" pitchFamily="34" charset="-120"/>
              </a:rPr>
              <a:t>Location 1 is the proof of concept. It has to open, fill and stabilize before anything else is contemplated, and every figure in this brief describes that one building.</a:t>
            </a:r>
            <a:endParaRPr lang="en-US" sz="1100" dirty="0"/>
          </a:p>
          <a:p>
            <a:pPr marL="342900" indent="-342900">
              <a:lnSpc>
                <a:spcPct val="135000"/>
              </a:lnSpc>
              <a:buSzPct val="100000"/>
              <a:buChar char="•"/>
            </a:pPr>
            <a:r>
              <a:rPr lang="en-US" sz="1100" dirty="0">
                <a:solidFill>
                  <a:srgbClr val="A8A296"/>
                </a:solidFill>
                <a:latin typeface="Calibri" pitchFamily="34" charset="0"/>
                <a:ea typeface="Calibri" pitchFamily="34" charset="-122"/>
                <a:cs typeface="Calibri" pitchFamily="34" charset="-120"/>
              </a:rPr>
              <a:t>Round 1 investors receive pro-rata rights, not obligations, to invest in future locations at the same or improved terms, in proportion to their original stake. A 30% holder can maintain 30% of the platform without being required to.</a:t>
            </a:r>
            <a:endParaRPr lang="en-US" sz="1100" dirty="0"/>
          </a:p>
          <a:p>
            <a:pPr marL="342900" indent="-342900">
              <a:lnSpc>
                <a:spcPct val="135000"/>
              </a:lnSpc>
              <a:buSzPct val="100000"/>
              <a:buChar char="•"/>
            </a:pPr>
            <a:r>
              <a:rPr lang="en-US" sz="1100" dirty="0">
                <a:solidFill>
                  <a:srgbClr val="A8A296"/>
                </a:solidFill>
                <a:latin typeface="Calibri" pitchFamily="34" charset="0"/>
                <a:ea typeface="Calibri" pitchFamily="34" charset="-122"/>
                <a:cs typeface="Calibri" pitchFamily="34" charset="-120"/>
              </a:rPr>
              <a:t>Future locations target comparable high-income coastal and Westside markets, and only once Location 1 reaches stabilization.</a:t>
            </a:r>
            <a:endParaRPr lang="en-US" sz="1100" dirty="0"/>
          </a:p>
          <a:p>
            <a:pPr marL="342900" indent="-342900">
              <a:lnSpc>
                <a:spcPct val="135000"/>
              </a:lnSpc>
              <a:buSzPct val="100000"/>
              <a:buChar char="•"/>
            </a:pPr>
            <a:r>
              <a:rPr lang="en-US" sz="1100" dirty="0">
                <a:solidFill>
                  <a:srgbClr val="A8A296"/>
                </a:solidFill>
                <a:latin typeface="Calibri" pitchFamily="34" charset="0"/>
                <a:ea typeface="Calibri" pitchFamily="34" charset="-122"/>
                <a:cs typeface="Calibri" pitchFamily="34" charset="-120"/>
              </a:rPr>
              <a:t>The 25% expansion reserve shown on the previous page is what funds that optionality out of operating cash rather than out of a second raise. An investor who would rather take the cash can read the full-distribution column instead; the two are shown side by side because this is the actual trade.</a:t>
            </a:r>
            <a:endParaRPr lang="en-US" sz="1100" dirty="0"/>
          </a:p>
        </p:txBody>
      </p:sp>
      <p:sp>
        <p:nvSpPr>
          <p:cNvPr id="6" name="Text 4"/>
          <p:cNvSpPr/>
          <p:nvPr/>
        </p:nvSpPr>
        <p:spPr>
          <a:xfrm>
            <a:off x="502920" y="4160520"/>
            <a:ext cx="8138160" cy="411480"/>
          </a:xfrm>
          <a:prstGeom prst="rect">
            <a:avLst/>
          </a:prstGeom>
          <a:noFill/>
          <a:ln/>
        </p:spPr>
        <p:txBody>
          <a:bodyPr wrap="square" rtlCol="0" anchor="t"/>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No location beyond Playa Vista exists today. Pro-rata rights are a mechanism, not a pipeline, and are indicative terms subject to definitive documents.</a:t>
            </a:r>
            <a:endParaRPr lang="en-US" sz="800" dirty="0"/>
          </a:p>
        </p:txBody>
      </p:sp>
      <p:sp>
        <p:nvSpPr>
          <p:cNvPr id="7"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8"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EXIT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How Investors Realize Value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Three paths, in the order they are most likely to matter.</a:t>
            </a:r>
            <a:endParaRPr lang="en-US" sz="11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4114800" cy="914400"/>
        </p:xfrm>
        <a:graphic>
          <a:graphicData uri="http://schemas.openxmlformats.org/drawingml/2006/table">
            <a:tbl>
              <a:tblPr/>
              <a:tblGrid>
                <a:gridCol w="1234440"/>
                <a:gridCol w="2880360"/>
              </a:tblGrid>
              <a:tr h="56692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Path</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How it works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566928">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Buyback</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company holds a right, not an obligation, to repurchase investor equity in a defined window in years 3 to 5, priced off a formula tied to trailing twelve-month operating income at a multiple agreed in the definitive documents.</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566928">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Right of first refusal</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If a third-party offer for the business is received, existing investors get the first right to match it before any outside sale proceeds.</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566928">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Strategic sale</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primary long-term path. Multi-location platforms trade at materially higher multiples than single-location assets, so the value of building a second and third location is realised at exit rather than only in operating cash.</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51" name="Table 1"/>
          <p:cNvGraphicFramePr>
            <a:graphicFrameLocks noGrp="1"/>
          </p:cNvGraphicFramePr>
          <p:nvPr>
            <p:extLst>
              <p:ext uri="{D42A27DB-BD31-4B8C-83A1-F6EECF244321}">
                <p14:modId xmlns:p14="http://schemas.microsoft.com/office/powerpoint/2010/main" val="1579011935"/>
              </p:ext>
            </p:extLst>
          </p:nvPr>
        </p:nvGraphicFramePr>
        <p:xfrm>
          <a:off x="4800600" y="1783080"/>
          <a:ext cx="3840480" cy="914400"/>
        </p:xfrm>
        <a:graphic>
          <a:graphicData uri="http://schemas.openxmlformats.org/drawingml/2006/table">
            <a:tbl>
              <a:tblPr/>
              <a:tblGrid>
                <a:gridCol w="2697480"/>
                <a:gridCol w="11430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Published EBITDA multiples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Range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Single location, owner is primary provider</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3.5x to 5.0x</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Single location, strong operator with SOPs</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5.0x to 6.5x</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Multi-location, two or more with management</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6.0x to 7.5x</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Multi-location, provider bench and recurring revenue</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7.0x to 9.0x</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92608">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Membership revenue premium</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+0.5x to 1.0x</a:t>
                      </a:r>
                      <a:endParaRPr lang="en-US" sz="8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Text 3"/>
          <p:cNvSpPr/>
          <p:nvPr/>
        </p:nvSpPr>
        <p:spPr>
          <a:xfrm>
            <a:off x="4800600" y="3520440"/>
            <a:ext cx="3977640" cy="384048"/>
          </a:xfrm>
          <a:prstGeom prst="rect">
            <a:avLst/>
          </a:prstGeom>
          <a:noFill/>
          <a:ln/>
        </p:spPr>
        <p:txBody>
          <a:bodyPr wrap="square" rtlCol="0" anchor="t"/>
          <a:lstStyle/>
          <a:p>
            <a:pPr indent="0" marL="0">
              <a:lnSpc>
                <a:spcPct val="115000"/>
              </a:lnSpc>
              <a:buNone/>
            </a:pPr>
            <a:r>
              <a:rPr lang="en-US" sz="900" dirty="0">
                <a:solidFill>
                  <a:srgbClr val="EDE6DA"/>
                </a:solidFill>
                <a:latin typeface="Calibri" pitchFamily="34" charset="0"/>
                <a:ea typeface="Calibri" pitchFamily="34" charset="-122"/>
                <a:cs typeface="Calibri" pitchFamily="34" charset="-120"/>
              </a:rPr>
              <a:t>L&amp;K runs 41.9% of revenue from memberships and access, above the 30% to 40% band that source names as a premium driver.</a:t>
            </a:r>
            <a:endParaRPr lang="en-US" sz="900" dirty="0"/>
          </a:p>
        </p:txBody>
      </p:sp>
      <p:sp>
        <p:nvSpPr>
          <p:cNvPr id="8" name="Text 4"/>
          <p:cNvSpPr/>
          <p:nvPr/>
        </p:nvSpPr>
        <p:spPr>
          <a:xfrm>
            <a:off x="502920" y="4041648"/>
            <a:ext cx="8138160" cy="548640"/>
          </a:xfrm>
          <a:prstGeom prst="rect">
            <a:avLst/>
          </a:prstGeom>
          <a:noFill/>
          <a:ln/>
        </p:spPr>
        <p:txBody>
          <a:bodyPr wrap="square" rtlCol="0" anchor="t"/>
          <a:lstStyle/>
          <a:p>
            <a:pPr indent="0" marL="0">
              <a:lnSpc>
                <a:spcPct val="120000"/>
              </a:lnSpc>
              <a:buNone/>
            </a:pPr>
            <a:r>
              <a:rPr lang="en-US" sz="750" dirty="0">
                <a:solidFill>
                  <a:srgbClr val="6E6A62"/>
                </a:solidFill>
                <a:latin typeface="Calibri" pitchFamily="34" charset="0"/>
                <a:ea typeface="Calibri" pitchFamily="34" charset="-122"/>
                <a:cs typeface="Calibri" pitchFamily="34" charset="-120"/>
              </a:rPr>
              <a:t>Multiples: Breakwater M&amp;A, 20 February 2026. https://www.breakwaterma.com/blog/medical-spa-valuation-multiples-2026  ·  Industry M&amp;A comparables, not company projections. The entry price on this round is 5.87x base-case operating income, inside the single-location band above and below every multi-location band.</a:t>
            </a:r>
            <a:endParaRPr lang="en-US" sz="7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9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There is no debt service to carry through it, and the $1,105,800 working capital reserve inside use of funds is sized against a modeled cash trough of $42,467 at month 9.</a:t>
            </a:r>
            <a:endParaRPr lang="en-US" sz="950" dirty="0"/>
          </a:p>
          <a:p>
            <a:pPr marL="342900" indent="-342900">
              <a:lnSpc>
                <a:spcPct val="135000"/>
              </a:lnSpc>
              <a:buSzPct val="100000"/>
              <a:buChar char="•"/>
            </a:pPr>
            <a:r>
              <a:rPr lang="en-US" sz="950" dirty="0">
                <a:solidFill>
                  <a:srgbClr val="A8A296"/>
                </a:solidFill>
                <a:latin typeface="Calibri" pitchFamily="34" charset="0"/>
                <a:ea typeface="Calibri" pitchFamily="34" charset="-122"/>
                <a:cs typeface="Calibri" pitchFamily="34" charset="-120"/>
              </a:rPr>
              <a:t>The reserve is deliberately larger than the trough it covers, 26.0 times over. With no lender there is no mandated reserve and no covenant to cure, so the cushion is a choice: it funds a materially slower ramp than the one modeled without a second raise. It is idle cash and we are naming it rather than leaving it to be found.</a:t>
            </a:r>
            <a:endParaRPr lang="en-US" sz="950" dirty="0"/>
          </a:p>
          <a:p>
            <a:pPr marL="342900" indent="-342900">
              <a:lnSpc>
                <a:spcPct val="135000"/>
              </a:lnSpc>
              <a:buSzPct val="100000"/>
              <a:buChar char="•"/>
            </a:pPr>
            <a:r>
              <a:rPr lang="en-US" sz="950" dirty="0">
                <a:solidFill>
                  <a:srgbClr val="A8A296"/>
                </a:solidFill>
                <a:latin typeface="Calibri" pitchFamily="34" charset="0"/>
                <a:ea typeface="Calibri" pitchFamily="34" charset="-122"/>
                <a:cs typeface="Calibri" pitchFamily="34" charset="-120"/>
              </a:rPr>
              <a:t>The ratchet cushions the downside without making the investor whole. At the low case 40% of $1.24M pays $497,800, which is still less than the $809,283 that 30% of base case pays. Every ownership percentage, valuation and buyback term in this deck is indicative and subject to definitive documents.</a:t>
            </a:r>
            <a:endParaRPr lang="en-US" sz="950" dirty="0"/>
          </a:p>
          <a:p>
            <a:pPr marL="342900" indent="-342900">
              <a:lnSpc>
                <a:spcPct val="135000"/>
              </a:lnSpc>
              <a:buSzPct val="100000"/>
              <a:buChar char="•"/>
            </a:pPr>
            <a:r>
              <a:rPr lang="en-US" sz="950" dirty="0">
                <a:solidFill>
                  <a:srgbClr val="A8A296"/>
                </a:solidFill>
                <a:latin typeface="Calibri" pitchFamily="34" charset="0"/>
                <a:ea typeface="Calibri" pitchFamily="34" charset="-122"/>
                <a:cs typeface="Calibri" pitchFamily="34" charset="-120"/>
              </a:rPr>
              <a:t>The multi-location expansion and platform exit thesis represent optionality this structure creates, not a guaranteed roadmap. No location beyond Playa Vista currently exists, and all forward-looking multiples are sourced from industry M&amp;A comparables, not company-specific projections.</a:t>
            </a:r>
            <a:endParaRPr lang="en-US" sz="950" dirty="0"/>
          </a:p>
          <a:p>
            <a:pPr marL="342900" indent="-342900">
              <a:lnSpc>
                <a:spcPct val="135000"/>
              </a:lnSpc>
              <a:buSzPct val="100000"/>
              <a:buChar char="•"/>
            </a:pPr>
            <a:r>
              <a:rPr lang="en-US" sz="950" dirty="0">
                <a:solidFill>
                  <a:srgbClr val="A8A296"/>
                </a:solidFill>
                <a:latin typeface="Calibri" pitchFamily="34" charset="0"/>
                <a:ea typeface="Calibri" pitchFamily="34" charset="-122"/>
                <a:cs typeface="Calibri" pitchFamily="34" charset="-120"/>
              </a:rPr>
              <a:t>Volume is flexed to 72% of base in the low case and the business still produces $1.24M of annual operating income, with fixed overhead held constant. That is the conservative treatment: in a genuine downside you would cut staff before you cut the lease.</a:t>
            </a:r>
            <a:endParaRPr lang="en-US" sz="950" dirty="0"/>
          </a:p>
          <a:p>
            <a:pPr marL="342900" indent="-342900">
              <a:lnSpc>
                <a:spcPct val="135000"/>
              </a:lnSpc>
              <a:buSzPct val="100000"/>
              <a:buChar char="•"/>
            </a:pPr>
            <a:r>
              <a:rPr lang="en-US" sz="9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9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Funds close,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Therapeutic medications,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8138160" cy="914400"/>
        </p:xfrm>
        <a:graphic>
          <a:graphicData uri="http://schemas.openxmlformats.org/drawingml/2006/table">
            <a:tbl>
              <a:tblPr/>
              <a:tblGrid>
                <a:gridCol w="2743200"/>
                <a:gridCol w="5394960"/>
              </a:tblGrid>
              <a:tr h="36576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Risk</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Mitigation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Membership fills slower than modeled.</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produces positive operating income.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Members redeem more than their fees cover.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key clinical seat turns over during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asset is the facility, not any one clinician. The club layer, recovery floor and infusion suite run on materially less scarce staffing than the injectable and prescribing lines, so a temporary gap narrows the offering without closing the building. A licensed, equipped facility can credential a replacement. Clinical compensation carries retention terms through the ramp.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ramp runs slower than modeled and the cash runs out.</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This is the risk that replaces financing risk when there is no lender. There is no payment to miss and no covenant to breach, so the only hard constraint is cash. The reserve is sized against the modeled trough, the low case still produces positive operating income at stabilization, and founding presales land during construction rather than after opening.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 national brand opens nearby.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defensible asset is the licensed facility, not the sauna. Adding injectables, infusions and physician oversight is not a product decision for a recovery studio: it means becoming a licensed medical facility, with the staffing, supervision, malpractice and accreditation that implies.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36576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Wet-area construction overruns.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60120"/>
          </a:xfrm>
          <a:prstGeom prst="rect">
            <a:avLst/>
          </a:prstGeom>
          <a:noFill/>
          <a:ln/>
        </p:spPr>
        <p:txBody>
          <a:bodyPr wrap="square" rtlCol="0" anchor="t"/>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Few rooms are licensed to treat you in one.</a:t>
            </a:r>
            <a:endParaRPr lang="en-US" sz="2400" dirty="0"/>
          </a:p>
        </p:txBody>
      </p:sp>
      <p:sp>
        <p:nvSpPr>
          <p:cNvPr id="5" name="Text 3"/>
          <p:cNvSpPr/>
          <p:nvPr/>
        </p:nvSpPr>
        <p:spPr>
          <a:xfrm>
            <a:off x="502920" y="274320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Ample · private  ·  $4.75M all equity  ·  4,925 SF  ·  56.8% unlevered yield</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Text 1"/>
          <p:cNvSpPr/>
          <p:nvPr/>
        </p:nvSpPr>
        <p:spPr>
          <a:xfrm>
            <a:off x="502920" y="1417320"/>
            <a:ext cx="8138160" cy="219456"/>
          </a:xfrm>
          <a:prstGeom prst="rect">
            <a:avLst/>
          </a:prstGeom>
          <a:noFill/>
          <a:ln/>
        </p:spPr>
        <p:txBody>
          <a:bodyPr wrap="square" rtlCol="0" anchor="ctr"/>
          <a:lstStyle/>
          <a:p>
            <a:pPr indent="0" marL="0">
              <a:buNone/>
            </a:pPr>
            <a:r>
              <a:rPr lang="en-US" sz="900" spc="340" kern="0" dirty="0">
                <a:solidFill>
                  <a:srgbClr val="C08D7C"/>
                </a:solidFill>
                <a:latin typeface="Century Gothic" pitchFamily="34" charset="0"/>
                <a:ea typeface="Century Gothic" pitchFamily="34" charset="-122"/>
                <a:cs typeface="Century Gothic" pitchFamily="34" charset="-120"/>
              </a:rPr>
              <a:t>APPENDIX</a:t>
            </a:r>
            <a:endParaRPr lang="en-US" sz="900" dirty="0"/>
          </a:p>
        </p:txBody>
      </p:sp>
      <p:sp>
        <p:nvSpPr>
          <p:cNvPr id="4" name="Text 2"/>
          <p:cNvSpPr/>
          <p:nvPr/>
        </p:nvSpPr>
        <p:spPr>
          <a:xfrm>
            <a:off x="502920" y="1691640"/>
            <a:ext cx="8138160" cy="548640"/>
          </a:xfrm>
          <a:prstGeom prst="rect">
            <a:avLst/>
          </a:prstGeom>
          <a:noFill/>
          <a:ln/>
        </p:spPr>
        <p:txBody>
          <a:bodyPr wrap="square" rtlCol="0" anchor="ctr"/>
          <a:lstStyle/>
          <a:p>
            <a:pPr indent="0" marL="0">
              <a:buNone/>
            </a:pPr>
            <a:r>
              <a:rPr lang="en-US" sz="3000" dirty="0">
                <a:solidFill>
                  <a:srgbClr val="EDE6DA"/>
                </a:solidFill>
                <a:latin typeface="Century Gothic" pitchFamily="34" charset="0"/>
                <a:ea typeface="Century Gothic" pitchFamily="34" charset="-122"/>
                <a:cs typeface="Century Gothic" pitchFamily="34" charset="-120"/>
              </a:rPr>
              <a:t>How these numbers were built.</a:t>
            </a:r>
            <a:endParaRPr lang="en-US" sz="3000" dirty="0"/>
          </a:p>
        </p:txBody>
      </p:sp>
      <p:sp>
        <p:nvSpPr>
          <p:cNvPr id="5" name="Shape 3"/>
          <p:cNvSpPr/>
          <p:nvPr/>
        </p:nvSpPr>
        <p:spPr>
          <a:xfrm>
            <a:off x="502920" y="2359152"/>
            <a:ext cx="822960" cy="36576"/>
          </a:xfrm>
          <a:prstGeom prst="rect">
            <a:avLst/>
          </a:prstGeom>
          <a:solidFill>
            <a:srgbClr val="C08D7C"/>
          </a:solidFill>
          <a:ln w="12700">
            <a:solidFill>
              <a:srgbClr val="C08D7C"/>
            </a:solidFill>
            <a:prstDash val="solid"/>
          </a:ln>
        </p:spPr>
      </p:sp>
      <p:sp>
        <p:nvSpPr>
          <p:cNvPr id="6" name="Text 4"/>
          <p:cNvSpPr/>
          <p:nvPr/>
        </p:nvSpPr>
        <p:spPr>
          <a:xfrm>
            <a:off x="502920" y="2606040"/>
            <a:ext cx="6673291" cy="640080"/>
          </a:xfrm>
          <a:prstGeom prst="rect">
            <a:avLst/>
          </a:prstGeom>
          <a:noFill/>
          <a:ln/>
        </p:spPr>
        <p:txBody>
          <a:bodyPr wrap="square" rtlCol="0" anchor="ctr"/>
          <a:lstStyle/>
          <a:p>
            <a:pPr indent="0" marL="0">
              <a:lnSpc>
                <a:spcPct val="125000"/>
              </a:lnSpc>
              <a:buNone/>
            </a:pPr>
            <a:r>
              <a:rPr lang="en-US" sz="1200" dirty="0">
                <a:solidFill>
                  <a:srgbClr val="A8A296"/>
                </a:solidFill>
                <a:latin typeface="Calibri" pitchFamily="34" charset="0"/>
                <a:ea typeface="Calibri" pitchFamily="34" charset="-122"/>
                <a:cs typeface="Calibri" pitchFamily="34" charset="-120"/>
              </a:rPr>
              <a:t>Everything in this brief resolves to a stabilized P&amp;L and a use-of-funds table. The slides that follow itemise both, every overhead line broken into its components, every capital line into what it buys, and the staffing plan named role by role.</a:t>
            </a:r>
            <a:endParaRPr lang="en-US" sz="1200" dirty="0"/>
          </a:p>
        </p:txBody>
      </p:sp>
      <p:sp>
        <p:nvSpPr>
          <p:cNvPr id="7" name="Text 5"/>
          <p:cNvSpPr/>
          <p:nvPr/>
        </p:nvSpPr>
        <p:spPr>
          <a:xfrm>
            <a:off x="502920" y="3291840"/>
            <a:ext cx="6673291" cy="868680"/>
          </a:xfrm>
          <a:prstGeom prst="rect">
            <a:avLst/>
          </a:prstGeom>
          <a:noFill/>
          <a:ln/>
        </p:spPr>
        <p:txBody>
          <a:bodyPr wrap="square" rtlCol="0" anchor="t"/>
          <a:lstStyle/>
          <a:p>
            <a:pPr indent="0" marL="0">
              <a:lnSpc>
                <a:spcPct val="125000"/>
              </a:lnSpc>
              <a:buNone/>
            </a:pPr>
            <a:r>
              <a:rPr lang="en-US" sz="1050" dirty="0">
                <a:solidFill>
                  <a:srgbClr val="6E6A62"/>
                </a:solidFill>
                <a:latin typeface="Calibri" pitchFamily="34" charset="0"/>
                <a:ea typeface="Calibri" pitchFamily="34" charset="-122"/>
                <a:cs typeface="Calibri" pitchFamily="34" charset="-120"/>
              </a:rPr>
              <a:t>These figures come from the same model that produces the rest of the deck, and each build-up is checked at build time to sum to the total it explains. Every figure resting on judgment rather than a quote is named in the provenance pages. The full written methodology, with sources, ships alongside this deck as ASSUMPTIONS.md and as methodology.html on the site.</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Rent, equipment and administration.</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Fixed overhead totals $207,673 a month. Rent is 4,925 SF at $5.50/SF/month NNN.</a:t>
            </a:r>
            <a:endParaRPr lang="en-US" sz="1150" dirty="0"/>
          </a:p>
        </p:txBody>
      </p:sp>
      <p:sp>
        <p:nvSpPr>
          <p:cNvPr id="5" name="Text 3"/>
          <p:cNvSpPr/>
          <p:nvPr/>
        </p:nvSpPr>
        <p:spPr>
          <a:xfrm>
            <a:off x="502920"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EQUIPMENT LEASES</a:t>
            </a:r>
            <a:endParaRPr lang="en-US" sz="7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Ammortal chamber (1 unit)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Aescape robotic massage (1 unit) subscription</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Second red light bed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1375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Other leased equipment</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Balance of clinical equipment financed (~$190,000 @ 2.2%/mo)</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4180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$16,555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4"/>
          <p:cNvSpPr/>
          <p:nvPr/>
        </p:nvSpPr>
        <p:spPr>
          <a:xfrm>
            <a:off x="4672584"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ADMIN AND MANAGEMENT</a:t>
            </a:r>
            <a:endParaRPr lang="en-US" sz="75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4672584"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Bookkeeping and accounting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Legal and compliance retainer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IT and managed services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Business insurance (GL, property, cyber)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Merchant processing and banking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9" name="Text 5"/>
          <p:cNvSpPr/>
          <p:nvPr/>
        </p:nvSpPr>
        <p:spPr>
          <a:xfrm>
            <a:off x="502920" y="3886200"/>
            <a:ext cx="8138160" cy="59436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Clinical and club staff: $85,920/month.</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named roster of nine posts priced off hourly rates at 160 hours a month, carried as fully loaded. Coverage against a 14-hour, 7-day week has not yet been tested.</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120640"/>
                <a:gridCol w="1097280"/>
                <a:gridCol w="192024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Role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FTE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 loaded</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Officers (2 @ $150,000/yr)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Director (MD/DO)</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Aesthetics Injector (NP or PA): $85/hr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$13,600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Longevity Clinical Lead (NP or PA): $100/hr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Registered Nurse (IV, regenerative, recovery): $55/hr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$8,800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LVN: $30/hr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$4,800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assistant / technician: $25/hr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Administrator: $45/hr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$7,200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Front desk / concierge: $22/hr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$3,520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$85,920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Marketing and insurance.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7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Paid digital and social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Content, photography, video</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Events and community programming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Agency / fractional marketing lead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Referral and partnership incentives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$30,000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MALPRACTICE AND LIABILITY</a:t>
            </a:r>
            <a:endParaRPr lang="en-US" sz="750" dirty="0"/>
          </a:p>
        </p:txBody>
      </p:sp>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Director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 injector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Longevity clinical lead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Nursing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Entity policy and umbrella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3840480"/>
            <a:ext cx="8138160" cy="5029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Utilities and compliance.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7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Utilities (electric, gas, water)</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 platform and booking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EMR / charting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Phone, internet, security monitoring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Laundry and linen service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Music, AV, miscellaneous systems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LICENSING AND COMPLIANCE</a:t>
            </a:r>
            <a:endParaRPr lang="en-US" sz="750" dirty="0"/>
          </a:p>
        </p:txBody>
      </p:sp>
      <p:graphicFrame>
        <p:nvGraphicFramePr>
          <p:cNvPr id="71"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Business licenses and permits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CLIA waiver / lab (bi-annual, amortised)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$1,610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35</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COST OF GOODS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the margins pay for.</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Cost of goods runs $165,563 a month against $598,036 of revenue, a blended 72.3% margin.</a:t>
            </a:r>
            <a:endParaRPr lang="en-US" sz="11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822960"/>
                <a:gridCol w="557784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Category</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Margin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What the cost side is</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80–82%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Consumables, filters and water treatment, linens, device servicing contracts. Almost no per-session variable cost, which is why these margins are the highest in the building.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60–72%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Draw kits, separation tubes and centrifuge consumables, needles and sharps, topical anaesthetic. Cost per case is close to fixed, so the margin spread across the six lines is a pricing decision rather than a cost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Regenerative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56–78%</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IV bags and tubing, vitamins, glutathione and NAD+ compound, pharmacy cost on prescribed therapeutics. The widest band in the book: NAD+ carries the compound cost and the hydration drips carry almost none.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65–75%</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Neuromodulator and filler units at acquisition cost, RF microneedling tips, laser consumables, topicals. Filler is the thinnest because product cost dominates a single syringe.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65–77%</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Reference lab send-out fees, DEXA consumables, DNA and DUTCH collection kits, interpretation time. DEXA sits at the top because the scanner is owned and the marginal cost of a scan is small.</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facility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78–80%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Disposables, implants, drugs and linens, instrument reprocessing. Clinical staff sits in fixed overhead and the surgeon takes no share of the facility fee, which is why these exceed the treatment-room lines.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full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73–76%</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As above, plus graft handling and technician time on hair restoration and laser consumables on ablative resurfacing.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069080"/>
            <a:ext cx="8138160" cy="365760"/>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Circuit consumables (towels, laundry, water and amenities) are carried separately at $8 a visit across 2,345 monthly visits, or $18,760.</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36</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itemised capital lines.</a:t>
            </a:r>
            <a:endParaRPr lang="en-US" sz="2600" dirty="0"/>
          </a:p>
        </p:txBody>
      </p:sp>
      <p:sp>
        <p:nvSpPr>
          <p:cNvPr id="4" name="Text 2"/>
          <p:cNvSpPr/>
          <p:nvPr/>
        </p:nvSpPr>
        <p:spPr>
          <a:xfrm>
            <a:off x="502920"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WET AREAS</a:t>
            </a:r>
            <a:endParaRPr lang="en-US" sz="7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Saunas (2), cedar, heaters, controls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Cold plunges (2), chillers, filtration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Steam room and generator</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Waterproofing, drainage, floor slopes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Dedicated ventilation and dehumidification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Tile, benching, finishes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RECOVERY TECHNOLOGY</a:t>
            </a:r>
            <a:endParaRPr lang="en-US" sz="750" dirty="0"/>
          </a:p>
        </p:txBody>
      </p:sp>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4672584"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 chamber, purchased</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 ($159,500 list), 10% finance deposit</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 (1 unit), subscription only</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37</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a:t>
            </a:r>
            <a:endParaRPr lang="en-US" sz="26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Buildout and tenant improvements (4,925 SF @ $250/SF)</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$1,231,250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Square footage × $250/SF for clinic and club space.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 areas: 2 saunas, 2 plunges, steam, drainage…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Itemised below. Wet construction is the highest-variance line in the whole buildout: waterproofing failures and ventilation rework are the classic overrun.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and aesthetic equipment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medical and aesthetic package. Excludes bone densitometry, which is itemised on its own line below.</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technology: HBOT purchased, Ammortal deposit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Only the hyperbaric chamber is bought outright. The Ammortal chamber is financed, so the capital cost is the deposit alone.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GE iDXA bone densitometer,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GE Lunar iDXA bone densitometer, bought outright rather than leased, plus the 125 SF room it occupies.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FF&amp;E, lounge, millwork, retail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$430,000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Furniture, lounge fit-out, millwork and retail fixtures.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Pre-opening: licensing, legal, insurance, hiring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Licensing, legal, insurance binders, recruiting and pre-opening payroll.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Brand, launch, founding member campaign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$237,000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Identity, site, photography, launch campaign and the founding member drive.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Working capital reserve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$1,105,800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Sized against the modelled cash trough, not set to a round number.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 project cost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$4,750,000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38</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(1 of 3).</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Each figure below is an estimate, an inherited assumption or a single vendor quote.</a:t>
            </a:r>
            <a:endParaRPr lang="en-US" sz="1150" dirty="0"/>
          </a:p>
        </p:txBody>
      </p:sp>
      <p:sp>
        <p:nvSpPr>
          <p:cNvPr id="5" name="Text 3"/>
          <p:cNvSpPr/>
          <p:nvPr/>
        </p:nvSpPr>
        <p:spPr>
          <a:xfrm>
            <a:off x="502920" y="157276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RENT (4,925 SF NNN)</a:t>
            </a:r>
            <a:endParaRPr lang="en-US" sz="800" dirty="0"/>
          </a:p>
        </p:txBody>
      </p:sp>
      <p:sp>
        <p:nvSpPr>
          <p:cNvPr id="6" name="Text 4"/>
          <p:cNvSpPr/>
          <p:nvPr/>
        </p:nvSpPr>
        <p:spPr>
          <a:xfrm>
            <a:off x="502920" y="1737360"/>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This is the most exposed number in the model. There is no broker letter, no comparable set and no listing behind it anywhere in the lineage. The prior Playa Vista model implied $6.77/SF, so $5.50 is the more aggressive figure. Sensitivity is shown at the end of this document.</a:t>
            </a:r>
            <a:endParaRPr lang="en-US" sz="800" dirty="0"/>
          </a:p>
        </p:txBody>
      </p:sp>
      <p:sp>
        <p:nvSpPr>
          <p:cNvPr id="7" name="Text 5"/>
          <p:cNvSpPr/>
          <p:nvPr/>
        </p:nvSpPr>
        <p:spPr>
          <a:xfrm>
            <a:off x="502920" y="211592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EQUIPMENT LEASES</a:t>
            </a:r>
            <a:endParaRPr lang="en-US" sz="800" dirty="0"/>
          </a:p>
        </p:txBody>
      </p:sp>
      <p:sp>
        <p:nvSpPr>
          <p:cNvPr id="8" name="Text 6"/>
          <p:cNvSpPr/>
          <p:nvPr/>
        </p:nvSpPr>
        <p:spPr>
          <a:xfrm>
            <a:off x="502920" y="2280514"/>
            <a:ext cx="8138160" cy="482803"/>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00" dirty="0"/>
          </a:p>
        </p:txBody>
      </p:sp>
      <p:sp>
        <p:nvSpPr>
          <p:cNvPr id="9" name="Text 7"/>
          <p:cNvSpPr/>
          <p:nvPr/>
        </p:nvSpPr>
        <p:spPr>
          <a:xfrm>
            <a:off x="502920" y="2900477"/>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ADMIN AND MANAGEMENT</a:t>
            </a:r>
            <a:endParaRPr lang="en-US" sz="800" dirty="0"/>
          </a:p>
        </p:txBody>
      </p:sp>
      <p:sp>
        <p:nvSpPr>
          <p:cNvPr id="10" name="Text 8"/>
          <p:cNvSpPr/>
          <p:nvPr/>
        </p:nvSpPr>
        <p:spPr>
          <a:xfrm>
            <a:off x="502920" y="3065069"/>
            <a:ext cx="8138160" cy="120701"/>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Merchant processing is the largest component and scales with card revenue at roughly 2.6%. Everything else is a fixed vendor cost.</a:t>
            </a:r>
            <a:endParaRPr lang="en-US" sz="800" dirty="0"/>
          </a:p>
        </p:txBody>
      </p:sp>
      <p:sp>
        <p:nvSpPr>
          <p:cNvPr id="11" name="Text 9"/>
          <p:cNvSpPr/>
          <p:nvPr/>
        </p:nvSpPr>
        <p:spPr>
          <a:xfrm>
            <a:off x="502920" y="3322930"/>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800" dirty="0"/>
          </a:p>
        </p:txBody>
      </p:sp>
      <p:sp>
        <p:nvSpPr>
          <p:cNvPr id="12" name="Text 10"/>
          <p:cNvSpPr/>
          <p:nvPr/>
        </p:nvSpPr>
        <p:spPr>
          <a:xfrm>
            <a:off x="502920" y="3487522"/>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Weighted toward paid digital during the ramp and toward events and referral once the membership base exists. No blended CAC target is claimed, because none has been measured.</a:t>
            </a:r>
            <a:endParaRPr lang="en-US" sz="800" dirty="0"/>
          </a:p>
        </p:txBody>
      </p:sp>
      <p:sp>
        <p:nvSpPr>
          <p:cNvPr id="13" name="Text 11"/>
          <p:cNvSpPr/>
          <p:nvPr/>
        </p:nvSpPr>
        <p:spPr>
          <a:xfrm>
            <a:off x="502920" y="386608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MALPRACTICE AND LIABILITY</a:t>
            </a:r>
            <a:endParaRPr lang="en-US" sz="800" dirty="0"/>
          </a:p>
        </p:txBody>
      </p:sp>
      <p:sp>
        <p:nvSpPr>
          <p:cNvPr id="14" name="Text 12"/>
          <p:cNvSpPr/>
          <p:nvPr/>
        </p:nvSpPr>
        <p:spPr>
          <a:xfrm>
            <a:off x="502920" y="4030675"/>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39</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(2 of 3).</a:t>
            </a:r>
            <a:endParaRPr lang="en-US" sz="2600" dirty="0"/>
          </a:p>
        </p:txBody>
      </p:sp>
      <p:sp>
        <p:nvSpPr>
          <p:cNvPr id="4" name="Text 2"/>
          <p:cNvSpPr/>
          <p:nvPr/>
        </p:nvSpPr>
        <p:spPr>
          <a:xfrm>
            <a:off x="502920" y="129844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800" dirty="0"/>
          </a:p>
        </p:txBody>
      </p:sp>
      <p:sp>
        <p:nvSpPr>
          <p:cNvPr id="5" name="Text 3"/>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Wet areas dominate the utility line: saunas, plunges and their dehumidification run continuously and are materially more energy intensive than a dry medspa of the same footprint.</a:t>
            </a:r>
            <a:endParaRPr lang="en-US" sz="800" dirty="0"/>
          </a:p>
        </p:txBody>
      </p:sp>
      <p:sp>
        <p:nvSpPr>
          <p:cNvPr id="6" name="Text 4"/>
          <p:cNvSpPr/>
          <p:nvPr/>
        </p:nvSpPr>
        <p:spPr>
          <a:xfrm>
            <a:off x="502920" y="184160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LICENSING AND COMPLIANCE</a:t>
            </a:r>
            <a:endParaRPr lang="en-US" sz="800" dirty="0"/>
          </a:p>
        </p:txBody>
      </p:sp>
      <p:sp>
        <p:nvSpPr>
          <p:cNvPr id="7" name="Text 5"/>
          <p:cNvSpPr/>
          <p:nvPr/>
        </p:nvSpPr>
        <p:spPr>
          <a:xfrm>
            <a:off x="502920" y="2006194"/>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Routine regulatory carrying cost. The surgical case adds accreditation maintenance and a standing quality and performance improvement programme, both of which the accrediting body requires between surveys.</a:t>
            </a:r>
            <a:endParaRPr lang="en-US" sz="800" dirty="0"/>
          </a:p>
        </p:txBody>
      </p:sp>
      <p:sp>
        <p:nvSpPr>
          <p:cNvPr id="8" name="Text 6"/>
          <p:cNvSpPr/>
          <p:nvPr/>
        </p:nvSpPr>
        <p:spPr>
          <a:xfrm>
            <a:off x="502920" y="2384755"/>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BUILDOUT AND TENANT IMPROVEMENTS (4,925 SF @ $250/SF)</a:t>
            </a:r>
            <a:endParaRPr lang="en-US" sz="800" dirty="0"/>
          </a:p>
        </p:txBody>
      </p:sp>
      <p:sp>
        <p:nvSpPr>
          <p:cNvPr id="9" name="Text 7"/>
          <p:cNvSpPr/>
          <p:nvPr/>
        </p:nvSpPr>
        <p:spPr>
          <a:xfrm>
            <a:off x="502920" y="2549347"/>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prior Playa Vista model used $200–$300/SF for comparable clinic buildout, so $250 sits mid-range. It is not a contractor bid; a general contractor bid remains the most valuable document to obtain before closing.</a:t>
            </a:r>
            <a:endParaRPr lang="en-US" sz="800" dirty="0"/>
          </a:p>
        </p:txBody>
      </p:sp>
      <p:sp>
        <p:nvSpPr>
          <p:cNvPr id="10" name="Text 8"/>
          <p:cNvSpPr/>
          <p:nvPr/>
        </p:nvSpPr>
        <p:spPr>
          <a:xfrm>
            <a:off x="502920" y="2927909"/>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MEDICAL AND AESTHETIC EQUIPMENT (PURCHASED)</a:t>
            </a:r>
            <a:endParaRPr lang="en-US" sz="800" dirty="0"/>
          </a:p>
        </p:txBody>
      </p:sp>
      <p:sp>
        <p:nvSpPr>
          <p:cNvPr id="11" name="Text 9"/>
          <p:cNvSpPr/>
          <p:nvPr/>
        </p:nvSpPr>
        <p:spPr>
          <a:xfrm>
            <a:off x="502920" y="3092501"/>
            <a:ext cx="8138160" cy="3621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Category ranges come from the prior Playa Vista line-item budget: IV and exam $80K–$150K, PRP processing $40K–$125K, aesthetic laser $150K–$400K, RF microneedling $80K–$180K, body contouring $100K–$275K, diagnostics $80K–$180K. That budget is an internal planning document, not vendor quotes. The diagnostics range above covers biometrics, phlebotomy and the lab interface only: the GE iDXA is named and priced separately so the two cannot be counted twice.</a:t>
            </a:r>
            <a:endParaRPr lang="en-US" sz="800" dirty="0"/>
          </a:p>
        </p:txBody>
      </p:sp>
      <p:sp>
        <p:nvSpPr>
          <p:cNvPr id="12" name="Text 10"/>
          <p:cNvSpPr/>
          <p:nvPr/>
        </p:nvSpPr>
        <p:spPr>
          <a:xfrm>
            <a:off x="502920" y="359176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RECOVERY TECHNOLOGY: HBOT PURCHASED, AMMORTAL DEPOSIT</a:t>
            </a:r>
            <a:endParaRPr lang="en-US" sz="800" dirty="0"/>
          </a:p>
        </p:txBody>
      </p:sp>
      <p:sp>
        <p:nvSpPr>
          <p:cNvPr id="13" name="Text 11"/>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single Ammortal chamber lists at $159,500 including delivery, install and onboarding, with $15,950 down and roughly $3,000 a month thereafter. Both the Ammortal payment and the Aescape subscription appear in the monthly equipment lease line rather than here, along with the red light beds.</a:t>
            </a:r>
            <a:endParaRPr lang="en-US" sz="8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40</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(3 of 3).</a:t>
            </a:r>
            <a:endParaRPr lang="en-US" sz="2600" dirty="0"/>
          </a:p>
        </p:txBody>
      </p:sp>
      <p:sp>
        <p:nvSpPr>
          <p:cNvPr id="4" name="Text 2"/>
          <p:cNvSpPr/>
          <p:nvPr/>
        </p:nvSpPr>
        <p:spPr>
          <a:xfrm>
            <a:off x="502920" y="129844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GE IDXA BONE DENSITOMETER, PURCHASED</a:t>
            </a:r>
            <a:endParaRPr lang="en-US" sz="800" dirty="0"/>
          </a:p>
        </p:txBody>
      </p:sp>
      <p:sp>
        <p:nvSpPr>
          <p:cNvPr id="5" name="Text 3"/>
          <p:cNvSpPr/>
          <p:nvPr/>
        </p:nvSpPr>
        <p:spPr>
          <a:xfrm>
            <a:off x="502920" y="1463040"/>
            <a:ext cx="8138160" cy="482803"/>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Price supplied by the operator. It is well below new-unit list, so it assumes a refurbished or off-lease scanner: confirm the condition, the remaining tube life and whether a service contract is included before closing. The room it needs added 125 SF to the footprint, which carries $31,250 of buildout at $250/SF; both that and the scanner itself are funded from the working capital reserve, so the project cost is unchanged. Owning the scanner rather than referring out is what puts the DEXA service line at a 77% margin and lets it be priced as a $95 screening entry point.</a:t>
            </a:r>
            <a:endParaRPr lang="en-US" sz="800" dirty="0"/>
          </a:p>
        </p:txBody>
      </p:sp>
      <p:sp>
        <p:nvSpPr>
          <p:cNvPr id="6" name="Text 4"/>
          <p:cNvSpPr/>
          <p:nvPr/>
        </p:nvSpPr>
        <p:spPr>
          <a:xfrm>
            <a:off x="502920" y="208300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FF&amp;E, LOUNGE, MILLWORK, RETAIL</a:t>
            </a:r>
            <a:endParaRPr lang="en-US" sz="800" dirty="0"/>
          </a:p>
        </p:txBody>
      </p:sp>
      <p:sp>
        <p:nvSpPr>
          <p:cNvPr id="7" name="Text 5"/>
          <p:cNvSpPr/>
          <p:nvPr/>
        </p:nvSpPr>
        <p:spPr>
          <a:xfrm>
            <a:off x="502920" y="2247595"/>
            <a:ext cx="8138160" cy="120701"/>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Hospitality-grade rather than clinical-grade, because the lounge is the product. Per square foot this is the line most exposed to taste and specification drift.</a:t>
            </a:r>
            <a:endParaRPr lang="en-US" sz="800" dirty="0"/>
          </a:p>
        </p:txBody>
      </p:sp>
      <p:sp>
        <p:nvSpPr>
          <p:cNvPr id="8" name="Text 6"/>
          <p:cNvSpPr/>
          <p:nvPr/>
        </p:nvSpPr>
        <p:spPr>
          <a:xfrm>
            <a:off x="502920" y="2505456"/>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PRE-OPENING: LICENSING, LEGAL, INSURANCE, HIRING</a:t>
            </a:r>
            <a:endParaRPr lang="en-US" sz="800" dirty="0"/>
          </a:p>
        </p:txBody>
      </p:sp>
      <p:sp>
        <p:nvSpPr>
          <p:cNvPr id="9" name="Text 7"/>
          <p:cNvSpPr/>
          <p:nvPr/>
        </p:nvSpPr>
        <p:spPr>
          <a:xfrm>
            <a:off x="502920" y="2670048"/>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surgical case additionally carries the written transfer agreement with a nearby acute-care facility, which the accrediting body expects. It is priced inside this line rather than broken out.</a:t>
            </a:r>
            <a:endParaRPr lang="en-US" sz="800" dirty="0"/>
          </a:p>
        </p:txBody>
      </p:sp>
      <p:sp>
        <p:nvSpPr>
          <p:cNvPr id="10" name="Text 8"/>
          <p:cNvSpPr/>
          <p:nvPr/>
        </p:nvSpPr>
        <p:spPr>
          <a:xfrm>
            <a:off x="502920" y="3048610"/>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BRAND, LAUNCH, FOUNDING MEMBER CAMPAIGN</a:t>
            </a:r>
            <a:endParaRPr lang="en-US" sz="800" dirty="0"/>
          </a:p>
        </p:txBody>
      </p:sp>
      <p:sp>
        <p:nvSpPr>
          <p:cNvPr id="11" name="Text 9"/>
          <p:cNvSpPr/>
          <p:nvPr/>
        </p:nvSpPr>
        <p:spPr>
          <a:xfrm>
            <a:off x="502920" y="3213202"/>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Sized against the founding member target: the campaign has to convert enough pre-opening memberships to matter, and those proceeds are modelled as offsetting construction-period burn.</a:t>
            </a:r>
            <a:endParaRPr lang="en-US" sz="800" dirty="0"/>
          </a:p>
        </p:txBody>
      </p:sp>
      <p:sp>
        <p:nvSpPr>
          <p:cNvPr id="12" name="Text 10"/>
          <p:cNvSpPr/>
          <p:nvPr/>
        </p:nvSpPr>
        <p:spPr>
          <a:xfrm>
            <a:off x="502920" y="3591763"/>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WORKING CAPITAL RESERVE</a:t>
            </a:r>
            <a:endParaRPr lang="en-US" sz="800" dirty="0"/>
          </a:p>
        </p:txBody>
      </p:sp>
      <p:sp>
        <p:nvSpPr>
          <p:cNvPr id="13" name="Text 11"/>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This is the one capital line that is computed rather than estimated. The model runs a 36-month cash curve and this reserve must exceed the deepest cumulative shortfall; a build assert fails if it does not. That is why the figure is not round.</a:t>
            </a:r>
            <a:endParaRPr lang="en-US" sz="8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41</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rent is wrong, what happens.</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Rent is the largest single assumption in the model and the easiest to check. Everything else is held constant.</a:t>
            </a:r>
            <a:endParaRPr lang="en-US" sz="11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Rent $/SF/month NNN</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 rent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/mo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Annual</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Yield on equity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5.50  (modelled)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$27,088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$224,801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$2,697,611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56.8%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$29,550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$222,338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$2,668,061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56.2%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$32,013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$219,876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$2,638,511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$34,475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$217,413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$2,608,961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54.9%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361188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Yield is stabilized operating income against the equity raised, before tax and before any distribution. The modelled rate is the more aggressive of the figures shown; a broker letter or signed lease would replace this assumption with a fact.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AMPLE · PRIVATE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42</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Private Investment Brief</dc:subject>
  <dc:creator>LK Wellness</dc:creator>
  <cp:lastModifiedBy>LK Wellness</cp:lastModifiedBy>
  <cp:revision>1</cp:revision>
  <dcterms:created xsi:type="dcterms:W3CDTF">2026-08-20T02:33:30Z</dcterms:created>
  <dcterms:modified xsi:type="dcterms:W3CDTF">2026-08-20T02:33:30Z</dcterms:modified>
</cp:coreProperties>
</file>