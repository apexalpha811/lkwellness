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image" Target="../media/image-15-3.jpeg"/><Relationship Id="rId4" Type="http://schemas.openxmlformats.org/officeDocument/2006/relationships/image" Target="../media/image-15-4.jpeg"/><Relationship Id="rId5" Type="http://schemas.openxmlformats.org/officeDocument/2006/relationships/image" Target="../media/image-15-5.jpe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image" Target="../media/image-16-4.jpeg"/><Relationship Id="rId5" Type="http://schemas.openxmlformats.org/officeDocument/2006/relationships/image" Target="../media/image-16-5.jpe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640080"/>
            <a:ext cx="1188720" cy="855878"/>
          </a:xfrm>
          <a:prstGeom prst="rect">
            <a:avLst/>
          </a:prstGeom>
        </p:spPr>
      </p:pic>
      <p:sp>
        <p:nvSpPr>
          <p:cNvPr id="5" name="Text 1"/>
          <p:cNvSpPr/>
          <p:nvPr/>
        </p:nvSpPr>
        <p:spPr>
          <a:xfrm>
            <a:off x="502920" y="1874520"/>
            <a:ext cx="813816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L&amp;K 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4655 Admiralty Way, Suite 210   ·   Marina del Rey, California   ·   4,925 SF programmed   ·   $4.75M all equity</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Laura@culvercitysurgical.com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050" dirty="0"/>
          </a:p>
        </p:txBody>
      </p:sp>
      <p:sp>
        <p:nvSpPr>
          <p:cNvPr id="6" name="Shape 4"/>
          <p:cNvSpPr/>
          <p:nvPr/>
        </p:nvSpPr>
        <p:spPr>
          <a:xfrm>
            <a:off x="502920" y="1874520"/>
            <a:ext cx="2615184" cy="1600200"/>
          </a:xfrm>
          <a:prstGeom prst="rect">
            <a:avLst/>
          </a:prstGeom>
          <a:solidFill>
            <a:srgbClr val="1C1C1E"/>
          </a:solidFill>
          <a:ln w="9525">
            <a:solidFill>
              <a:srgbClr val="271F13"/>
            </a:solidFill>
            <a:prstDash val="solid"/>
          </a:ln>
        </p:spPr>
      </p:sp>
      <p:sp>
        <p:nvSpPr>
          <p:cNvPr id="7" name="Text 5"/>
          <p:cNvSpPr/>
          <p:nvPr/>
        </p:nvSpPr>
        <p:spPr>
          <a:xfrm>
            <a:off x="649224"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Separate providers a patient coordinates for care that belongs in one building.</a:t>
            </a:r>
            <a:endParaRPr lang="en-US" sz="800" dirty="0"/>
          </a:p>
        </p:txBody>
      </p:sp>
      <p:sp>
        <p:nvSpPr>
          <p:cNvPr id="9" name="Shape 7"/>
          <p:cNvSpPr/>
          <p:nvPr/>
        </p:nvSpPr>
        <p:spPr>
          <a:xfrm>
            <a:off x="3264408" y="1874520"/>
            <a:ext cx="2615184" cy="1600200"/>
          </a:xfrm>
          <a:prstGeom prst="rect">
            <a:avLst/>
          </a:prstGeom>
          <a:solidFill>
            <a:srgbClr val="1C1C1E"/>
          </a:solidFill>
          <a:ln w="9525">
            <a:solidFill>
              <a:srgbClr val="271F13"/>
            </a:solidFill>
            <a:prstDash val="solid"/>
          </a:ln>
        </p:spPr>
      </p:sp>
      <p:sp>
        <p:nvSpPr>
          <p:cNvPr id="10" name="Text 8"/>
          <p:cNvSpPr/>
          <p:nvPr/>
        </p:nvSpPr>
        <p:spPr>
          <a:xfrm>
            <a:off x="3410712"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L&amp;K menu that require a physician, nurse practitioner or nurse. A recovery studio without a physician can offer 6.</a:t>
            </a:r>
            <a:endParaRPr lang="en-US" sz="800" dirty="0"/>
          </a:p>
        </p:txBody>
      </p:sp>
      <p:sp>
        <p:nvSpPr>
          <p:cNvPr id="12" name="Shape 10"/>
          <p:cNvSpPr/>
          <p:nvPr/>
        </p:nvSpPr>
        <p:spPr>
          <a:xfrm>
            <a:off x="6025896" y="1874520"/>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325880"/>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SWEATHOUZ</a:t>
            </a:r>
            <a:endParaRPr lang="en-US" sz="1300" dirty="0"/>
          </a:p>
        </p:txBody>
      </p:sp>
      <p:sp>
        <p:nvSpPr>
          <p:cNvPr id="8" name="Text 6"/>
          <p:cNvSpPr/>
          <p:nvPr/>
        </p:nvSpPr>
        <p:spPr>
          <a:xfrm>
            <a:off x="649224"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A licensing threshold separates the two businesses.</a:t>
            </a:r>
            <a:endParaRPr lang="en-US" sz="900" dirty="0"/>
          </a:p>
        </p:txBody>
      </p:sp>
      <p:sp>
        <p:nvSpPr>
          <p:cNvPr id="9" name="Shape 7"/>
          <p:cNvSpPr/>
          <p:nvPr/>
        </p:nvSpPr>
        <p:spPr>
          <a:xfrm>
            <a:off x="4645152" y="1572768"/>
            <a:ext cx="3995928" cy="1325880"/>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the ladder was proven. Soho Friends is a published annual tier buying discounts and event invitations but no club access.</a:t>
            </a:r>
            <a:endParaRPr lang="en-US" sz="900" dirty="0"/>
          </a:p>
        </p:txBody>
      </p:sp>
      <p:sp>
        <p:nvSpPr>
          <p:cNvPr id="12" name="Shape 10"/>
          <p:cNvSpPr/>
          <p:nvPr/>
        </p:nvSpPr>
        <p:spPr>
          <a:xfrm>
            <a:off x="502920" y="3063240"/>
            <a:ext cx="8138160" cy="1481328"/>
          </a:xfrm>
          <a:prstGeom prst="rect">
            <a:avLst/>
          </a:prstGeom>
          <a:solidFill>
            <a:srgbClr val="1C1C1E"/>
          </a:solidFill>
          <a:ln w="9525">
            <a:solidFill>
              <a:srgbClr val="B08D57"/>
            </a:solidFill>
            <a:prstDash val="solid"/>
          </a:ln>
        </p:spPr>
      </p:sp>
      <p:sp>
        <p:nvSpPr>
          <p:cNvPr id="13" name="Text 11"/>
          <p:cNvSpPr/>
          <p:nvPr/>
        </p:nvSpPr>
        <p:spPr>
          <a:xfrm>
            <a:off x="685800" y="3182112"/>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01568"/>
            <a:ext cx="7772400" cy="457200"/>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L&amp;K is not a practice built around a doctor. It is the facility a doctor needs.</a:t>
            </a:r>
            <a:endParaRPr lang="en-US" sz="1700" dirty="0"/>
          </a:p>
        </p:txBody>
      </p:sp>
      <p:sp>
        <p:nvSpPr>
          <p:cNvPr id="15" name="Text 13"/>
          <p:cNvSpPr/>
          <p:nvPr/>
        </p:nvSpPr>
        <p:spPr>
          <a:xfrm>
            <a:off x="685800" y="3895344"/>
            <a:ext cx="777240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The rooms, the diagnostics, the infusion suite, the staff and the accreditation, already standing. Physicians practice here, and investors own the building they practice in.</a:t>
            </a:r>
            <a:endParaRPr lang="en-US" sz="9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2002536"/>
            <a:ext cx="5833872" cy="448056"/>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48456"/>
            <a:ext cx="7845552" cy="841248"/>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FIVE VERBS, NOT A BILLING MENU</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information architecture borrows from how a health club organizes itself rather than how a clinic does. Patients do not shop by billing code; they arrive wanting to feel a specific way.</a:t>
            </a:r>
            <a:endParaRPr lang="en-US" sz="1050" dirty="0"/>
          </a:p>
        </p:txBody>
      </p:sp>
      <p:sp>
        <p:nvSpPr>
          <p:cNvPr id="6" name="Shape 4"/>
          <p:cNvSpPr/>
          <p:nvPr/>
        </p:nvSpPr>
        <p:spPr>
          <a:xfrm>
            <a:off x="502920" y="1691640"/>
            <a:ext cx="1525219" cy="2651760"/>
          </a:xfrm>
          <a:prstGeom prst="rect">
            <a:avLst/>
          </a:prstGeom>
          <a:solidFill>
            <a:srgbClr val="1C1C1E"/>
          </a:solidFill>
          <a:ln w="9525">
            <a:solidFill>
              <a:srgbClr val="271F13"/>
            </a:solidFill>
            <a:prstDash val="solid"/>
          </a:ln>
        </p:spPr>
      </p:sp>
      <p:sp>
        <p:nvSpPr>
          <p:cNvPr id="7" name="Text 5"/>
          <p:cNvSpPr/>
          <p:nvPr/>
        </p:nvSpPr>
        <p:spPr>
          <a:xfrm>
            <a:off x="64922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1691640"/>
            <a:ext cx="1525219" cy="2651760"/>
          </a:xfrm>
          <a:prstGeom prst="rect">
            <a:avLst/>
          </a:prstGeom>
          <a:solidFill>
            <a:srgbClr val="1C1C1E"/>
          </a:solidFill>
          <a:ln w="9525">
            <a:solidFill>
              <a:srgbClr val="271F13"/>
            </a:solidFill>
            <a:prstDash val="solid"/>
          </a:ln>
        </p:spPr>
      </p:sp>
      <p:sp>
        <p:nvSpPr>
          <p:cNvPr id="11" name="Text 9"/>
          <p:cNvSpPr/>
          <p:nvPr/>
        </p:nvSpPr>
        <p:spPr>
          <a:xfrm>
            <a:off x="2302459"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1691640"/>
            <a:ext cx="1525219" cy="2651760"/>
          </a:xfrm>
          <a:prstGeom prst="rect">
            <a:avLst/>
          </a:prstGeom>
          <a:solidFill>
            <a:srgbClr val="1C1C1E"/>
          </a:solidFill>
          <a:ln w="9525">
            <a:solidFill>
              <a:srgbClr val="271F13"/>
            </a:solidFill>
            <a:prstDash val="solid"/>
          </a:ln>
        </p:spPr>
      </p:sp>
      <p:sp>
        <p:nvSpPr>
          <p:cNvPr id="15" name="Text 13"/>
          <p:cNvSpPr/>
          <p:nvPr/>
        </p:nvSpPr>
        <p:spPr>
          <a:xfrm>
            <a:off x="395569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1691640"/>
            <a:ext cx="1525219" cy="2651760"/>
          </a:xfrm>
          <a:prstGeom prst="rect">
            <a:avLst/>
          </a:prstGeom>
          <a:solidFill>
            <a:srgbClr val="1C1C1E"/>
          </a:solidFill>
          <a:ln w="9525">
            <a:solidFill>
              <a:srgbClr val="271F13"/>
            </a:solidFill>
            <a:prstDash val="solid"/>
          </a:ln>
        </p:spPr>
      </p:sp>
      <p:sp>
        <p:nvSpPr>
          <p:cNvPr id="19" name="Text 17"/>
          <p:cNvSpPr/>
          <p:nvPr/>
        </p:nvSpPr>
        <p:spPr>
          <a:xfrm>
            <a:off x="5608930"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1691640"/>
            <a:ext cx="1525219" cy="2651760"/>
          </a:xfrm>
          <a:prstGeom prst="rect">
            <a:avLst/>
          </a:prstGeom>
          <a:solidFill>
            <a:srgbClr val="1C1C1E"/>
          </a:solidFill>
          <a:ln w="9525">
            <a:solidFill>
              <a:srgbClr val="271F13"/>
            </a:solidFill>
            <a:prstDash val="solid"/>
          </a:ln>
        </p:spPr>
      </p:sp>
      <p:sp>
        <p:nvSpPr>
          <p:cNvPr id="23" name="Text 21"/>
          <p:cNvSpPr/>
          <p:nvPr/>
        </p:nvSpPr>
        <p:spPr>
          <a:xfrm>
            <a:off x="7262165"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is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L&amp;K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FOUNDING MEMBERS DE-RISK IT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Revenue contracted before the business opens, and collected during construction.</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3127248"/>
            <a:ext cx="8138160" cy="731520"/>
          </a:xfrm>
          <a:prstGeom prst="rect">
            <a:avLst/>
          </a:prstGeom>
          <a:noFill/>
          <a:ln/>
        </p:spPr>
        <p:txBody>
          <a:bodyPr wrap="square" rtlCol="0" anchor="t"/>
          <a:lstStyle/>
          <a:p>
            <a:pPr indent="0" marL="0">
              <a:lnSpc>
                <a:spcPct val="125000"/>
              </a:lnSpc>
              <a:buNone/>
            </a:pPr>
            <a:r>
              <a:rPr lang="en-US" sz="1050" dirty="0">
                <a:solidFill>
                  <a:srgbClr val="EDE7DE"/>
                </a:solidFill>
                <a:latin typeface="Jost" pitchFamily="34" charset="0"/>
                <a:ea typeface="Jost" pitchFamily="34" charset="-122"/>
                <a:cs typeface="Jost"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4655 ADMIRALTY WAY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clinic and the club take the second floor of the curved glass building at the head of the basin, with a private terrace over the water.</a:t>
            </a:r>
            <a:endParaRPr lang="en-US" sz="1050" dirty="0"/>
          </a:p>
        </p:txBody>
      </p:sp>
      <p:pic>
        <p:nvPicPr>
          <p:cNvPr id="6" name="Image 0" descr="preencoded.png">    </p:cNvPr>
          <p:cNvPicPr>
            <a:picLocks noChangeAspect="1"/>
          </p:cNvPicPr>
          <p:nvPr/>
        </p:nvPicPr>
        <p:blipFill>
          <a:blip r:embed="rId1"/>
          <a:srcRect l="0" r="0" t="0" b="0"/>
          <a:stretch/>
        </p:blipFill>
        <p:spPr>
          <a:xfrm>
            <a:off x="502920" y="1737360"/>
            <a:ext cx="4663440" cy="2623185"/>
          </a:xfrm>
          <a:prstGeom prst="rect">
            <a:avLst/>
          </a:prstGeom>
        </p:spPr>
      </p:pic>
      <p:sp>
        <p:nvSpPr>
          <p:cNvPr id="7" name="Shape 4"/>
          <p:cNvSpPr/>
          <p:nvPr/>
        </p:nvSpPr>
        <p:spPr>
          <a:xfrm>
            <a:off x="502920" y="1737360"/>
            <a:ext cx="4663440" cy="2623185"/>
          </a:xfrm>
          <a:prstGeom prst="rect">
            <a:avLst/>
          </a:prstGeom>
          <a:solidFill>
            <a:srgbClr val="0D0D0D">
              <a:alpha val="0"/>
            </a:srgbClr>
          </a:solidFill>
          <a:ln w="9525">
            <a:solidFill>
              <a:srgbClr val="271F13"/>
            </a:solidFill>
            <a:prstDash val="solid"/>
          </a:ln>
        </p:spPr>
      </p:sp>
      <p:sp>
        <p:nvSpPr>
          <p:cNvPr id="8" name="Text 5"/>
          <p:cNvSpPr/>
          <p:nvPr/>
        </p:nvSpPr>
        <p:spPr>
          <a:xfrm>
            <a:off x="502920" y="4378833"/>
            <a:ext cx="466344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4655 Admiralty Way, on the main channel</a:t>
            </a:r>
            <a:endParaRPr lang="en-US" sz="750" dirty="0"/>
          </a:p>
        </p:txBody>
      </p:sp>
      <p:sp>
        <p:nvSpPr>
          <p:cNvPr id="9" name="Shape 6"/>
          <p:cNvSpPr/>
          <p:nvPr/>
        </p:nvSpPr>
        <p:spPr>
          <a:xfrm>
            <a:off x="5367528" y="1737360"/>
            <a:ext cx="3273552" cy="822960"/>
          </a:xfrm>
          <a:prstGeom prst="rect">
            <a:avLst/>
          </a:prstGeom>
          <a:solidFill>
            <a:srgbClr val="1C1C1E"/>
          </a:solidFill>
          <a:ln w="9525">
            <a:solidFill>
              <a:srgbClr val="271F13"/>
            </a:solidFill>
            <a:prstDash val="solid"/>
          </a:ln>
        </p:spPr>
      </p:sp>
      <p:sp>
        <p:nvSpPr>
          <p:cNvPr id="10" name="Text 7"/>
          <p:cNvSpPr/>
          <p:nvPr/>
        </p:nvSpPr>
        <p:spPr>
          <a:xfrm>
            <a:off x="5513832" y="1865376"/>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Suite 210</a:t>
            </a:r>
            <a:endParaRPr lang="en-US" sz="1700" dirty="0"/>
          </a:p>
        </p:txBody>
      </p:sp>
      <p:sp>
        <p:nvSpPr>
          <p:cNvPr id="11" name="Text 8"/>
          <p:cNvSpPr/>
          <p:nvPr/>
        </p:nvSpPr>
        <p:spPr>
          <a:xfrm>
            <a:off x="5513832" y="2176272"/>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9"/>
          <p:cNvSpPr/>
          <p:nvPr/>
        </p:nvSpPr>
        <p:spPr>
          <a:xfrm>
            <a:off x="5367528" y="2688336"/>
            <a:ext cx="3273552" cy="822960"/>
          </a:xfrm>
          <a:prstGeom prst="rect">
            <a:avLst/>
          </a:prstGeom>
          <a:solidFill>
            <a:srgbClr val="1C1C1E"/>
          </a:solidFill>
          <a:ln w="9525">
            <a:solidFill>
              <a:srgbClr val="271F13"/>
            </a:solidFill>
            <a:prstDash val="solid"/>
          </a:ln>
        </p:spPr>
      </p:sp>
      <p:sp>
        <p:nvSpPr>
          <p:cNvPr id="13" name="Text 10"/>
          <p:cNvSpPr/>
          <p:nvPr/>
        </p:nvSpPr>
        <p:spPr>
          <a:xfrm>
            <a:off x="5513832" y="2816352"/>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4,925 SF</a:t>
            </a:r>
            <a:endParaRPr lang="en-US" sz="1700" dirty="0"/>
          </a:p>
        </p:txBody>
      </p:sp>
      <p:sp>
        <p:nvSpPr>
          <p:cNvPr id="14" name="Text 11"/>
          <p:cNvSpPr/>
          <p:nvPr/>
        </p:nvSpPr>
        <p:spPr>
          <a:xfrm>
            <a:off x="5513832" y="3127248"/>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15" name="Shape 12"/>
          <p:cNvSpPr/>
          <p:nvPr/>
        </p:nvSpPr>
        <p:spPr>
          <a:xfrm>
            <a:off x="5367528" y="3639312"/>
            <a:ext cx="3273552" cy="822960"/>
          </a:xfrm>
          <a:prstGeom prst="rect">
            <a:avLst/>
          </a:prstGeom>
          <a:solidFill>
            <a:srgbClr val="1C1C1E"/>
          </a:solidFill>
          <a:ln w="9525">
            <a:solidFill>
              <a:srgbClr val="271F13"/>
            </a:solidFill>
            <a:prstDash val="solid"/>
          </a:ln>
        </p:spPr>
      </p:sp>
      <p:sp>
        <p:nvSpPr>
          <p:cNvPr id="16" name="Text 13"/>
          <p:cNvSpPr/>
          <p:nvPr/>
        </p:nvSpPr>
        <p:spPr>
          <a:xfrm>
            <a:off x="5513832" y="3767328"/>
            <a:ext cx="2980944" cy="292608"/>
          </a:xfrm>
          <a:prstGeom prst="rect">
            <a:avLst/>
          </a:prstGeom>
          <a:noFill/>
          <a:ln/>
        </p:spPr>
        <p:txBody>
          <a:bodyPr wrap="square" rtlCol="0" anchor="t"/>
          <a:lstStyle/>
          <a:p>
            <a:pPr indent="0" marL="0">
              <a:buNone/>
            </a:pPr>
            <a:r>
              <a:rPr lang="en-US" sz="1700" dirty="0">
                <a:solidFill>
                  <a:srgbClr val="B08D57"/>
                </a:solidFill>
                <a:latin typeface="Cormorant Garamond" pitchFamily="34" charset="0"/>
                <a:ea typeface="Cormorant Garamond" pitchFamily="34" charset="-122"/>
                <a:cs typeface="Cormorant Garamond" pitchFamily="34" charset="-120"/>
              </a:rPr>
              <a:t>Private terrace</a:t>
            </a:r>
            <a:endParaRPr lang="en-US" sz="1700" dirty="0"/>
          </a:p>
        </p:txBody>
      </p:sp>
      <p:sp>
        <p:nvSpPr>
          <p:cNvPr id="17" name="Text 14"/>
          <p:cNvSpPr/>
          <p:nvPr/>
        </p:nvSpPr>
        <p:spPr>
          <a:xfrm>
            <a:off x="5513832" y="4078224"/>
            <a:ext cx="298094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 demised to the suite</a:t>
            </a:r>
            <a:endParaRPr lang="en-US" sz="800" dirty="0"/>
          </a:p>
        </p:txBody>
      </p:sp>
      <p:sp>
        <p:nvSpPr>
          <p:cNvPr id="18" name="Text 1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9" name="Text 1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LOCATION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SPACE TODAY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suite as it stands: a cold shell behind floor-to-ceiling glass. Everything in the buildout line of the use of funds is what turns this into the facility.</a:t>
            </a:r>
            <a:endParaRPr lang="en-US" sz="1050" dirty="0"/>
          </a:p>
        </p:txBody>
      </p:sp>
      <p:pic>
        <p:nvPicPr>
          <p:cNvPr id="6" name="Image 0" descr="preencoded.png">    </p:cNvPr>
          <p:cNvPicPr>
            <a:picLocks noChangeAspect="1"/>
          </p:cNvPicPr>
          <p:nvPr/>
        </p:nvPicPr>
        <p:blipFill>
          <a:blip r:embed="rId1"/>
          <a:srcRect l="0" r="0" t="0" b="0"/>
          <a:stretch/>
        </p:blipFill>
        <p:spPr>
          <a:xfrm>
            <a:off x="502920" y="1783080"/>
            <a:ext cx="4846320" cy="2606040"/>
          </a:xfrm>
          <a:prstGeom prst="rect">
            <a:avLst/>
          </a:prstGeom>
        </p:spPr>
      </p:pic>
      <p:sp>
        <p:nvSpPr>
          <p:cNvPr id="7" name="Shape 4"/>
          <p:cNvSpPr/>
          <p:nvPr/>
        </p:nvSpPr>
        <p:spPr>
          <a:xfrm>
            <a:off x="502920" y="1783080"/>
            <a:ext cx="4846320" cy="2606040"/>
          </a:xfrm>
          <a:prstGeom prst="rect">
            <a:avLst/>
          </a:prstGeom>
          <a:solidFill>
            <a:srgbClr val="0D0D0D">
              <a:alpha val="0"/>
            </a:srgbClr>
          </a:solidFill>
          <a:ln w="9525">
            <a:solidFill>
              <a:srgbClr val="271F13"/>
            </a:solidFill>
            <a:prstDash val="solid"/>
          </a:ln>
        </p:spPr>
      </p:sp>
      <p:sp>
        <p:nvSpPr>
          <p:cNvPr id="8" name="Text 5"/>
          <p:cNvSpPr/>
          <p:nvPr/>
        </p:nvSpPr>
        <p:spPr>
          <a:xfrm>
            <a:off x="502920" y="4407408"/>
            <a:ext cx="4846320"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Suite 210 today, before buildout</a:t>
            </a:r>
            <a:endParaRPr lang="en-US" sz="750" dirty="0"/>
          </a:p>
        </p:txBody>
      </p:sp>
      <p:pic>
        <p:nvPicPr>
          <p:cNvPr id="9" name="Image 1" descr="preencoded.png">    </p:cNvPr>
          <p:cNvPicPr>
            <a:picLocks noChangeAspect="1"/>
          </p:cNvPicPr>
          <p:nvPr/>
        </p:nvPicPr>
        <p:blipFill>
          <a:blip r:embed="rId2"/>
          <a:srcRect l="0" r="0" t="0" b="0"/>
          <a:stretch/>
        </p:blipFill>
        <p:spPr>
          <a:xfrm>
            <a:off x="5550408" y="1783080"/>
            <a:ext cx="3090672" cy="1143000"/>
          </a:xfrm>
          <a:prstGeom prst="rect">
            <a:avLst/>
          </a:prstGeom>
        </p:spPr>
      </p:pic>
      <p:sp>
        <p:nvSpPr>
          <p:cNvPr id="10" name="Shape 6"/>
          <p:cNvSpPr/>
          <p:nvPr/>
        </p:nvSpPr>
        <p:spPr>
          <a:xfrm>
            <a:off x="5550408" y="1783080"/>
            <a:ext cx="3090672" cy="1143000"/>
          </a:xfrm>
          <a:prstGeom prst="rect">
            <a:avLst/>
          </a:prstGeom>
          <a:solidFill>
            <a:srgbClr val="0D0D0D">
              <a:alpha val="0"/>
            </a:srgbClr>
          </a:solidFill>
          <a:ln w="9525">
            <a:solidFill>
              <a:srgbClr val="271F13"/>
            </a:solidFill>
            <a:prstDash val="solid"/>
          </a:ln>
        </p:spPr>
      </p:sp>
      <p:sp>
        <p:nvSpPr>
          <p:cNvPr id="11" name="Text 7"/>
          <p:cNvSpPr/>
          <p:nvPr/>
        </p:nvSpPr>
        <p:spPr>
          <a:xfrm>
            <a:off x="5550408" y="294436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The suite’s terrace, over the marina</a:t>
            </a:r>
            <a:endParaRPr lang="en-US" sz="750" dirty="0"/>
          </a:p>
        </p:txBody>
      </p:sp>
      <p:pic>
        <p:nvPicPr>
          <p:cNvPr id="12" name="Image 2" descr="preencoded.png">    </p:cNvPr>
          <p:cNvPicPr>
            <a:picLocks noChangeAspect="1"/>
          </p:cNvPicPr>
          <p:nvPr/>
        </p:nvPicPr>
        <p:blipFill>
          <a:blip r:embed="rId3"/>
          <a:srcRect l="0" r="0" t="0" b="0"/>
          <a:stretch/>
        </p:blipFill>
        <p:spPr>
          <a:xfrm>
            <a:off x="5550408" y="3246120"/>
            <a:ext cx="3090672" cy="1143000"/>
          </a:xfrm>
          <a:prstGeom prst="rect">
            <a:avLst/>
          </a:prstGeom>
        </p:spPr>
      </p:pic>
      <p:sp>
        <p:nvSpPr>
          <p:cNvPr id="13" name="Shape 8"/>
          <p:cNvSpPr/>
          <p:nvPr/>
        </p:nvSpPr>
        <p:spPr>
          <a:xfrm>
            <a:off x="5550408" y="3246120"/>
            <a:ext cx="3090672" cy="1143000"/>
          </a:xfrm>
          <a:prstGeom prst="rect">
            <a:avLst/>
          </a:prstGeom>
          <a:solidFill>
            <a:srgbClr val="0D0D0D">
              <a:alpha val="0"/>
            </a:srgbClr>
          </a:solidFill>
          <a:ln w="9525">
            <a:solidFill>
              <a:srgbClr val="271F13"/>
            </a:solidFill>
            <a:prstDash val="solid"/>
          </a:ln>
        </p:spPr>
      </p:sp>
      <p:sp>
        <p:nvSpPr>
          <p:cNvPr id="14" name="Text 9"/>
          <p:cNvSpPr/>
          <p:nvPr/>
        </p:nvSpPr>
        <p:spPr>
          <a:xfrm>
            <a:off x="5550408" y="4407408"/>
            <a:ext cx="3090672" cy="182880"/>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Marina del Rey</a:t>
            </a:r>
            <a:endParaRPr lang="en-US" sz="750" dirty="0"/>
          </a:p>
        </p:txBody>
      </p:sp>
      <p:sp>
        <p:nvSpPr>
          <p:cNvPr id="15" name="Text 1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6" name="Text 1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MARINA DEL REY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centerline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Suite 210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4655 Admiralty Way, Marina del Rey, California</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Private terrace</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Wraparound, over the main channel</a:t>
            </a:r>
            <a:endParaRPr lang="en-US" sz="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and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 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higher per-SF buildout than a dry medspa, which is why the lean case trims the contrast suite before it trims treatment rooms.</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FLOOR PLAN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DRAWN TO PROGRAM</a:t>
            </a:r>
            <a:endParaRPr lang="en-US" sz="2600" dirty="0"/>
          </a:p>
        </p:txBody>
      </p:sp>
      <p:pic>
        <p:nvPicPr>
          <p:cNvPr id="5" name="Image 0" descr="preencoded.png">    </p:cNvPr>
          <p:cNvPicPr>
            <a:picLocks noChangeAspect="1"/>
          </p:cNvPicPr>
          <p:nvPr/>
        </p:nvPicPr>
        <p:blipFill>
          <a:blip r:embed="rId1"/>
          <a:stretch>
            <a:fillRect/>
          </a:stretch>
        </p:blipFill>
        <p:spPr>
          <a:xfrm>
            <a:off x="502920" y="1371600"/>
            <a:ext cx="4308569" cy="3154680"/>
          </a:xfrm>
          <a:prstGeom prst="rect">
            <a:avLst/>
          </a:prstGeom>
        </p:spPr>
      </p:pic>
      <p:sp>
        <p:nvSpPr>
          <p:cNvPr id="6" name="Text 3"/>
          <p:cNvSpPr/>
          <p:nvPr/>
        </p:nvSpPr>
        <p:spPr>
          <a:xfrm>
            <a:off x="5040089" y="1371600"/>
            <a:ext cx="3600991" cy="457200"/>
          </a:xfrm>
          <a:prstGeom prst="rect">
            <a:avLst/>
          </a:prstGeom>
          <a:noFill/>
          <a:ln/>
        </p:spPr>
        <p:txBody>
          <a:bodyPr wrap="square" rtlCol="0" anchor="t"/>
          <a:lstStyle/>
          <a:p>
            <a:pPr indent="0" marL="0">
              <a:lnSpc>
                <a:spcPct val="115000"/>
              </a:lnSpc>
              <a:buNone/>
            </a:pPr>
            <a:r>
              <a:rPr lang="en-US" sz="1100" dirty="0">
                <a:solidFill>
                  <a:srgbClr val="EDE7DE"/>
                </a:solidFill>
                <a:latin typeface="Jost" pitchFamily="34" charset="0"/>
                <a:ea typeface="Jost" pitchFamily="34" charset="-122"/>
                <a:cs typeface="Jost" pitchFamily="34" charset="-120"/>
              </a:rPr>
              <a:t>Drawn to program. The test fit against Suite 210 follows in design.</a:t>
            </a:r>
            <a:endParaRPr lang="en-US" sz="1100" dirty="0"/>
          </a:p>
        </p:txBody>
      </p:sp>
      <p:sp>
        <p:nvSpPr>
          <p:cNvPr id="7" name="Text 4"/>
          <p:cNvSpPr/>
          <p:nvPr/>
        </p:nvSpPr>
        <p:spPr>
          <a:xfrm>
            <a:off x="5040089" y="1847088"/>
            <a:ext cx="3600991" cy="16916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Every room is drawn to its true programmed area and the adjacencies are the ones the operation actually requires, but the outline is illustrative. The program reflows to an L, a rectangle, a corner unit or a split level. What does not flex is the wet block, the total area, and a clean separation between the public clinic and the members’ club. The architect produces the real test fit against the suite’s as-builts during design.</a:t>
            </a:r>
            <a:endParaRPr lang="en-US" sz="850" dirty="0"/>
          </a:p>
        </p:txBody>
      </p:sp>
      <p:sp>
        <p:nvSpPr>
          <p:cNvPr id="8" name="Text 5"/>
          <p:cNvSpPr/>
          <p:nvPr/>
        </p:nvSpPr>
        <p:spPr>
          <a:xfrm>
            <a:off x="5040089" y="3584448"/>
            <a:ext cx="360099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HARD TO RETROFIT</a:t>
            </a:r>
            <a:endParaRPr lang="en-US" sz="750" dirty="0"/>
          </a:p>
        </p:txBody>
      </p:sp>
      <p:sp>
        <p:nvSpPr>
          <p:cNvPr id="9" name="Text 6"/>
          <p:cNvSpPr/>
          <p:nvPr/>
        </p:nvSpPr>
        <p:spPr>
          <a:xfrm>
            <a:off x="5040089" y="3776472"/>
            <a:ext cx="3600991" cy="777240"/>
          </a:xfrm>
          <a:prstGeom prst="rect">
            <a:avLst/>
          </a:prstGeom>
          <a:noFill/>
          <a:ln/>
        </p:spPr>
        <p:txBody>
          <a:bodyPr wrap="square" rtlCol="0" anchor="t"/>
          <a:lstStyle/>
          <a:p>
            <a:pPr indent="0" marL="0">
              <a:lnSpc>
                <a:spcPct val="120000"/>
              </a:lnSpc>
              <a:buNone/>
            </a:pPr>
            <a:r>
              <a:rPr lang="en-US" sz="850" dirty="0">
                <a:solidFill>
                  <a:srgbClr val="EDE7DE"/>
                </a:solidFill>
                <a:latin typeface="Jost" pitchFamily="34" charset="0"/>
                <a:ea typeface="Jost" pitchFamily="34" charset="-122"/>
                <a:cs typeface="Jost" pitchFamily="34" charset="-120"/>
              </a:rPr>
              <a:t>The wet block, 800 SF: two saunas, two cold plunges and steam on a single plumbing wall, sharing that wall with the locker room. It is the first question we ask about any space.</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(1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Storefront</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Members' social lounge, The Lounge</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(2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IS SOLD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Built bottom-up from station hours, not assumed. The circuit bottleneck is the cold plunge, not the sauna; the clinical bottleneck is treatment rooms.</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practical capacity on 2 beds, leaving 201 sessions of headroom.</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facility sits in Marina del Rey, two miles west of Playa Vista and inside the same Westside corridor. Playa Vista is the master-planned innovation district on the old Hughes Aircraft site that became the center of gravity for the Westside, with the Google, YouTube and Meta campuses within a walk of one another. LAX is four miles south and the studios fifteen minutes north.</a:t>
            </a:r>
            <a:endParaRPr lang="en-US" sz="1050" dirty="0"/>
          </a:p>
        </p:txBody>
      </p:sp>
      <p:sp>
        <p:nvSpPr>
          <p:cNvPr id="6" name="Shape 4"/>
          <p:cNvSpPr/>
          <p:nvPr/>
        </p:nvSpPr>
        <p:spPr>
          <a:xfrm>
            <a:off x="502920" y="1783080"/>
            <a:ext cx="2615184" cy="155448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1783080"/>
            <a:ext cx="2615184" cy="155448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1783080"/>
            <a:ext cx="2615184" cy="155448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2,224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$507,121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$360,318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à la carte revenue. Members draw down a credit bank against services that would otherwise be paid at list price, so redemption is netted out first.</a:t>
            </a:r>
            <a:endParaRPr lang="en-US" sz="10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À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MONTHLY, AT STABILIZATION</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All of it is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5176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2862072"/>
          <a:ext cx="8138160" cy="914400"/>
        </p:xfrm>
        <a:graphic>
          <a:graphicData uri="http://schemas.openxmlformats.org/drawingml/2006/table">
            <a:tbl>
              <a:tblPr/>
              <a:tblGrid>
                <a:gridCol w="4937760"/>
                <a:gridCol w="1600200"/>
                <a:gridCol w="1600200"/>
              </a:tblGrid>
              <a:tr h="15087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0"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21"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Ownership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modeled 36 months is $4,589,439, including the $540,000 of founding-member prepayments collected during construction. No internal rate of return is projected. The paths to value and the published multiples are two pages on.</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This round funds Marina del Rey. Pro-rata rights cover what comes after.</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Marina del Rey exists today. Pro-rata rights are a mechanism, not a pipeline.</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higher multiples than single-location assets, so the value of building a second and third location is realized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L&amp;K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Marina del Rey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Market and demographic figures carry their sources.</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493776"/>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523744"/>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L&amp;K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L&amp;K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clinical seat turns over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asset is the facility, not any one clinician. The club layer, recovery floor and infusion suite run on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runs slower than modeled and the cash runs out.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national brand opens nearby.</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licensed facility is the defensible asset. Adding injectables, infusions and physician oversight is not a product decision for a recovery studio: it means becoming a licensed medical facility, with the staffing, supervision, malpractice and accreditation that implies.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highest-variance line in the buildout. The lean case exists as the fallback scope, and the reserve is sized against the modeled cash trough.</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One building, two layers, and a license most of this category cannot legally obtain.</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Laura@culvercitysurgical.com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itemize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78308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200253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15"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53"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91"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29"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amortized)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Of that, $18,760 is circuit consumables at $8 a visit across 2,345 monthly visits, carried on its own line in the P&amp;L.</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8138160" cy="914400"/>
        </p:xfrm>
        <a:graphic>
          <a:graphicData uri="http://schemas.openxmlformats.org/drawingml/2006/table">
            <a:tbl>
              <a:tblPr/>
              <a:tblGrid>
                <a:gridCol w="1737360"/>
                <a:gridCol w="914400"/>
                <a:gridCol w="5486400"/>
              </a:tblGrid>
              <a:tr h="23774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54864" marR="54864" marT="54864" marB="54864"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Recovery</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80–82%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PRP</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60–72%</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Draw kits, separation tubes and centrifuge consumables, needles and sharps, topical anesthetic. Cost per case is close to fixed, so the margin spread across the six lines is a pricing decision rather than a cost 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Regenerative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56–78%</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65–75%</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37744">
                <a:tc>
                  <a:txBody>
                    <a:bodyPr/>
                    <a:lstStyle/>
                    <a:p>
                      <a:pPr algn="l" indent="0" marL="0">
                        <a:buNone/>
                      </a:pPr>
                      <a:r>
                        <a:rPr lang="en-US" sz="800" dirty="0">
                          <a:solidFill>
                            <a:srgbClr val="EDE7DE"/>
                          </a:solidFill>
                          <a:latin typeface="Jost" pitchFamily="34" charset="0"/>
                          <a:ea typeface="Jost" pitchFamily="34" charset="-122"/>
                          <a:cs typeface="Jost" pitchFamily="34" charset="-120"/>
                        </a:rPr>
                        <a:t>Diagnostics</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65–77%</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800" dirty="0">
                        <a:latin typeface="Jost" charset="0"/>
                        <a:ea typeface="Jost" charset="0"/>
                        <a:cs typeface="Jost" charset="0"/>
                      </a:endParaRPr>
                    </a:p>
                  </a:txBody>
                  <a:tcPr marL="54864" marR="54864" marT="54864" marB="54864"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IF RENT IS WRONG, WHAT HAPPENS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Rent is the largest single assumption in the model and the easiest to check. Everything else is held constant.</a:t>
            </a:r>
            <a:endParaRPr lang="en-US" sz="10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8138160" cy="914400"/>
        </p:xfrm>
        <a:graphic>
          <a:graphicData uri="http://schemas.openxmlformats.org/drawingml/2006/table">
            <a:tbl>
              <a:tblPr/>
              <a:tblGrid>
                <a:gridCol w="2103120"/>
                <a:gridCol w="1463040"/>
                <a:gridCol w="1645920"/>
                <a:gridCol w="1554480"/>
                <a:gridCol w="1371600"/>
              </a:tblGrid>
              <a:tr h="29260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$5.50  (modeled)</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$27,088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$224,801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$2,697,611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$29,550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$222,338</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$2,668,061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56.2%</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$6.50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$32,013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$219,876</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$2,638,511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55.5%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92608">
                <a:tc>
                  <a:txBody>
                    <a:bodyPr/>
                    <a:lstStyle/>
                    <a:p>
                      <a:pPr algn="l" indent="0" marL="0">
                        <a:buNone/>
                      </a:pPr>
                      <a:r>
                        <a:rPr lang="en-US" sz="950" dirty="0">
                          <a:solidFill>
                            <a:srgbClr val="EDE7DE"/>
                          </a:solidFill>
                          <a:latin typeface="Jost" pitchFamily="34" charset="0"/>
                          <a:ea typeface="Jost" pitchFamily="34" charset="-122"/>
                          <a:cs typeface="Jost" pitchFamily="34" charset="-120"/>
                        </a:rPr>
                        <a:t>$7.00</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$34,475</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$217,413</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$2,608,961</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50" dirty="0">
                          <a:solidFill>
                            <a:srgbClr val="C9BCA9"/>
                          </a:solidFill>
                          <a:latin typeface="Jost" pitchFamily="34" charset="0"/>
                          <a:ea typeface="Jost" pitchFamily="34" charset="-122"/>
                          <a:cs typeface="Jost" pitchFamily="34" charset="-120"/>
                        </a:rPr>
                        <a:t>54.9%</a:t>
                      </a:r>
                      <a:endParaRPr lang="en-US" sz="9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611880"/>
            <a:ext cx="8138160" cy="640080"/>
          </a:xfrm>
          <a:prstGeom prst="rect">
            <a:avLst/>
          </a:prstGeom>
          <a:noFill/>
          <a:ln/>
        </p:spPr>
        <p:txBody>
          <a:bodyPr wrap="square" rtlCol="0" anchor="t"/>
          <a:lstStyle/>
          <a:p>
            <a:pPr indent="0" marL="0">
              <a:lnSpc>
                <a:spcPct val="120000"/>
              </a:lnSpc>
              <a:buNone/>
            </a:pPr>
            <a:r>
              <a:rPr lang="en-US" sz="900" dirty="0">
                <a:solidFill>
                  <a:srgbClr val="6B6965"/>
                </a:solidFill>
                <a:latin typeface="Jost" pitchFamily="34" charset="0"/>
                <a:ea typeface="Jost" pitchFamily="34" charset="-122"/>
                <a:cs typeface="Jost" pitchFamily="34" charset="-120"/>
              </a:rPr>
              <a:t>Yield is stabilized operating income against the equity raised, before tax and before any distribution. The modeled rate is the more aggressive of the figures shown; a broker letter or signed lease would replace this assumption with a fact.</a:t>
            </a:r>
            <a:endParaRPr lang="en-US" sz="90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ITEMIZED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itemized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43</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a:t>
            </a:r>
            <a:endParaRPr lang="en-US" sz="800" dirty="0"/>
          </a:p>
        </p:txBody>
      </p:sp>
      <p:sp>
        <p:nvSpPr>
          <p:cNvPr id="9" name="Text 7"/>
          <p:cNvSpPr/>
          <p:nvPr/>
        </p:nvSpPr>
        <p:spPr>
          <a:xfrm>
            <a:off x="502920" y="2264054"/>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428646"/>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80720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2971800"/>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47106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63565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44</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modeled as offsetting construction-period burn.</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3" name="Text 1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  ·  INDICATIVE TERMS, SUBJECT TO DEFINITIVE DOCUMENTS</a:t>
            </a:r>
            <a:endParaRPr lang="en-US" sz="700" dirty="0"/>
          </a:p>
        </p:txBody>
      </p:sp>
      <p:sp>
        <p:nvSpPr>
          <p:cNvPr id="14" name="Text 1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45</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2026-10-11T23:55:50Z</dcterms:created>
  <dcterms:modified xsi:type="dcterms:W3CDTF">2026-10-11T23:55:50Z</dcterms:modified>
</cp:coreProperties>
</file>