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image" Target="../media/image-14-4.jpeg"/><Relationship Id="rId5" Type="http://schemas.openxmlformats.org/officeDocument/2006/relationships/image" Target="../media/image-14-5.jpe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image" Target="../media/image-15-2.jpeg"/><Relationship Id="rId3" Type="http://schemas.openxmlformats.org/officeDocument/2006/relationships/image" Target="../media/image-15-3.jpeg"/><Relationship Id="rId4" Type="http://schemas.openxmlformats.org/officeDocument/2006/relationships/image" Target="../media/image-15-4.jpeg"/><Relationship Id="rId5" Type="http://schemas.openxmlformats.org/officeDocument/2006/relationships/image" Target="../media/image-15-5.jpe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0D0D0D">
              <a:alpha val="55000"/>
            </a:srgbClr>
          </a:solidFill>
          <a:ln w="12700">
            <a:solidFill>
              <a:srgbClr val="0D0D0D">
                <a:alpha val="0"/>
              </a:srgbClr>
            </a:solidFill>
            <a:prstDash val="solid"/>
          </a:ln>
        </p:spPr>
      </p:sp>
      <p:pic>
        <p:nvPicPr>
          <p:cNvPr id="4" name="Image 1" descr="preencoded.png">    </p:cNvPr>
          <p:cNvPicPr>
            <a:picLocks noChangeAspect="1"/>
          </p:cNvPicPr>
          <p:nvPr/>
        </p:nvPicPr>
        <p:blipFill>
          <a:blip r:embed="rId2"/>
          <a:stretch>
            <a:fillRect/>
          </a:stretch>
        </p:blipFill>
        <p:spPr>
          <a:xfrm>
            <a:off x="502920" y="640080"/>
            <a:ext cx="1188720" cy="855878"/>
          </a:xfrm>
          <a:prstGeom prst="rect">
            <a:avLst/>
          </a:prstGeom>
        </p:spPr>
      </p:pic>
      <p:sp>
        <p:nvSpPr>
          <p:cNvPr id="5" name="Text 1"/>
          <p:cNvSpPr/>
          <p:nvPr/>
        </p:nvSpPr>
        <p:spPr>
          <a:xfrm>
            <a:off x="502920" y="1874520"/>
            <a:ext cx="8138160" cy="685800"/>
          </a:xfrm>
          <a:prstGeom prst="rect">
            <a:avLst/>
          </a:prstGeom>
          <a:noFill/>
          <a:ln/>
        </p:spPr>
        <p:txBody>
          <a:bodyPr wrap="square" rtlCol="0" anchor="t"/>
          <a:lstStyle/>
          <a:p>
            <a:pPr indent="0" marL="0">
              <a:buNone/>
            </a:pPr>
            <a:r>
              <a:rPr lang="en-US" sz="4400" spc="900" kern="0" dirty="0">
                <a:solidFill>
                  <a:srgbClr val="EDE7DE"/>
                </a:solidFill>
                <a:latin typeface="Cormorant Garamond" pitchFamily="34" charset="0"/>
                <a:ea typeface="Cormorant Garamond" pitchFamily="34" charset="-122"/>
                <a:cs typeface="Cormorant Garamond" pitchFamily="34" charset="-120"/>
              </a:rPr>
              <a:t>LK WELLNESS</a:t>
            </a:r>
            <a:endParaRPr lang="en-US" sz="4400" dirty="0"/>
          </a:p>
        </p:txBody>
      </p:sp>
      <p:sp>
        <p:nvSpPr>
          <p:cNvPr id="6" name="Shape 2"/>
          <p:cNvSpPr/>
          <p:nvPr/>
        </p:nvSpPr>
        <p:spPr>
          <a:xfrm>
            <a:off x="502920" y="2651760"/>
            <a:ext cx="566928" cy="12802"/>
          </a:xfrm>
          <a:prstGeom prst="rect">
            <a:avLst/>
          </a:prstGeom>
          <a:solidFill>
            <a:srgbClr val="B08D57"/>
          </a:solidFill>
          <a:ln w="12700">
            <a:solidFill>
              <a:srgbClr val="B08D57"/>
            </a:solidFill>
            <a:prstDash val="solid"/>
          </a:ln>
        </p:spPr>
      </p:sp>
      <p:sp>
        <p:nvSpPr>
          <p:cNvPr id="7" name="Text 3"/>
          <p:cNvSpPr/>
          <p:nvPr/>
        </p:nvSpPr>
        <p:spPr>
          <a:xfrm>
            <a:off x="502920" y="2761488"/>
            <a:ext cx="8138160" cy="365760"/>
          </a:xfrm>
          <a:prstGeom prst="rect">
            <a:avLst/>
          </a:prstGeom>
          <a:noFill/>
          <a:ln/>
        </p:spPr>
        <p:txBody>
          <a:bodyPr wrap="square" rtlCol="0" anchor="t"/>
          <a:lstStyle/>
          <a:p>
            <a:pPr indent="0" marL="0">
              <a:buNone/>
            </a:pPr>
            <a:r>
              <a:rPr lang="en-US" sz="1500" dirty="0">
                <a:solidFill>
                  <a:srgbClr val="EDE7DE"/>
                </a:solidFill>
                <a:latin typeface="Jost" pitchFamily="34" charset="0"/>
                <a:ea typeface="Jost" pitchFamily="34" charset="-122"/>
                <a:cs typeface="Jost" pitchFamily="34" charset="-120"/>
              </a:rPr>
              <a:t>A recovery club with a licensed clinic inside it.</a:t>
            </a:r>
            <a:endParaRPr lang="en-US" sz="1500" dirty="0"/>
          </a:p>
        </p:txBody>
      </p:sp>
      <p:sp>
        <p:nvSpPr>
          <p:cNvPr id="8" name="Text 4"/>
          <p:cNvSpPr/>
          <p:nvPr/>
        </p:nvSpPr>
        <p:spPr>
          <a:xfrm>
            <a:off x="502920" y="3200400"/>
            <a:ext cx="8138160" cy="274320"/>
          </a:xfrm>
          <a:prstGeom prst="rect">
            <a:avLst/>
          </a:prstGeom>
          <a:noFill/>
          <a:ln/>
        </p:spPr>
        <p:txBody>
          <a:bodyPr wrap="square" rtlCol="0" anchor="ctr"/>
          <a:lstStyle/>
          <a:p>
            <a:pPr indent="0" marL="0">
              <a:buNone/>
            </a:pPr>
            <a:r>
              <a:rPr lang="en-US" sz="1000" dirty="0">
                <a:solidFill>
                  <a:srgbClr val="C9BCA9"/>
                </a:solidFill>
                <a:latin typeface="Jost" pitchFamily="34" charset="0"/>
                <a:ea typeface="Jost" pitchFamily="34" charset="-122"/>
                <a:cs typeface="Jost" pitchFamily="34" charset="-120"/>
              </a:rPr>
              <a:t>4655 Admiralty Way, Suite 210   ·   Marina del Rey, California   ·   4,925 SF programmed   ·   $4.75M all equity</a:t>
            </a:r>
            <a:endParaRPr lang="en-US" sz="1000" dirty="0"/>
          </a:p>
        </p:txBody>
      </p:sp>
      <p:sp>
        <p:nvSpPr>
          <p:cNvPr id="9" name="Text 5"/>
          <p:cNvSpPr/>
          <p:nvPr/>
        </p:nvSpPr>
        <p:spPr>
          <a:xfrm>
            <a:off x="502920" y="3511296"/>
            <a:ext cx="8138160" cy="274320"/>
          </a:xfrm>
          <a:prstGeom prst="rect">
            <a:avLst/>
          </a:prstGeom>
          <a:noFill/>
          <a:ln/>
        </p:spPr>
        <p:txBody>
          <a:bodyPr wrap="square" rtlCol="0" anchor="ctr"/>
          <a:lstStyle/>
          <a:p>
            <a:pPr indent="0" marL="0">
              <a:buNone/>
            </a:pPr>
            <a:r>
              <a:rPr lang="en-US" sz="1000" dirty="0">
                <a:solidFill>
                  <a:srgbClr val="B08D57"/>
                </a:solidFill>
                <a:latin typeface="Jost" pitchFamily="34" charset="0"/>
                <a:ea typeface="Jost" pitchFamily="34" charset="-122"/>
                <a:cs typeface="Jost" pitchFamily="34" charset="-120"/>
              </a:rPr>
              <a:t>lkwellnessmdr@gmail.com</a:t>
            </a:r>
            <a:endParaRPr lang="en-US" sz="1000" dirty="0"/>
          </a:p>
        </p:txBody>
      </p:sp>
      <p:sp>
        <p:nvSpPr>
          <p:cNvPr id="10" name="Text 6"/>
          <p:cNvSpPr/>
          <p:nvPr/>
        </p:nvSpPr>
        <p:spPr>
          <a:xfrm>
            <a:off x="502920" y="4645152"/>
            <a:ext cx="8138160" cy="274320"/>
          </a:xfrm>
          <a:prstGeom prst="rect">
            <a:avLst/>
          </a:prstGeom>
          <a:noFill/>
          <a:ln/>
        </p:spPr>
        <p:txBody>
          <a:bodyPr wrap="square" rtlCol="0" anchor="ctr"/>
          <a:lstStyle/>
          <a:p>
            <a:pPr indent="0" marL="0">
              <a:buNone/>
            </a:pPr>
            <a:r>
              <a:rPr lang="en-US" sz="750" spc="200" kern="0" dirty="0">
                <a:solidFill>
                  <a:srgbClr val="C9BCA9"/>
                </a:solidFill>
                <a:latin typeface="Jost" pitchFamily="34" charset="0"/>
                <a:ea typeface="Jost" pitchFamily="34" charset="-122"/>
                <a:cs typeface="Jost" pitchFamily="34" charset="-120"/>
              </a:rPr>
              <a:t>CONFIDENTIAL  ·  PRIVATE INVESTMENT BRIEF  ·  FOR QUALIFIED RECIPIENTS ONLY</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1371600"/>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POSITIONING</a:t>
            </a:r>
            <a:endParaRPr lang="en-US" sz="900" dirty="0"/>
          </a:p>
        </p:txBody>
      </p:sp>
      <p:sp>
        <p:nvSpPr>
          <p:cNvPr id="3" name="Shape 1"/>
          <p:cNvSpPr/>
          <p:nvPr/>
        </p:nvSpPr>
        <p:spPr>
          <a:xfrm>
            <a:off x="502920" y="1618488"/>
            <a:ext cx="566928" cy="12802"/>
          </a:xfrm>
          <a:prstGeom prst="rect">
            <a:avLst/>
          </a:prstGeom>
          <a:solidFill>
            <a:srgbClr val="B08D57"/>
          </a:solidFill>
          <a:ln w="12700">
            <a:solidFill>
              <a:srgbClr val="B08D57"/>
            </a:solidFill>
            <a:prstDash val="solid"/>
          </a:ln>
        </p:spPr>
      </p:sp>
      <p:sp>
        <p:nvSpPr>
          <p:cNvPr id="4" name="Text 2"/>
          <p:cNvSpPr/>
          <p:nvPr/>
        </p:nvSpPr>
        <p:spPr>
          <a:xfrm>
            <a:off x="502920" y="1810512"/>
            <a:ext cx="8138160" cy="1737360"/>
          </a:xfrm>
          <a:prstGeom prst="rect">
            <a:avLst/>
          </a:prstGeom>
          <a:noFill/>
          <a:ln/>
        </p:spPr>
        <p:txBody>
          <a:bodyPr wrap="square" rtlCol="0" anchor="t"/>
          <a:lstStyle/>
          <a:p>
            <a:pPr indent="0" marL="0">
              <a:lnSpc>
                <a:spcPct val="112000"/>
              </a:lnSpc>
              <a:buNone/>
            </a:pPr>
            <a:r>
              <a:rPr lang="en-US" sz="3000" dirty="0">
                <a:solidFill>
                  <a:srgbClr val="EDE7DE"/>
                </a:solidFill>
                <a:latin typeface="Cormorant Garamond" pitchFamily="34" charset="0"/>
                <a:ea typeface="Cormorant Garamond" pitchFamily="34" charset="-122"/>
                <a:cs typeface="Cormorant Garamond" pitchFamily="34" charset="-120"/>
              </a:rPr>
              <a:t>Self-care is already social. Very few rooms are built to hold it, and fewer still are licensed to treat you in one.</a:t>
            </a:r>
            <a:endParaRPr lang="en-US" sz="3000" dirty="0"/>
          </a:p>
        </p:txBody>
      </p:sp>
      <p:sp>
        <p:nvSpPr>
          <p:cNvPr id="5"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6"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2</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THE PROBLEM</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THE WESTSIDE IS FRAGMENTED</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A patient today who wants to optimize their health must book with a plastic surgeon or med spa for injectables, a recovery studio for contrast therapies, and either a concierge doctor or a primary care provider for labs and hormone analysis. Separate intakes and appointments, all billed and paid for separately. Some clinics have combined a few of these modalities. Most of them are not somewhere you would choose to spend a Saturday morning.</a:t>
            </a:r>
            <a:endParaRPr lang="en-US" sz="1050" dirty="0"/>
          </a:p>
        </p:txBody>
      </p:sp>
      <p:sp>
        <p:nvSpPr>
          <p:cNvPr id="6" name="Shape 4"/>
          <p:cNvSpPr/>
          <p:nvPr/>
        </p:nvSpPr>
        <p:spPr>
          <a:xfrm>
            <a:off x="502920" y="1874520"/>
            <a:ext cx="2615184" cy="1600200"/>
          </a:xfrm>
          <a:prstGeom prst="rect">
            <a:avLst/>
          </a:prstGeom>
          <a:solidFill>
            <a:srgbClr val="1C1C1E"/>
          </a:solidFill>
          <a:ln w="9525">
            <a:solidFill>
              <a:srgbClr val="271F13"/>
            </a:solidFill>
            <a:prstDash val="solid"/>
          </a:ln>
        </p:spPr>
      </p:sp>
      <p:sp>
        <p:nvSpPr>
          <p:cNvPr id="7" name="Text 5"/>
          <p:cNvSpPr/>
          <p:nvPr/>
        </p:nvSpPr>
        <p:spPr>
          <a:xfrm>
            <a:off x="649224" y="200253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4+</a:t>
            </a:r>
            <a:endParaRPr lang="en-US" sz="2000" dirty="0"/>
          </a:p>
        </p:txBody>
      </p:sp>
      <p:sp>
        <p:nvSpPr>
          <p:cNvPr id="8" name="Text 6"/>
          <p:cNvSpPr/>
          <p:nvPr/>
        </p:nvSpPr>
        <p:spPr>
          <a:xfrm>
            <a:off x="649224" y="2350008"/>
            <a:ext cx="2322576" cy="1014984"/>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The patient is the coordinator, navigating providers for care that should sit in one place.</a:t>
            </a:r>
            <a:endParaRPr lang="en-US" sz="800" dirty="0"/>
          </a:p>
        </p:txBody>
      </p:sp>
      <p:sp>
        <p:nvSpPr>
          <p:cNvPr id="9" name="Shape 7"/>
          <p:cNvSpPr/>
          <p:nvPr/>
        </p:nvSpPr>
        <p:spPr>
          <a:xfrm>
            <a:off x="3264408" y="1874520"/>
            <a:ext cx="2615184" cy="1600200"/>
          </a:xfrm>
          <a:prstGeom prst="rect">
            <a:avLst/>
          </a:prstGeom>
          <a:solidFill>
            <a:srgbClr val="1C1C1E"/>
          </a:solidFill>
          <a:ln w="9525">
            <a:solidFill>
              <a:srgbClr val="271F13"/>
            </a:solidFill>
            <a:prstDash val="solid"/>
          </a:ln>
        </p:spPr>
      </p:sp>
      <p:sp>
        <p:nvSpPr>
          <p:cNvPr id="10" name="Text 8"/>
          <p:cNvSpPr/>
          <p:nvPr/>
        </p:nvSpPr>
        <p:spPr>
          <a:xfrm>
            <a:off x="3410712" y="200253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24 of 30</a:t>
            </a:r>
            <a:endParaRPr lang="en-US" sz="2000" dirty="0"/>
          </a:p>
        </p:txBody>
      </p:sp>
      <p:sp>
        <p:nvSpPr>
          <p:cNvPr id="11" name="Text 9"/>
          <p:cNvSpPr/>
          <p:nvPr/>
        </p:nvSpPr>
        <p:spPr>
          <a:xfrm>
            <a:off x="3410712" y="2350008"/>
            <a:ext cx="2322576" cy="1014984"/>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Services on the LK menu that require a physician, nurse practitioner or nurse. A recovery studio without a physician can offer 6.</a:t>
            </a:r>
            <a:endParaRPr lang="en-US" sz="800" dirty="0"/>
          </a:p>
        </p:txBody>
      </p:sp>
      <p:sp>
        <p:nvSpPr>
          <p:cNvPr id="12" name="Shape 10"/>
          <p:cNvSpPr/>
          <p:nvPr/>
        </p:nvSpPr>
        <p:spPr>
          <a:xfrm>
            <a:off x="6025896" y="1874520"/>
            <a:ext cx="2615184" cy="1600200"/>
          </a:xfrm>
          <a:prstGeom prst="rect">
            <a:avLst/>
          </a:prstGeom>
          <a:solidFill>
            <a:srgbClr val="1C1C1E"/>
          </a:solidFill>
          <a:ln w="9525">
            <a:solidFill>
              <a:srgbClr val="271F13"/>
            </a:solidFill>
            <a:prstDash val="solid"/>
          </a:ln>
        </p:spPr>
      </p:sp>
      <p:sp>
        <p:nvSpPr>
          <p:cNvPr id="13" name="Text 11"/>
          <p:cNvSpPr/>
          <p:nvPr/>
        </p:nvSpPr>
        <p:spPr>
          <a:xfrm>
            <a:off x="6172200" y="200253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10,488</a:t>
            </a:r>
            <a:endParaRPr lang="en-US" sz="2000" dirty="0"/>
          </a:p>
        </p:txBody>
      </p:sp>
      <p:sp>
        <p:nvSpPr>
          <p:cNvPr id="14" name="Text 12"/>
          <p:cNvSpPr/>
          <p:nvPr/>
        </p:nvSpPr>
        <p:spPr>
          <a:xfrm>
            <a:off x="6172200" y="2350008"/>
            <a:ext cx="2322576" cy="1014984"/>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US medical spas as of 2023, up from 8,899 the year before. The category is commoditizing on treatment alone.</a:t>
            </a:r>
            <a:endParaRPr lang="en-US" sz="8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3</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THE INSIGHT</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OTHERS PROVED THE FORMAT</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Only a licensed facility can deliver it.</a:t>
            </a:r>
            <a:endParaRPr lang="en-US" sz="1050" dirty="0"/>
          </a:p>
        </p:txBody>
      </p:sp>
      <p:sp>
        <p:nvSpPr>
          <p:cNvPr id="6" name="Shape 4"/>
          <p:cNvSpPr/>
          <p:nvPr/>
        </p:nvSpPr>
        <p:spPr>
          <a:xfrm>
            <a:off x="502920" y="1572768"/>
            <a:ext cx="3995928" cy="1325880"/>
          </a:xfrm>
          <a:prstGeom prst="rect">
            <a:avLst/>
          </a:prstGeom>
          <a:solidFill>
            <a:srgbClr val="1C1C1E"/>
          </a:solidFill>
          <a:ln w="9525">
            <a:solidFill>
              <a:srgbClr val="271F13"/>
            </a:solidFill>
            <a:prstDash val="solid"/>
          </a:ln>
        </p:spPr>
      </p:sp>
      <p:sp>
        <p:nvSpPr>
          <p:cNvPr id="7" name="Text 5"/>
          <p:cNvSpPr/>
          <p:nvPr/>
        </p:nvSpPr>
        <p:spPr>
          <a:xfrm>
            <a:off x="649224" y="1700784"/>
            <a:ext cx="3703320" cy="292608"/>
          </a:xfrm>
          <a:prstGeom prst="rect">
            <a:avLst/>
          </a:prstGeom>
          <a:noFill/>
          <a:ln/>
        </p:spPr>
        <p:txBody>
          <a:bodyPr wrap="square" rtlCol="0" anchor="t"/>
          <a:lstStyle/>
          <a:p>
            <a:pPr indent="0" marL="0">
              <a:lnSpc>
                <a:spcPct val="110000"/>
              </a:lnSpc>
              <a:buNone/>
            </a:pPr>
            <a:r>
              <a:rPr lang="en-US" sz="1300" dirty="0">
                <a:solidFill>
                  <a:srgbClr val="EDE7DE"/>
                </a:solidFill>
                <a:latin typeface="Jost" pitchFamily="34" charset="0"/>
                <a:ea typeface="Jost" pitchFamily="34" charset="-122"/>
                <a:cs typeface="Jost" pitchFamily="34" charset="-120"/>
              </a:rPr>
              <a:t>SWEATHOUZ</a:t>
            </a:r>
            <a:endParaRPr lang="en-US" sz="1300" dirty="0"/>
          </a:p>
        </p:txBody>
      </p:sp>
      <p:sp>
        <p:nvSpPr>
          <p:cNvPr id="8" name="Text 6"/>
          <p:cNvSpPr/>
          <p:nvPr/>
        </p:nvSpPr>
        <p:spPr>
          <a:xfrm>
            <a:off x="649224" y="2029968"/>
            <a:ext cx="3703320" cy="758952"/>
          </a:xfrm>
          <a:prstGeom prst="rect">
            <a:avLst/>
          </a:prstGeom>
          <a:noFill/>
          <a:ln/>
        </p:spPr>
        <p:txBody>
          <a:bodyPr wrap="square" rtlCol="0" anchor="t"/>
          <a:lstStyle/>
          <a:p>
            <a:pPr indent="0" marL="0">
              <a:lnSpc>
                <a:spcPct val="120000"/>
              </a:lnSpc>
              <a:buNone/>
            </a:pPr>
            <a:r>
              <a:rPr lang="en-US" sz="900" dirty="0">
                <a:solidFill>
                  <a:srgbClr val="C9BCA9"/>
                </a:solidFill>
                <a:latin typeface="Jost" pitchFamily="34" charset="0"/>
                <a:ea typeface="Jost" pitchFamily="34" charset="-122"/>
                <a:cs typeface="Jost" pitchFamily="34" charset="-120"/>
              </a:rPr>
              <a:t>Where a non-medical operator stops. No physician on site means no PRP, no IV therapy, no neuromodulators, no filler, no laser. A licensing threshold separates the two businesses.</a:t>
            </a:r>
            <a:endParaRPr lang="en-US" sz="900" dirty="0"/>
          </a:p>
        </p:txBody>
      </p:sp>
      <p:sp>
        <p:nvSpPr>
          <p:cNvPr id="9" name="Shape 7"/>
          <p:cNvSpPr/>
          <p:nvPr/>
        </p:nvSpPr>
        <p:spPr>
          <a:xfrm>
            <a:off x="4645152" y="1572768"/>
            <a:ext cx="3995928" cy="1325880"/>
          </a:xfrm>
          <a:prstGeom prst="rect">
            <a:avLst/>
          </a:prstGeom>
          <a:solidFill>
            <a:srgbClr val="1C1C1E"/>
          </a:solidFill>
          <a:ln w="9525">
            <a:solidFill>
              <a:srgbClr val="271F13"/>
            </a:solidFill>
            <a:prstDash val="solid"/>
          </a:ln>
        </p:spPr>
      </p:sp>
      <p:sp>
        <p:nvSpPr>
          <p:cNvPr id="10" name="Text 8"/>
          <p:cNvSpPr/>
          <p:nvPr/>
        </p:nvSpPr>
        <p:spPr>
          <a:xfrm>
            <a:off x="4791456" y="1700784"/>
            <a:ext cx="3703320" cy="292608"/>
          </a:xfrm>
          <a:prstGeom prst="rect">
            <a:avLst/>
          </a:prstGeom>
          <a:noFill/>
          <a:ln/>
        </p:spPr>
        <p:txBody>
          <a:bodyPr wrap="square" rtlCol="0" anchor="t"/>
          <a:lstStyle/>
          <a:p>
            <a:pPr indent="0" marL="0">
              <a:lnSpc>
                <a:spcPct val="110000"/>
              </a:lnSpc>
              <a:buNone/>
            </a:pPr>
            <a:r>
              <a:rPr lang="en-US" sz="1300" dirty="0">
                <a:solidFill>
                  <a:srgbClr val="EDE7DE"/>
                </a:solidFill>
                <a:latin typeface="Jost" pitchFamily="34" charset="0"/>
                <a:ea typeface="Jost" pitchFamily="34" charset="-122"/>
                <a:cs typeface="Jost" pitchFamily="34" charset="-120"/>
              </a:rPr>
              <a:t>Soho House</a:t>
            </a:r>
            <a:endParaRPr lang="en-US" sz="1300" dirty="0"/>
          </a:p>
        </p:txBody>
      </p:sp>
      <p:sp>
        <p:nvSpPr>
          <p:cNvPr id="11" name="Text 9"/>
          <p:cNvSpPr/>
          <p:nvPr/>
        </p:nvSpPr>
        <p:spPr>
          <a:xfrm>
            <a:off x="4791456" y="2029968"/>
            <a:ext cx="3703320" cy="758952"/>
          </a:xfrm>
          <a:prstGeom prst="rect">
            <a:avLst/>
          </a:prstGeom>
          <a:noFill/>
          <a:ln/>
        </p:spPr>
        <p:txBody>
          <a:bodyPr wrap="square" rtlCol="0" anchor="t"/>
          <a:lstStyle/>
          <a:p>
            <a:pPr indent="0" marL="0">
              <a:lnSpc>
                <a:spcPct val="120000"/>
              </a:lnSpc>
              <a:buNone/>
            </a:pPr>
            <a:r>
              <a:rPr lang="en-US" sz="900" dirty="0">
                <a:solidFill>
                  <a:srgbClr val="C9BCA9"/>
                </a:solidFill>
                <a:latin typeface="Jost" pitchFamily="34" charset="0"/>
                <a:ea typeface="Jost" pitchFamily="34" charset="-122"/>
                <a:cs typeface="Jost" pitchFamily="34" charset="-120"/>
              </a:rPr>
              <a:t>Soho Friends is a published annual tier where members buy event invitations, but no club access. Soho has proven members want medical services in the club. IV drips have been offered in London since 2022. Their Venice House opens summer 2027 with a contrast suite, cryotherapy and cold plunges. What all the California Soho House locations lack is physician led medicine.</a:t>
            </a:r>
            <a:endParaRPr lang="en-US" sz="900" dirty="0"/>
          </a:p>
        </p:txBody>
      </p:sp>
      <p:sp>
        <p:nvSpPr>
          <p:cNvPr id="12" name="Shape 10"/>
          <p:cNvSpPr/>
          <p:nvPr/>
        </p:nvSpPr>
        <p:spPr>
          <a:xfrm>
            <a:off x="502920" y="3063240"/>
            <a:ext cx="8138160" cy="1481328"/>
          </a:xfrm>
          <a:prstGeom prst="rect">
            <a:avLst/>
          </a:prstGeom>
          <a:solidFill>
            <a:srgbClr val="1C1C1E"/>
          </a:solidFill>
          <a:ln w="9525">
            <a:solidFill>
              <a:srgbClr val="B08D57"/>
            </a:solidFill>
            <a:prstDash val="solid"/>
          </a:ln>
        </p:spPr>
      </p:sp>
      <p:sp>
        <p:nvSpPr>
          <p:cNvPr id="13" name="Text 11"/>
          <p:cNvSpPr/>
          <p:nvPr/>
        </p:nvSpPr>
        <p:spPr>
          <a:xfrm>
            <a:off x="685800" y="3182112"/>
            <a:ext cx="7772400"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THE DIFFERENCE</a:t>
            </a:r>
            <a:endParaRPr lang="en-US" sz="750" dirty="0"/>
          </a:p>
        </p:txBody>
      </p:sp>
      <p:sp>
        <p:nvSpPr>
          <p:cNvPr id="14" name="Text 12"/>
          <p:cNvSpPr/>
          <p:nvPr/>
        </p:nvSpPr>
        <p:spPr>
          <a:xfrm>
            <a:off x="685800" y="3401568"/>
            <a:ext cx="7772400" cy="457200"/>
          </a:xfrm>
          <a:prstGeom prst="rect">
            <a:avLst/>
          </a:prstGeom>
          <a:noFill/>
          <a:ln/>
        </p:spPr>
        <p:txBody>
          <a:bodyPr wrap="square" rtlCol="0" anchor="t"/>
          <a:lstStyle/>
          <a:p>
            <a:pPr indent="0" marL="0">
              <a:buNone/>
            </a:pPr>
            <a:r>
              <a:rPr lang="en-US" sz="1700" dirty="0">
                <a:solidFill>
                  <a:srgbClr val="EDE7DE"/>
                </a:solidFill>
                <a:latin typeface="Cormorant Garamond" pitchFamily="34" charset="0"/>
                <a:ea typeface="Cormorant Garamond" pitchFamily="34" charset="-122"/>
                <a:cs typeface="Cormorant Garamond" pitchFamily="34" charset="-120"/>
              </a:rPr>
              <a:t>LK was built the other way around.</a:t>
            </a:r>
            <a:endParaRPr lang="en-US" sz="1700" dirty="0"/>
          </a:p>
        </p:txBody>
      </p:sp>
      <p:sp>
        <p:nvSpPr>
          <p:cNvPr id="15" name="Text 13"/>
          <p:cNvSpPr/>
          <p:nvPr/>
        </p:nvSpPr>
        <p:spPr>
          <a:xfrm>
            <a:off x="685800" y="3895344"/>
            <a:ext cx="7772400" cy="548640"/>
          </a:xfrm>
          <a:prstGeom prst="rect">
            <a:avLst/>
          </a:prstGeom>
          <a:noFill/>
          <a:ln/>
        </p:spPr>
        <p:txBody>
          <a:bodyPr wrap="square" rtlCol="0" anchor="t"/>
          <a:lstStyle/>
          <a:p>
            <a:pPr indent="0" marL="0">
              <a:lnSpc>
                <a:spcPct val="120000"/>
              </a:lnSpc>
              <a:buNone/>
            </a:pPr>
            <a:r>
              <a:rPr lang="en-US" sz="950" dirty="0">
                <a:solidFill>
                  <a:srgbClr val="C9BCA9"/>
                </a:solidFill>
                <a:latin typeface="Jost" pitchFamily="34" charset="0"/>
                <a:ea typeface="Jost" pitchFamily="34" charset="-122"/>
                <a:cs typeface="Jost" pitchFamily="34" charset="-120"/>
              </a:rPr>
              <a:t>The others are built around recovery and added medicine where they could. Sweathouz can’t cross the licensing line. Remedy Place and Soho House reach across it with IV drips and outside partner affiliations. A licensed medical clinic first, with the club built on top. Diagnostics, treatment rooms, an infusion suite and a physician-led team, in place before the first member walks in. They sell visits. We run stress-free care.</a:t>
            </a:r>
            <a:endParaRPr lang="en-US" sz="95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4</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THE MODEL</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TWO LAYERS, DIFFERENT DOORS</a:t>
            </a:r>
            <a:endParaRPr lang="en-US" sz="2600" dirty="0"/>
          </a:p>
        </p:txBody>
      </p:sp>
      <p:sp>
        <p:nvSpPr>
          <p:cNvPr id="5" name="Shape 3"/>
          <p:cNvSpPr/>
          <p:nvPr/>
        </p:nvSpPr>
        <p:spPr>
          <a:xfrm>
            <a:off x="1508760" y="1325880"/>
            <a:ext cx="6126480" cy="1234440"/>
          </a:xfrm>
          <a:prstGeom prst="rect">
            <a:avLst/>
          </a:prstGeom>
          <a:solidFill>
            <a:srgbClr val="1C1C1E"/>
          </a:solidFill>
          <a:ln w="9525">
            <a:solidFill>
              <a:srgbClr val="271F13"/>
            </a:solidFill>
            <a:prstDash val="solid"/>
          </a:ln>
        </p:spPr>
      </p:sp>
      <p:sp>
        <p:nvSpPr>
          <p:cNvPr id="6" name="Text 4"/>
          <p:cNvSpPr/>
          <p:nvPr/>
        </p:nvSpPr>
        <p:spPr>
          <a:xfrm>
            <a:off x="1655064" y="1453896"/>
            <a:ext cx="5833872"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MEMBERS ONLY  ·  CAPPED</a:t>
            </a:r>
            <a:endParaRPr lang="en-US" sz="750" dirty="0"/>
          </a:p>
        </p:txBody>
      </p:sp>
      <p:sp>
        <p:nvSpPr>
          <p:cNvPr id="7" name="Text 5"/>
          <p:cNvSpPr/>
          <p:nvPr/>
        </p:nvSpPr>
        <p:spPr>
          <a:xfrm>
            <a:off x="1655064" y="1673352"/>
            <a:ext cx="5833872" cy="292608"/>
          </a:xfrm>
          <a:prstGeom prst="rect">
            <a:avLst/>
          </a:prstGeom>
          <a:noFill/>
          <a:ln/>
        </p:spPr>
        <p:txBody>
          <a:bodyPr wrap="square" rtlCol="0" anchor="t"/>
          <a:lstStyle/>
          <a:p>
            <a:pPr indent="0" marL="0">
              <a:lnSpc>
                <a:spcPct val="110000"/>
              </a:lnSpc>
              <a:buNone/>
            </a:pPr>
            <a:r>
              <a:rPr lang="en-US" sz="1500" dirty="0">
                <a:solidFill>
                  <a:srgbClr val="EDE7DE"/>
                </a:solidFill>
                <a:latin typeface="Jost" pitchFamily="34" charset="0"/>
                <a:ea typeface="Jost" pitchFamily="34" charset="-122"/>
                <a:cs typeface="Jost" pitchFamily="34" charset="-120"/>
              </a:rPr>
              <a:t>The Club</a:t>
            </a:r>
            <a:endParaRPr lang="en-US" sz="1500" dirty="0"/>
          </a:p>
        </p:txBody>
      </p:sp>
      <p:sp>
        <p:nvSpPr>
          <p:cNvPr id="8" name="Text 6"/>
          <p:cNvSpPr/>
          <p:nvPr/>
        </p:nvSpPr>
        <p:spPr>
          <a:xfrm>
            <a:off x="1655064" y="2002536"/>
            <a:ext cx="5833872" cy="448056"/>
          </a:xfrm>
          <a:prstGeom prst="rect">
            <a:avLst/>
          </a:prstGeom>
          <a:noFill/>
          <a:ln/>
        </p:spPr>
        <p:txBody>
          <a:bodyPr wrap="square" rtlCol="0" anchor="t"/>
          <a:lstStyle/>
          <a:p>
            <a:pPr indent="0" marL="0">
              <a:lnSpc>
                <a:spcPct val="120000"/>
              </a:lnSpc>
              <a:buNone/>
            </a:pPr>
            <a:r>
              <a:rPr lang="en-US" sz="950" dirty="0">
                <a:solidFill>
                  <a:srgbClr val="C9BCA9"/>
                </a:solidFill>
                <a:latin typeface="Jost" pitchFamily="34" charset="0"/>
                <a:ea typeface="Jost" pitchFamily="34" charset="-122"/>
                <a:cs typeface="Jost" pitchFamily="34" charset="-120"/>
              </a:rPr>
              <a:t>Contrast suite  ·  Sauna and cold plunge ritual  ·  The Lounge  ·  Member events  ·  Guest passes  ·  Priority booking  ·  Private buyouts</a:t>
            </a:r>
            <a:endParaRPr lang="en-US" sz="950" dirty="0"/>
          </a:p>
        </p:txBody>
      </p:sp>
      <p:sp>
        <p:nvSpPr>
          <p:cNvPr id="9" name="Text 7"/>
          <p:cNvSpPr/>
          <p:nvPr/>
        </p:nvSpPr>
        <p:spPr>
          <a:xfrm>
            <a:off x="502920" y="2651760"/>
            <a:ext cx="8138160" cy="219456"/>
          </a:xfrm>
          <a:prstGeom prst="rect">
            <a:avLst/>
          </a:prstGeom>
          <a:noFill/>
          <a:ln/>
        </p:spPr>
        <p:txBody>
          <a:bodyPr wrap="square" rtlCol="0" anchor="ctr"/>
          <a:lstStyle/>
          <a:p>
            <a:pPr algn="ctr" indent="0" marL="0">
              <a:buNone/>
            </a:pPr>
            <a:r>
              <a:rPr lang="en-US" sz="800" spc="200" kern="0" dirty="0">
                <a:solidFill>
                  <a:srgbClr val="B08D57"/>
                </a:solidFill>
                <a:latin typeface="Jost" pitchFamily="34" charset="0"/>
                <a:ea typeface="Jost" pitchFamily="34" charset="-122"/>
                <a:cs typeface="Jost" pitchFamily="34" charset="-120"/>
              </a:rPr>
              <a:t>MEMBERSHIP SITS ON TOP. IT NEVER SITS IN FRONT.</a:t>
            </a:r>
            <a:endParaRPr lang="en-US" sz="800" dirty="0"/>
          </a:p>
        </p:txBody>
      </p:sp>
      <p:sp>
        <p:nvSpPr>
          <p:cNvPr id="10" name="Shape 8"/>
          <p:cNvSpPr/>
          <p:nvPr/>
        </p:nvSpPr>
        <p:spPr>
          <a:xfrm>
            <a:off x="502920" y="2971800"/>
            <a:ext cx="8138160" cy="1627632"/>
          </a:xfrm>
          <a:prstGeom prst="rect">
            <a:avLst/>
          </a:prstGeom>
          <a:solidFill>
            <a:srgbClr val="1C1C1E"/>
          </a:solidFill>
          <a:ln w="9525">
            <a:solidFill>
              <a:srgbClr val="271F13"/>
            </a:solidFill>
            <a:prstDash val="solid"/>
          </a:ln>
        </p:spPr>
      </p:sp>
      <p:sp>
        <p:nvSpPr>
          <p:cNvPr id="11" name="Text 9"/>
          <p:cNvSpPr/>
          <p:nvPr/>
        </p:nvSpPr>
        <p:spPr>
          <a:xfrm>
            <a:off x="649224" y="3099816"/>
            <a:ext cx="7845552"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OPEN TO EVERYONE  ·  NO MEMBERSHIP REQUIRED</a:t>
            </a:r>
            <a:endParaRPr lang="en-US" sz="750" dirty="0"/>
          </a:p>
        </p:txBody>
      </p:sp>
      <p:sp>
        <p:nvSpPr>
          <p:cNvPr id="12" name="Text 10"/>
          <p:cNvSpPr/>
          <p:nvPr/>
        </p:nvSpPr>
        <p:spPr>
          <a:xfrm>
            <a:off x="649224" y="3319272"/>
            <a:ext cx="7845552" cy="292608"/>
          </a:xfrm>
          <a:prstGeom prst="rect">
            <a:avLst/>
          </a:prstGeom>
          <a:noFill/>
          <a:ln/>
        </p:spPr>
        <p:txBody>
          <a:bodyPr wrap="square" rtlCol="0" anchor="t"/>
          <a:lstStyle/>
          <a:p>
            <a:pPr indent="0" marL="0">
              <a:lnSpc>
                <a:spcPct val="110000"/>
              </a:lnSpc>
              <a:buNone/>
            </a:pPr>
            <a:r>
              <a:rPr lang="en-US" sz="1500" dirty="0">
                <a:solidFill>
                  <a:srgbClr val="EDE7DE"/>
                </a:solidFill>
                <a:latin typeface="Jost" pitchFamily="34" charset="0"/>
                <a:ea typeface="Jost" pitchFamily="34" charset="-122"/>
                <a:cs typeface="Jost" pitchFamily="34" charset="-120"/>
              </a:rPr>
              <a:t>The Clinic</a:t>
            </a:r>
            <a:endParaRPr lang="en-US" sz="1500" dirty="0"/>
          </a:p>
        </p:txBody>
      </p:sp>
      <p:sp>
        <p:nvSpPr>
          <p:cNvPr id="13" name="Text 11"/>
          <p:cNvSpPr/>
          <p:nvPr/>
        </p:nvSpPr>
        <p:spPr>
          <a:xfrm>
            <a:off x="649224" y="3648456"/>
            <a:ext cx="7845552" cy="841248"/>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Aescape Robotic Massage  ·  Ammortal Chamber  ·  Red Light Therapy  ·  Hyperbaric Oxygen  ·  Compression Therapy  ·  PRP: Hair &amp; Scalp  ·  PRP: Face &amp; Aesthetic  ·  PRP: Scar &amp; Skin Repair  ·  PRP: Soft Tissue  ·  PRP: Joint &amp; Cartilage  ·  PRP: Post-procedure  ·  Basic Hydration  ·  Myers Cocktail  ·  Recovery / Hangover  ·  Immunity / High-Dose C  ·  Beauty / Glutathione  ·  Athletic Performance  ·  NAD+ 100mg  ·  NAD+ 250mg  ·  NAD+ 500mg  ·  IM Shot: B12 / Lipo  ·  Therapeutic medications  ·  Botox (15-unit minimum)  ·  Filler (0.5 ml)  ·  RF Microneedling  ·  Laser Platform  ·  Advanced Biometrics  ·  DNA Analysis  ·  DUTCH Plus Test  ·  DEXA Scan</a:t>
            </a:r>
            <a:endParaRPr lang="en-US" sz="850" dirty="0"/>
          </a:p>
        </p:txBody>
      </p:sp>
      <p:sp>
        <p:nvSpPr>
          <p:cNvPr id="14" name="Text 1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5" name="Text 1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5</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THE OFFERING</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HOW YOU WANT TO FEEL</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After years running a medical practice and working on its billing side, we know medicine is organized around procedures and codes. We have watched patients try to make sense of menus written for insurers, not for them. People come in tired, sore, run down, or ready for a change. So we organized everything around five simple goals: Restore, Renew, Recover, Reset and Reconnect.</a:t>
            </a:r>
            <a:endParaRPr lang="en-US" sz="1050" dirty="0"/>
          </a:p>
        </p:txBody>
      </p:sp>
      <p:sp>
        <p:nvSpPr>
          <p:cNvPr id="6" name="Shape 4"/>
          <p:cNvSpPr/>
          <p:nvPr/>
        </p:nvSpPr>
        <p:spPr>
          <a:xfrm>
            <a:off x="502920" y="1691640"/>
            <a:ext cx="1525219" cy="2651760"/>
          </a:xfrm>
          <a:prstGeom prst="rect">
            <a:avLst/>
          </a:prstGeom>
          <a:solidFill>
            <a:srgbClr val="1C1C1E"/>
          </a:solidFill>
          <a:ln w="9525">
            <a:solidFill>
              <a:srgbClr val="271F13"/>
            </a:solidFill>
            <a:prstDash val="solid"/>
          </a:ln>
        </p:spPr>
      </p:sp>
      <p:sp>
        <p:nvSpPr>
          <p:cNvPr id="7" name="Text 5"/>
          <p:cNvSpPr/>
          <p:nvPr/>
        </p:nvSpPr>
        <p:spPr>
          <a:xfrm>
            <a:off x="649224" y="1819656"/>
            <a:ext cx="1232611"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RESTORE</a:t>
            </a:r>
            <a:endParaRPr lang="en-US" sz="750" dirty="0"/>
          </a:p>
        </p:txBody>
      </p:sp>
      <p:sp>
        <p:nvSpPr>
          <p:cNvPr id="8" name="Text 6"/>
          <p:cNvSpPr/>
          <p:nvPr/>
        </p:nvSpPr>
        <p:spPr>
          <a:xfrm>
            <a:off x="649224" y="2039112"/>
            <a:ext cx="1232611" cy="237744"/>
          </a:xfrm>
          <a:prstGeom prst="rect">
            <a:avLst/>
          </a:prstGeom>
          <a:noFill/>
          <a:ln/>
        </p:spPr>
        <p:txBody>
          <a:bodyPr wrap="square" rtlCol="0" anchor="t"/>
          <a:lstStyle/>
          <a:p>
            <a:pPr indent="0" marL="0">
              <a:lnSpc>
                <a:spcPct val="110000"/>
              </a:lnSpc>
              <a:buNone/>
            </a:pPr>
            <a:r>
              <a:rPr lang="en-US" sz="1100" dirty="0">
                <a:solidFill>
                  <a:srgbClr val="EDE7DE"/>
                </a:solidFill>
                <a:latin typeface="Jost" pitchFamily="34" charset="0"/>
                <a:ea typeface="Jost" pitchFamily="34" charset="-122"/>
                <a:cs typeface="Jost" pitchFamily="34" charset="-120"/>
              </a:rPr>
              <a:t>Regenerative</a:t>
            </a:r>
            <a:endParaRPr lang="en-US" sz="1100" dirty="0"/>
          </a:p>
        </p:txBody>
      </p:sp>
      <p:sp>
        <p:nvSpPr>
          <p:cNvPr id="9" name="Text 7"/>
          <p:cNvSpPr/>
          <p:nvPr/>
        </p:nvSpPr>
        <p:spPr>
          <a:xfrm>
            <a:off x="649224" y="2313432"/>
            <a:ext cx="1232611" cy="1920240"/>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Six PRP protocols, therapeutic medications, a ten-drip infusion menu and NAD+ by dose.</a:t>
            </a:r>
            <a:endParaRPr lang="en-US" sz="850" dirty="0"/>
          </a:p>
        </p:txBody>
      </p:sp>
      <p:sp>
        <p:nvSpPr>
          <p:cNvPr id="10" name="Shape 8"/>
          <p:cNvSpPr/>
          <p:nvPr/>
        </p:nvSpPr>
        <p:spPr>
          <a:xfrm>
            <a:off x="2156155" y="1691640"/>
            <a:ext cx="1525219" cy="2651760"/>
          </a:xfrm>
          <a:prstGeom prst="rect">
            <a:avLst/>
          </a:prstGeom>
          <a:solidFill>
            <a:srgbClr val="1C1C1E"/>
          </a:solidFill>
          <a:ln w="9525">
            <a:solidFill>
              <a:srgbClr val="271F13"/>
            </a:solidFill>
            <a:prstDash val="solid"/>
          </a:ln>
        </p:spPr>
      </p:sp>
      <p:sp>
        <p:nvSpPr>
          <p:cNvPr id="11" name="Text 9"/>
          <p:cNvSpPr/>
          <p:nvPr/>
        </p:nvSpPr>
        <p:spPr>
          <a:xfrm>
            <a:off x="2302459" y="1819656"/>
            <a:ext cx="1232611"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RENEW</a:t>
            </a:r>
            <a:endParaRPr lang="en-US" sz="750" dirty="0"/>
          </a:p>
        </p:txBody>
      </p:sp>
      <p:sp>
        <p:nvSpPr>
          <p:cNvPr id="12" name="Text 10"/>
          <p:cNvSpPr/>
          <p:nvPr/>
        </p:nvSpPr>
        <p:spPr>
          <a:xfrm>
            <a:off x="2302459" y="2039112"/>
            <a:ext cx="1232611" cy="237744"/>
          </a:xfrm>
          <a:prstGeom prst="rect">
            <a:avLst/>
          </a:prstGeom>
          <a:noFill/>
          <a:ln/>
        </p:spPr>
        <p:txBody>
          <a:bodyPr wrap="square" rtlCol="0" anchor="t"/>
          <a:lstStyle/>
          <a:p>
            <a:pPr indent="0" marL="0">
              <a:lnSpc>
                <a:spcPct val="110000"/>
              </a:lnSpc>
              <a:buNone/>
            </a:pPr>
            <a:r>
              <a:rPr lang="en-US" sz="1100" dirty="0">
                <a:solidFill>
                  <a:srgbClr val="EDE7DE"/>
                </a:solidFill>
                <a:latin typeface="Jost" pitchFamily="34" charset="0"/>
                <a:ea typeface="Jost" pitchFamily="34" charset="-122"/>
                <a:cs typeface="Jost" pitchFamily="34" charset="-120"/>
              </a:rPr>
              <a:t>Aesthetics</a:t>
            </a:r>
            <a:endParaRPr lang="en-US" sz="1100" dirty="0"/>
          </a:p>
        </p:txBody>
      </p:sp>
      <p:sp>
        <p:nvSpPr>
          <p:cNvPr id="13" name="Text 11"/>
          <p:cNvSpPr/>
          <p:nvPr/>
        </p:nvSpPr>
        <p:spPr>
          <a:xfrm>
            <a:off x="2302459" y="2313432"/>
            <a:ext cx="1232611" cy="1920240"/>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Neuromodulators and filler, RF microneedling, laser resurfacing.</a:t>
            </a:r>
            <a:endParaRPr lang="en-US" sz="850" dirty="0"/>
          </a:p>
        </p:txBody>
      </p:sp>
      <p:sp>
        <p:nvSpPr>
          <p:cNvPr id="14" name="Shape 12"/>
          <p:cNvSpPr/>
          <p:nvPr/>
        </p:nvSpPr>
        <p:spPr>
          <a:xfrm>
            <a:off x="3809390" y="1691640"/>
            <a:ext cx="1525219" cy="2651760"/>
          </a:xfrm>
          <a:prstGeom prst="rect">
            <a:avLst/>
          </a:prstGeom>
          <a:solidFill>
            <a:srgbClr val="1C1C1E"/>
          </a:solidFill>
          <a:ln w="9525">
            <a:solidFill>
              <a:srgbClr val="271F13"/>
            </a:solidFill>
            <a:prstDash val="solid"/>
          </a:ln>
        </p:spPr>
      </p:sp>
      <p:sp>
        <p:nvSpPr>
          <p:cNvPr id="15" name="Text 13"/>
          <p:cNvSpPr/>
          <p:nvPr/>
        </p:nvSpPr>
        <p:spPr>
          <a:xfrm>
            <a:off x="3955694" y="1819656"/>
            <a:ext cx="1232611"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RECOVER</a:t>
            </a:r>
            <a:endParaRPr lang="en-US" sz="750" dirty="0"/>
          </a:p>
        </p:txBody>
      </p:sp>
      <p:sp>
        <p:nvSpPr>
          <p:cNvPr id="16" name="Text 14"/>
          <p:cNvSpPr/>
          <p:nvPr/>
        </p:nvSpPr>
        <p:spPr>
          <a:xfrm>
            <a:off x="3955694" y="2039112"/>
            <a:ext cx="1232611" cy="237744"/>
          </a:xfrm>
          <a:prstGeom prst="rect">
            <a:avLst/>
          </a:prstGeom>
          <a:noFill/>
          <a:ln/>
        </p:spPr>
        <p:txBody>
          <a:bodyPr wrap="square" rtlCol="0" anchor="t"/>
          <a:lstStyle/>
          <a:p>
            <a:pPr indent="0" marL="0">
              <a:lnSpc>
                <a:spcPct val="110000"/>
              </a:lnSpc>
              <a:buNone/>
            </a:pPr>
            <a:r>
              <a:rPr lang="en-US" sz="1100" dirty="0">
                <a:solidFill>
                  <a:srgbClr val="EDE7DE"/>
                </a:solidFill>
                <a:latin typeface="Jost" pitchFamily="34" charset="0"/>
                <a:ea typeface="Jost" pitchFamily="34" charset="-122"/>
                <a:cs typeface="Jost" pitchFamily="34" charset="-120"/>
              </a:rPr>
              <a:t>Recovery</a:t>
            </a:r>
            <a:endParaRPr lang="en-US" sz="1100" dirty="0"/>
          </a:p>
        </p:txBody>
      </p:sp>
      <p:sp>
        <p:nvSpPr>
          <p:cNvPr id="17" name="Text 15"/>
          <p:cNvSpPr/>
          <p:nvPr/>
        </p:nvSpPr>
        <p:spPr>
          <a:xfrm>
            <a:off x="3955694" y="2313432"/>
            <a:ext cx="1232611" cy="1920240"/>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Hyperbaric oxygen, Ammortal chambers, robotic massage, compression, red light.</a:t>
            </a:r>
            <a:endParaRPr lang="en-US" sz="850" dirty="0"/>
          </a:p>
        </p:txBody>
      </p:sp>
      <p:sp>
        <p:nvSpPr>
          <p:cNvPr id="18" name="Shape 16"/>
          <p:cNvSpPr/>
          <p:nvPr/>
        </p:nvSpPr>
        <p:spPr>
          <a:xfrm>
            <a:off x="5462626" y="1691640"/>
            <a:ext cx="1525219" cy="2651760"/>
          </a:xfrm>
          <a:prstGeom prst="rect">
            <a:avLst/>
          </a:prstGeom>
          <a:solidFill>
            <a:srgbClr val="1C1C1E"/>
          </a:solidFill>
          <a:ln w="9525">
            <a:solidFill>
              <a:srgbClr val="271F13"/>
            </a:solidFill>
            <a:prstDash val="solid"/>
          </a:ln>
        </p:spPr>
      </p:sp>
      <p:sp>
        <p:nvSpPr>
          <p:cNvPr id="19" name="Text 17"/>
          <p:cNvSpPr/>
          <p:nvPr/>
        </p:nvSpPr>
        <p:spPr>
          <a:xfrm>
            <a:off x="5608930" y="1819656"/>
            <a:ext cx="1232611"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RESET</a:t>
            </a:r>
            <a:endParaRPr lang="en-US" sz="750" dirty="0"/>
          </a:p>
        </p:txBody>
      </p:sp>
      <p:sp>
        <p:nvSpPr>
          <p:cNvPr id="20" name="Text 18"/>
          <p:cNvSpPr/>
          <p:nvPr/>
        </p:nvSpPr>
        <p:spPr>
          <a:xfrm>
            <a:off x="5608930" y="2039112"/>
            <a:ext cx="1232611" cy="237744"/>
          </a:xfrm>
          <a:prstGeom prst="rect">
            <a:avLst/>
          </a:prstGeom>
          <a:noFill/>
          <a:ln/>
        </p:spPr>
        <p:txBody>
          <a:bodyPr wrap="square" rtlCol="0" anchor="t"/>
          <a:lstStyle/>
          <a:p>
            <a:pPr indent="0" marL="0">
              <a:lnSpc>
                <a:spcPct val="110000"/>
              </a:lnSpc>
              <a:buNone/>
            </a:pPr>
            <a:r>
              <a:rPr lang="en-US" sz="1100" dirty="0">
                <a:solidFill>
                  <a:srgbClr val="EDE7DE"/>
                </a:solidFill>
                <a:latin typeface="Jost" pitchFamily="34" charset="0"/>
                <a:ea typeface="Jost" pitchFamily="34" charset="-122"/>
                <a:cs typeface="Jost" pitchFamily="34" charset="-120"/>
              </a:rPr>
              <a:t>Diagnostics</a:t>
            </a:r>
            <a:endParaRPr lang="en-US" sz="1100" dirty="0"/>
          </a:p>
        </p:txBody>
      </p:sp>
      <p:sp>
        <p:nvSpPr>
          <p:cNvPr id="21" name="Text 19"/>
          <p:cNvSpPr/>
          <p:nvPr/>
        </p:nvSpPr>
        <p:spPr>
          <a:xfrm>
            <a:off x="5608930" y="2313432"/>
            <a:ext cx="1232611" cy="1920240"/>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Advanced biometrics, DEXA, DUTCH, DNA analysis. The baseline everything else is measured against.</a:t>
            </a:r>
            <a:endParaRPr lang="en-US" sz="850" dirty="0"/>
          </a:p>
        </p:txBody>
      </p:sp>
      <p:sp>
        <p:nvSpPr>
          <p:cNvPr id="22" name="Shape 20"/>
          <p:cNvSpPr/>
          <p:nvPr/>
        </p:nvSpPr>
        <p:spPr>
          <a:xfrm>
            <a:off x="7115861" y="1691640"/>
            <a:ext cx="1525219" cy="2651760"/>
          </a:xfrm>
          <a:prstGeom prst="rect">
            <a:avLst/>
          </a:prstGeom>
          <a:solidFill>
            <a:srgbClr val="1C1C1E"/>
          </a:solidFill>
          <a:ln w="9525">
            <a:solidFill>
              <a:srgbClr val="271F13"/>
            </a:solidFill>
            <a:prstDash val="solid"/>
          </a:ln>
        </p:spPr>
      </p:sp>
      <p:sp>
        <p:nvSpPr>
          <p:cNvPr id="23" name="Text 21"/>
          <p:cNvSpPr/>
          <p:nvPr/>
        </p:nvSpPr>
        <p:spPr>
          <a:xfrm>
            <a:off x="7262165" y="1819656"/>
            <a:ext cx="1232611"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RECONNECT</a:t>
            </a:r>
            <a:endParaRPr lang="en-US" sz="750" dirty="0"/>
          </a:p>
        </p:txBody>
      </p:sp>
      <p:sp>
        <p:nvSpPr>
          <p:cNvPr id="24" name="Text 22"/>
          <p:cNvSpPr/>
          <p:nvPr/>
        </p:nvSpPr>
        <p:spPr>
          <a:xfrm>
            <a:off x="7262165" y="2039112"/>
            <a:ext cx="1232611" cy="237744"/>
          </a:xfrm>
          <a:prstGeom prst="rect">
            <a:avLst/>
          </a:prstGeom>
          <a:noFill/>
          <a:ln/>
        </p:spPr>
        <p:txBody>
          <a:bodyPr wrap="square" rtlCol="0" anchor="t"/>
          <a:lstStyle/>
          <a:p>
            <a:pPr indent="0" marL="0">
              <a:lnSpc>
                <a:spcPct val="110000"/>
              </a:lnSpc>
              <a:buNone/>
            </a:pPr>
            <a:r>
              <a:rPr lang="en-US" sz="1100" dirty="0">
                <a:solidFill>
                  <a:srgbClr val="EDE7DE"/>
                </a:solidFill>
                <a:latin typeface="Jost" pitchFamily="34" charset="0"/>
                <a:ea typeface="Jost" pitchFamily="34" charset="-122"/>
                <a:cs typeface="Jost" pitchFamily="34" charset="-120"/>
              </a:rPr>
              <a:t>The Club</a:t>
            </a:r>
            <a:endParaRPr lang="en-US" sz="1100" dirty="0"/>
          </a:p>
        </p:txBody>
      </p:sp>
      <p:sp>
        <p:nvSpPr>
          <p:cNvPr id="25" name="Text 23"/>
          <p:cNvSpPr/>
          <p:nvPr/>
        </p:nvSpPr>
        <p:spPr>
          <a:xfrm>
            <a:off x="7262165" y="2313432"/>
            <a:ext cx="1232611" cy="1920240"/>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The contrast suite, the Lounge, member events, and guest privileges. The reason your membership becomes part of your routine, not just your recovery.</a:t>
            </a:r>
            <a:endParaRPr lang="en-US" sz="850" dirty="0"/>
          </a:p>
        </p:txBody>
      </p:sp>
      <p:sp>
        <p:nvSpPr>
          <p:cNvPr id="26" name="Text 2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27" name="Text 2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6</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MEMBERSHIP ARCHITECTURE</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A LADDER, NOT A GATE</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Four tiers, each representing a meaningful step up rather than a repackaging of the last. The accessible annual tier is the entry point; the capped monthly tiers drive the core business.</a:t>
            </a:r>
            <a:endParaRPr lang="en-US" sz="1050" dirty="0"/>
          </a:p>
        </p:txBody>
      </p:sp>
      <p:sp>
        <p:nvSpPr>
          <p:cNvPr id="6" name="Shape 4"/>
          <p:cNvSpPr/>
          <p:nvPr/>
        </p:nvSpPr>
        <p:spPr>
          <a:xfrm>
            <a:off x="502920" y="1691640"/>
            <a:ext cx="1924812" cy="2450592"/>
          </a:xfrm>
          <a:prstGeom prst="rect">
            <a:avLst/>
          </a:prstGeom>
          <a:solidFill>
            <a:srgbClr val="1C1C1E"/>
          </a:solidFill>
          <a:ln w="9525">
            <a:solidFill>
              <a:srgbClr val="271F13"/>
            </a:solidFill>
            <a:prstDash val="solid"/>
          </a:ln>
        </p:spPr>
      </p:sp>
      <p:sp>
        <p:nvSpPr>
          <p:cNvPr id="7" name="Text 5"/>
          <p:cNvSpPr/>
          <p:nvPr/>
        </p:nvSpPr>
        <p:spPr>
          <a:xfrm>
            <a:off x="630936" y="1801368"/>
            <a:ext cx="1668780" cy="237744"/>
          </a:xfrm>
          <a:prstGeom prst="rect">
            <a:avLst/>
          </a:prstGeom>
          <a:noFill/>
          <a:ln/>
        </p:spPr>
        <p:txBody>
          <a:bodyPr wrap="square" rtlCol="0" anchor="ctr"/>
          <a:lstStyle/>
          <a:p>
            <a:pPr indent="0" marL="0">
              <a:buNone/>
            </a:pPr>
            <a:r>
              <a:rPr lang="en-US" sz="1100" dirty="0">
                <a:solidFill>
                  <a:srgbClr val="EDE7DE"/>
                </a:solidFill>
                <a:latin typeface="Jost" pitchFamily="34" charset="0"/>
                <a:ea typeface="Jost" pitchFamily="34" charset="-122"/>
                <a:cs typeface="Jost" pitchFamily="34" charset="-120"/>
              </a:rPr>
              <a:t>Day Pass</a:t>
            </a:r>
            <a:endParaRPr lang="en-US" sz="1100" dirty="0"/>
          </a:p>
        </p:txBody>
      </p:sp>
      <p:sp>
        <p:nvSpPr>
          <p:cNvPr id="8" name="Text 6"/>
          <p:cNvSpPr/>
          <p:nvPr/>
        </p:nvSpPr>
        <p:spPr>
          <a:xfrm>
            <a:off x="630936" y="2039112"/>
            <a:ext cx="1668780" cy="365760"/>
          </a:xfrm>
          <a:prstGeom prst="rect">
            <a:avLst/>
          </a:prstGeom>
          <a:noFill/>
          <a:ln/>
        </p:spPr>
        <p:txBody>
          <a:bodyPr wrap="square" rtlCol="0" anchor="t"/>
          <a:lstStyle/>
          <a:p>
            <a:pPr indent="0" marL="0">
              <a:buNone/>
            </a:pPr>
            <a:r>
              <a:rPr lang="en-US" sz="2200" dirty="0">
                <a:solidFill>
                  <a:srgbClr val="B08D57"/>
                </a:solidFill>
                <a:latin typeface="Cormorant Garamond" pitchFamily="34" charset="0"/>
                <a:ea typeface="Cormorant Garamond" pitchFamily="34" charset="-122"/>
                <a:cs typeface="Cormorant Garamond" pitchFamily="34" charset="-120"/>
              </a:rPr>
              <a:t>$75</a:t>
            </a:r>
            <a:endParaRPr lang="en-US" sz="2200" dirty="0"/>
          </a:p>
        </p:txBody>
      </p:sp>
      <p:sp>
        <p:nvSpPr>
          <p:cNvPr id="9" name="Text 7"/>
          <p:cNvSpPr/>
          <p:nvPr/>
        </p:nvSpPr>
        <p:spPr>
          <a:xfrm>
            <a:off x="630936" y="2404872"/>
            <a:ext cx="1668780" cy="164592"/>
          </a:xfrm>
          <a:prstGeom prst="rect">
            <a:avLst/>
          </a:prstGeom>
          <a:noFill/>
          <a:ln/>
        </p:spPr>
        <p:txBody>
          <a:bodyPr wrap="square" rtlCol="0" anchor="ctr"/>
          <a:lstStyle/>
          <a:p>
            <a:pPr indent="0" marL="0">
              <a:buNone/>
            </a:pPr>
            <a:r>
              <a:rPr lang="en-US" sz="700" spc="140" kern="0" dirty="0">
                <a:solidFill>
                  <a:srgbClr val="6B6965"/>
                </a:solidFill>
                <a:latin typeface="Jost" pitchFamily="34" charset="0"/>
                <a:ea typeface="Jost" pitchFamily="34" charset="-122"/>
                <a:cs typeface="Jost" pitchFamily="34" charset="-120"/>
              </a:rPr>
              <a:t>PER VISIT</a:t>
            </a:r>
            <a:endParaRPr lang="en-US" sz="700" dirty="0"/>
          </a:p>
        </p:txBody>
      </p:sp>
      <p:sp>
        <p:nvSpPr>
          <p:cNvPr id="10" name="Text 8"/>
          <p:cNvSpPr/>
          <p:nvPr/>
        </p:nvSpPr>
        <p:spPr>
          <a:xfrm>
            <a:off x="630936" y="2606040"/>
            <a:ext cx="1668780" cy="1188720"/>
          </a:xfrm>
          <a:prstGeom prst="rect">
            <a:avLst/>
          </a:prstGeom>
          <a:noFill/>
          <a:ln/>
        </p:spPr>
        <p:txBody>
          <a:bodyPr wrap="square" rtlCol="0" anchor="t"/>
          <a:lstStyle/>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Single circuit visit</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Procedures at list price</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No events or lounge privileges</a:t>
            </a:r>
            <a:endParaRPr lang="en-US" sz="750" dirty="0"/>
          </a:p>
        </p:txBody>
      </p:sp>
      <p:sp>
        <p:nvSpPr>
          <p:cNvPr id="11" name="Text 9"/>
          <p:cNvSpPr/>
          <p:nvPr/>
        </p:nvSpPr>
        <p:spPr>
          <a:xfrm>
            <a:off x="630936" y="3867912"/>
            <a:ext cx="1668780" cy="201168"/>
          </a:xfrm>
          <a:prstGeom prst="rect">
            <a:avLst/>
          </a:prstGeom>
          <a:noFill/>
          <a:ln/>
        </p:spPr>
        <p:txBody>
          <a:bodyPr wrap="square" rtlCol="0" anchor="ctr"/>
          <a:lstStyle/>
          <a:p>
            <a:pPr indent="0" marL="0">
              <a:buNone/>
            </a:pPr>
            <a:r>
              <a:rPr lang="en-US" sz="800" dirty="0">
                <a:solidFill>
                  <a:srgbClr val="EDE7DE"/>
                </a:solidFill>
                <a:latin typeface="Jost" pitchFamily="34" charset="0"/>
                <a:ea typeface="Jost" pitchFamily="34" charset="-122"/>
                <a:cs typeface="Jost" pitchFamily="34" charset="-120"/>
              </a:rPr>
              <a:t>275 visits/mo</a:t>
            </a:r>
            <a:endParaRPr lang="en-US" sz="800" dirty="0"/>
          </a:p>
        </p:txBody>
      </p:sp>
      <p:sp>
        <p:nvSpPr>
          <p:cNvPr id="12" name="Shape 10"/>
          <p:cNvSpPr/>
          <p:nvPr/>
        </p:nvSpPr>
        <p:spPr>
          <a:xfrm>
            <a:off x="2574036" y="1691640"/>
            <a:ext cx="1924812" cy="2450592"/>
          </a:xfrm>
          <a:prstGeom prst="rect">
            <a:avLst/>
          </a:prstGeom>
          <a:solidFill>
            <a:srgbClr val="1C1C1E"/>
          </a:solidFill>
          <a:ln w="9525">
            <a:solidFill>
              <a:srgbClr val="271F13"/>
            </a:solidFill>
            <a:prstDash val="solid"/>
          </a:ln>
        </p:spPr>
      </p:sp>
      <p:sp>
        <p:nvSpPr>
          <p:cNvPr id="13" name="Text 11"/>
          <p:cNvSpPr/>
          <p:nvPr/>
        </p:nvSpPr>
        <p:spPr>
          <a:xfrm>
            <a:off x="2702052" y="1801368"/>
            <a:ext cx="1668780" cy="237744"/>
          </a:xfrm>
          <a:prstGeom prst="rect">
            <a:avLst/>
          </a:prstGeom>
          <a:noFill/>
          <a:ln/>
        </p:spPr>
        <p:txBody>
          <a:bodyPr wrap="square" rtlCol="0" anchor="ctr"/>
          <a:lstStyle/>
          <a:p>
            <a:pPr indent="0" marL="0">
              <a:buNone/>
            </a:pPr>
            <a:r>
              <a:rPr lang="en-US" sz="1100" dirty="0">
                <a:solidFill>
                  <a:srgbClr val="EDE7DE"/>
                </a:solidFill>
                <a:latin typeface="Jost" pitchFamily="34" charset="0"/>
                <a:ea typeface="Jost" pitchFamily="34" charset="-122"/>
                <a:cs typeface="Jost" pitchFamily="34" charset="-120"/>
              </a:rPr>
              <a:t>Friends of LK</a:t>
            </a:r>
            <a:endParaRPr lang="en-US" sz="1100" dirty="0"/>
          </a:p>
        </p:txBody>
      </p:sp>
      <p:sp>
        <p:nvSpPr>
          <p:cNvPr id="14" name="Text 12"/>
          <p:cNvSpPr/>
          <p:nvPr/>
        </p:nvSpPr>
        <p:spPr>
          <a:xfrm>
            <a:off x="2702052" y="2039112"/>
            <a:ext cx="1668780" cy="365760"/>
          </a:xfrm>
          <a:prstGeom prst="rect">
            <a:avLst/>
          </a:prstGeom>
          <a:noFill/>
          <a:ln/>
        </p:spPr>
        <p:txBody>
          <a:bodyPr wrap="square" rtlCol="0" anchor="t"/>
          <a:lstStyle/>
          <a:p>
            <a:pPr indent="0" marL="0">
              <a:buNone/>
            </a:pPr>
            <a:r>
              <a:rPr lang="en-US" sz="2200" dirty="0">
                <a:solidFill>
                  <a:srgbClr val="B08D57"/>
                </a:solidFill>
                <a:latin typeface="Cormorant Garamond" pitchFamily="34" charset="0"/>
                <a:ea typeface="Cormorant Garamond" pitchFamily="34" charset="-122"/>
                <a:cs typeface="Cormorant Garamond" pitchFamily="34" charset="-120"/>
              </a:rPr>
              <a:t>$300</a:t>
            </a:r>
            <a:endParaRPr lang="en-US" sz="2200" dirty="0"/>
          </a:p>
        </p:txBody>
      </p:sp>
      <p:sp>
        <p:nvSpPr>
          <p:cNvPr id="15" name="Text 13"/>
          <p:cNvSpPr/>
          <p:nvPr/>
        </p:nvSpPr>
        <p:spPr>
          <a:xfrm>
            <a:off x="2702052" y="2404872"/>
            <a:ext cx="1668780" cy="164592"/>
          </a:xfrm>
          <a:prstGeom prst="rect">
            <a:avLst/>
          </a:prstGeom>
          <a:noFill/>
          <a:ln/>
        </p:spPr>
        <p:txBody>
          <a:bodyPr wrap="square" rtlCol="0" anchor="ctr"/>
          <a:lstStyle/>
          <a:p>
            <a:pPr indent="0" marL="0">
              <a:buNone/>
            </a:pPr>
            <a:r>
              <a:rPr lang="en-US" sz="700" spc="140" kern="0" dirty="0">
                <a:solidFill>
                  <a:srgbClr val="6B6965"/>
                </a:solidFill>
                <a:latin typeface="Jost" pitchFamily="34" charset="0"/>
                <a:ea typeface="Jost" pitchFamily="34" charset="-122"/>
                <a:cs typeface="Jost" pitchFamily="34" charset="-120"/>
              </a:rPr>
              <a:t>PER YEAR</a:t>
            </a:r>
            <a:endParaRPr lang="en-US" sz="700" dirty="0"/>
          </a:p>
        </p:txBody>
      </p:sp>
      <p:sp>
        <p:nvSpPr>
          <p:cNvPr id="16" name="Text 14"/>
          <p:cNvSpPr/>
          <p:nvPr/>
        </p:nvSpPr>
        <p:spPr>
          <a:xfrm>
            <a:off x="2702052" y="2606040"/>
            <a:ext cx="1668780" cy="1188720"/>
          </a:xfrm>
          <a:prstGeom prst="rect">
            <a:avLst/>
          </a:prstGeom>
          <a:noFill/>
          <a:ln/>
        </p:spPr>
        <p:txBody>
          <a:bodyPr wrap="square" rtlCol="0" anchor="t"/>
          <a:lstStyle/>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Member pricing on all procedures</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Priority booking window</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Invitations to open events</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No club or circuit access</a:t>
            </a:r>
            <a:endParaRPr lang="en-US" sz="750" dirty="0"/>
          </a:p>
        </p:txBody>
      </p:sp>
      <p:sp>
        <p:nvSpPr>
          <p:cNvPr id="17" name="Text 15"/>
          <p:cNvSpPr/>
          <p:nvPr/>
        </p:nvSpPr>
        <p:spPr>
          <a:xfrm>
            <a:off x="2702052" y="3867912"/>
            <a:ext cx="1668780" cy="201168"/>
          </a:xfrm>
          <a:prstGeom prst="rect">
            <a:avLst/>
          </a:prstGeom>
          <a:noFill/>
          <a:ln/>
        </p:spPr>
        <p:txBody>
          <a:bodyPr wrap="square" rtlCol="0" anchor="ctr"/>
          <a:lstStyle/>
          <a:p>
            <a:pPr indent="0" marL="0">
              <a:buNone/>
            </a:pPr>
            <a:r>
              <a:rPr lang="en-US" sz="800" dirty="0">
                <a:solidFill>
                  <a:srgbClr val="EDE7DE"/>
                </a:solidFill>
                <a:latin typeface="Jost" pitchFamily="34" charset="0"/>
                <a:ea typeface="Jost" pitchFamily="34" charset="-122"/>
                <a:cs typeface="Jost" pitchFamily="34" charset="-120"/>
              </a:rPr>
              <a:t>900 members</a:t>
            </a:r>
            <a:endParaRPr lang="en-US" sz="800" dirty="0"/>
          </a:p>
        </p:txBody>
      </p:sp>
      <p:sp>
        <p:nvSpPr>
          <p:cNvPr id="18" name="Shape 16"/>
          <p:cNvSpPr/>
          <p:nvPr/>
        </p:nvSpPr>
        <p:spPr>
          <a:xfrm>
            <a:off x="4645152" y="1691640"/>
            <a:ext cx="1924812" cy="2450592"/>
          </a:xfrm>
          <a:prstGeom prst="rect">
            <a:avLst/>
          </a:prstGeom>
          <a:solidFill>
            <a:srgbClr val="1C1C1E"/>
          </a:solidFill>
          <a:ln w="9525">
            <a:solidFill>
              <a:srgbClr val="271F13"/>
            </a:solidFill>
            <a:prstDash val="solid"/>
          </a:ln>
        </p:spPr>
      </p:sp>
      <p:sp>
        <p:nvSpPr>
          <p:cNvPr id="19" name="Text 17"/>
          <p:cNvSpPr/>
          <p:nvPr/>
        </p:nvSpPr>
        <p:spPr>
          <a:xfrm>
            <a:off x="4773168" y="1801368"/>
            <a:ext cx="1668780" cy="237744"/>
          </a:xfrm>
          <a:prstGeom prst="rect">
            <a:avLst/>
          </a:prstGeom>
          <a:noFill/>
          <a:ln/>
        </p:spPr>
        <p:txBody>
          <a:bodyPr wrap="square" rtlCol="0" anchor="ctr"/>
          <a:lstStyle/>
          <a:p>
            <a:pPr indent="0" marL="0">
              <a:buNone/>
            </a:pPr>
            <a:r>
              <a:rPr lang="en-US" sz="1100" dirty="0">
                <a:solidFill>
                  <a:srgbClr val="EDE7DE"/>
                </a:solidFill>
                <a:latin typeface="Jost" pitchFamily="34" charset="0"/>
                <a:ea typeface="Jost" pitchFamily="34" charset="-122"/>
                <a:cs typeface="Jost" pitchFamily="34" charset="-120"/>
              </a:rPr>
              <a:t>Resident</a:t>
            </a:r>
            <a:endParaRPr lang="en-US" sz="1100" dirty="0"/>
          </a:p>
        </p:txBody>
      </p:sp>
      <p:sp>
        <p:nvSpPr>
          <p:cNvPr id="20" name="Text 18"/>
          <p:cNvSpPr/>
          <p:nvPr/>
        </p:nvSpPr>
        <p:spPr>
          <a:xfrm>
            <a:off x="4773168" y="2039112"/>
            <a:ext cx="1668780" cy="365760"/>
          </a:xfrm>
          <a:prstGeom prst="rect">
            <a:avLst/>
          </a:prstGeom>
          <a:noFill/>
          <a:ln/>
        </p:spPr>
        <p:txBody>
          <a:bodyPr wrap="square" rtlCol="0" anchor="t"/>
          <a:lstStyle/>
          <a:p>
            <a:pPr indent="0" marL="0">
              <a:buNone/>
            </a:pPr>
            <a:r>
              <a:rPr lang="en-US" sz="2200" dirty="0">
                <a:solidFill>
                  <a:srgbClr val="B08D57"/>
                </a:solidFill>
                <a:latin typeface="Cormorant Garamond" pitchFamily="34" charset="0"/>
                <a:ea typeface="Cormorant Garamond" pitchFamily="34" charset="-122"/>
                <a:cs typeface="Cormorant Garamond" pitchFamily="34" charset="-120"/>
              </a:rPr>
              <a:t>$450</a:t>
            </a:r>
            <a:endParaRPr lang="en-US" sz="2200" dirty="0"/>
          </a:p>
        </p:txBody>
      </p:sp>
      <p:sp>
        <p:nvSpPr>
          <p:cNvPr id="21" name="Text 19"/>
          <p:cNvSpPr/>
          <p:nvPr/>
        </p:nvSpPr>
        <p:spPr>
          <a:xfrm>
            <a:off x="4773168" y="2404872"/>
            <a:ext cx="1668780" cy="164592"/>
          </a:xfrm>
          <a:prstGeom prst="rect">
            <a:avLst/>
          </a:prstGeom>
          <a:noFill/>
          <a:ln/>
        </p:spPr>
        <p:txBody>
          <a:bodyPr wrap="square" rtlCol="0" anchor="ctr"/>
          <a:lstStyle/>
          <a:p>
            <a:pPr indent="0" marL="0">
              <a:buNone/>
            </a:pPr>
            <a:r>
              <a:rPr lang="en-US" sz="700" spc="140" kern="0" dirty="0">
                <a:solidFill>
                  <a:srgbClr val="6B6965"/>
                </a:solidFill>
                <a:latin typeface="Jost" pitchFamily="34" charset="0"/>
                <a:ea typeface="Jost" pitchFamily="34" charset="-122"/>
                <a:cs typeface="Jost" pitchFamily="34" charset="-120"/>
              </a:rPr>
              <a:t>PER MONTH</a:t>
            </a:r>
            <a:endParaRPr lang="en-US" sz="700" dirty="0"/>
          </a:p>
        </p:txBody>
      </p:sp>
      <p:sp>
        <p:nvSpPr>
          <p:cNvPr id="22" name="Text 20"/>
          <p:cNvSpPr/>
          <p:nvPr/>
        </p:nvSpPr>
        <p:spPr>
          <a:xfrm>
            <a:off x="4773168" y="2606040"/>
            <a:ext cx="1668780" cy="1188720"/>
          </a:xfrm>
          <a:prstGeom prst="rect">
            <a:avLst/>
          </a:prstGeom>
          <a:noFill/>
          <a:ln/>
        </p:spPr>
        <p:txBody>
          <a:bodyPr wrap="square" rtlCol="0" anchor="t"/>
          <a:lstStyle/>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Rolling monthly credit bank</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Unlimited recovery circuit</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Member pricing on all procedures</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1 guest pass per month</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Member events</a:t>
            </a:r>
            <a:endParaRPr lang="en-US" sz="750" dirty="0"/>
          </a:p>
        </p:txBody>
      </p:sp>
      <p:sp>
        <p:nvSpPr>
          <p:cNvPr id="23" name="Text 21"/>
          <p:cNvSpPr/>
          <p:nvPr/>
        </p:nvSpPr>
        <p:spPr>
          <a:xfrm>
            <a:off x="4773168" y="3867912"/>
            <a:ext cx="1668780" cy="201168"/>
          </a:xfrm>
          <a:prstGeom prst="rect">
            <a:avLst/>
          </a:prstGeom>
          <a:noFill/>
          <a:ln/>
        </p:spPr>
        <p:txBody>
          <a:bodyPr wrap="square" rtlCol="0" anchor="ctr"/>
          <a:lstStyle/>
          <a:p>
            <a:pPr indent="0" marL="0">
              <a:buNone/>
            </a:pPr>
            <a:r>
              <a:rPr lang="en-US" sz="800" dirty="0">
                <a:solidFill>
                  <a:srgbClr val="EDE7DE"/>
                </a:solidFill>
                <a:latin typeface="Jost" pitchFamily="34" charset="0"/>
                <a:ea typeface="Jost" pitchFamily="34" charset="-122"/>
                <a:cs typeface="Jost" pitchFamily="34" charset="-120"/>
              </a:rPr>
              <a:t>350 members  ·  capped</a:t>
            </a:r>
            <a:endParaRPr lang="en-US" sz="800" dirty="0"/>
          </a:p>
        </p:txBody>
      </p:sp>
      <p:sp>
        <p:nvSpPr>
          <p:cNvPr id="24" name="Shape 22"/>
          <p:cNvSpPr/>
          <p:nvPr/>
        </p:nvSpPr>
        <p:spPr>
          <a:xfrm>
            <a:off x="6716268" y="1691640"/>
            <a:ext cx="1924812" cy="2450592"/>
          </a:xfrm>
          <a:prstGeom prst="rect">
            <a:avLst/>
          </a:prstGeom>
          <a:solidFill>
            <a:srgbClr val="1C1C1E"/>
          </a:solidFill>
          <a:ln w="9525">
            <a:solidFill>
              <a:srgbClr val="B08D57"/>
            </a:solidFill>
            <a:prstDash val="solid"/>
          </a:ln>
        </p:spPr>
      </p:sp>
      <p:sp>
        <p:nvSpPr>
          <p:cNvPr id="25" name="Text 23"/>
          <p:cNvSpPr/>
          <p:nvPr/>
        </p:nvSpPr>
        <p:spPr>
          <a:xfrm>
            <a:off x="6844284" y="1801368"/>
            <a:ext cx="1668780" cy="237744"/>
          </a:xfrm>
          <a:prstGeom prst="rect">
            <a:avLst/>
          </a:prstGeom>
          <a:noFill/>
          <a:ln/>
        </p:spPr>
        <p:txBody>
          <a:bodyPr wrap="square" rtlCol="0" anchor="ctr"/>
          <a:lstStyle/>
          <a:p>
            <a:pPr indent="0" marL="0">
              <a:buNone/>
            </a:pPr>
            <a:r>
              <a:rPr lang="en-US" sz="1100" dirty="0">
                <a:solidFill>
                  <a:srgbClr val="EDE7DE"/>
                </a:solidFill>
                <a:latin typeface="Jost" pitchFamily="34" charset="0"/>
                <a:ea typeface="Jost" pitchFamily="34" charset="-122"/>
                <a:cs typeface="Jost" pitchFamily="34" charset="-120"/>
              </a:rPr>
              <a:t>Longevity</a:t>
            </a:r>
            <a:endParaRPr lang="en-US" sz="1100" dirty="0"/>
          </a:p>
        </p:txBody>
      </p:sp>
      <p:sp>
        <p:nvSpPr>
          <p:cNvPr id="26" name="Text 24"/>
          <p:cNvSpPr/>
          <p:nvPr/>
        </p:nvSpPr>
        <p:spPr>
          <a:xfrm>
            <a:off x="6844284" y="2039112"/>
            <a:ext cx="1668780" cy="365760"/>
          </a:xfrm>
          <a:prstGeom prst="rect">
            <a:avLst/>
          </a:prstGeom>
          <a:noFill/>
          <a:ln/>
        </p:spPr>
        <p:txBody>
          <a:bodyPr wrap="square" rtlCol="0" anchor="t"/>
          <a:lstStyle/>
          <a:p>
            <a:pPr indent="0" marL="0">
              <a:buNone/>
            </a:pPr>
            <a:r>
              <a:rPr lang="en-US" sz="2200" dirty="0">
                <a:solidFill>
                  <a:srgbClr val="B08D57"/>
                </a:solidFill>
                <a:latin typeface="Cormorant Garamond" pitchFamily="34" charset="0"/>
                <a:ea typeface="Cormorant Garamond" pitchFamily="34" charset="-122"/>
                <a:cs typeface="Cormorant Garamond" pitchFamily="34" charset="-120"/>
              </a:rPr>
              <a:t>$1,250</a:t>
            </a:r>
            <a:endParaRPr lang="en-US" sz="2200" dirty="0"/>
          </a:p>
        </p:txBody>
      </p:sp>
      <p:sp>
        <p:nvSpPr>
          <p:cNvPr id="27" name="Text 25"/>
          <p:cNvSpPr/>
          <p:nvPr/>
        </p:nvSpPr>
        <p:spPr>
          <a:xfrm>
            <a:off x="6844284" y="2404872"/>
            <a:ext cx="1668780" cy="164592"/>
          </a:xfrm>
          <a:prstGeom prst="rect">
            <a:avLst/>
          </a:prstGeom>
          <a:noFill/>
          <a:ln/>
        </p:spPr>
        <p:txBody>
          <a:bodyPr wrap="square" rtlCol="0" anchor="ctr"/>
          <a:lstStyle/>
          <a:p>
            <a:pPr indent="0" marL="0">
              <a:buNone/>
            </a:pPr>
            <a:r>
              <a:rPr lang="en-US" sz="700" spc="140" kern="0" dirty="0">
                <a:solidFill>
                  <a:srgbClr val="6B6965"/>
                </a:solidFill>
                <a:latin typeface="Jost" pitchFamily="34" charset="0"/>
                <a:ea typeface="Jost" pitchFamily="34" charset="-122"/>
                <a:cs typeface="Jost" pitchFamily="34" charset="-120"/>
              </a:rPr>
              <a:t>PER MONTH</a:t>
            </a:r>
            <a:endParaRPr lang="en-US" sz="700" dirty="0"/>
          </a:p>
        </p:txBody>
      </p:sp>
      <p:sp>
        <p:nvSpPr>
          <p:cNvPr id="28" name="Text 26"/>
          <p:cNvSpPr/>
          <p:nvPr/>
        </p:nvSpPr>
        <p:spPr>
          <a:xfrm>
            <a:off x="6844284" y="2606040"/>
            <a:ext cx="1668780" cy="1188720"/>
          </a:xfrm>
          <a:prstGeom prst="rect">
            <a:avLst/>
          </a:prstGeom>
          <a:noFill/>
          <a:ln/>
        </p:spPr>
        <p:txBody>
          <a:bodyPr wrap="square" rtlCol="0" anchor="t"/>
          <a:lstStyle/>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Everything in Resident</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Quarterly physician consult</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Annual biomarker panel, DEXA and DUTCH</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Therapeutic medications included</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4 guest passes per month</a:t>
            </a:r>
            <a:endParaRPr lang="en-US" sz="750" dirty="0"/>
          </a:p>
          <a:p>
            <a:pPr marL="342900" indent="-342900">
              <a:lnSpc>
                <a:spcPct val="112000"/>
              </a:lnSpc>
              <a:buSzPct val="100000"/>
              <a:buChar char="•"/>
            </a:pPr>
            <a:r>
              <a:rPr lang="en-US" sz="750" dirty="0">
                <a:solidFill>
                  <a:srgbClr val="C9BCA9"/>
                </a:solidFill>
                <a:latin typeface="Jost" pitchFamily="34" charset="0"/>
                <a:ea typeface="Jost" pitchFamily="34" charset="-122"/>
                <a:cs typeface="Jost" pitchFamily="34" charset="-120"/>
              </a:rPr>
              <a:t>Private buyout privileges</a:t>
            </a:r>
            <a:endParaRPr lang="en-US" sz="750" dirty="0"/>
          </a:p>
        </p:txBody>
      </p:sp>
      <p:sp>
        <p:nvSpPr>
          <p:cNvPr id="29" name="Text 27"/>
          <p:cNvSpPr/>
          <p:nvPr/>
        </p:nvSpPr>
        <p:spPr>
          <a:xfrm>
            <a:off x="6844284" y="3867912"/>
            <a:ext cx="1668780" cy="201168"/>
          </a:xfrm>
          <a:prstGeom prst="rect">
            <a:avLst/>
          </a:prstGeom>
          <a:noFill/>
          <a:ln/>
        </p:spPr>
        <p:txBody>
          <a:bodyPr wrap="square" rtlCol="0" anchor="ctr"/>
          <a:lstStyle/>
          <a:p>
            <a:pPr indent="0" marL="0">
              <a:buNone/>
            </a:pPr>
            <a:r>
              <a:rPr lang="en-US" sz="800" dirty="0">
                <a:solidFill>
                  <a:srgbClr val="EDE7DE"/>
                </a:solidFill>
                <a:latin typeface="Jost" pitchFamily="34" charset="0"/>
                <a:ea typeface="Jost" pitchFamily="34" charset="-122"/>
                <a:cs typeface="Jost" pitchFamily="34" charset="-120"/>
              </a:rPr>
              <a:t>40 members  ·  capped</a:t>
            </a:r>
            <a:endParaRPr lang="en-US" sz="800" dirty="0"/>
          </a:p>
        </p:txBody>
      </p:sp>
      <p:sp>
        <p:nvSpPr>
          <p:cNvPr id="30" name="Text 28"/>
          <p:cNvSpPr/>
          <p:nvPr/>
        </p:nvSpPr>
        <p:spPr>
          <a:xfrm>
            <a:off x="502920" y="4224528"/>
            <a:ext cx="8138160" cy="384048"/>
          </a:xfrm>
          <a:prstGeom prst="rect">
            <a:avLst/>
          </a:prstGeom>
          <a:noFill/>
          <a:ln/>
        </p:spPr>
        <p:txBody>
          <a:bodyPr wrap="square" rtlCol="0" anchor="t"/>
          <a:lstStyle/>
          <a:p>
            <a:pPr indent="0" marL="0">
              <a:lnSpc>
                <a:spcPct val="112000"/>
              </a:lnSpc>
              <a:buNone/>
            </a:pPr>
            <a:r>
              <a:rPr lang="en-US" sz="750" dirty="0">
                <a:solidFill>
                  <a:srgbClr val="6B6965"/>
                </a:solidFill>
                <a:latin typeface="Jost" pitchFamily="34" charset="0"/>
                <a:ea typeface="Jost" pitchFamily="34" charset="-122"/>
                <a:cs typeface="Jost" pitchFamily="34" charset="-120"/>
              </a:rPr>
              <a:t>A three-month initial commitment followed by month-to-month billing. Credits roll over while membership remains active and expire upon cancellation. Freezes with seven days’ notice. Tier changes available after the initial commitment.</a:t>
            </a:r>
            <a:endParaRPr lang="en-US" sz="750" dirty="0"/>
          </a:p>
        </p:txBody>
      </p:sp>
      <p:sp>
        <p:nvSpPr>
          <p:cNvPr id="31" name="Text 29"/>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32" name="Text 30"/>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7</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BEFORE DOORS OPEN</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FOUNDING MEMBERS DE-RISK IT</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Our first founding members will have joined and paid before we open. That turns the opening months from a projection into real revenue, and it shows us real demand from day one.</a:t>
            </a:r>
            <a:endParaRPr lang="en-US" sz="1050" dirty="0"/>
          </a:p>
        </p:txBody>
      </p:sp>
      <p:sp>
        <p:nvSpPr>
          <p:cNvPr id="6" name="Shape 4"/>
          <p:cNvSpPr/>
          <p:nvPr/>
        </p:nvSpPr>
        <p:spPr>
          <a:xfrm>
            <a:off x="502920" y="1691640"/>
            <a:ext cx="2615184" cy="1234440"/>
          </a:xfrm>
          <a:prstGeom prst="rect">
            <a:avLst/>
          </a:prstGeom>
          <a:solidFill>
            <a:srgbClr val="1C1C1E"/>
          </a:solidFill>
          <a:ln w="9525">
            <a:solidFill>
              <a:srgbClr val="271F13"/>
            </a:solidFill>
            <a:prstDash val="solid"/>
          </a:ln>
        </p:spPr>
      </p:sp>
      <p:sp>
        <p:nvSpPr>
          <p:cNvPr id="7" name="Text 5"/>
          <p:cNvSpPr/>
          <p:nvPr/>
        </p:nvSpPr>
        <p:spPr>
          <a:xfrm>
            <a:off x="649224" y="181965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150</a:t>
            </a:r>
            <a:endParaRPr lang="en-US" sz="2000" dirty="0"/>
          </a:p>
        </p:txBody>
      </p:sp>
      <p:sp>
        <p:nvSpPr>
          <p:cNvPr id="8" name="Text 6"/>
          <p:cNvSpPr/>
          <p:nvPr/>
        </p:nvSpPr>
        <p:spPr>
          <a:xfrm>
            <a:off x="649224" y="2167128"/>
            <a:ext cx="2322576" cy="649224"/>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Founding memberships, hard capped and sold during construction.</a:t>
            </a:r>
            <a:endParaRPr lang="en-US" sz="800" dirty="0"/>
          </a:p>
        </p:txBody>
      </p:sp>
      <p:sp>
        <p:nvSpPr>
          <p:cNvPr id="9" name="Shape 7"/>
          <p:cNvSpPr/>
          <p:nvPr/>
        </p:nvSpPr>
        <p:spPr>
          <a:xfrm>
            <a:off x="3264408" y="1691640"/>
            <a:ext cx="2615184" cy="1234440"/>
          </a:xfrm>
          <a:prstGeom prst="rect">
            <a:avLst/>
          </a:prstGeom>
          <a:solidFill>
            <a:srgbClr val="1C1C1E"/>
          </a:solidFill>
          <a:ln w="9525">
            <a:solidFill>
              <a:srgbClr val="271F13"/>
            </a:solidFill>
            <a:prstDash val="solid"/>
          </a:ln>
        </p:spPr>
      </p:sp>
      <p:sp>
        <p:nvSpPr>
          <p:cNvPr id="10" name="Text 8"/>
          <p:cNvSpPr/>
          <p:nvPr/>
        </p:nvSpPr>
        <p:spPr>
          <a:xfrm>
            <a:off x="3410712" y="181965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$3,600</a:t>
            </a:r>
            <a:endParaRPr lang="en-US" sz="2000" dirty="0"/>
          </a:p>
        </p:txBody>
      </p:sp>
      <p:sp>
        <p:nvSpPr>
          <p:cNvPr id="11" name="Text 9"/>
          <p:cNvSpPr/>
          <p:nvPr/>
        </p:nvSpPr>
        <p:spPr>
          <a:xfrm>
            <a:off x="3410712" y="2167128"/>
            <a:ext cx="2322576" cy="649224"/>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Prepaid for the first year, a 33% discount against list.</a:t>
            </a:r>
            <a:endParaRPr lang="en-US" sz="800" dirty="0"/>
          </a:p>
        </p:txBody>
      </p:sp>
      <p:sp>
        <p:nvSpPr>
          <p:cNvPr id="12" name="Shape 10"/>
          <p:cNvSpPr/>
          <p:nvPr/>
        </p:nvSpPr>
        <p:spPr>
          <a:xfrm>
            <a:off x="6025896" y="1691640"/>
            <a:ext cx="2615184" cy="1234440"/>
          </a:xfrm>
          <a:prstGeom prst="rect">
            <a:avLst/>
          </a:prstGeom>
          <a:solidFill>
            <a:srgbClr val="1C1C1E"/>
          </a:solidFill>
          <a:ln w="9525">
            <a:solidFill>
              <a:srgbClr val="271F13"/>
            </a:solidFill>
            <a:prstDash val="solid"/>
          </a:ln>
        </p:spPr>
      </p:sp>
      <p:sp>
        <p:nvSpPr>
          <p:cNvPr id="13" name="Text 11"/>
          <p:cNvSpPr/>
          <p:nvPr/>
        </p:nvSpPr>
        <p:spPr>
          <a:xfrm>
            <a:off x="6172200" y="181965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$540,000</a:t>
            </a:r>
            <a:endParaRPr lang="en-US" sz="2000" dirty="0"/>
          </a:p>
        </p:txBody>
      </p:sp>
      <p:sp>
        <p:nvSpPr>
          <p:cNvPr id="14" name="Text 12"/>
          <p:cNvSpPr/>
          <p:nvPr/>
        </p:nvSpPr>
        <p:spPr>
          <a:xfrm>
            <a:off x="6172200" y="2167128"/>
            <a:ext cx="2322576" cy="649224"/>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Collected before opening, offsetting the construction-period burn.</a:t>
            </a:r>
            <a:endParaRPr lang="en-US" sz="8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8</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HOW THE LADDER FILLS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THE CLINIC IS THE FUNNEL</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Because anyone can book a procedure without joining, every non-member treatment is a paid introduction. The conversion path runs in one direction and each step is cheap to take.</a:t>
            </a:r>
            <a:endParaRPr lang="en-US" sz="1050" dirty="0"/>
          </a:p>
        </p:txBody>
      </p:sp>
      <p:sp>
        <p:nvSpPr>
          <p:cNvPr id="6" name="Shape 4"/>
          <p:cNvSpPr/>
          <p:nvPr/>
        </p:nvSpPr>
        <p:spPr>
          <a:xfrm>
            <a:off x="502920" y="1691640"/>
            <a:ext cx="1924812" cy="2011680"/>
          </a:xfrm>
          <a:prstGeom prst="rect">
            <a:avLst/>
          </a:prstGeom>
          <a:solidFill>
            <a:srgbClr val="1C1C1E"/>
          </a:solidFill>
          <a:ln w="9525">
            <a:solidFill>
              <a:srgbClr val="271F13"/>
            </a:solidFill>
            <a:prstDash val="solid"/>
          </a:ln>
        </p:spPr>
      </p:sp>
      <p:sp>
        <p:nvSpPr>
          <p:cNvPr id="7" name="Text 5"/>
          <p:cNvSpPr/>
          <p:nvPr/>
        </p:nvSpPr>
        <p:spPr>
          <a:xfrm>
            <a:off x="649224" y="1819656"/>
            <a:ext cx="163220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STEP ONE</a:t>
            </a:r>
            <a:endParaRPr lang="en-US" sz="750" dirty="0"/>
          </a:p>
        </p:txBody>
      </p:sp>
      <p:sp>
        <p:nvSpPr>
          <p:cNvPr id="8" name="Text 6"/>
          <p:cNvSpPr/>
          <p:nvPr/>
        </p:nvSpPr>
        <p:spPr>
          <a:xfrm>
            <a:off x="649224" y="2039112"/>
            <a:ext cx="1632204" cy="457200"/>
          </a:xfrm>
          <a:prstGeom prst="rect">
            <a:avLst/>
          </a:prstGeom>
          <a:noFill/>
          <a:ln/>
        </p:spPr>
        <p:txBody>
          <a:bodyPr wrap="square" rtlCol="0" anchor="t"/>
          <a:lstStyle/>
          <a:p>
            <a:pPr indent="0" marL="0">
              <a:lnSpc>
                <a:spcPct val="110000"/>
              </a:lnSpc>
              <a:buNone/>
            </a:pPr>
            <a:r>
              <a:rPr lang="en-US" sz="1200" dirty="0">
                <a:solidFill>
                  <a:srgbClr val="EDE7DE"/>
                </a:solidFill>
                <a:latin typeface="Jost" pitchFamily="34" charset="0"/>
                <a:ea typeface="Jost" pitchFamily="34" charset="-122"/>
                <a:cs typeface="Jost" pitchFamily="34" charset="-120"/>
              </a:rPr>
              <a:t>Walks in</a:t>
            </a:r>
            <a:endParaRPr lang="en-US" sz="1200" dirty="0"/>
          </a:p>
        </p:txBody>
      </p:sp>
      <p:sp>
        <p:nvSpPr>
          <p:cNvPr id="9" name="Text 7"/>
          <p:cNvSpPr/>
          <p:nvPr/>
        </p:nvSpPr>
        <p:spPr>
          <a:xfrm>
            <a:off x="649224" y="2532888"/>
            <a:ext cx="1632204" cy="1060704"/>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Books a procedure or buys a day pass. Pays list price. Owes nothing further.</a:t>
            </a:r>
            <a:endParaRPr lang="en-US" sz="850" dirty="0"/>
          </a:p>
        </p:txBody>
      </p:sp>
      <p:sp>
        <p:nvSpPr>
          <p:cNvPr id="10" name="Shape 8"/>
          <p:cNvSpPr/>
          <p:nvPr/>
        </p:nvSpPr>
        <p:spPr>
          <a:xfrm>
            <a:off x="2574036" y="1691640"/>
            <a:ext cx="1924812" cy="2011680"/>
          </a:xfrm>
          <a:prstGeom prst="rect">
            <a:avLst/>
          </a:prstGeom>
          <a:solidFill>
            <a:srgbClr val="1C1C1E"/>
          </a:solidFill>
          <a:ln w="9525">
            <a:solidFill>
              <a:srgbClr val="271F13"/>
            </a:solidFill>
            <a:prstDash val="solid"/>
          </a:ln>
        </p:spPr>
      </p:sp>
      <p:sp>
        <p:nvSpPr>
          <p:cNvPr id="11" name="Text 9"/>
          <p:cNvSpPr/>
          <p:nvPr/>
        </p:nvSpPr>
        <p:spPr>
          <a:xfrm>
            <a:off x="2720340" y="1819656"/>
            <a:ext cx="163220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STEP TWO</a:t>
            </a:r>
            <a:endParaRPr lang="en-US" sz="750" dirty="0"/>
          </a:p>
        </p:txBody>
      </p:sp>
      <p:sp>
        <p:nvSpPr>
          <p:cNvPr id="12" name="Text 10"/>
          <p:cNvSpPr/>
          <p:nvPr/>
        </p:nvSpPr>
        <p:spPr>
          <a:xfrm>
            <a:off x="2720340" y="2039112"/>
            <a:ext cx="1632204" cy="457200"/>
          </a:xfrm>
          <a:prstGeom prst="rect">
            <a:avLst/>
          </a:prstGeom>
          <a:noFill/>
          <a:ln/>
        </p:spPr>
        <p:txBody>
          <a:bodyPr wrap="square" rtlCol="0" anchor="t"/>
          <a:lstStyle/>
          <a:p>
            <a:pPr indent="0" marL="0">
              <a:lnSpc>
                <a:spcPct val="110000"/>
              </a:lnSpc>
              <a:buNone/>
            </a:pPr>
            <a:r>
              <a:rPr lang="en-US" sz="1200" dirty="0">
                <a:solidFill>
                  <a:srgbClr val="EDE7DE"/>
                </a:solidFill>
                <a:latin typeface="Jost" pitchFamily="34" charset="0"/>
                <a:ea typeface="Jost" pitchFamily="34" charset="-122"/>
                <a:cs typeface="Jost" pitchFamily="34" charset="-120"/>
              </a:rPr>
              <a:t>Becomes a Friend</a:t>
            </a:r>
            <a:endParaRPr lang="en-US" sz="1200" dirty="0"/>
          </a:p>
        </p:txBody>
      </p:sp>
      <p:sp>
        <p:nvSpPr>
          <p:cNvPr id="13" name="Text 11"/>
          <p:cNvSpPr/>
          <p:nvPr/>
        </p:nvSpPr>
        <p:spPr>
          <a:xfrm>
            <a:off x="2720340" y="2532888"/>
            <a:ext cx="1632204" cy="1060704"/>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$300 a year pays for itself on roughly two procedures. Low friction, high volume, and it captures the database.</a:t>
            </a:r>
            <a:endParaRPr lang="en-US" sz="850" dirty="0"/>
          </a:p>
        </p:txBody>
      </p:sp>
      <p:sp>
        <p:nvSpPr>
          <p:cNvPr id="14" name="Shape 12"/>
          <p:cNvSpPr/>
          <p:nvPr/>
        </p:nvSpPr>
        <p:spPr>
          <a:xfrm>
            <a:off x="4645152" y="1691640"/>
            <a:ext cx="1924812" cy="2011680"/>
          </a:xfrm>
          <a:prstGeom prst="rect">
            <a:avLst/>
          </a:prstGeom>
          <a:solidFill>
            <a:srgbClr val="1C1C1E"/>
          </a:solidFill>
          <a:ln w="9525">
            <a:solidFill>
              <a:srgbClr val="271F13"/>
            </a:solidFill>
            <a:prstDash val="solid"/>
          </a:ln>
        </p:spPr>
      </p:sp>
      <p:sp>
        <p:nvSpPr>
          <p:cNvPr id="15" name="Text 13"/>
          <p:cNvSpPr/>
          <p:nvPr/>
        </p:nvSpPr>
        <p:spPr>
          <a:xfrm>
            <a:off x="4791456" y="1819656"/>
            <a:ext cx="163220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STEP THREE</a:t>
            </a:r>
            <a:endParaRPr lang="en-US" sz="750" dirty="0"/>
          </a:p>
        </p:txBody>
      </p:sp>
      <p:sp>
        <p:nvSpPr>
          <p:cNvPr id="16" name="Text 14"/>
          <p:cNvSpPr/>
          <p:nvPr/>
        </p:nvSpPr>
        <p:spPr>
          <a:xfrm>
            <a:off x="4791456" y="2039112"/>
            <a:ext cx="1632204" cy="457200"/>
          </a:xfrm>
          <a:prstGeom prst="rect">
            <a:avLst/>
          </a:prstGeom>
          <a:noFill/>
          <a:ln/>
        </p:spPr>
        <p:txBody>
          <a:bodyPr wrap="square" rtlCol="0" anchor="t"/>
          <a:lstStyle/>
          <a:p>
            <a:pPr indent="0" marL="0">
              <a:lnSpc>
                <a:spcPct val="110000"/>
              </a:lnSpc>
              <a:buNone/>
            </a:pPr>
            <a:r>
              <a:rPr lang="en-US" sz="1200" dirty="0">
                <a:solidFill>
                  <a:srgbClr val="EDE7DE"/>
                </a:solidFill>
                <a:latin typeface="Jost" pitchFamily="34" charset="0"/>
                <a:ea typeface="Jost" pitchFamily="34" charset="-122"/>
                <a:cs typeface="Jost" pitchFamily="34" charset="-120"/>
              </a:rPr>
              <a:t>Becomes a Resident</a:t>
            </a:r>
            <a:endParaRPr lang="en-US" sz="1200" dirty="0"/>
          </a:p>
        </p:txBody>
      </p:sp>
      <p:sp>
        <p:nvSpPr>
          <p:cNvPr id="17" name="Text 15"/>
          <p:cNvSpPr/>
          <p:nvPr/>
        </p:nvSpPr>
        <p:spPr>
          <a:xfrm>
            <a:off x="4791456" y="2532888"/>
            <a:ext cx="1632204" cy="1060704"/>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Wants the circuit and the room, not just the treatment. This is where recurring revenue begins.</a:t>
            </a:r>
            <a:endParaRPr lang="en-US" sz="850" dirty="0"/>
          </a:p>
        </p:txBody>
      </p:sp>
      <p:sp>
        <p:nvSpPr>
          <p:cNvPr id="18" name="Shape 16"/>
          <p:cNvSpPr/>
          <p:nvPr/>
        </p:nvSpPr>
        <p:spPr>
          <a:xfrm>
            <a:off x="6716268" y="1691640"/>
            <a:ext cx="1924812" cy="2011680"/>
          </a:xfrm>
          <a:prstGeom prst="rect">
            <a:avLst/>
          </a:prstGeom>
          <a:solidFill>
            <a:srgbClr val="1C1C1E"/>
          </a:solidFill>
          <a:ln w="9525">
            <a:solidFill>
              <a:srgbClr val="271F13"/>
            </a:solidFill>
            <a:prstDash val="solid"/>
          </a:ln>
        </p:spPr>
      </p:sp>
      <p:sp>
        <p:nvSpPr>
          <p:cNvPr id="19" name="Text 17"/>
          <p:cNvSpPr/>
          <p:nvPr/>
        </p:nvSpPr>
        <p:spPr>
          <a:xfrm>
            <a:off x="6862572" y="1819656"/>
            <a:ext cx="163220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STEP FOUR</a:t>
            </a:r>
            <a:endParaRPr lang="en-US" sz="750" dirty="0"/>
          </a:p>
        </p:txBody>
      </p:sp>
      <p:sp>
        <p:nvSpPr>
          <p:cNvPr id="20" name="Text 18"/>
          <p:cNvSpPr/>
          <p:nvPr/>
        </p:nvSpPr>
        <p:spPr>
          <a:xfrm>
            <a:off x="6862572" y="2039112"/>
            <a:ext cx="1632204" cy="457200"/>
          </a:xfrm>
          <a:prstGeom prst="rect">
            <a:avLst/>
          </a:prstGeom>
          <a:noFill/>
          <a:ln/>
        </p:spPr>
        <p:txBody>
          <a:bodyPr wrap="square" rtlCol="0" anchor="t"/>
          <a:lstStyle/>
          <a:p>
            <a:pPr indent="0" marL="0">
              <a:lnSpc>
                <a:spcPct val="110000"/>
              </a:lnSpc>
              <a:buNone/>
            </a:pPr>
            <a:r>
              <a:rPr lang="en-US" sz="1200" dirty="0">
                <a:solidFill>
                  <a:srgbClr val="EDE7DE"/>
                </a:solidFill>
                <a:latin typeface="Jost" pitchFamily="34" charset="0"/>
                <a:ea typeface="Jost" pitchFamily="34" charset="-122"/>
                <a:cs typeface="Jost" pitchFamily="34" charset="-120"/>
              </a:rPr>
              <a:t>Becomes Longevity</a:t>
            </a:r>
            <a:endParaRPr lang="en-US" sz="1200" dirty="0"/>
          </a:p>
        </p:txBody>
      </p:sp>
      <p:sp>
        <p:nvSpPr>
          <p:cNvPr id="21" name="Text 19"/>
          <p:cNvSpPr/>
          <p:nvPr/>
        </p:nvSpPr>
        <p:spPr>
          <a:xfrm>
            <a:off x="6862572" y="2532888"/>
            <a:ext cx="1632204" cy="1060704"/>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Physician-delivered programming. Hard capped. The highest retention and the highest lifetime value in the building.</a:t>
            </a:r>
            <a:endParaRPr lang="en-US" sz="850" dirty="0"/>
          </a:p>
        </p:txBody>
      </p:sp>
      <p:sp>
        <p:nvSpPr>
          <p:cNvPr id="22" name="Text 2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23" name="Text 2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9</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THE LOCATION</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4655 ADMIRALTY WAY</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The clinic and the club take the second floor of the curved glass building at the head of the basin, with a private terrace over the water.</a:t>
            </a:r>
            <a:endParaRPr lang="en-US" sz="1050" dirty="0"/>
          </a:p>
        </p:txBody>
      </p:sp>
      <p:pic>
        <p:nvPicPr>
          <p:cNvPr id="6" name="Image 0" descr="preencoded.png">    </p:cNvPr>
          <p:cNvPicPr>
            <a:picLocks noChangeAspect="1"/>
          </p:cNvPicPr>
          <p:nvPr/>
        </p:nvPicPr>
        <p:blipFill>
          <a:blip r:embed="rId1"/>
          <a:srcRect l="0" r="0" t="0" b="0"/>
          <a:stretch/>
        </p:blipFill>
        <p:spPr>
          <a:xfrm>
            <a:off x="502920" y="1737360"/>
            <a:ext cx="4663440" cy="2623185"/>
          </a:xfrm>
          <a:prstGeom prst="rect">
            <a:avLst/>
          </a:prstGeom>
        </p:spPr>
      </p:pic>
      <p:sp>
        <p:nvSpPr>
          <p:cNvPr id="7" name="Shape 4"/>
          <p:cNvSpPr/>
          <p:nvPr/>
        </p:nvSpPr>
        <p:spPr>
          <a:xfrm>
            <a:off x="502920" y="1737360"/>
            <a:ext cx="4663440" cy="2623185"/>
          </a:xfrm>
          <a:prstGeom prst="rect">
            <a:avLst/>
          </a:prstGeom>
          <a:solidFill>
            <a:srgbClr val="0D0D0D">
              <a:alpha val="0"/>
            </a:srgbClr>
          </a:solidFill>
          <a:ln w="9525">
            <a:solidFill>
              <a:srgbClr val="271F13"/>
            </a:solidFill>
            <a:prstDash val="solid"/>
          </a:ln>
        </p:spPr>
      </p:sp>
      <p:sp>
        <p:nvSpPr>
          <p:cNvPr id="8" name="Text 5"/>
          <p:cNvSpPr/>
          <p:nvPr/>
        </p:nvSpPr>
        <p:spPr>
          <a:xfrm>
            <a:off x="502920" y="4378833"/>
            <a:ext cx="4663440" cy="182880"/>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4655 Admiralty Way, on the main channel</a:t>
            </a:r>
            <a:endParaRPr lang="en-US" sz="750" dirty="0"/>
          </a:p>
        </p:txBody>
      </p:sp>
      <p:sp>
        <p:nvSpPr>
          <p:cNvPr id="9" name="Shape 6"/>
          <p:cNvSpPr/>
          <p:nvPr/>
        </p:nvSpPr>
        <p:spPr>
          <a:xfrm>
            <a:off x="5367528" y="1737360"/>
            <a:ext cx="3273552" cy="822960"/>
          </a:xfrm>
          <a:prstGeom prst="rect">
            <a:avLst/>
          </a:prstGeom>
          <a:solidFill>
            <a:srgbClr val="1C1C1E"/>
          </a:solidFill>
          <a:ln w="9525">
            <a:solidFill>
              <a:srgbClr val="271F13"/>
            </a:solidFill>
            <a:prstDash val="solid"/>
          </a:ln>
        </p:spPr>
      </p:sp>
      <p:sp>
        <p:nvSpPr>
          <p:cNvPr id="10" name="Text 7"/>
          <p:cNvSpPr/>
          <p:nvPr/>
        </p:nvSpPr>
        <p:spPr>
          <a:xfrm>
            <a:off x="5513832" y="1865376"/>
            <a:ext cx="2980944" cy="292608"/>
          </a:xfrm>
          <a:prstGeom prst="rect">
            <a:avLst/>
          </a:prstGeom>
          <a:noFill/>
          <a:ln/>
        </p:spPr>
        <p:txBody>
          <a:bodyPr wrap="square" rtlCol="0" anchor="t"/>
          <a:lstStyle/>
          <a:p>
            <a:pPr indent="0" marL="0">
              <a:buNone/>
            </a:pPr>
            <a:r>
              <a:rPr lang="en-US" sz="1700" dirty="0">
                <a:solidFill>
                  <a:srgbClr val="B08D57"/>
                </a:solidFill>
                <a:latin typeface="Cormorant Garamond" pitchFamily="34" charset="0"/>
                <a:ea typeface="Cormorant Garamond" pitchFamily="34" charset="-122"/>
                <a:cs typeface="Cormorant Garamond" pitchFamily="34" charset="-120"/>
              </a:rPr>
              <a:t>Suite 210</a:t>
            </a:r>
            <a:endParaRPr lang="en-US" sz="1700" dirty="0"/>
          </a:p>
        </p:txBody>
      </p:sp>
      <p:sp>
        <p:nvSpPr>
          <p:cNvPr id="11" name="Text 8"/>
          <p:cNvSpPr/>
          <p:nvPr/>
        </p:nvSpPr>
        <p:spPr>
          <a:xfrm>
            <a:off x="5513832" y="2176272"/>
            <a:ext cx="2980944" cy="274320"/>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4655 Admiralty Way, Marina del Rey, California</a:t>
            </a:r>
            <a:endParaRPr lang="en-US" sz="800" dirty="0"/>
          </a:p>
        </p:txBody>
      </p:sp>
      <p:sp>
        <p:nvSpPr>
          <p:cNvPr id="12" name="Shape 9"/>
          <p:cNvSpPr/>
          <p:nvPr/>
        </p:nvSpPr>
        <p:spPr>
          <a:xfrm>
            <a:off x="5367528" y="2688336"/>
            <a:ext cx="3273552" cy="822960"/>
          </a:xfrm>
          <a:prstGeom prst="rect">
            <a:avLst/>
          </a:prstGeom>
          <a:solidFill>
            <a:srgbClr val="1C1C1E"/>
          </a:solidFill>
          <a:ln w="9525">
            <a:solidFill>
              <a:srgbClr val="271F13"/>
            </a:solidFill>
            <a:prstDash val="solid"/>
          </a:ln>
        </p:spPr>
      </p:sp>
      <p:sp>
        <p:nvSpPr>
          <p:cNvPr id="13" name="Text 10"/>
          <p:cNvSpPr/>
          <p:nvPr/>
        </p:nvSpPr>
        <p:spPr>
          <a:xfrm>
            <a:off x="5513832" y="2816352"/>
            <a:ext cx="2980944" cy="292608"/>
          </a:xfrm>
          <a:prstGeom prst="rect">
            <a:avLst/>
          </a:prstGeom>
          <a:noFill/>
          <a:ln/>
        </p:spPr>
        <p:txBody>
          <a:bodyPr wrap="square" rtlCol="0" anchor="t"/>
          <a:lstStyle/>
          <a:p>
            <a:pPr indent="0" marL="0">
              <a:buNone/>
            </a:pPr>
            <a:r>
              <a:rPr lang="en-US" sz="1700" dirty="0">
                <a:solidFill>
                  <a:srgbClr val="B08D57"/>
                </a:solidFill>
                <a:latin typeface="Cormorant Garamond" pitchFamily="34" charset="0"/>
                <a:ea typeface="Cormorant Garamond" pitchFamily="34" charset="-122"/>
                <a:cs typeface="Cormorant Garamond" pitchFamily="34" charset="-120"/>
              </a:rPr>
              <a:t>4,925 SF</a:t>
            </a:r>
            <a:endParaRPr lang="en-US" sz="1700" dirty="0"/>
          </a:p>
        </p:txBody>
      </p:sp>
      <p:sp>
        <p:nvSpPr>
          <p:cNvPr id="14" name="Text 11"/>
          <p:cNvSpPr/>
          <p:nvPr/>
        </p:nvSpPr>
        <p:spPr>
          <a:xfrm>
            <a:off x="5513832" y="3127248"/>
            <a:ext cx="2980944" cy="274320"/>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Programmed, measured to wall centerline</a:t>
            </a:r>
            <a:endParaRPr lang="en-US" sz="800" dirty="0"/>
          </a:p>
        </p:txBody>
      </p:sp>
      <p:sp>
        <p:nvSpPr>
          <p:cNvPr id="15" name="Shape 12"/>
          <p:cNvSpPr/>
          <p:nvPr/>
        </p:nvSpPr>
        <p:spPr>
          <a:xfrm>
            <a:off x="5367528" y="3639312"/>
            <a:ext cx="3273552" cy="822960"/>
          </a:xfrm>
          <a:prstGeom prst="rect">
            <a:avLst/>
          </a:prstGeom>
          <a:solidFill>
            <a:srgbClr val="1C1C1E"/>
          </a:solidFill>
          <a:ln w="9525">
            <a:solidFill>
              <a:srgbClr val="271F13"/>
            </a:solidFill>
            <a:prstDash val="solid"/>
          </a:ln>
        </p:spPr>
      </p:sp>
      <p:sp>
        <p:nvSpPr>
          <p:cNvPr id="16" name="Text 13"/>
          <p:cNvSpPr/>
          <p:nvPr/>
        </p:nvSpPr>
        <p:spPr>
          <a:xfrm>
            <a:off x="5513832" y="3767328"/>
            <a:ext cx="2980944" cy="292608"/>
          </a:xfrm>
          <a:prstGeom prst="rect">
            <a:avLst/>
          </a:prstGeom>
          <a:noFill/>
          <a:ln/>
        </p:spPr>
        <p:txBody>
          <a:bodyPr wrap="square" rtlCol="0" anchor="t"/>
          <a:lstStyle/>
          <a:p>
            <a:pPr indent="0" marL="0">
              <a:buNone/>
            </a:pPr>
            <a:r>
              <a:rPr lang="en-US" sz="1700" dirty="0">
                <a:solidFill>
                  <a:srgbClr val="B08D57"/>
                </a:solidFill>
                <a:latin typeface="Cormorant Garamond" pitchFamily="34" charset="0"/>
                <a:ea typeface="Cormorant Garamond" pitchFamily="34" charset="-122"/>
                <a:cs typeface="Cormorant Garamond" pitchFamily="34" charset="-120"/>
              </a:rPr>
              <a:t>Private terrace</a:t>
            </a:r>
            <a:endParaRPr lang="en-US" sz="1700" dirty="0"/>
          </a:p>
        </p:txBody>
      </p:sp>
      <p:sp>
        <p:nvSpPr>
          <p:cNvPr id="17" name="Text 14"/>
          <p:cNvSpPr/>
          <p:nvPr/>
        </p:nvSpPr>
        <p:spPr>
          <a:xfrm>
            <a:off x="5513832" y="4078224"/>
            <a:ext cx="2980944" cy="274320"/>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Wraparound over the main channel, demised to the suite</a:t>
            </a:r>
            <a:endParaRPr lang="en-US" sz="800" dirty="0"/>
          </a:p>
        </p:txBody>
      </p:sp>
      <p:sp>
        <p:nvSpPr>
          <p:cNvPr id="18" name="Text 15"/>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9" name="Text 16"/>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10</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THE LOCATION</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THE SPACE TODAY</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The suite as it stands today is a raw shell behind floor-to-ceiling waterfront glass. Everything in the buildout line of the use of funds is what turns this into the facility.</a:t>
            </a:r>
            <a:endParaRPr lang="en-US" sz="1050" dirty="0"/>
          </a:p>
        </p:txBody>
      </p:sp>
      <p:pic>
        <p:nvPicPr>
          <p:cNvPr id="6" name="Image 0" descr="preencoded.png">    </p:cNvPr>
          <p:cNvPicPr>
            <a:picLocks noChangeAspect="1"/>
          </p:cNvPicPr>
          <p:nvPr/>
        </p:nvPicPr>
        <p:blipFill>
          <a:blip r:embed="rId1"/>
          <a:srcRect l="0" r="0" t="0" b="0"/>
          <a:stretch/>
        </p:blipFill>
        <p:spPr>
          <a:xfrm>
            <a:off x="502920" y="1783080"/>
            <a:ext cx="4846320" cy="2606040"/>
          </a:xfrm>
          <a:prstGeom prst="rect">
            <a:avLst/>
          </a:prstGeom>
        </p:spPr>
      </p:pic>
      <p:sp>
        <p:nvSpPr>
          <p:cNvPr id="7" name="Shape 4"/>
          <p:cNvSpPr/>
          <p:nvPr/>
        </p:nvSpPr>
        <p:spPr>
          <a:xfrm>
            <a:off x="502920" y="1783080"/>
            <a:ext cx="4846320" cy="2606040"/>
          </a:xfrm>
          <a:prstGeom prst="rect">
            <a:avLst/>
          </a:prstGeom>
          <a:solidFill>
            <a:srgbClr val="0D0D0D">
              <a:alpha val="0"/>
            </a:srgbClr>
          </a:solidFill>
          <a:ln w="9525">
            <a:solidFill>
              <a:srgbClr val="271F13"/>
            </a:solidFill>
            <a:prstDash val="solid"/>
          </a:ln>
        </p:spPr>
      </p:sp>
      <p:sp>
        <p:nvSpPr>
          <p:cNvPr id="8" name="Text 5"/>
          <p:cNvSpPr/>
          <p:nvPr/>
        </p:nvSpPr>
        <p:spPr>
          <a:xfrm>
            <a:off x="502920" y="4407408"/>
            <a:ext cx="4846320" cy="182880"/>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Suite 210 today, before buildout</a:t>
            </a:r>
            <a:endParaRPr lang="en-US" sz="750" dirty="0"/>
          </a:p>
        </p:txBody>
      </p:sp>
      <p:pic>
        <p:nvPicPr>
          <p:cNvPr id="9" name="Image 1" descr="preencoded.png">    </p:cNvPr>
          <p:cNvPicPr>
            <a:picLocks noChangeAspect="1"/>
          </p:cNvPicPr>
          <p:nvPr/>
        </p:nvPicPr>
        <p:blipFill>
          <a:blip r:embed="rId2"/>
          <a:srcRect l="0" r="0" t="0" b="0"/>
          <a:stretch/>
        </p:blipFill>
        <p:spPr>
          <a:xfrm>
            <a:off x="5550408" y="1783080"/>
            <a:ext cx="3090672" cy="1143000"/>
          </a:xfrm>
          <a:prstGeom prst="rect">
            <a:avLst/>
          </a:prstGeom>
        </p:spPr>
      </p:pic>
      <p:sp>
        <p:nvSpPr>
          <p:cNvPr id="10" name="Shape 6"/>
          <p:cNvSpPr/>
          <p:nvPr/>
        </p:nvSpPr>
        <p:spPr>
          <a:xfrm>
            <a:off x="5550408" y="1783080"/>
            <a:ext cx="3090672" cy="1143000"/>
          </a:xfrm>
          <a:prstGeom prst="rect">
            <a:avLst/>
          </a:prstGeom>
          <a:solidFill>
            <a:srgbClr val="0D0D0D">
              <a:alpha val="0"/>
            </a:srgbClr>
          </a:solidFill>
          <a:ln w="9525">
            <a:solidFill>
              <a:srgbClr val="271F13"/>
            </a:solidFill>
            <a:prstDash val="solid"/>
          </a:ln>
        </p:spPr>
      </p:sp>
      <p:sp>
        <p:nvSpPr>
          <p:cNvPr id="11" name="Text 7"/>
          <p:cNvSpPr/>
          <p:nvPr/>
        </p:nvSpPr>
        <p:spPr>
          <a:xfrm>
            <a:off x="5550408" y="2944368"/>
            <a:ext cx="3090672" cy="182880"/>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The suite’s terrace, over the marina</a:t>
            </a:r>
            <a:endParaRPr lang="en-US" sz="750" dirty="0"/>
          </a:p>
        </p:txBody>
      </p:sp>
      <p:pic>
        <p:nvPicPr>
          <p:cNvPr id="12" name="Image 2" descr="preencoded.png">    </p:cNvPr>
          <p:cNvPicPr>
            <a:picLocks noChangeAspect="1"/>
          </p:cNvPicPr>
          <p:nvPr/>
        </p:nvPicPr>
        <p:blipFill>
          <a:blip r:embed="rId3"/>
          <a:srcRect l="0" r="0" t="0" b="0"/>
          <a:stretch/>
        </p:blipFill>
        <p:spPr>
          <a:xfrm>
            <a:off x="5550408" y="3246120"/>
            <a:ext cx="3090672" cy="1143000"/>
          </a:xfrm>
          <a:prstGeom prst="rect">
            <a:avLst/>
          </a:prstGeom>
        </p:spPr>
      </p:pic>
      <p:sp>
        <p:nvSpPr>
          <p:cNvPr id="13" name="Shape 8"/>
          <p:cNvSpPr/>
          <p:nvPr/>
        </p:nvSpPr>
        <p:spPr>
          <a:xfrm>
            <a:off x="5550408" y="3246120"/>
            <a:ext cx="3090672" cy="1143000"/>
          </a:xfrm>
          <a:prstGeom prst="rect">
            <a:avLst/>
          </a:prstGeom>
          <a:solidFill>
            <a:srgbClr val="0D0D0D">
              <a:alpha val="0"/>
            </a:srgbClr>
          </a:solidFill>
          <a:ln w="9525">
            <a:solidFill>
              <a:srgbClr val="271F13"/>
            </a:solidFill>
            <a:prstDash val="solid"/>
          </a:ln>
        </p:spPr>
      </p:sp>
      <p:sp>
        <p:nvSpPr>
          <p:cNvPr id="14" name="Text 9"/>
          <p:cNvSpPr/>
          <p:nvPr/>
        </p:nvSpPr>
        <p:spPr>
          <a:xfrm>
            <a:off x="5550408" y="4407408"/>
            <a:ext cx="3090672" cy="182880"/>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Marina del Rey</a:t>
            </a:r>
            <a:endParaRPr lang="en-US" sz="750" dirty="0"/>
          </a:p>
        </p:txBody>
      </p:sp>
      <p:sp>
        <p:nvSpPr>
          <p:cNvPr id="15" name="Text 10"/>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6" name="Text 11"/>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11</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THE FACILITY</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4,925 SF IN MARINA DEL REY</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Full contrast suite, owned equipment, the facility the brand deserves.</a:t>
            </a:r>
            <a:endParaRPr lang="en-US" sz="1050" dirty="0"/>
          </a:p>
        </p:txBody>
      </p:sp>
      <p:sp>
        <p:nvSpPr>
          <p:cNvPr id="6" name="Shape 4"/>
          <p:cNvSpPr/>
          <p:nvPr/>
        </p:nvSpPr>
        <p:spPr>
          <a:xfrm>
            <a:off x="502920" y="1572768"/>
            <a:ext cx="2615184" cy="841248"/>
          </a:xfrm>
          <a:prstGeom prst="rect">
            <a:avLst/>
          </a:prstGeom>
          <a:solidFill>
            <a:srgbClr val="1C1C1E"/>
          </a:solidFill>
          <a:ln w="9525">
            <a:solidFill>
              <a:srgbClr val="271F13"/>
            </a:solidFill>
            <a:prstDash val="solid"/>
          </a:ln>
        </p:spPr>
      </p:sp>
      <p:sp>
        <p:nvSpPr>
          <p:cNvPr id="7" name="Text 5"/>
          <p:cNvSpPr/>
          <p:nvPr/>
        </p:nvSpPr>
        <p:spPr>
          <a:xfrm>
            <a:off x="649224" y="1700784"/>
            <a:ext cx="2322576" cy="310896"/>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4,925 SF</a:t>
            </a:r>
            <a:endParaRPr lang="en-US" sz="2000" dirty="0"/>
          </a:p>
        </p:txBody>
      </p:sp>
      <p:sp>
        <p:nvSpPr>
          <p:cNvPr id="8" name="Text 6"/>
          <p:cNvSpPr/>
          <p:nvPr/>
        </p:nvSpPr>
        <p:spPr>
          <a:xfrm>
            <a:off x="649224" y="2029968"/>
            <a:ext cx="2322576" cy="274320"/>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Programmed, measured to wall centerline</a:t>
            </a:r>
            <a:endParaRPr lang="en-US" sz="800" dirty="0"/>
          </a:p>
        </p:txBody>
      </p:sp>
      <p:sp>
        <p:nvSpPr>
          <p:cNvPr id="9" name="Shape 7"/>
          <p:cNvSpPr/>
          <p:nvPr/>
        </p:nvSpPr>
        <p:spPr>
          <a:xfrm>
            <a:off x="3264408" y="1572768"/>
            <a:ext cx="2615184" cy="841248"/>
          </a:xfrm>
          <a:prstGeom prst="rect">
            <a:avLst/>
          </a:prstGeom>
          <a:solidFill>
            <a:srgbClr val="1C1C1E"/>
          </a:solidFill>
          <a:ln w="9525">
            <a:solidFill>
              <a:srgbClr val="271F13"/>
            </a:solidFill>
            <a:prstDash val="solid"/>
          </a:ln>
        </p:spPr>
      </p:sp>
      <p:sp>
        <p:nvSpPr>
          <p:cNvPr id="10" name="Text 8"/>
          <p:cNvSpPr/>
          <p:nvPr/>
        </p:nvSpPr>
        <p:spPr>
          <a:xfrm>
            <a:off x="3410712" y="1700784"/>
            <a:ext cx="2322576" cy="310896"/>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Suite 210</a:t>
            </a:r>
            <a:endParaRPr lang="en-US" sz="2000" dirty="0"/>
          </a:p>
        </p:txBody>
      </p:sp>
      <p:sp>
        <p:nvSpPr>
          <p:cNvPr id="11" name="Text 9"/>
          <p:cNvSpPr/>
          <p:nvPr/>
        </p:nvSpPr>
        <p:spPr>
          <a:xfrm>
            <a:off x="3410712" y="2029968"/>
            <a:ext cx="2322576" cy="274320"/>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4655 Admiralty Way, Marina del Rey, California</a:t>
            </a:r>
            <a:endParaRPr lang="en-US" sz="800" dirty="0"/>
          </a:p>
        </p:txBody>
      </p:sp>
      <p:sp>
        <p:nvSpPr>
          <p:cNvPr id="12" name="Shape 10"/>
          <p:cNvSpPr/>
          <p:nvPr/>
        </p:nvSpPr>
        <p:spPr>
          <a:xfrm>
            <a:off x="6025896" y="1572768"/>
            <a:ext cx="2615184" cy="841248"/>
          </a:xfrm>
          <a:prstGeom prst="rect">
            <a:avLst/>
          </a:prstGeom>
          <a:solidFill>
            <a:srgbClr val="1C1C1E"/>
          </a:solidFill>
          <a:ln w="9525">
            <a:solidFill>
              <a:srgbClr val="271F13"/>
            </a:solidFill>
            <a:prstDash val="solid"/>
          </a:ln>
        </p:spPr>
      </p:sp>
      <p:sp>
        <p:nvSpPr>
          <p:cNvPr id="13" name="Text 11"/>
          <p:cNvSpPr/>
          <p:nvPr/>
        </p:nvSpPr>
        <p:spPr>
          <a:xfrm>
            <a:off x="6172200" y="1700784"/>
            <a:ext cx="2322576" cy="310896"/>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Private terrace</a:t>
            </a:r>
            <a:endParaRPr lang="en-US" sz="2000" dirty="0"/>
          </a:p>
        </p:txBody>
      </p:sp>
      <p:sp>
        <p:nvSpPr>
          <p:cNvPr id="14" name="Text 12"/>
          <p:cNvSpPr/>
          <p:nvPr/>
        </p:nvSpPr>
        <p:spPr>
          <a:xfrm>
            <a:off x="6172200" y="2029968"/>
            <a:ext cx="2322576" cy="274320"/>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Wraparound, over the main channel</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560320"/>
          <a:ext cx="3968496" cy="914400"/>
        </p:xfrm>
        <a:graphic>
          <a:graphicData uri="http://schemas.openxmlformats.org/drawingml/2006/table">
            <a:tbl>
              <a:tblPr/>
              <a:tblGrid>
                <a:gridCol w="3200400"/>
                <a:gridCol w="768096"/>
              </a:tblGrid>
              <a:tr h="187452">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SPACE</a:t>
                      </a:r>
                      <a:endParaRPr lang="en-US" sz="750" dirty="0">
                        <a:latin typeface="Jost" charset="0"/>
                        <a:ea typeface="Jost" charset="0"/>
                        <a:cs typeface="Jost" charset="0"/>
                      </a:endParaRPr>
                    </a:p>
                  </a:txBody>
                  <a:tcPr marL="18288" marR="18288" marT="18288" marB="18288"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SF</a:t>
                      </a:r>
                      <a:endParaRPr lang="en-US" sz="750" dirty="0">
                        <a:latin typeface="Jost" charset="0"/>
                        <a:ea typeface="Jost" charset="0"/>
                        <a:cs typeface="Jost" charset="0"/>
                      </a:endParaRPr>
                    </a:p>
                  </a:txBody>
                  <a:tcPr marL="18288" marR="18288" marT="18288" marB="18288"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Arrival, concierge and retail</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350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The Lounge</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Contrast suite (2 saunas, 2 plunges)</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Aescape</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120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Ammortal chamber</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Hyperbaric room (seated)</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120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Red light beds (2)</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150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IV and regenerative lounge (8 chairs)</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375</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Treatment rooms (3)</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4672584" y="2560320"/>
          <a:ext cx="3968496" cy="914400"/>
        </p:xfrm>
        <a:graphic>
          <a:graphicData uri="http://schemas.openxmlformats.org/drawingml/2006/table">
            <a:tbl>
              <a:tblPr/>
              <a:tblGrid>
                <a:gridCol w="3200400"/>
                <a:gridCol w="768096"/>
              </a:tblGrid>
              <a:tr h="187452">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SPACE</a:t>
                      </a:r>
                      <a:endParaRPr lang="en-US" sz="750" dirty="0">
                        <a:latin typeface="Jost" charset="0"/>
                        <a:ea typeface="Jost" charset="0"/>
                        <a:cs typeface="Jost" charset="0"/>
                      </a:endParaRPr>
                    </a:p>
                  </a:txBody>
                  <a:tcPr marL="18288" marR="18288" marT="18288" marB="18288"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SF</a:t>
                      </a:r>
                      <a:endParaRPr lang="en-US" sz="750" dirty="0">
                        <a:latin typeface="Jost" charset="0"/>
                        <a:ea typeface="Jost" charset="0"/>
                        <a:cs typeface="Jost" charset="0"/>
                      </a:endParaRPr>
                    </a:p>
                  </a:txBody>
                  <a:tcPr marL="18288" marR="18288" marT="18288" marB="18288"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Diagnostics and consult (2)</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Diagnostic imaging (GE iDXA densitometer)</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125</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Locker, shower, changing, bathrooms</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550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Admin offices (2)</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Kitchen and breakroom</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Storage</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150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MEP</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75</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Biohazard and linen closets</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7452">
                <a:tc>
                  <a:txBody>
                    <a:bodyPr/>
                    <a:lstStyle/>
                    <a:p>
                      <a:pPr algn="l" indent="0" marL="0">
                        <a:buNone/>
                      </a:pPr>
                      <a:r>
                        <a:rPr lang="en-US" sz="750" dirty="0">
                          <a:solidFill>
                            <a:srgbClr val="EDE7DE"/>
                          </a:solidFill>
                          <a:latin typeface="Jost" pitchFamily="34" charset="0"/>
                          <a:ea typeface="Jost" pitchFamily="34" charset="-122"/>
                          <a:cs typeface="Jost" pitchFamily="34" charset="-120"/>
                        </a:rPr>
                        <a:t>Circulation and grossing factor</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890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17"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8"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12</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THE FACILITY</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STATIONS AND EQUIPMENT</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What sits in the 4,925 square feet, and how it is paid for.</a:t>
            </a:r>
            <a:endParaRPr lang="en-US" sz="10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3968496" cy="914400"/>
        </p:xfrm>
        <a:graphic>
          <a:graphicData uri="http://schemas.openxmlformats.org/drawingml/2006/table">
            <a:tbl>
              <a:tblPr/>
              <a:tblGrid>
                <a:gridCol w="3200400"/>
                <a:gridCol w="768096"/>
              </a:tblGrid>
              <a:tr h="219456">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STATION</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COUNT</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7DE"/>
                          </a:solidFill>
                          <a:latin typeface="Jost" pitchFamily="34" charset="0"/>
                          <a:ea typeface="Jost" pitchFamily="34" charset="-122"/>
                          <a:cs typeface="Jost" pitchFamily="34" charset="-120"/>
                        </a:rPr>
                        <a:t>Treatment rooms</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3</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9456">
                <a:tc>
                  <a:txBody>
                    <a:bodyPr/>
                    <a:lstStyle/>
                    <a:p>
                      <a:pPr algn="l" indent="0" marL="0">
                        <a:buNone/>
                      </a:pPr>
                      <a:r>
                        <a:rPr lang="en-US" sz="850" dirty="0">
                          <a:solidFill>
                            <a:srgbClr val="EDE7DE"/>
                          </a:solidFill>
                          <a:latin typeface="Jost" pitchFamily="34" charset="0"/>
                          <a:ea typeface="Jost" pitchFamily="34" charset="-122"/>
                          <a:cs typeface="Jost" pitchFamily="34" charset="-120"/>
                        </a:rPr>
                        <a:t>IV / regenerative chairs</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8</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9456">
                <a:tc>
                  <a:txBody>
                    <a:bodyPr/>
                    <a:lstStyle/>
                    <a:p>
                      <a:pPr algn="l" indent="0" marL="0">
                        <a:buNone/>
                      </a:pPr>
                      <a:r>
                        <a:rPr lang="en-US" sz="850" dirty="0">
                          <a:solidFill>
                            <a:srgbClr val="EDE7DE"/>
                          </a:solidFill>
                          <a:latin typeface="Jost" pitchFamily="34" charset="0"/>
                          <a:ea typeface="Jost" pitchFamily="34" charset="-122"/>
                          <a:cs typeface="Jost" pitchFamily="34" charset="-120"/>
                        </a:rPr>
                        <a:t>Saunas</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2</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9456">
                <a:tc>
                  <a:txBody>
                    <a:bodyPr/>
                    <a:lstStyle/>
                    <a:p>
                      <a:pPr algn="l" indent="0" marL="0">
                        <a:buNone/>
                      </a:pPr>
                      <a:r>
                        <a:rPr lang="en-US" sz="850" dirty="0">
                          <a:solidFill>
                            <a:srgbClr val="EDE7DE"/>
                          </a:solidFill>
                          <a:latin typeface="Jost" pitchFamily="34" charset="0"/>
                          <a:ea typeface="Jost" pitchFamily="34" charset="-122"/>
                          <a:cs typeface="Jost" pitchFamily="34" charset="-120"/>
                        </a:rPr>
                        <a:t>Cold plunges</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2</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9456">
                <a:tc>
                  <a:txBody>
                    <a:bodyPr/>
                    <a:lstStyle/>
                    <a:p>
                      <a:pPr algn="l" indent="0" marL="0">
                        <a:buNone/>
                      </a:pPr>
                      <a:r>
                        <a:rPr lang="en-US" sz="850" dirty="0">
                          <a:solidFill>
                            <a:srgbClr val="EDE7DE"/>
                          </a:solidFill>
                          <a:latin typeface="Jost" pitchFamily="34" charset="0"/>
                          <a:ea typeface="Jost" pitchFamily="34" charset="-122"/>
                          <a:cs typeface="Jost" pitchFamily="34" charset="-120"/>
                        </a:rPr>
                        <a:t>Aescape robotic massage</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1</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9456">
                <a:tc>
                  <a:txBody>
                    <a:bodyPr/>
                    <a:lstStyle/>
                    <a:p>
                      <a:pPr algn="l" indent="0" marL="0">
                        <a:buNone/>
                      </a:pPr>
                      <a:r>
                        <a:rPr lang="en-US" sz="850" dirty="0">
                          <a:solidFill>
                            <a:srgbClr val="EDE7DE"/>
                          </a:solidFill>
                          <a:latin typeface="Jost" pitchFamily="34" charset="0"/>
                          <a:ea typeface="Jost" pitchFamily="34" charset="-122"/>
                          <a:cs typeface="Jost" pitchFamily="34" charset="-120"/>
                        </a:rPr>
                        <a:t>Ammortal chambers</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1</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4672584" y="1691640"/>
          <a:ext cx="3968496" cy="914400"/>
        </p:xfrm>
        <a:graphic>
          <a:graphicData uri="http://schemas.openxmlformats.org/drawingml/2006/table">
            <a:tbl>
              <a:tblPr/>
              <a:tblGrid>
                <a:gridCol w="3200400"/>
                <a:gridCol w="768096"/>
              </a:tblGrid>
              <a:tr h="219456">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STATION</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COUNT</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219456">
                <a:tc>
                  <a:txBody>
                    <a:bodyPr/>
                    <a:lstStyle/>
                    <a:p>
                      <a:pPr algn="l" indent="0" marL="0">
                        <a:buNone/>
                      </a:pPr>
                      <a:r>
                        <a:rPr lang="en-US" sz="850" dirty="0">
                          <a:solidFill>
                            <a:srgbClr val="EDE7DE"/>
                          </a:solidFill>
                          <a:latin typeface="Jost" pitchFamily="34" charset="0"/>
                          <a:ea typeface="Jost" pitchFamily="34" charset="-122"/>
                          <a:cs typeface="Jost" pitchFamily="34" charset="-120"/>
                        </a:rPr>
                        <a:t>Hyperbaric chambers</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1</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9456">
                <a:tc>
                  <a:txBody>
                    <a:bodyPr/>
                    <a:lstStyle/>
                    <a:p>
                      <a:pPr algn="l" indent="0" marL="0">
                        <a:buNone/>
                      </a:pPr>
                      <a:r>
                        <a:rPr lang="en-US" sz="850" dirty="0">
                          <a:solidFill>
                            <a:srgbClr val="EDE7DE"/>
                          </a:solidFill>
                          <a:latin typeface="Jost" pitchFamily="34" charset="0"/>
                          <a:ea typeface="Jost" pitchFamily="34" charset="-122"/>
                          <a:cs typeface="Jost" pitchFamily="34" charset="-120"/>
                        </a:rPr>
                        <a:t>Red light rooms</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2</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9456">
                <a:tc>
                  <a:txBody>
                    <a:bodyPr/>
                    <a:lstStyle/>
                    <a:p>
                      <a:pPr algn="l" indent="0" marL="0">
                        <a:buNone/>
                      </a:pPr>
                      <a:r>
                        <a:rPr lang="en-US" sz="850" dirty="0">
                          <a:solidFill>
                            <a:srgbClr val="EDE7DE"/>
                          </a:solidFill>
                          <a:latin typeface="Jost" pitchFamily="34" charset="0"/>
                          <a:ea typeface="Jost" pitchFamily="34" charset="-122"/>
                          <a:cs typeface="Jost" pitchFamily="34" charset="-120"/>
                        </a:rPr>
                        <a:t>Diagnostic / consult rooms</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2</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9456">
                <a:tc>
                  <a:txBody>
                    <a:bodyPr/>
                    <a:lstStyle/>
                    <a:p>
                      <a:pPr algn="l" indent="0" marL="0">
                        <a:buNone/>
                      </a:pPr>
                      <a:r>
                        <a:rPr lang="en-US" sz="850" dirty="0">
                          <a:solidFill>
                            <a:srgbClr val="EDE7DE"/>
                          </a:solidFill>
                          <a:latin typeface="Jost" pitchFamily="34" charset="0"/>
                          <a:ea typeface="Jost" pitchFamily="34" charset="-122"/>
                          <a:cs typeface="Jost" pitchFamily="34" charset="-120"/>
                        </a:rPr>
                        <a:t>DEXA scan room</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1</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9456">
                <a:tc>
                  <a:txBody>
                    <a:bodyPr/>
                    <a:lstStyle/>
                    <a:p>
                      <a:pPr algn="l" indent="0" marL="0">
                        <a:buNone/>
                      </a:pPr>
                      <a:r>
                        <a:rPr lang="en-US" sz="850" dirty="0">
                          <a:solidFill>
                            <a:srgbClr val="EDE7DE"/>
                          </a:solidFill>
                          <a:latin typeface="Jost" pitchFamily="34" charset="0"/>
                          <a:ea typeface="Jost" pitchFamily="34" charset="-122"/>
                          <a:cs typeface="Jost" pitchFamily="34" charset="-120"/>
                        </a:rPr>
                        <a:t>Recovery stations</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4</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8" name="Shape 4"/>
          <p:cNvSpPr/>
          <p:nvPr/>
        </p:nvSpPr>
        <p:spPr>
          <a:xfrm>
            <a:off x="502920" y="3429000"/>
            <a:ext cx="8138160" cy="1143000"/>
          </a:xfrm>
          <a:prstGeom prst="rect">
            <a:avLst/>
          </a:prstGeom>
          <a:solidFill>
            <a:srgbClr val="1C1C1E"/>
          </a:solidFill>
          <a:ln w="9525">
            <a:solidFill>
              <a:srgbClr val="271F13"/>
            </a:solidFill>
            <a:prstDash val="solid"/>
          </a:ln>
        </p:spPr>
      </p:sp>
      <p:sp>
        <p:nvSpPr>
          <p:cNvPr id="9" name="Text 5"/>
          <p:cNvSpPr/>
          <p:nvPr/>
        </p:nvSpPr>
        <p:spPr>
          <a:xfrm>
            <a:off x="649224" y="3557016"/>
            <a:ext cx="7845552"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EQUIPMENT STRATEGY</a:t>
            </a:r>
            <a:endParaRPr lang="en-US" sz="750" dirty="0"/>
          </a:p>
        </p:txBody>
      </p:sp>
      <p:sp>
        <p:nvSpPr>
          <p:cNvPr id="10" name="Text 6"/>
          <p:cNvSpPr/>
          <p:nvPr/>
        </p:nvSpPr>
        <p:spPr>
          <a:xfrm>
            <a:off x="649224" y="3776472"/>
            <a:ext cx="7845552" cy="685800"/>
          </a:xfrm>
          <a:prstGeom prst="rect">
            <a:avLst/>
          </a:prstGeom>
          <a:noFill/>
          <a:ln/>
        </p:spPr>
        <p:txBody>
          <a:bodyPr wrap="square" rtlCol="0" anchor="t"/>
          <a:lstStyle/>
          <a:p>
            <a:pPr indent="0" marL="0">
              <a:lnSpc>
                <a:spcPct val="120000"/>
              </a:lnSpc>
              <a:buNone/>
            </a:pPr>
            <a:r>
              <a:rPr lang="en-US" sz="900" dirty="0">
                <a:solidFill>
                  <a:srgbClr val="C9BCA9"/>
                </a:solidFill>
                <a:latin typeface="Jost" pitchFamily="34" charset="0"/>
                <a:ea typeface="Jost" pitchFamily="34" charset="-122"/>
                <a:cs typeface="Jost" pitchFamily="34" charset="-120"/>
              </a:rPr>
              <a:t>Purchased where payback justifies it. Wet areas drive cost: plunges, saunas and steam carry a higher per-SF buildout than a dry medspa, which is why the lean case trims the contrast suite before it trims treatment rooms. The wet block, 800 SF: two saunas, two cold plunges and steam on a single plumbing wall, sharing that wall with the locker room. It is the first question we ask about any space.</a:t>
            </a:r>
            <a:endParaRPr lang="en-US" sz="900" dirty="0"/>
          </a:p>
        </p:txBody>
      </p:sp>
      <p:sp>
        <p:nvSpPr>
          <p:cNvPr id="11" name="Text 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2" name="Text 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13</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RENDERINGS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DESIGN DIRECTION (1 OF 2)</a:t>
            </a:r>
            <a:endParaRPr lang="en-US" sz="2600" dirty="0"/>
          </a:p>
        </p:txBody>
      </p:sp>
      <p:pic>
        <p:nvPicPr>
          <p:cNvPr id="5" name="Image 0" descr="preencoded.png">    </p:cNvPr>
          <p:cNvPicPr>
            <a:picLocks noChangeAspect="1"/>
          </p:cNvPicPr>
          <p:nvPr/>
        </p:nvPicPr>
        <p:blipFill>
          <a:blip r:embed="rId1"/>
          <a:srcRect l="0" r="0" t="0" b="0"/>
          <a:stretch/>
        </p:blipFill>
        <p:spPr>
          <a:xfrm>
            <a:off x="502920" y="1188720"/>
            <a:ext cx="2639568" cy="1484757"/>
          </a:xfrm>
          <a:prstGeom prst="rect">
            <a:avLst/>
          </a:prstGeom>
        </p:spPr>
      </p:pic>
      <p:sp>
        <p:nvSpPr>
          <p:cNvPr id="6" name="Shape 3"/>
          <p:cNvSpPr/>
          <p:nvPr/>
        </p:nvSpPr>
        <p:spPr>
          <a:xfrm>
            <a:off x="502920" y="1188720"/>
            <a:ext cx="2639568" cy="1484757"/>
          </a:xfrm>
          <a:prstGeom prst="rect">
            <a:avLst/>
          </a:prstGeom>
          <a:solidFill>
            <a:srgbClr val="0D0D0D">
              <a:alpha val="0"/>
            </a:srgbClr>
          </a:solidFill>
          <a:ln w="9525">
            <a:solidFill>
              <a:srgbClr val="271F13"/>
            </a:solidFill>
            <a:prstDash val="solid"/>
          </a:ln>
        </p:spPr>
      </p:sp>
      <p:sp>
        <p:nvSpPr>
          <p:cNvPr id="7" name="Text 4"/>
          <p:cNvSpPr/>
          <p:nvPr/>
        </p:nvSpPr>
        <p:spPr>
          <a:xfrm>
            <a:off x="502920" y="2691765"/>
            <a:ext cx="2639568" cy="164592"/>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Exterior, design direction</a:t>
            </a:r>
            <a:endParaRPr lang="en-US" sz="750" dirty="0"/>
          </a:p>
        </p:txBody>
      </p:sp>
      <p:pic>
        <p:nvPicPr>
          <p:cNvPr id="8" name="Image 1" descr="preencoded.png">    </p:cNvPr>
          <p:cNvPicPr>
            <a:picLocks noChangeAspect="1"/>
          </p:cNvPicPr>
          <p:nvPr/>
        </p:nvPicPr>
        <p:blipFill>
          <a:blip r:embed="rId2"/>
          <a:srcRect l="0" r="0" t="0" b="0"/>
          <a:stretch/>
        </p:blipFill>
        <p:spPr>
          <a:xfrm>
            <a:off x="3252216" y="1188720"/>
            <a:ext cx="2639568" cy="1484757"/>
          </a:xfrm>
          <a:prstGeom prst="rect">
            <a:avLst/>
          </a:prstGeom>
        </p:spPr>
      </p:pic>
      <p:sp>
        <p:nvSpPr>
          <p:cNvPr id="9" name="Shape 5"/>
          <p:cNvSpPr/>
          <p:nvPr/>
        </p:nvSpPr>
        <p:spPr>
          <a:xfrm>
            <a:off x="3252216" y="1188720"/>
            <a:ext cx="2639568" cy="1484757"/>
          </a:xfrm>
          <a:prstGeom prst="rect">
            <a:avLst/>
          </a:prstGeom>
          <a:solidFill>
            <a:srgbClr val="0D0D0D">
              <a:alpha val="0"/>
            </a:srgbClr>
          </a:solidFill>
          <a:ln w="9525">
            <a:solidFill>
              <a:srgbClr val="271F13"/>
            </a:solidFill>
            <a:prstDash val="solid"/>
          </a:ln>
        </p:spPr>
      </p:sp>
      <p:sp>
        <p:nvSpPr>
          <p:cNvPr id="10" name="Text 6"/>
          <p:cNvSpPr/>
          <p:nvPr/>
        </p:nvSpPr>
        <p:spPr>
          <a:xfrm>
            <a:off x="3252216" y="2691765"/>
            <a:ext cx="2639568" cy="164592"/>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Arrival, concierge and retail</a:t>
            </a:r>
            <a:endParaRPr lang="en-US" sz="750" dirty="0"/>
          </a:p>
        </p:txBody>
      </p:sp>
      <p:pic>
        <p:nvPicPr>
          <p:cNvPr id="11" name="Image 2" descr="preencoded.png">    </p:cNvPr>
          <p:cNvPicPr>
            <a:picLocks noChangeAspect="1"/>
          </p:cNvPicPr>
          <p:nvPr/>
        </p:nvPicPr>
        <p:blipFill>
          <a:blip r:embed="rId3"/>
          <a:srcRect l="0" r="0" t="0" b="0"/>
          <a:stretch/>
        </p:blipFill>
        <p:spPr>
          <a:xfrm>
            <a:off x="6001512" y="1188720"/>
            <a:ext cx="2639568" cy="1484757"/>
          </a:xfrm>
          <a:prstGeom prst="rect">
            <a:avLst/>
          </a:prstGeom>
        </p:spPr>
      </p:pic>
      <p:sp>
        <p:nvSpPr>
          <p:cNvPr id="12" name="Shape 7"/>
          <p:cNvSpPr/>
          <p:nvPr/>
        </p:nvSpPr>
        <p:spPr>
          <a:xfrm>
            <a:off x="6001512" y="1188720"/>
            <a:ext cx="2639568" cy="1484757"/>
          </a:xfrm>
          <a:prstGeom prst="rect">
            <a:avLst/>
          </a:prstGeom>
          <a:solidFill>
            <a:srgbClr val="0D0D0D">
              <a:alpha val="0"/>
            </a:srgbClr>
          </a:solidFill>
          <a:ln w="9525">
            <a:solidFill>
              <a:srgbClr val="271F13"/>
            </a:solidFill>
            <a:prstDash val="solid"/>
          </a:ln>
        </p:spPr>
      </p:sp>
      <p:sp>
        <p:nvSpPr>
          <p:cNvPr id="13" name="Text 8"/>
          <p:cNvSpPr/>
          <p:nvPr/>
        </p:nvSpPr>
        <p:spPr>
          <a:xfrm>
            <a:off x="6001512" y="2691765"/>
            <a:ext cx="2639568" cy="164592"/>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Members' social lounge, The Lounge</a:t>
            </a:r>
            <a:endParaRPr lang="en-US" sz="750" dirty="0"/>
          </a:p>
        </p:txBody>
      </p:sp>
      <p:pic>
        <p:nvPicPr>
          <p:cNvPr id="14" name="Image 3" descr="preencoded.png">    </p:cNvPr>
          <p:cNvPicPr>
            <a:picLocks noChangeAspect="1"/>
          </p:cNvPicPr>
          <p:nvPr/>
        </p:nvPicPr>
        <p:blipFill>
          <a:blip r:embed="rId4"/>
          <a:srcRect l="0" r="0" t="0" b="0"/>
          <a:stretch/>
        </p:blipFill>
        <p:spPr>
          <a:xfrm>
            <a:off x="1877568" y="2947797"/>
            <a:ext cx="2639568" cy="1484757"/>
          </a:xfrm>
          <a:prstGeom prst="rect">
            <a:avLst/>
          </a:prstGeom>
        </p:spPr>
      </p:pic>
      <p:sp>
        <p:nvSpPr>
          <p:cNvPr id="15" name="Shape 9"/>
          <p:cNvSpPr/>
          <p:nvPr/>
        </p:nvSpPr>
        <p:spPr>
          <a:xfrm>
            <a:off x="1877568" y="2947797"/>
            <a:ext cx="2639568" cy="1484757"/>
          </a:xfrm>
          <a:prstGeom prst="rect">
            <a:avLst/>
          </a:prstGeom>
          <a:solidFill>
            <a:srgbClr val="0D0D0D">
              <a:alpha val="0"/>
            </a:srgbClr>
          </a:solidFill>
          <a:ln w="9525">
            <a:solidFill>
              <a:srgbClr val="271F13"/>
            </a:solidFill>
            <a:prstDash val="solid"/>
          </a:ln>
        </p:spPr>
      </p:sp>
      <p:sp>
        <p:nvSpPr>
          <p:cNvPr id="16" name="Text 10"/>
          <p:cNvSpPr/>
          <p:nvPr/>
        </p:nvSpPr>
        <p:spPr>
          <a:xfrm>
            <a:off x="1877568" y="4450842"/>
            <a:ext cx="2639568" cy="164592"/>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Contrast suite, sauna and cold plunge</a:t>
            </a:r>
            <a:endParaRPr lang="en-US" sz="750" dirty="0"/>
          </a:p>
        </p:txBody>
      </p:sp>
      <p:pic>
        <p:nvPicPr>
          <p:cNvPr id="17" name="Image 4" descr="preencoded.png">    </p:cNvPr>
          <p:cNvPicPr>
            <a:picLocks noChangeAspect="1"/>
          </p:cNvPicPr>
          <p:nvPr/>
        </p:nvPicPr>
        <p:blipFill>
          <a:blip r:embed="rId5"/>
          <a:srcRect l="0" r="0" t="0" b="0"/>
          <a:stretch/>
        </p:blipFill>
        <p:spPr>
          <a:xfrm>
            <a:off x="4626864" y="2947797"/>
            <a:ext cx="2639568" cy="1484757"/>
          </a:xfrm>
          <a:prstGeom prst="rect">
            <a:avLst/>
          </a:prstGeom>
        </p:spPr>
      </p:pic>
      <p:sp>
        <p:nvSpPr>
          <p:cNvPr id="18" name="Shape 11"/>
          <p:cNvSpPr/>
          <p:nvPr/>
        </p:nvSpPr>
        <p:spPr>
          <a:xfrm>
            <a:off x="4626864" y="2947797"/>
            <a:ext cx="2639568" cy="1484757"/>
          </a:xfrm>
          <a:prstGeom prst="rect">
            <a:avLst/>
          </a:prstGeom>
          <a:solidFill>
            <a:srgbClr val="0D0D0D">
              <a:alpha val="0"/>
            </a:srgbClr>
          </a:solidFill>
          <a:ln w="9525">
            <a:solidFill>
              <a:srgbClr val="271F13"/>
            </a:solidFill>
            <a:prstDash val="solid"/>
          </a:ln>
        </p:spPr>
      </p:sp>
      <p:sp>
        <p:nvSpPr>
          <p:cNvPr id="19" name="Text 12"/>
          <p:cNvSpPr/>
          <p:nvPr/>
        </p:nvSpPr>
        <p:spPr>
          <a:xfrm>
            <a:off x="4626864" y="4450842"/>
            <a:ext cx="2639568" cy="164592"/>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Locker, shower and changing</a:t>
            </a:r>
            <a:endParaRPr lang="en-US" sz="750" dirty="0"/>
          </a:p>
        </p:txBody>
      </p:sp>
      <p:sp>
        <p:nvSpPr>
          <p:cNvPr id="20"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21"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14</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RENDERINGS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DESIGN DIRECTION (2 OF 2)</a:t>
            </a:r>
            <a:endParaRPr lang="en-US" sz="2600" dirty="0"/>
          </a:p>
        </p:txBody>
      </p:sp>
      <p:pic>
        <p:nvPicPr>
          <p:cNvPr id="5" name="Image 0" descr="preencoded.png">    </p:cNvPr>
          <p:cNvPicPr>
            <a:picLocks noChangeAspect="1"/>
          </p:cNvPicPr>
          <p:nvPr/>
        </p:nvPicPr>
        <p:blipFill>
          <a:blip r:embed="rId1"/>
          <a:srcRect l="0" r="0" t="0" b="0"/>
          <a:stretch/>
        </p:blipFill>
        <p:spPr>
          <a:xfrm>
            <a:off x="502920" y="1188720"/>
            <a:ext cx="2639568" cy="1484757"/>
          </a:xfrm>
          <a:prstGeom prst="rect">
            <a:avLst/>
          </a:prstGeom>
        </p:spPr>
      </p:pic>
      <p:sp>
        <p:nvSpPr>
          <p:cNvPr id="6" name="Shape 3"/>
          <p:cNvSpPr/>
          <p:nvPr/>
        </p:nvSpPr>
        <p:spPr>
          <a:xfrm>
            <a:off x="502920" y="1188720"/>
            <a:ext cx="2639568" cy="1484757"/>
          </a:xfrm>
          <a:prstGeom prst="rect">
            <a:avLst/>
          </a:prstGeom>
          <a:solidFill>
            <a:srgbClr val="0D0D0D">
              <a:alpha val="0"/>
            </a:srgbClr>
          </a:solidFill>
          <a:ln w="9525">
            <a:solidFill>
              <a:srgbClr val="271F13"/>
            </a:solidFill>
            <a:prstDash val="solid"/>
          </a:ln>
        </p:spPr>
      </p:sp>
      <p:sp>
        <p:nvSpPr>
          <p:cNvPr id="7" name="Text 4"/>
          <p:cNvSpPr/>
          <p:nvPr/>
        </p:nvSpPr>
        <p:spPr>
          <a:xfrm>
            <a:off x="502920" y="2691765"/>
            <a:ext cx="2639568" cy="164592"/>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Member circulation</a:t>
            </a:r>
            <a:endParaRPr lang="en-US" sz="750" dirty="0"/>
          </a:p>
        </p:txBody>
      </p:sp>
      <p:pic>
        <p:nvPicPr>
          <p:cNvPr id="8" name="Image 1" descr="preencoded.png">    </p:cNvPr>
          <p:cNvPicPr>
            <a:picLocks noChangeAspect="1"/>
          </p:cNvPicPr>
          <p:nvPr/>
        </p:nvPicPr>
        <p:blipFill>
          <a:blip r:embed="rId2"/>
          <a:srcRect l="0" r="0" t="0" b="0"/>
          <a:stretch/>
        </p:blipFill>
        <p:spPr>
          <a:xfrm>
            <a:off x="3252216" y="1188720"/>
            <a:ext cx="2639568" cy="1484757"/>
          </a:xfrm>
          <a:prstGeom prst="rect">
            <a:avLst/>
          </a:prstGeom>
        </p:spPr>
      </p:pic>
      <p:sp>
        <p:nvSpPr>
          <p:cNvPr id="9" name="Shape 5"/>
          <p:cNvSpPr/>
          <p:nvPr/>
        </p:nvSpPr>
        <p:spPr>
          <a:xfrm>
            <a:off x="3252216" y="1188720"/>
            <a:ext cx="2639568" cy="1484757"/>
          </a:xfrm>
          <a:prstGeom prst="rect">
            <a:avLst/>
          </a:prstGeom>
          <a:solidFill>
            <a:srgbClr val="0D0D0D">
              <a:alpha val="0"/>
            </a:srgbClr>
          </a:solidFill>
          <a:ln w="9525">
            <a:solidFill>
              <a:srgbClr val="271F13"/>
            </a:solidFill>
            <a:prstDash val="solid"/>
          </a:ln>
        </p:spPr>
      </p:sp>
      <p:sp>
        <p:nvSpPr>
          <p:cNvPr id="10" name="Text 6"/>
          <p:cNvSpPr/>
          <p:nvPr/>
        </p:nvSpPr>
        <p:spPr>
          <a:xfrm>
            <a:off x="3252216" y="2691765"/>
            <a:ext cx="2639568" cy="164592"/>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Treatment room</a:t>
            </a:r>
            <a:endParaRPr lang="en-US" sz="750" dirty="0"/>
          </a:p>
        </p:txBody>
      </p:sp>
      <p:pic>
        <p:nvPicPr>
          <p:cNvPr id="11" name="Image 2" descr="preencoded.png">    </p:cNvPr>
          <p:cNvPicPr>
            <a:picLocks noChangeAspect="1"/>
          </p:cNvPicPr>
          <p:nvPr/>
        </p:nvPicPr>
        <p:blipFill>
          <a:blip r:embed="rId3"/>
          <a:srcRect l="0" r="0" t="0" b="0"/>
          <a:stretch/>
        </p:blipFill>
        <p:spPr>
          <a:xfrm>
            <a:off x="6001512" y="1188720"/>
            <a:ext cx="2639568" cy="1484757"/>
          </a:xfrm>
          <a:prstGeom prst="rect">
            <a:avLst/>
          </a:prstGeom>
        </p:spPr>
      </p:pic>
      <p:sp>
        <p:nvSpPr>
          <p:cNvPr id="12" name="Shape 7"/>
          <p:cNvSpPr/>
          <p:nvPr/>
        </p:nvSpPr>
        <p:spPr>
          <a:xfrm>
            <a:off x="6001512" y="1188720"/>
            <a:ext cx="2639568" cy="1484757"/>
          </a:xfrm>
          <a:prstGeom prst="rect">
            <a:avLst/>
          </a:prstGeom>
          <a:solidFill>
            <a:srgbClr val="0D0D0D">
              <a:alpha val="0"/>
            </a:srgbClr>
          </a:solidFill>
          <a:ln w="9525">
            <a:solidFill>
              <a:srgbClr val="271F13"/>
            </a:solidFill>
            <a:prstDash val="solid"/>
          </a:ln>
        </p:spPr>
      </p:sp>
      <p:sp>
        <p:nvSpPr>
          <p:cNvPr id="13" name="Text 8"/>
          <p:cNvSpPr/>
          <p:nvPr/>
        </p:nvSpPr>
        <p:spPr>
          <a:xfrm>
            <a:off x="6001512" y="2691765"/>
            <a:ext cx="2639568" cy="164592"/>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Consult room</a:t>
            </a:r>
            <a:endParaRPr lang="en-US" sz="750" dirty="0"/>
          </a:p>
        </p:txBody>
      </p:sp>
      <p:pic>
        <p:nvPicPr>
          <p:cNvPr id="14" name="Image 3" descr="preencoded.png">    </p:cNvPr>
          <p:cNvPicPr>
            <a:picLocks noChangeAspect="1"/>
          </p:cNvPicPr>
          <p:nvPr/>
        </p:nvPicPr>
        <p:blipFill>
          <a:blip r:embed="rId4"/>
          <a:srcRect l="0" r="0" t="0" b="0"/>
          <a:stretch/>
        </p:blipFill>
        <p:spPr>
          <a:xfrm>
            <a:off x="1877568" y="2947797"/>
            <a:ext cx="2639568" cy="1484757"/>
          </a:xfrm>
          <a:prstGeom prst="rect">
            <a:avLst/>
          </a:prstGeom>
        </p:spPr>
      </p:pic>
      <p:sp>
        <p:nvSpPr>
          <p:cNvPr id="15" name="Shape 9"/>
          <p:cNvSpPr/>
          <p:nvPr/>
        </p:nvSpPr>
        <p:spPr>
          <a:xfrm>
            <a:off x="1877568" y="2947797"/>
            <a:ext cx="2639568" cy="1484757"/>
          </a:xfrm>
          <a:prstGeom prst="rect">
            <a:avLst/>
          </a:prstGeom>
          <a:solidFill>
            <a:srgbClr val="0D0D0D">
              <a:alpha val="0"/>
            </a:srgbClr>
          </a:solidFill>
          <a:ln w="9525">
            <a:solidFill>
              <a:srgbClr val="271F13"/>
            </a:solidFill>
            <a:prstDash val="solid"/>
          </a:ln>
        </p:spPr>
      </p:sp>
      <p:sp>
        <p:nvSpPr>
          <p:cNvPr id="16" name="Text 10"/>
          <p:cNvSpPr/>
          <p:nvPr/>
        </p:nvSpPr>
        <p:spPr>
          <a:xfrm>
            <a:off x="1877568" y="4450842"/>
            <a:ext cx="2639568" cy="164592"/>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IV and regenerative lounge</a:t>
            </a:r>
            <a:endParaRPr lang="en-US" sz="750" dirty="0"/>
          </a:p>
        </p:txBody>
      </p:sp>
      <p:pic>
        <p:nvPicPr>
          <p:cNvPr id="17" name="Image 4" descr="preencoded.png">    </p:cNvPr>
          <p:cNvPicPr>
            <a:picLocks noChangeAspect="1"/>
          </p:cNvPicPr>
          <p:nvPr/>
        </p:nvPicPr>
        <p:blipFill>
          <a:blip r:embed="rId5"/>
          <a:srcRect l="0" r="0" t="0" b="0"/>
          <a:stretch/>
        </p:blipFill>
        <p:spPr>
          <a:xfrm>
            <a:off x="4626864" y="2947797"/>
            <a:ext cx="2639568" cy="1484757"/>
          </a:xfrm>
          <a:prstGeom prst="rect">
            <a:avLst/>
          </a:prstGeom>
        </p:spPr>
      </p:pic>
      <p:sp>
        <p:nvSpPr>
          <p:cNvPr id="18" name="Shape 11"/>
          <p:cNvSpPr/>
          <p:nvPr/>
        </p:nvSpPr>
        <p:spPr>
          <a:xfrm>
            <a:off x="4626864" y="2947797"/>
            <a:ext cx="2639568" cy="1484757"/>
          </a:xfrm>
          <a:prstGeom prst="rect">
            <a:avLst/>
          </a:prstGeom>
          <a:solidFill>
            <a:srgbClr val="0D0D0D">
              <a:alpha val="0"/>
            </a:srgbClr>
          </a:solidFill>
          <a:ln w="9525">
            <a:solidFill>
              <a:srgbClr val="271F13"/>
            </a:solidFill>
            <a:prstDash val="solid"/>
          </a:ln>
        </p:spPr>
      </p:sp>
      <p:sp>
        <p:nvSpPr>
          <p:cNvPr id="19" name="Text 12"/>
          <p:cNvSpPr/>
          <p:nvPr/>
        </p:nvSpPr>
        <p:spPr>
          <a:xfrm>
            <a:off x="4626864" y="4450842"/>
            <a:ext cx="2639568" cy="164592"/>
          </a:xfrm>
          <a:prstGeom prst="rect">
            <a:avLst/>
          </a:prstGeom>
          <a:noFill/>
          <a:ln/>
        </p:spPr>
        <p:txBody>
          <a:bodyPr wrap="square" rtlCol="0" anchor="ctr"/>
          <a:lstStyle/>
          <a:p>
            <a:pPr indent="0" marL="0">
              <a:buNone/>
            </a:pPr>
            <a:r>
              <a:rPr lang="en-US" sz="750" spc="100" kern="0" dirty="0">
                <a:solidFill>
                  <a:srgbClr val="EDE7DE"/>
                </a:solidFill>
                <a:latin typeface="Jost" pitchFamily="34" charset="0"/>
                <a:ea typeface="Jost" pitchFamily="34" charset="-122"/>
                <a:cs typeface="Jost" pitchFamily="34" charset="-120"/>
              </a:rPr>
              <a:t>Hyperbaric room</a:t>
            </a:r>
            <a:endParaRPr lang="en-US" sz="750" dirty="0"/>
          </a:p>
        </p:txBody>
      </p:sp>
      <p:sp>
        <p:nvSpPr>
          <p:cNvPr id="20"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21"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15</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CAPACITY</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CAPACITY FOR WHAT WE SELL</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Capacity is counted hour by hour for each station, not assumed. Even at stabilization, every station has room to spare.</a:t>
            </a:r>
            <a:endParaRPr lang="en-US" sz="1050" dirty="0"/>
          </a:p>
        </p:txBody>
      </p:sp>
      <p:sp>
        <p:nvSpPr>
          <p:cNvPr id="6" name="Shape 4"/>
          <p:cNvSpPr/>
          <p:nvPr/>
        </p:nvSpPr>
        <p:spPr>
          <a:xfrm>
            <a:off x="502920" y="1783080"/>
            <a:ext cx="2615184" cy="1600200"/>
          </a:xfrm>
          <a:prstGeom prst="rect">
            <a:avLst/>
          </a:prstGeom>
          <a:solidFill>
            <a:srgbClr val="1C1C1E"/>
          </a:solidFill>
          <a:ln w="9525">
            <a:solidFill>
              <a:srgbClr val="271F13"/>
            </a:solidFill>
            <a:prstDash val="solid"/>
          </a:ln>
        </p:spPr>
      </p:sp>
      <p:sp>
        <p:nvSpPr>
          <p:cNvPr id="7" name="Text 5"/>
          <p:cNvSpPr/>
          <p:nvPr/>
        </p:nvSpPr>
        <p:spPr>
          <a:xfrm>
            <a:off x="649224" y="191109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73%</a:t>
            </a:r>
            <a:endParaRPr lang="en-US" sz="2000" dirty="0"/>
          </a:p>
        </p:txBody>
      </p:sp>
      <p:sp>
        <p:nvSpPr>
          <p:cNvPr id="8" name="Text 6"/>
          <p:cNvSpPr/>
          <p:nvPr/>
        </p:nvSpPr>
        <p:spPr>
          <a:xfrm>
            <a:off x="649224" y="2258568"/>
            <a:ext cx="2322576" cy="274320"/>
          </a:xfrm>
          <a:prstGeom prst="rect">
            <a:avLst/>
          </a:prstGeom>
          <a:noFill/>
          <a:ln/>
        </p:spPr>
        <p:txBody>
          <a:bodyPr wrap="square" rtlCol="0" anchor="t"/>
          <a:lstStyle/>
          <a:p>
            <a:pPr indent="0" marL="0">
              <a:lnSpc>
                <a:spcPct val="110000"/>
              </a:lnSpc>
              <a:buNone/>
            </a:pPr>
            <a:r>
              <a:rPr lang="en-US" sz="900" dirty="0">
                <a:solidFill>
                  <a:srgbClr val="EDE7DE"/>
                </a:solidFill>
                <a:latin typeface="Jost" pitchFamily="34" charset="0"/>
                <a:ea typeface="Jost" pitchFamily="34" charset="-122"/>
                <a:cs typeface="Jost" pitchFamily="34" charset="-120"/>
              </a:rPr>
              <a:t>Recovery circuit utilization</a:t>
            </a:r>
            <a:endParaRPr lang="en-US" sz="900" dirty="0"/>
          </a:p>
        </p:txBody>
      </p:sp>
      <p:sp>
        <p:nvSpPr>
          <p:cNvPr id="9" name="Text 7"/>
          <p:cNvSpPr/>
          <p:nvPr/>
        </p:nvSpPr>
        <p:spPr>
          <a:xfrm>
            <a:off x="649224" y="2569464"/>
            <a:ext cx="2322576" cy="704088"/>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2,345 modeled visits against 3,192 practical capacity, leaving 847 visits of headroom.</a:t>
            </a:r>
            <a:endParaRPr lang="en-US" sz="800" dirty="0"/>
          </a:p>
        </p:txBody>
      </p:sp>
      <p:sp>
        <p:nvSpPr>
          <p:cNvPr id="10" name="Shape 8"/>
          <p:cNvSpPr/>
          <p:nvPr/>
        </p:nvSpPr>
        <p:spPr>
          <a:xfrm>
            <a:off x="3264408" y="1783080"/>
            <a:ext cx="2615184" cy="1600200"/>
          </a:xfrm>
          <a:prstGeom prst="rect">
            <a:avLst/>
          </a:prstGeom>
          <a:solidFill>
            <a:srgbClr val="1C1C1E"/>
          </a:solidFill>
          <a:ln w="9525">
            <a:solidFill>
              <a:srgbClr val="271F13"/>
            </a:solidFill>
            <a:prstDash val="solid"/>
          </a:ln>
        </p:spPr>
      </p:sp>
      <p:sp>
        <p:nvSpPr>
          <p:cNvPr id="11" name="Text 9"/>
          <p:cNvSpPr/>
          <p:nvPr/>
        </p:nvSpPr>
        <p:spPr>
          <a:xfrm>
            <a:off x="3410712" y="191109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83%</a:t>
            </a:r>
            <a:endParaRPr lang="en-US" sz="2000" dirty="0"/>
          </a:p>
        </p:txBody>
      </p:sp>
      <p:sp>
        <p:nvSpPr>
          <p:cNvPr id="12" name="Text 10"/>
          <p:cNvSpPr/>
          <p:nvPr/>
        </p:nvSpPr>
        <p:spPr>
          <a:xfrm>
            <a:off x="3410712" y="2258568"/>
            <a:ext cx="2322576" cy="274320"/>
          </a:xfrm>
          <a:prstGeom prst="rect">
            <a:avLst/>
          </a:prstGeom>
          <a:noFill/>
          <a:ln/>
        </p:spPr>
        <p:txBody>
          <a:bodyPr wrap="square" rtlCol="0" anchor="t"/>
          <a:lstStyle/>
          <a:p>
            <a:pPr indent="0" marL="0">
              <a:lnSpc>
                <a:spcPct val="110000"/>
              </a:lnSpc>
              <a:buNone/>
            </a:pPr>
            <a:r>
              <a:rPr lang="en-US" sz="900" dirty="0">
                <a:solidFill>
                  <a:srgbClr val="EDE7DE"/>
                </a:solidFill>
                <a:latin typeface="Jost" pitchFamily="34" charset="0"/>
                <a:ea typeface="Jost" pitchFamily="34" charset="-122"/>
                <a:cs typeface="Jost" pitchFamily="34" charset="-120"/>
              </a:rPr>
              <a:t>Treatment room utilization</a:t>
            </a:r>
            <a:endParaRPr lang="en-US" sz="900" dirty="0"/>
          </a:p>
        </p:txBody>
      </p:sp>
      <p:sp>
        <p:nvSpPr>
          <p:cNvPr id="13" name="Text 11"/>
          <p:cNvSpPr/>
          <p:nvPr/>
        </p:nvSpPr>
        <p:spPr>
          <a:xfrm>
            <a:off x="3410712" y="2569464"/>
            <a:ext cx="2322576" cy="704088"/>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419 procedures against 507 practical capacity, leaving 88 slots of headroom.</a:t>
            </a:r>
            <a:endParaRPr lang="en-US" sz="800" dirty="0"/>
          </a:p>
        </p:txBody>
      </p:sp>
      <p:sp>
        <p:nvSpPr>
          <p:cNvPr id="14" name="Shape 12"/>
          <p:cNvSpPr/>
          <p:nvPr/>
        </p:nvSpPr>
        <p:spPr>
          <a:xfrm>
            <a:off x="6025896" y="1783080"/>
            <a:ext cx="2615184" cy="1600200"/>
          </a:xfrm>
          <a:prstGeom prst="rect">
            <a:avLst/>
          </a:prstGeom>
          <a:solidFill>
            <a:srgbClr val="1C1C1E"/>
          </a:solidFill>
          <a:ln w="9525">
            <a:solidFill>
              <a:srgbClr val="271F13"/>
            </a:solidFill>
            <a:prstDash val="solid"/>
          </a:ln>
        </p:spPr>
      </p:sp>
      <p:sp>
        <p:nvSpPr>
          <p:cNvPr id="15" name="Text 13"/>
          <p:cNvSpPr/>
          <p:nvPr/>
        </p:nvSpPr>
        <p:spPr>
          <a:xfrm>
            <a:off x="6172200" y="191109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76%</a:t>
            </a:r>
            <a:endParaRPr lang="en-US" sz="2000" dirty="0"/>
          </a:p>
        </p:txBody>
      </p:sp>
      <p:sp>
        <p:nvSpPr>
          <p:cNvPr id="16" name="Text 14"/>
          <p:cNvSpPr/>
          <p:nvPr/>
        </p:nvSpPr>
        <p:spPr>
          <a:xfrm>
            <a:off x="6172200" y="2258568"/>
            <a:ext cx="2322576" cy="274320"/>
          </a:xfrm>
          <a:prstGeom prst="rect">
            <a:avLst/>
          </a:prstGeom>
          <a:noFill/>
          <a:ln/>
        </p:spPr>
        <p:txBody>
          <a:bodyPr wrap="square" rtlCol="0" anchor="t"/>
          <a:lstStyle/>
          <a:p>
            <a:pPr indent="0" marL="0">
              <a:lnSpc>
                <a:spcPct val="110000"/>
              </a:lnSpc>
              <a:buNone/>
            </a:pPr>
            <a:r>
              <a:rPr lang="en-US" sz="900" dirty="0">
                <a:solidFill>
                  <a:srgbClr val="EDE7DE"/>
                </a:solidFill>
                <a:latin typeface="Jost" pitchFamily="34" charset="0"/>
                <a:ea typeface="Jost" pitchFamily="34" charset="-122"/>
                <a:cs typeface="Jost" pitchFamily="34" charset="-120"/>
              </a:rPr>
              <a:t>Red light utilization</a:t>
            </a:r>
            <a:endParaRPr lang="en-US" sz="900" dirty="0"/>
          </a:p>
        </p:txBody>
      </p:sp>
      <p:sp>
        <p:nvSpPr>
          <p:cNvPr id="17" name="Text 15"/>
          <p:cNvSpPr/>
          <p:nvPr/>
        </p:nvSpPr>
        <p:spPr>
          <a:xfrm>
            <a:off x="6172200" y="2569464"/>
            <a:ext cx="2322576" cy="704088"/>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650 sessions against 851 practical capacity on 2 beds, leaving 201 sessions of headroom.</a:t>
            </a:r>
            <a:endParaRPr lang="en-US" sz="800" dirty="0"/>
          </a:p>
        </p:txBody>
      </p:sp>
      <p:sp>
        <p:nvSpPr>
          <p:cNvPr id="18" name="Text 16"/>
          <p:cNvSpPr/>
          <p:nvPr/>
        </p:nvSpPr>
        <p:spPr>
          <a:xfrm>
            <a:off x="502920" y="3566160"/>
            <a:ext cx="8138160" cy="548640"/>
          </a:xfrm>
          <a:prstGeom prst="rect">
            <a:avLst/>
          </a:prstGeom>
          <a:noFill/>
          <a:ln/>
        </p:spPr>
        <p:txBody>
          <a:bodyPr wrap="square" rtlCol="0" anchor="t"/>
          <a:lstStyle/>
          <a:p>
            <a:pPr indent="0" marL="0">
              <a:lnSpc>
                <a:spcPct val="120000"/>
              </a:lnSpc>
              <a:buNone/>
            </a:pPr>
            <a:r>
              <a:rPr lang="en-US" sz="950" dirty="0">
                <a:solidFill>
                  <a:srgbClr val="C9BCA9"/>
                </a:solidFill>
                <a:latin typeface="Jost" pitchFamily="34" charset="0"/>
                <a:ea typeface="Jost" pitchFamily="34" charset="-122"/>
                <a:cs typeface="Jost" pitchFamily="34" charset="-120"/>
              </a:rPr>
              <a:t>Practical capacity applies a utilization ceiling to theoretical station hours, because demand concentrates at peak times and nothing runs flat out. Headroom is the growth the facility can absorb without further capital.</a:t>
            </a:r>
            <a:endParaRPr lang="en-US" sz="950" dirty="0"/>
          </a:p>
        </p:txBody>
      </p:sp>
      <p:sp>
        <p:nvSpPr>
          <p:cNvPr id="19" name="Text 1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20" name="Text 1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16</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MARKET</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A LARGE, FAST, CASH-PAY CATEGORY</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Every figure carries its source. Anything we could not source was cut rather than estimated.</a:t>
            </a:r>
            <a:endParaRPr lang="en-US" sz="10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645920"/>
          <a:ext cx="8138160" cy="914400"/>
        </p:xfrm>
        <a:graphic>
          <a:graphicData uri="http://schemas.openxmlformats.org/drawingml/2006/table">
            <a:tbl>
              <a:tblPr/>
              <a:tblGrid>
                <a:gridCol w="4206240"/>
                <a:gridCol w="1371600"/>
                <a:gridCol w="2560320"/>
              </a:tblGrid>
              <a:tr h="274320">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FIGURE</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VALUE</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SOURCE</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274320">
                <a:tc>
                  <a:txBody>
                    <a:bodyPr/>
                    <a:lstStyle/>
                    <a:p>
                      <a:pPr algn="l" indent="0" marL="0">
                        <a:buNone/>
                      </a:pPr>
                      <a:r>
                        <a:rPr lang="en-US" sz="900" dirty="0">
                          <a:solidFill>
                            <a:srgbClr val="EDE7DE"/>
                          </a:solidFill>
                          <a:latin typeface="Jost" pitchFamily="34" charset="0"/>
                          <a:ea typeface="Jost" pitchFamily="34" charset="-122"/>
                          <a:cs typeface="Jost" pitchFamily="34" charset="-120"/>
                        </a:rPr>
                        <a:t>Global wellness economy, 2024</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$6.8T</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Global Wellness Institute</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EDE7DE"/>
                          </a:solidFill>
                          <a:latin typeface="Jost" pitchFamily="34" charset="0"/>
                          <a:ea typeface="Jost" pitchFamily="34" charset="-122"/>
                          <a:cs typeface="Jost" pitchFamily="34" charset="-120"/>
                        </a:rPr>
                        <a:t>Global medical spa market, 2026</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$27.8B</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Grand View Research</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EDE7DE"/>
                          </a:solidFill>
                          <a:latin typeface="Jost" pitchFamily="34" charset="0"/>
                          <a:ea typeface="Jost" pitchFamily="34" charset="-122"/>
                          <a:cs typeface="Jost" pitchFamily="34" charset="-120"/>
                        </a:rPr>
                        <a:t>US medical spas, 2023</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10,488</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Grand View Research</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EDE7DE"/>
                          </a:solidFill>
                          <a:latin typeface="Jost" pitchFamily="34" charset="0"/>
                          <a:ea typeface="Jost" pitchFamily="34" charset="-122"/>
                          <a:cs typeface="Jost" pitchFamily="34" charset="-120"/>
                        </a:rPr>
                        <a:t>US consumers calling wellness a top or important priority</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82%</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McKinsey</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EDE7DE"/>
                          </a:solidFill>
                          <a:latin typeface="Jost" pitchFamily="34" charset="0"/>
                          <a:ea typeface="Jost" pitchFamily="34" charset="-122"/>
                          <a:cs typeface="Jost" pitchFamily="34" charset="-120"/>
                        </a:rPr>
                        <a:t>US concierge medicine market by 2034</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$19.4B</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Cited in Patientfy longevity market map</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EDE7DE"/>
                          </a:solidFill>
                          <a:latin typeface="Jost" pitchFamily="34" charset="0"/>
                          <a:ea typeface="Jost" pitchFamily="34" charset="-122"/>
                          <a:cs typeface="Jost" pitchFamily="34" charset="-120"/>
                        </a:rPr>
                        <a:t>US adults currently taking a GLP-1</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1 in 8</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KFF</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EDE7DE"/>
                          </a:solidFill>
                          <a:latin typeface="Jost" pitchFamily="34" charset="0"/>
                          <a:ea typeface="Jost" pitchFamily="34" charset="-122"/>
                          <a:cs typeface="Jost" pitchFamily="34" charset="-120"/>
                        </a:rPr>
                        <a:t>Longevity retreats market, 2026</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$11.1B</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Research and Markets</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17</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MARKET</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SILICON BEACH, AT ITS DENSEST</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The facility sits in Marina del Rey, two miles west of Playa Vista and inside the same Westside corridor. Playa Vista is the master-planned innovation district on the old Hughes Aircraft site that became the center of gravity for the Westside, with the Google, YouTube and Meta campuses within a walk of one another. LAX is four miles south and the studios fifteen minutes north.</a:t>
            </a:r>
            <a:endParaRPr lang="en-US" sz="1050" dirty="0"/>
          </a:p>
        </p:txBody>
      </p:sp>
      <p:sp>
        <p:nvSpPr>
          <p:cNvPr id="6" name="Shape 4"/>
          <p:cNvSpPr/>
          <p:nvPr/>
        </p:nvSpPr>
        <p:spPr>
          <a:xfrm>
            <a:off x="502920" y="1783080"/>
            <a:ext cx="2615184" cy="1554480"/>
          </a:xfrm>
          <a:prstGeom prst="rect">
            <a:avLst/>
          </a:prstGeom>
          <a:solidFill>
            <a:srgbClr val="1C1C1E"/>
          </a:solidFill>
          <a:ln w="9525">
            <a:solidFill>
              <a:srgbClr val="271F13"/>
            </a:solidFill>
            <a:prstDash val="solid"/>
          </a:ln>
        </p:spPr>
      </p:sp>
      <p:sp>
        <p:nvSpPr>
          <p:cNvPr id="7" name="Text 5"/>
          <p:cNvSpPr/>
          <p:nvPr/>
        </p:nvSpPr>
        <p:spPr>
          <a:xfrm>
            <a:off x="649224" y="191109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$129,942</a:t>
            </a:r>
            <a:endParaRPr lang="en-US" sz="2000" dirty="0"/>
          </a:p>
        </p:txBody>
      </p:sp>
      <p:sp>
        <p:nvSpPr>
          <p:cNvPr id="8" name="Text 6"/>
          <p:cNvSpPr/>
          <p:nvPr/>
        </p:nvSpPr>
        <p:spPr>
          <a:xfrm>
            <a:off x="649224" y="2258568"/>
            <a:ext cx="2322576" cy="274320"/>
          </a:xfrm>
          <a:prstGeom prst="rect">
            <a:avLst/>
          </a:prstGeom>
          <a:noFill/>
          <a:ln/>
        </p:spPr>
        <p:txBody>
          <a:bodyPr wrap="square" rtlCol="0" anchor="t"/>
          <a:lstStyle/>
          <a:p>
            <a:pPr indent="0" marL="0">
              <a:lnSpc>
                <a:spcPct val="110000"/>
              </a:lnSpc>
              <a:buNone/>
            </a:pPr>
            <a:r>
              <a:rPr lang="en-US" sz="900" dirty="0">
                <a:solidFill>
                  <a:srgbClr val="EDE7DE"/>
                </a:solidFill>
                <a:latin typeface="Jost" pitchFamily="34" charset="0"/>
                <a:ea typeface="Jost" pitchFamily="34" charset="-122"/>
                <a:cs typeface="Jost" pitchFamily="34" charset="-120"/>
              </a:rPr>
              <a:t>Playa Vista median household income</a:t>
            </a:r>
            <a:endParaRPr lang="en-US" sz="900" dirty="0"/>
          </a:p>
        </p:txBody>
      </p:sp>
      <p:sp>
        <p:nvSpPr>
          <p:cNvPr id="9" name="Text 7"/>
          <p:cNvSpPr/>
          <p:nvPr/>
        </p:nvSpPr>
        <p:spPr>
          <a:xfrm>
            <a:off x="649224" y="2569464"/>
            <a:ext cx="2322576" cy="658368"/>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Against a Los Angeles County median well below it. This is a cash-pay market. (US Census Bureau, via Point2Homes)</a:t>
            </a:r>
            <a:endParaRPr lang="en-US" sz="800" dirty="0"/>
          </a:p>
        </p:txBody>
      </p:sp>
      <p:sp>
        <p:nvSpPr>
          <p:cNvPr id="10" name="Shape 8"/>
          <p:cNvSpPr/>
          <p:nvPr/>
        </p:nvSpPr>
        <p:spPr>
          <a:xfrm>
            <a:off x="3264408" y="1783080"/>
            <a:ext cx="2615184" cy="1554480"/>
          </a:xfrm>
          <a:prstGeom prst="rect">
            <a:avLst/>
          </a:prstGeom>
          <a:solidFill>
            <a:srgbClr val="1C1C1E"/>
          </a:solidFill>
          <a:ln w="9525">
            <a:solidFill>
              <a:srgbClr val="271F13"/>
            </a:solidFill>
            <a:prstDash val="solid"/>
          </a:ln>
        </p:spPr>
      </p:sp>
      <p:sp>
        <p:nvSpPr>
          <p:cNvPr id="11" name="Text 9"/>
          <p:cNvSpPr/>
          <p:nvPr/>
        </p:nvSpPr>
        <p:spPr>
          <a:xfrm>
            <a:off x="3410712" y="191109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500+</a:t>
            </a:r>
            <a:endParaRPr lang="en-US" sz="2000" dirty="0"/>
          </a:p>
        </p:txBody>
      </p:sp>
      <p:sp>
        <p:nvSpPr>
          <p:cNvPr id="12" name="Text 10"/>
          <p:cNvSpPr/>
          <p:nvPr/>
        </p:nvSpPr>
        <p:spPr>
          <a:xfrm>
            <a:off x="3410712" y="2258568"/>
            <a:ext cx="2322576" cy="274320"/>
          </a:xfrm>
          <a:prstGeom prst="rect">
            <a:avLst/>
          </a:prstGeom>
          <a:noFill/>
          <a:ln/>
        </p:spPr>
        <p:txBody>
          <a:bodyPr wrap="square" rtlCol="0" anchor="t"/>
          <a:lstStyle/>
          <a:p>
            <a:pPr indent="0" marL="0">
              <a:lnSpc>
                <a:spcPct val="110000"/>
              </a:lnSpc>
              <a:buNone/>
            </a:pPr>
            <a:r>
              <a:rPr lang="en-US" sz="900" dirty="0">
                <a:solidFill>
                  <a:srgbClr val="EDE7DE"/>
                </a:solidFill>
                <a:latin typeface="Jost" pitchFamily="34" charset="0"/>
                <a:ea typeface="Jost" pitchFamily="34" charset="-122"/>
                <a:cs typeface="Jost" pitchFamily="34" charset="-120"/>
              </a:rPr>
              <a:t>Technology companies in Silicon Beach</a:t>
            </a:r>
            <a:endParaRPr lang="en-US" sz="900" dirty="0"/>
          </a:p>
        </p:txBody>
      </p:sp>
      <p:sp>
        <p:nvSpPr>
          <p:cNvPr id="13" name="Text 11"/>
          <p:cNvSpPr/>
          <p:nvPr/>
        </p:nvSpPr>
        <p:spPr>
          <a:xfrm>
            <a:off x="3410712" y="2569464"/>
            <a:ext cx="2322576" cy="658368"/>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The Westside tech corridor that Playa Vista sits at the center of. (Wikipedia, Silicon Beach)</a:t>
            </a:r>
            <a:endParaRPr lang="en-US" sz="800" dirty="0"/>
          </a:p>
        </p:txBody>
      </p:sp>
      <p:sp>
        <p:nvSpPr>
          <p:cNvPr id="14" name="Shape 12"/>
          <p:cNvSpPr/>
          <p:nvPr/>
        </p:nvSpPr>
        <p:spPr>
          <a:xfrm>
            <a:off x="6025896" y="1783080"/>
            <a:ext cx="2615184" cy="1554480"/>
          </a:xfrm>
          <a:prstGeom prst="rect">
            <a:avLst/>
          </a:prstGeom>
          <a:solidFill>
            <a:srgbClr val="1C1C1E"/>
          </a:solidFill>
          <a:ln w="9525">
            <a:solidFill>
              <a:srgbClr val="271F13"/>
            </a:solidFill>
            <a:prstDash val="solid"/>
          </a:ln>
        </p:spPr>
      </p:sp>
      <p:sp>
        <p:nvSpPr>
          <p:cNvPr id="15" name="Text 13"/>
          <p:cNvSpPr/>
          <p:nvPr/>
        </p:nvSpPr>
        <p:spPr>
          <a:xfrm>
            <a:off x="6172200" y="1911096"/>
            <a:ext cx="2322576" cy="329184"/>
          </a:xfrm>
          <a:prstGeom prst="rect">
            <a:avLst/>
          </a:prstGeom>
          <a:noFill/>
          <a:ln/>
        </p:spPr>
        <p:txBody>
          <a:bodyPr wrap="square" rtlCol="0" anchor="t"/>
          <a:lstStyle/>
          <a:p>
            <a:pPr indent="0" marL="0">
              <a:buNone/>
            </a:pPr>
            <a:r>
              <a:rPr lang="en-US" sz="2000" dirty="0">
                <a:solidFill>
                  <a:srgbClr val="B08D57"/>
                </a:solidFill>
                <a:latin typeface="Cormorant Garamond" pitchFamily="34" charset="0"/>
                <a:ea typeface="Cormorant Garamond" pitchFamily="34" charset="-122"/>
                <a:cs typeface="Cormorant Garamond" pitchFamily="34" charset="-120"/>
              </a:rPr>
              <a:t>~5,100</a:t>
            </a:r>
            <a:endParaRPr lang="en-US" sz="2000" dirty="0"/>
          </a:p>
        </p:txBody>
      </p:sp>
      <p:sp>
        <p:nvSpPr>
          <p:cNvPr id="16" name="Text 14"/>
          <p:cNvSpPr/>
          <p:nvPr/>
        </p:nvSpPr>
        <p:spPr>
          <a:xfrm>
            <a:off x="6172200" y="2258568"/>
            <a:ext cx="2322576" cy="274320"/>
          </a:xfrm>
          <a:prstGeom prst="rect">
            <a:avLst/>
          </a:prstGeom>
          <a:noFill/>
          <a:ln/>
        </p:spPr>
        <p:txBody>
          <a:bodyPr wrap="square" rtlCol="0" anchor="t"/>
          <a:lstStyle/>
          <a:p>
            <a:pPr indent="0" marL="0">
              <a:lnSpc>
                <a:spcPct val="110000"/>
              </a:lnSpc>
              <a:buNone/>
            </a:pPr>
            <a:r>
              <a:rPr lang="en-US" sz="900" dirty="0">
                <a:solidFill>
                  <a:srgbClr val="EDE7DE"/>
                </a:solidFill>
                <a:latin typeface="Jost" pitchFamily="34" charset="0"/>
                <a:ea typeface="Jost" pitchFamily="34" charset="-122"/>
                <a:cs typeface="Jost" pitchFamily="34" charset="-120"/>
              </a:rPr>
              <a:t>Employed at The Campus at Playa Vista</a:t>
            </a:r>
            <a:endParaRPr lang="en-US" sz="900" dirty="0"/>
          </a:p>
        </p:txBody>
      </p:sp>
      <p:sp>
        <p:nvSpPr>
          <p:cNvPr id="17" name="Text 15"/>
          <p:cNvSpPr/>
          <p:nvPr/>
        </p:nvSpPr>
        <p:spPr>
          <a:xfrm>
            <a:off x="6172200" y="2569464"/>
            <a:ext cx="2322576" cy="658368"/>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Up from roughly 2,000 in 2015, a 150% increase. A dense, high-income daytime population inside walking distance. (Los Angeles Business Journal)</a:t>
            </a:r>
            <a:endParaRPr lang="en-US" sz="800" dirty="0"/>
          </a:p>
        </p:txBody>
      </p:sp>
      <p:sp>
        <p:nvSpPr>
          <p:cNvPr id="18" name="Text 16"/>
          <p:cNvSpPr/>
          <p:nvPr/>
        </p:nvSpPr>
        <p:spPr>
          <a:xfrm>
            <a:off x="502920" y="3520440"/>
            <a:ext cx="8138160"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INSIDE A REALISTIC DRIVE TIME</a:t>
            </a:r>
            <a:endParaRPr lang="en-US" sz="750" dirty="0"/>
          </a:p>
        </p:txBody>
      </p:sp>
      <p:sp>
        <p:nvSpPr>
          <p:cNvPr id="19" name="Text 17"/>
          <p:cNvSpPr/>
          <p:nvPr/>
        </p:nvSpPr>
        <p:spPr>
          <a:xfrm>
            <a:off x="502920" y="3749040"/>
            <a:ext cx="8138160" cy="548640"/>
          </a:xfrm>
          <a:prstGeom prst="rect">
            <a:avLst/>
          </a:prstGeom>
          <a:noFill/>
          <a:ln/>
        </p:spPr>
        <p:txBody>
          <a:bodyPr wrap="square" rtlCol="0" anchor="t"/>
          <a:lstStyle/>
          <a:p>
            <a:pPr indent="0" marL="0">
              <a:lnSpc>
                <a:spcPct val="120000"/>
              </a:lnSpc>
              <a:buNone/>
            </a:pPr>
            <a:r>
              <a:rPr lang="en-US" sz="1000" dirty="0">
                <a:solidFill>
                  <a:srgbClr val="C9BCA9"/>
                </a:solidFill>
                <a:latin typeface="Jost" pitchFamily="34" charset="0"/>
                <a:ea typeface="Jost" pitchFamily="34" charset="-122"/>
                <a:cs typeface="Jost" pitchFamily="34" charset="-120"/>
              </a:rPr>
              <a:t>Playa Vista   ·   Marina del Rey   ·   Culver City   ·   Venice   ·   Santa Monica   ·   Playa del Rey   ·   El Segundo   ·   Westchester   ·   Mar Vista   ·   Manhattan Beach</a:t>
            </a:r>
            <a:endParaRPr lang="en-US" sz="1000" dirty="0"/>
          </a:p>
        </p:txBody>
      </p:sp>
      <p:sp>
        <p:nvSpPr>
          <p:cNvPr id="20" name="Text 18"/>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21" name="Text 19"/>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18</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UNIT ECONOMICS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30 LINES, ALL CASH-PAY (1 OF 2)</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No insurance contracts, no payer mix, no receivables aging. Prices are exact, not banded.</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572768"/>
          <a:ext cx="8138160" cy="914400"/>
        </p:xfrm>
        <a:graphic>
          <a:graphicData uri="http://schemas.openxmlformats.org/drawingml/2006/table">
            <a:tbl>
              <a:tblPr/>
              <a:tblGrid>
                <a:gridCol w="2103120"/>
                <a:gridCol w="960120"/>
                <a:gridCol w="777240"/>
                <a:gridCol w="685800"/>
                <a:gridCol w="868680"/>
                <a:gridCol w="1143000"/>
                <a:gridCol w="1143000"/>
              </a:tblGrid>
              <a:tr h="146304">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SERVICE</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CATEGORY</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PRICE</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MARGIN</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SESSIONS/MO</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GROSS/MO</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AFTER MARGIN</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Aescape Robotic Massage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Recovery</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82%</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$14,000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$11,480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Ammortal Chamber</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Recovery</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$140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82%</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120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$16,800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$13,776</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Red Light Therapy</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Recovery</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82%</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$39,000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$31,980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Hyperbaric Oxygen</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Recovery</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$10,000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Compression Therapy</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Recovery</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82%</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225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$10,125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$8,303</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PRP: Hair &amp; Scalp</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PRP</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$995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72%</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33</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$32,835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$23,641</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PRP: Face &amp; Aesthetic</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PRP</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68%</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$24,500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$16,660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PRP: Scar &amp; Skin Repair</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PRP</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$3,900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PRP: Soft Tissue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PRP</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$16,250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PRP: Joint &amp; Cartilage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PRP</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$1,200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62%</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$30,000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$18,600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PRP: Post-procedure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PRP</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$9,750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$5,850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Basic Hydration</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Regenerative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$99</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68%</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71</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$7,029</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$4,780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Myers Cocktail</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Regenerative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$199</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56%</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34</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$6,766</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$3,789</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Recovery / Hangover</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Regenerative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$249</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62%</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34</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$8,466</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$5,249</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Immunity / High-Dose C</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Regenerative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$289</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61%</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$7,225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$4,407</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B08D57"/>
                          </a:solidFill>
                          <a:latin typeface="Jost" pitchFamily="34" charset="0"/>
                          <a:ea typeface="Jost" pitchFamily="34" charset="-122"/>
                          <a:cs typeface="Jost" pitchFamily="34" charset="-120"/>
                        </a:rPr>
                        <a:t>Subtotal, continued overleaf</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71%</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1,552</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$247,496</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$176,665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19</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UNIT ECONOMICS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30 LINES, ALL CASH-PAY (2 OF 2)</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138160" cy="914400"/>
        </p:xfrm>
        <a:graphic>
          <a:graphicData uri="http://schemas.openxmlformats.org/drawingml/2006/table">
            <a:tbl>
              <a:tblPr/>
              <a:tblGrid>
                <a:gridCol w="2103120"/>
                <a:gridCol w="960120"/>
                <a:gridCol w="777240"/>
                <a:gridCol w="685800"/>
                <a:gridCol w="868680"/>
                <a:gridCol w="1143000"/>
                <a:gridCol w="1143000"/>
              </a:tblGrid>
              <a:tr h="146304">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SERVICE</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CATEGORY</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PRICE</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MARGIN</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SESSIONS/MO</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GROSS/MO</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AFTER MARGIN</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Beauty / Glutathione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Regenerative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$165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66%</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57</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$9,405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$6,207</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Athletic Performance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Regenerative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$249</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$9,960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$6,474</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NAD+ 100mg</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Regenerative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$289</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74%</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$7,225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$5,347</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NAD+ 250mg</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Regenerative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76%</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33</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$11,550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$8,778</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NAD+ 500mg</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Regenerative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78%</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33</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$18,150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$14,157</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IM Shot: B12 / Lipo</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Regenerative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58</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$5,510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$3,582</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Therapeutic medications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Regenerative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$18,000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$13,500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Botox (15-unit minimum)</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Aesthetics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$240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$19,200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$13,440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Filler (0.5 ml)</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Aesthetics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56</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$47,600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$30,940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RF Microneedling</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Aesthetics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$50,000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$37,500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Laser Platform</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Aesthetics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$17,850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Advanced Biometrics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Diagnostics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$225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$3,150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DNA Analysis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Diagnostics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67%</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$6,030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DUTCH Plus Test</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Diagnostics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$15,000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$9,750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EDE7DE"/>
                          </a:solidFill>
                          <a:latin typeface="Jost" pitchFamily="34" charset="0"/>
                          <a:ea typeface="Jost" pitchFamily="34" charset="-122"/>
                          <a:cs typeface="Jost" pitchFamily="34" charset="-120"/>
                        </a:rPr>
                        <a:t>DEXA Scan</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Diagnostics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77%</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$9,025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$6,949</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46304">
                <a:tc>
                  <a:txBody>
                    <a:bodyPr/>
                    <a:lstStyle/>
                    <a:p>
                      <a:pPr algn="l" indent="0" marL="0">
                        <a:buNone/>
                      </a:pPr>
                      <a:r>
                        <a:rPr lang="en-US" sz="750" dirty="0">
                          <a:solidFill>
                            <a:srgbClr val="B08D57"/>
                          </a:solidFill>
                          <a:latin typeface="Jost" pitchFamily="34" charset="0"/>
                          <a:ea typeface="Jost" pitchFamily="34" charset="-122"/>
                          <a:cs typeface="Jost" pitchFamily="34" charset="-120"/>
                        </a:rPr>
                        <a:t>Wellness delivery at list value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71%</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2,224</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$507,121</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$360,318</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20</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REVENUE MODEL</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MEMBERSHIP IS NOT ADDITIVE</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The easy mistake is to stack membership fees on top of full à la carte revenue. Members draw down a credit bank against services that would otherwise be paid at list price, so redemption is netted out first.</a:t>
            </a:r>
            <a:endParaRPr lang="en-US" sz="10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783080"/>
          <a:ext cx="8138160" cy="914400"/>
        </p:xfrm>
        <a:graphic>
          <a:graphicData uri="http://schemas.openxmlformats.org/drawingml/2006/table">
            <a:tbl>
              <a:tblPr/>
              <a:tblGrid>
                <a:gridCol w="5486400"/>
                <a:gridCol w="2651760"/>
              </a:tblGrid>
              <a:tr h="274320">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BUILD</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MONTHLY</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274320">
                <a:tc>
                  <a:txBody>
                    <a:bodyPr/>
                    <a:lstStyle/>
                    <a:p>
                      <a:pPr algn="l" indent="0" marL="0">
                        <a:buNone/>
                      </a:pPr>
                      <a:r>
                        <a:rPr lang="en-US" sz="900" dirty="0">
                          <a:solidFill>
                            <a:srgbClr val="EDE7DE"/>
                          </a:solidFill>
                          <a:latin typeface="Jost" pitchFamily="34" charset="0"/>
                          <a:ea typeface="Jost" pitchFamily="34" charset="-122"/>
                          <a:cs typeface="Jost" pitchFamily="34" charset="-120"/>
                        </a:rPr>
                        <a:t>Service delivery at list value</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$507,121</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6B6965"/>
                          </a:solidFill>
                          <a:latin typeface="Jost" pitchFamily="34" charset="0"/>
                          <a:ea typeface="Jost" pitchFamily="34" charset="-122"/>
                          <a:cs typeface="Jost" pitchFamily="34" charset="-120"/>
                        </a:rPr>
                        <a:t>less member credit redemption</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6B6965"/>
                          </a:solidFill>
                          <a:latin typeface="Jost" pitchFamily="34" charset="0"/>
                          <a:ea typeface="Jost" pitchFamily="34" charset="-122"/>
                          <a:cs typeface="Jost" pitchFamily="34" charset="-120"/>
                        </a:rPr>
                        <a:t>-$129,500</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6B6965"/>
                          </a:solidFill>
                          <a:latin typeface="Jost" pitchFamily="34" charset="0"/>
                          <a:ea typeface="Jost" pitchFamily="34" charset="-122"/>
                          <a:cs typeface="Jost" pitchFamily="34" charset="-120"/>
                        </a:rPr>
                        <a:t>less member and Friends discount</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6B6965"/>
                          </a:solidFill>
                          <a:latin typeface="Jost" pitchFamily="34" charset="0"/>
                          <a:ea typeface="Jost" pitchFamily="34" charset="-122"/>
                          <a:cs typeface="Jost" pitchFamily="34" charset="-120"/>
                        </a:rPr>
                        <a:t>-$30,210</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B08D57"/>
                          </a:solidFill>
                          <a:latin typeface="Jost" pitchFamily="34" charset="0"/>
                          <a:ea typeface="Jost" pitchFamily="34" charset="-122"/>
                          <a:cs typeface="Jost" pitchFamily="34" charset="-120"/>
                        </a:rPr>
                        <a:t>À la carte revenue</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B08D57"/>
                          </a:solidFill>
                          <a:latin typeface="Jost" pitchFamily="34" charset="0"/>
                          <a:ea typeface="Jost" pitchFamily="34" charset="-122"/>
                          <a:cs typeface="Jost" pitchFamily="34" charset="-120"/>
                        </a:rPr>
                        <a:t>$347,411</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EDE7DE"/>
                          </a:solidFill>
                          <a:latin typeface="Jost" pitchFamily="34" charset="0"/>
                          <a:ea typeface="Jost" pitchFamily="34" charset="-122"/>
                          <a:cs typeface="Jost" pitchFamily="34" charset="-120"/>
                        </a:rPr>
                        <a:t>plus membership fees</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$230,000</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EDE7DE"/>
                          </a:solidFill>
                          <a:latin typeface="Jost" pitchFamily="34" charset="0"/>
                          <a:ea typeface="Jost" pitchFamily="34" charset="-122"/>
                          <a:cs typeface="Jost" pitchFamily="34" charset="-120"/>
                        </a:rPr>
                        <a:t>plus day pass and access</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$20,625</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900" dirty="0">
                          <a:solidFill>
                            <a:srgbClr val="B08D57"/>
                          </a:solidFill>
                          <a:latin typeface="Jost" pitchFamily="34" charset="0"/>
                          <a:ea typeface="Jost" pitchFamily="34" charset="-122"/>
                          <a:cs typeface="Jost" pitchFamily="34" charset="-120"/>
                        </a:rPr>
                        <a:t>Total revenue per month</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B08D57"/>
                          </a:solidFill>
                          <a:latin typeface="Jost" pitchFamily="34" charset="0"/>
                          <a:ea typeface="Jost" pitchFamily="34" charset="-122"/>
                          <a:cs typeface="Jost" pitchFamily="34" charset="-120"/>
                        </a:rPr>
                        <a:t>$598,036</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7" name="Text 4"/>
          <p:cNvSpPr/>
          <p:nvPr/>
        </p:nvSpPr>
        <p:spPr>
          <a:xfrm>
            <a:off x="502920" y="4114800"/>
            <a:ext cx="8138160" cy="457200"/>
          </a:xfrm>
          <a:prstGeom prst="rect">
            <a:avLst/>
          </a:prstGeom>
          <a:noFill/>
          <a:ln/>
        </p:spPr>
        <p:txBody>
          <a:bodyPr wrap="square" rtlCol="0" anchor="t"/>
          <a:lstStyle/>
          <a:p>
            <a:pPr indent="0" marL="0">
              <a:lnSpc>
                <a:spcPct val="120000"/>
              </a:lnSpc>
              <a:buNone/>
            </a:pPr>
            <a:r>
              <a:rPr lang="en-US" sz="850" dirty="0">
                <a:solidFill>
                  <a:srgbClr val="6B6965"/>
                </a:solidFill>
                <a:latin typeface="Jost" pitchFamily="34" charset="0"/>
                <a:ea typeface="Jost" pitchFamily="34" charset="-122"/>
                <a:cs typeface="Jost" pitchFamily="34" charset="-120"/>
              </a:rPr>
              <a:t>Residents and Longevity members pay $207,500 a month and redeem $129,500 of service at retail. Redemption ratio 62.4%. If that exceeded 100% the credit bank would be underpriced; the model asserts it cannot.</a:t>
            </a:r>
            <a:endParaRPr lang="en-US" sz="850" dirty="0"/>
          </a:p>
        </p:txBody>
      </p:sp>
      <p:sp>
        <p:nvSpPr>
          <p:cNvPr id="8" name="Text 5"/>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9" name="Text 6"/>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21</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RAMP</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BREAKEVEN AT MONTH 10</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Months one through six are construction and founding presales. There is no debt service at any point, so operating income is what the business keeps.</a:t>
            </a:r>
            <a:endParaRPr lang="en-US" sz="1050" dirty="0"/>
          </a:p>
        </p:txBody>
      </p:sp>
      <p:sp>
        <p:nvSpPr>
          <p:cNvPr id="6" name="Shape 4"/>
          <p:cNvSpPr/>
          <p:nvPr/>
        </p:nvSpPr>
        <p:spPr>
          <a:xfrm>
            <a:off x="502920" y="1627632"/>
            <a:ext cx="8138160" cy="2331720"/>
          </a:xfrm>
          <a:prstGeom prst="rect">
            <a:avLst/>
          </a:prstGeom>
          <a:solidFill>
            <a:srgbClr val="1C1C1E"/>
          </a:solidFill>
          <a:ln w="9525">
            <a:solidFill>
              <a:srgbClr val="271F13"/>
            </a:solidFill>
            <a:prstDash val="solid"/>
          </a:ln>
        </p:spPr>
      </p:sp>
      <p:sp>
        <p:nvSpPr>
          <p:cNvPr id="7" name="Shape 5"/>
          <p:cNvSpPr/>
          <p:nvPr/>
        </p:nvSpPr>
        <p:spPr>
          <a:xfrm>
            <a:off x="502920" y="3344538"/>
            <a:ext cx="8138160" cy="10973"/>
          </a:xfrm>
          <a:prstGeom prst="rect">
            <a:avLst/>
          </a:prstGeom>
          <a:solidFill>
            <a:srgbClr val="B08D57"/>
          </a:solidFill>
          <a:ln w="12700">
            <a:solidFill>
              <a:srgbClr val="B08D57"/>
            </a:solidFill>
            <a:prstDash val="solid"/>
          </a:ln>
        </p:spPr>
      </p:sp>
      <p:sp>
        <p:nvSpPr>
          <p:cNvPr id="8" name="Shape 6"/>
          <p:cNvSpPr/>
          <p:nvPr/>
        </p:nvSpPr>
        <p:spPr>
          <a:xfrm>
            <a:off x="541350" y="3344538"/>
            <a:ext cx="149200" cy="555128"/>
          </a:xfrm>
          <a:prstGeom prst="rect">
            <a:avLst/>
          </a:prstGeom>
          <a:solidFill>
            <a:srgbClr val="6B6965"/>
          </a:solidFill>
          <a:ln w="12700">
            <a:solidFill>
              <a:srgbClr val="6B6965"/>
            </a:solidFill>
            <a:prstDash val="solid"/>
          </a:ln>
        </p:spPr>
      </p:sp>
      <p:sp>
        <p:nvSpPr>
          <p:cNvPr id="9" name="Shape 7"/>
          <p:cNvSpPr/>
          <p:nvPr/>
        </p:nvSpPr>
        <p:spPr>
          <a:xfrm>
            <a:off x="767410" y="3344538"/>
            <a:ext cx="149200" cy="555128"/>
          </a:xfrm>
          <a:prstGeom prst="rect">
            <a:avLst/>
          </a:prstGeom>
          <a:solidFill>
            <a:srgbClr val="6B6965"/>
          </a:solidFill>
          <a:ln w="12700">
            <a:solidFill>
              <a:srgbClr val="6B6965"/>
            </a:solidFill>
            <a:prstDash val="solid"/>
          </a:ln>
        </p:spPr>
      </p:sp>
      <p:sp>
        <p:nvSpPr>
          <p:cNvPr id="10" name="Shape 8"/>
          <p:cNvSpPr/>
          <p:nvPr/>
        </p:nvSpPr>
        <p:spPr>
          <a:xfrm>
            <a:off x="993470" y="3344538"/>
            <a:ext cx="149200" cy="555128"/>
          </a:xfrm>
          <a:prstGeom prst="rect">
            <a:avLst/>
          </a:prstGeom>
          <a:solidFill>
            <a:srgbClr val="6B6965"/>
          </a:solidFill>
          <a:ln w="12700">
            <a:solidFill>
              <a:srgbClr val="6B6965"/>
            </a:solidFill>
            <a:prstDash val="solid"/>
          </a:ln>
        </p:spPr>
      </p:sp>
      <p:sp>
        <p:nvSpPr>
          <p:cNvPr id="11" name="Shape 9"/>
          <p:cNvSpPr/>
          <p:nvPr/>
        </p:nvSpPr>
        <p:spPr>
          <a:xfrm>
            <a:off x="1219530" y="3344538"/>
            <a:ext cx="149200" cy="555128"/>
          </a:xfrm>
          <a:prstGeom prst="rect">
            <a:avLst/>
          </a:prstGeom>
          <a:solidFill>
            <a:srgbClr val="6B6965"/>
          </a:solidFill>
          <a:ln w="12700">
            <a:solidFill>
              <a:srgbClr val="6B6965"/>
            </a:solidFill>
            <a:prstDash val="solid"/>
          </a:ln>
        </p:spPr>
      </p:sp>
      <p:sp>
        <p:nvSpPr>
          <p:cNvPr id="12" name="Shape 10"/>
          <p:cNvSpPr/>
          <p:nvPr/>
        </p:nvSpPr>
        <p:spPr>
          <a:xfrm>
            <a:off x="1445590" y="3344538"/>
            <a:ext cx="149200" cy="555128"/>
          </a:xfrm>
          <a:prstGeom prst="rect">
            <a:avLst/>
          </a:prstGeom>
          <a:solidFill>
            <a:srgbClr val="6B6965"/>
          </a:solidFill>
          <a:ln w="12700">
            <a:solidFill>
              <a:srgbClr val="6B6965"/>
            </a:solidFill>
            <a:prstDash val="solid"/>
          </a:ln>
        </p:spPr>
      </p:sp>
      <p:sp>
        <p:nvSpPr>
          <p:cNvPr id="13" name="Shape 11"/>
          <p:cNvSpPr/>
          <p:nvPr/>
        </p:nvSpPr>
        <p:spPr>
          <a:xfrm>
            <a:off x="1671650" y="3344538"/>
            <a:ext cx="149200" cy="555128"/>
          </a:xfrm>
          <a:prstGeom prst="rect">
            <a:avLst/>
          </a:prstGeom>
          <a:solidFill>
            <a:srgbClr val="6B6965"/>
          </a:solidFill>
          <a:ln w="12700">
            <a:solidFill>
              <a:srgbClr val="6B6965"/>
            </a:solidFill>
            <a:prstDash val="solid"/>
          </a:ln>
        </p:spPr>
      </p:sp>
      <p:sp>
        <p:nvSpPr>
          <p:cNvPr id="14" name="Text 12"/>
          <p:cNvSpPr/>
          <p:nvPr/>
        </p:nvSpPr>
        <p:spPr>
          <a:xfrm>
            <a:off x="1445590" y="3986784"/>
            <a:ext cx="678180" cy="164592"/>
          </a:xfrm>
          <a:prstGeom prst="rect">
            <a:avLst/>
          </a:prstGeom>
          <a:noFill/>
          <a:ln/>
        </p:spPr>
        <p:txBody>
          <a:bodyPr wrap="square" rtlCol="0" anchor="ctr"/>
          <a:lstStyle/>
          <a:p>
            <a:pPr algn="ctr" indent="0" marL="0">
              <a:buNone/>
            </a:pPr>
            <a:r>
              <a:rPr lang="en-US" sz="700" dirty="0">
                <a:solidFill>
                  <a:srgbClr val="6B6965"/>
                </a:solidFill>
                <a:latin typeface="Jost" pitchFamily="34" charset="0"/>
                <a:ea typeface="Jost" pitchFamily="34" charset="-122"/>
                <a:cs typeface="Jost" pitchFamily="34" charset="-120"/>
              </a:rPr>
              <a:t>M6</a:t>
            </a:r>
            <a:endParaRPr lang="en-US" sz="700" dirty="0"/>
          </a:p>
        </p:txBody>
      </p:sp>
      <p:sp>
        <p:nvSpPr>
          <p:cNvPr id="15" name="Shape 13"/>
          <p:cNvSpPr/>
          <p:nvPr/>
        </p:nvSpPr>
        <p:spPr>
          <a:xfrm>
            <a:off x="1897710" y="3344538"/>
            <a:ext cx="149200" cy="614814"/>
          </a:xfrm>
          <a:prstGeom prst="rect">
            <a:avLst/>
          </a:prstGeom>
          <a:solidFill>
            <a:srgbClr val="6B6965"/>
          </a:solidFill>
          <a:ln w="12700">
            <a:solidFill>
              <a:srgbClr val="6B6965"/>
            </a:solidFill>
            <a:prstDash val="solid"/>
          </a:ln>
        </p:spPr>
      </p:sp>
      <p:sp>
        <p:nvSpPr>
          <p:cNvPr id="16" name="Shape 14"/>
          <p:cNvSpPr/>
          <p:nvPr/>
        </p:nvSpPr>
        <p:spPr>
          <a:xfrm>
            <a:off x="2123770" y="3344538"/>
            <a:ext cx="149200" cy="383606"/>
          </a:xfrm>
          <a:prstGeom prst="rect">
            <a:avLst/>
          </a:prstGeom>
          <a:solidFill>
            <a:srgbClr val="6B6965"/>
          </a:solidFill>
          <a:ln w="12700">
            <a:solidFill>
              <a:srgbClr val="6B6965"/>
            </a:solidFill>
            <a:prstDash val="solid"/>
          </a:ln>
        </p:spPr>
      </p:sp>
      <p:sp>
        <p:nvSpPr>
          <p:cNvPr id="17" name="Shape 15"/>
          <p:cNvSpPr/>
          <p:nvPr/>
        </p:nvSpPr>
        <p:spPr>
          <a:xfrm>
            <a:off x="2349830" y="3344538"/>
            <a:ext cx="149200" cy="119366"/>
          </a:xfrm>
          <a:prstGeom prst="rect">
            <a:avLst/>
          </a:prstGeom>
          <a:solidFill>
            <a:srgbClr val="6B6965"/>
          </a:solidFill>
          <a:ln w="12700">
            <a:solidFill>
              <a:srgbClr val="6B6965"/>
            </a:solidFill>
            <a:prstDash val="solid"/>
          </a:ln>
        </p:spPr>
      </p:sp>
      <p:sp>
        <p:nvSpPr>
          <p:cNvPr id="18" name="Shape 16"/>
          <p:cNvSpPr/>
          <p:nvPr/>
        </p:nvSpPr>
        <p:spPr>
          <a:xfrm>
            <a:off x="2575890" y="3265719"/>
            <a:ext cx="149200" cy="78818"/>
          </a:xfrm>
          <a:prstGeom prst="rect">
            <a:avLst/>
          </a:prstGeom>
          <a:solidFill>
            <a:srgbClr val="B08D57"/>
          </a:solidFill>
          <a:ln w="12700">
            <a:solidFill>
              <a:srgbClr val="B08D57"/>
            </a:solidFill>
            <a:prstDash val="solid"/>
          </a:ln>
        </p:spPr>
      </p:sp>
      <p:sp>
        <p:nvSpPr>
          <p:cNvPr id="19" name="Shape 17"/>
          <p:cNvSpPr/>
          <p:nvPr/>
        </p:nvSpPr>
        <p:spPr>
          <a:xfrm>
            <a:off x="2801950" y="3067543"/>
            <a:ext cx="149200" cy="276995"/>
          </a:xfrm>
          <a:prstGeom prst="rect">
            <a:avLst/>
          </a:prstGeom>
          <a:solidFill>
            <a:srgbClr val="B08D57"/>
          </a:solidFill>
          <a:ln w="12700">
            <a:solidFill>
              <a:srgbClr val="B08D57"/>
            </a:solidFill>
            <a:prstDash val="solid"/>
          </a:ln>
        </p:spPr>
      </p:sp>
      <p:sp>
        <p:nvSpPr>
          <p:cNvPr id="20" name="Shape 18"/>
          <p:cNvSpPr/>
          <p:nvPr/>
        </p:nvSpPr>
        <p:spPr>
          <a:xfrm>
            <a:off x="3028010" y="2869366"/>
            <a:ext cx="149200" cy="475171"/>
          </a:xfrm>
          <a:prstGeom prst="rect">
            <a:avLst/>
          </a:prstGeom>
          <a:solidFill>
            <a:srgbClr val="B08D57"/>
          </a:solidFill>
          <a:ln w="12700">
            <a:solidFill>
              <a:srgbClr val="B08D57"/>
            </a:solidFill>
            <a:prstDash val="solid"/>
          </a:ln>
        </p:spPr>
      </p:sp>
      <p:sp>
        <p:nvSpPr>
          <p:cNvPr id="21" name="Text 19"/>
          <p:cNvSpPr/>
          <p:nvPr/>
        </p:nvSpPr>
        <p:spPr>
          <a:xfrm>
            <a:off x="2801950" y="3986784"/>
            <a:ext cx="678180" cy="164592"/>
          </a:xfrm>
          <a:prstGeom prst="rect">
            <a:avLst/>
          </a:prstGeom>
          <a:noFill/>
          <a:ln/>
        </p:spPr>
        <p:txBody>
          <a:bodyPr wrap="square" rtlCol="0" anchor="ctr"/>
          <a:lstStyle/>
          <a:p>
            <a:pPr algn="ctr" indent="0" marL="0">
              <a:buNone/>
            </a:pPr>
            <a:r>
              <a:rPr lang="en-US" sz="700" dirty="0">
                <a:solidFill>
                  <a:srgbClr val="6B6965"/>
                </a:solidFill>
                <a:latin typeface="Jost" pitchFamily="34" charset="0"/>
                <a:ea typeface="Jost" pitchFamily="34" charset="-122"/>
                <a:cs typeface="Jost" pitchFamily="34" charset="-120"/>
              </a:rPr>
              <a:t>M12</a:t>
            </a:r>
            <a:endParaRPr lang="en-US" sz="700" dirty="0"/>
          </a:p>
        </p:txBody>
      </p:sp>
      <p:sp>
        <p:nvSpPr>
          <p:cNvPr id="22" name="Shape 20"/>
          <p:cNvSpPr/>
          <p:nvPr/>
        </p:nvSpPr>
        <p:spPr>
          <a:xfrm>
            <a:off x="3254070" y="2671182"/>
            <a:ext cx="149200" cy="673355"/>
          </a:xfrm>
          <a:prstGeom prst="rect">
            <a:avLst/>
          </a:prstGeom>
          <a:solidFill>
            <a:srgbClr val="B08D57"/>
          </a:solidFill>
          <a:ln w="12700">
            <a:solidFill>
              <a:srgbClr val="B08D57"/>
            </a:solidFill>
            <a:prstDash val="solid"/>
          </a:ln>
        </p:spPr>
      </p:sp>
      <p:sp>
        <p:nvSpPr>
          <p:cNvPr id="23" name="Shape 21"/>
          <p:cNvSpPr/>
          <p:nvPr/>
        </p:nvSpPr>
        <p:spPr>
          <a:xfrm>
            <a:off x="3480130" y="2539062"/>
            <a:ext cx="149200" cy="805476"/>
          </a:xfrm>
          <a:prstGeom prst="rect">
            <a:avLst/>
          </a:prstGeom>
          <a:solidFill>
            <a:srgbClr val="B08D57"/>
          </a:solidFill>
          <a:ln w="12700">
            <a:solidFill>
              <a:srgbClr val="B08D57"/>
            </a:solidFill>
            <a:prstDash val="solid"/>
          </a:ln>
        </p:spPr>
      </p:sp>
      <p:sp>
        <p:nvSpPr>
          <p:cNvPr id="24" name="Shape 22"/>
          <p:cNvSpPr/>
          <p:nvPr/>
        </p:nvSpPr>
        <p:spPr>
          <a:xfrm>
            <a:off x="3706190" y="2406942"/>
            <a:ext cx="149200" cy="937596"/>
          </a:xfrm>
          <a:prstGeom prst="rect">
            <a:avLst/>
          </a:prstGeom>
          <a:solidFill>
            <a:srgbClr val="B08D57"/>
          </a:solidFill>
          <a:ln w="12700">
            <a:solidFill>
              <a:srgbClr val="B08D57"/>
            </a:solidFill>
            <a:prstDash val="solid"/>
          </a:ln>
        </p:spPr>
      </p:sp>
      <p:sp>
        <p:nvSpPr>
          <p:cNvPr id="25" name="Shape 23"/>
          <p:cNvSpPr/>
          <p:nvPr/>
        </p:nvSpPr>
        <p:spPr>
          <a:xfrm>
            <a:off x="3932250" y="2274822"/>
            <a:ext cx="149200" cy="1069716"/>
          </a:xfrm>
          <a:prstGeom prst="rect">
            <a:avLst/>
          </a:prstGeom>
          <a:solidFill>
            <a:srgbClr val="B08D57"/>
          </a:solidFill>
          <a:ln w="12700">
            <a:solidFill>
              <a:srgbClr val="B08D57"/>
            </a:solidFill>
            <a:prstDash val="solid"/>
          </a:ln>
        </p:spPr>
      </p:sp>
      <p:sp>
        <p:nvSpPr>
          <p:cNvPr id="26" name="Shape 24"/>
          <p:cNvSpPr/>
          <p:nvPr/>
        </p:nvSpPr>
        <p:spPr>
          <a:xfrm>
            <a:off x="4158310" y="2142701"/>
            <a:ext cx="149200" cy="1201836"/>
          </a:xfrm>
          <a:prstGeom prst="rect">
            <a:avLst/>
          </a:prstGeom>
          <a:solidFill>
            <a:srgbClr val="B08D57"/>
          </a:solidFill>
          <a:ln w="12700">
            <a:solidFill>
              <a:srgbClr val="B08D57"/>
            </a:solidFill>
            <a:prstDash val="solid"/>
          </a:ln>
        </p:spPr>
      </p:sp>
      <p:sp>
        <p:nvSpPr>
          <p:cNvPr id="27" name="Shape 25"/>
          <p:cNvSpPr/>
          <p:nvPr/>
        </p:nvSpPr>
        <p:spPr>
          <a:xfrm>
            <a:off x="4384370" y="2091194"/>
            <a:ext cx="149200" cy="1253343"/>
          </a:xfrm>
          <a:prstGeom prst="rect">
            <a:avLst/>
          </a:prstGeom>
          <a:solidFill>
            <a:srgbClr val="B08D57"/>
          </a:solidFill>
          <a:ln w="12700">
            <a:solidFill>
              <a:srgbClr val="B08D57"/>
            </a:solidFill>
            <a:prstDash val="solid"/>
          </a:ln>
        </p:spPr>
      </p:sp>
      <p:sp>
        <p:nvSpPr>
          <p:cNvPr id="28" name="Text 26"/>
          <p:cNvSpPr/>
          <p:nvPr/>
        </p:nvSpPr>
        <p:spPr>
          <a:xfrm>
            <a:off x="4158310" y="3986784"/>
            <a:ext cx="678180" cy="164592"/>
          </a:xfrm>
          <a:prstGeom prst="rect">
            <a:avLst/>
          </a:prstGeom>
          <a:noFill/>
          <a:ln/>
        </p:spPr>
        <p:txBody>
          <a:bodyPr wrap="square" rtlCol="0" anchor="ctr"/>
          <a:lstStyle/>
          <a:p>
            <a:pPr algn="ctr" indent="0" marL="0">
              <a:buNone/>
            </a:pPr>
            <a:r>
              <a:rPr lang="en-US" sz="700" dirty="0">
                <a:solidFill>
                  <a:srgbClr val="6B6965"/>
                </a:solidFill>
                <a:latin typeface="Jost" pitchFamily="34" charset="0"/>
                <a:ea typeface="Jost" pitchFamily="34" charset="-122"/>
                <a:cs typeface="Jost" pitchFamily="34" charset="-120"/>
              </a:rPr>
              <a:t>M18</a:t>
            </a:r>
            <a:endParaRPr lang="en-US" sz="700" dirty="0"/>
          </a:p>
        </p:txBody>
      </p:sp>
      <p:sp>
        <p:nvSpPr>
          <p:cNvPr id="29" name="Shape 27"/>
          <p:cNvSpPr/>
          <p:nvPr/>
        </p:nvSpPr>
        <p:spPr>
          <a:xfrm>
            <a:off x="4610430" y="2039688"/>
            <a:ext cx="149200" cy="1304850"/>
          </a:xfrm>
          <a:prstGeom prst="rect">
            <a:avLst/>
          </a:prstGeom>
          <a:solidFill>
            <a:srgbClr val="B08D57"/>
          </a:solidFill>
          <a:ln w="12700">
            <a:solidFill>
              <a:srgbClr val="B08D57"/>
            </a:solidFill>
            <a:prstDash val="solid"/>
          </a:ln>
        </p:spPr>
      </p:sp>
      <p:sp>
        <p:nvSpPr>
          <p:cNvPr id="30" name="Shape 28"/>
          <p:cNvSpPr/>
          <p:nvPr/>
        </p:nvSpPr>
        <p:spPr>
          <a:xfrm>
            <a:off x="4836490" y="1988181"/>
            <a:ext cx="149200" cy="1356357"/>
          </a:xfrm>
          <a:prstGeom prst="rect">
            <a:avLst/>
          </a:prstGeom>
          <a:solidFill>
            <a:srgbClr val="B08D57"/>
          </a:solidFill>
          <a:ln w="12700">
            <a:solidFill>
              <a:srgbClr val="B08D57"/>
            </a:solidFill>
            <a:prstDash val="solid"/>
          </a:ln>
        </p:spPr>
      </p:sp>
      <p:sp>
        <p:nvSpPr>
          <p:cNvPr id="31" name="Shape 29"/>
          <p:cNvSpPr/>
          <p:nvPr/>
        </p:nvSpPr>
        <p:spPr>
          <a:xfrm>
            <a:off x="5062550" y="1936674"/>
            <a:ext cx="149200" cy="1407864"/>
          </a:xfrm>
          <a:prstGeom prst="rect">
            <a:avLst/>
          </a:prstGeom>
          <a:solidFill>
            <a:srgbClr val="B08D57"/>
          </a:solidFill>
          <a:ln w="12700">
            <a:solidFill>
              <a:srgbClr val="B08D57"/>
            </a:solidFill>
            <a:prstDash val="solid"/>
          </a:ln>
        </p:spPr>
      </p:sp>
      <p:sp>
        <p:nvSpPr>
          <p:cNvPr id="32" name="Shape 30"/>
          <p:cNvSpPr/>
          <p:nvPr/>
        </p:nvSpPr>
        <p:spPr>
          <a:xfrm>
            <a:off x="5288610" y="1885167"/>
            <a:ext cx="149200" cy="1459371"/>
          </a:xfrm>
          <a:prstGeom prst="rect">
            <a:avLst/>
          </a:prstGeom>
          <a:solidFill>
            <a:srgbClr val="B08D57"/>
          </a:solidFill>
          <a:ln w="12700">
            <a:solidFill>
              <a:srgbClr val="B08D57"/>
            </a:solidFill>
            <a:prstDash val="solid"/>
          </a:ln>
        </p:spPr>
      </p:sp>
      <p:sp>
        <p:nvSpPr>
          <p:cNvPr id="33" name="Shape 31"/>
          <p:cNvSpPr/>
          <p:nvPr/>
        </p:nvSpPr>
        <p:spPr>
          <a:xfrm>
            <a:off x="5514670" y="1850829"/>
            <a:ext cx="149200" cy="1493709"/>
          </a:xfrm>
          <a:prstGeom prst="rect">
            <a:avLst/>
          </a:prstGeom>
          <a:solidFill>
            <a:srgbClr val="B08D57"/>
          </a:solidFill>
          <a:ln w="12700">
            <a:solidFill>
              <a:srgbClr val="B08D57"/>
            </a:solidFill>
            <a:prstDash val="solid"/>
          </a:ln>
        </p:spPr>
      </p:sp>
      <p:sp>
        <p:nvSpPr>
          <p:cNvPr id="34" name="Shape 32"/>
          <p:cNvSpPr/>
          <p:nvPr/>
        </p:nvSpPr>
        <p:spPr>
          <a:xfrm>
            <a:off x="5740730" y="1816491"/>
            <a:ext cx="149200" cy="1528047"/>
          </a:xfrm>
          <a:prstGeom prst="rect">
            <a:avLst/>
          </a:prstGeom>
          <a:solidFill>
            <a:srgbClr val="B08D57"/>
          </a:solidFill>
          <a:ln w="12700">
            <a:solidFill>
              <a:srgbClr val="B08D57"/>
            </a:solidFill>
            <a:prstDash val="solid"/>
          </a:ln>
        </p:spPr>
      </p:sp>
      <p:sp>
        <p:nvSpPr>
          <p:cNvPr id="35" name="Text 33"/>
          <p:cNvSpPr/>
          <p:nvPr/>
        </p:nvSpPr>
        <p:spPr>
          <a:xfrm>
            <a:off x="5514670" y="3986784"/>
            <a:ext cx="678180" cy="164592"/>
          </a:xfrm>
          <a:prstGeom prst="rect">
            <a:avLst/>
          </a:prstGeom>
          <a:noFill/>
          <a:ln/>
        </p:spPr>
        <p:txBody>
          <a:bodyPr wrap="square" rtlCol="0" anchor="ctr"/>
          <a:lstStyle/>
          <a:p>
            <a:pPr algn="ctr" indent="0" marL="0">
              <a:buNone/>
            </a:pPr>
            <a:r>
              <a:rPr lang="en-US" sz="700" dirty="0">
                <a:solidFill>
                  <a:srgbClr val="6B6965"/>
                </a:solidFill>
                <a:latin typeface="Jost" pitchFamily="34" charset="0"/>
                <a:ea typeface="Jost" pitchFamily="34" charset="-122"/>
                <a:cs typeface="Jost" pitchFamily="34" charset="-120"/>
              </a:rPr>
              <a:t>M24</a:t>
            </a:r>
            <a:endParaRPr lang="en-US" sz="700" dirty="0"/>
          </a:p>
        </p:txBody>
      </p:sp>
      <p:sp>
        <p:nvSpPr>
          <p:cNvPr id="36" name="Shape 34"/>
          <p:cNvSpPr/>
          <p:nvPr/>
        </p:nvSpPr>
        <p:spPr>
          <a:xfrm>
            <a:off x="5966790" y="1782153"/>
            <a:ext cx="149200" cy="1562385"/>
          </a:xfrm>
          <a:prstGeom prst="rect">
            <a:avLst/>
          </a:prstGeom>
          <a:solidFill>
            <a:srgbClr val="B08D57"/>
          </a:solidFill>
          <a:ln w="12700">
            <a:solidFill>
              <a:srgbClr val="B08D57"/>
            </a:solidFill>
            <a:prstDash val="solid"/>
          </a:ln>
        </p:spPr>
      </p:sp>
      <p:sp>
        <p:nvSpPr>
          <p:cNvPr id="37" name="Shape 35"/>
          <p:cNvSpPr/>
          <p:nvPr/>
        </p:nvSpPr>
        <p:spPr>
          <a:xfrm>
            <a:off x="6192850" y="1747815"/>
            <a:ext cx="149200" cy="1596723"/>
          </a:xfrm>
          <a:prstGeom prst="rect">
            <a:avLst/>
          </a:prstGeom>
          <a:solidFill>
            <a:srgbClr val="B08D57"/>
          </a:solidFill>
          <a:ln w="12700">
            <a:solidFill>
              <a:srgbClr val="B08D57"/>
            </a:solidFill>
            <a:prstDash val="solid"/>
          </a:ln>
        </p:spPr>
      </p:sp>
      <p:sp>
        <p:nvSpPr>
          <p:cNvPr id="38" name="Shape 36"/>
          <p:cNvSpPr/>
          <p:nvPr/>
        </p:nvSpPr>
        <p:spPr>
          <a:xfrm>
            <a:off x="6418910" y="1730646"/>
            <a:ext cx="149200" cy="1613892"/>
          </a:xfrm>
          <a:prstGeom prst="rect">
            <a:avLst/>
          </a:prstGeom>
          <a:solidFill>
            <a:srgbClr val="B08D57"/>
          </a:solidFill>
          <a:ln w="12700">
            <a:solidFill>
              <a:srgbClr val="B08D57"/>
            </a:solidFill>
            <a:prstDash val="solid"/>
          </a:ln>
        </p:spPr>
      </p:sp>
      <p:sp>
        <p:nvSpPr>
          <p:cNvPr id="39" name="Shape 37"/>
          <p:cNvSpPr/>
          <p:nvPr/>
        </p:nvSpPr>
        <p:spPr>
          <a:xfrm>
            <a:off x="6644970" y="1696308"/>
            <a:ext cx="149200" cy="1648230"/>
          </a:xfrm>
          <a:prstGeom prst="rect">
            <a:avLst/>
          </a:prstGeom>
          <a:solidFill>
            <a:srgbClr val="B08D57"/>
          </a:solidFill>
          <a:ln w="12700">
            <a:solidFill>
              <a:srgbClr val="B08D57"/>
            </a:solidFill>
            <a:prstDash val="solid"/>
          </a:ln>
        </p:spPr>
      </p:sp>
      <p:sp>
        <p:nvSpPr>
          <p:cNvPr id="40" name="Shape 38"/>
          <p:cNvSpPr/>
          <p:nvPr/>
        </p:nvSpPr>
        <p:spPr>
          <a:xfrm>
            <a:off x="6871030" y="1679139"/>
            <a:ext cx="149200" cy="1665399"/>
          </a:xfrm>
          <a:prstGeom prst="rect">
            <a:avLst/>
          </a:prstGeom>
          <a:solidFill>
            <a:srgbClr val="B08D57"/>
          </a:solidFill>
          <a:ln w="12700">
            <a:solidFill>
              <a:srgbClr val="B08D57"/>
            </a:solidFill>
            <a:prstDash val="solid"/>
          </a:ln>
        </p:spPr>
      </p:sp>
      <p:sp>
        <p:nvSpPr>
          <p:cNvPr id="41" name="Shape 39"/>
          <p:cNvSpPr/>
          <p:nvPr/>
        </p:nvSpPr>
        <p:spPr>
          <a:xfrm>
            <a:off x="7097090" y="1661970"/>
            <a:ext cx="149200" cy="1682568"/>
          </a:xfrm>
          <a:prstGeom prst="rect">
            <a:avLst/>
          </a:prstGeom>
          <a:solidFill>
            <a:srgbClr val="B08D57"/>
          </a:solidFill>
          <a:ln w="12700">
            <a:solidFill>
              <a:srgbClr val="B08D57"/>
            </a:solidFill>
            <a:prstDash val="solid"/>
          </a:ln>
        </p:spPr>
      </p:sp>
      <p:sp>
        <p:nvSpPr>
          <p:cNvPr id="42" name="Text 40"/>
          <p:cNvSpPr/>
          <p:nvPr/>
        </p:nvSpPr>
        <p:spPr>
          <a:xfrm>
            <a:off x="6871030" y="3986784"/>
            <a:ext cx="678180" cy="164592"/>
          </a:xfrm>
          <a:prstGeom prst="rect">
            <a:avLst/>
          </a:prstGeom>
          <a:noFill/>
          <a:ln/>
        </p:spPr>
        <p:txBody>
          <a:bodyPr wrap="square" rtlCol="0" anchor="ctr"/>
          <a:lstStyle/>
          <a:p>
            <a:pPr algn="ctr" indent="0" marL="0">
              <a:buNone/>
            </a:pPr>
            <a:r>
              <a:rPr lang="en-US" sz="700" dirty="0">
                <a:solidFill>
                  <a:srgbClr val="6B6965"/>
                </a:solidFill>
                <a:latin typeface="Jost" pitchFamily="34" charset="0"/>
                <a:ea typeface="Jost" pitchFamily="34" charset="-122"/>
                <a:cs typeface="Jost" pitchFamily="34" charset="-120"/>
              </a:rPr>
              <a:t>M30</a:t>
            </a:r>
            <a:endParaRPr lang="en-US" sz="700" dirty="0"/>
          </a:p>
        </p:txBody>
      </p:sp>
      <p:sp>
        <p:nvSpPr>
          <p:cNvPr id="43" name="Shape 41"/>
          <p:cNvSpPr/>
          <p:nvPr/>
        </p:nvSpPr>
        <p:spPr>
          <a:xfrm>
            <a:off x="7323150" y="1644801"/>
            <a:ext cx="149200" cy="1699737"/>
          </a:xfrm>
          <a:prstGeom prst="rect">
            <a:avLst/>
          </a:prstGeom>
          <a:solidFill>
            <a:srgbClr val="B08D57"/>
          </a:solidFill>
          <a:ln w="12700">
            <a:solidFill>
              <a:srgbClr val="B08D57"/>
            </a:solidFill>
            <a:prstDash val="solid"/>
          </a:ln>
        </p:spPr>
      </p:sp>
      <p:sp>
        <p:nvSpPr>
          <p:cNvPr id="44" name="Shape 42"/>
          <p:cNvSpPr/>
          <p:nvPr/>
        </p:nvSpPr>
        <p:spPr>
          <a:xfrm>
            <a:off x="7549210" y="1627632"/>
            <a:ext cx="149200" cy="1716906"/>
          </a:xfrm>
          <a:prstGeom prst="rect">
            <a:avLst/>
          </a:prstGeom>
          <a:solidFill>
            <a:srgbClr val="B08D57"/>
          </a:solidFill>
          <a:ln w="12700">
            <a:solidFill>
              <a:srgbClr val="B08D57"/>
            </a:solidFill>
            <a:prstDash val="solid"/>
          </a:ln>
        </p:spPr>
      </p:sp>
      <p:sp>
        <p:nvSpPr>
          <p:cNvPr id="45" name="Shape 43"/>
          <p:cNvSpPr/>
          <p:nvPr/>
        </p:nvSpPr>
        <p:spPr>
          <a:xfrm>
            <a:off x="7775270" y="1627632"/>
            <a:ext cx="149200" cy="1716906"/>
          </a:xfrm>
          <a:prstGeom prst="rect">
            <a:avLst/>
          </a:prstGeom>
          <a:solidFill>
            <a:srgbClr val="B08D57"/>
          </a:solidFill>
          <a:ln w="12700">
            <a:solidFill>
              <a:srgbClr val="B08D57"/>
            </a:solidFill>
            <a:prstDash val="solid"/>
          </a:ln>
        </p:spPr>
      </p:sp>
      <p:sp>
        <p:nvSpPr>
          <p:cNvPr id="46" name="Shape 44"/>
          <p:cNvSpPr/>
          <p:nvPr/>
        </p:nvSpPr>
        <p:spPr>
          <a:xfrm>
            <a:off x="8001330" y="1627632"/>
            <a:ext cx="149200" cy="1716906"/>
          </a:xfrm>
          <a:prstGeom prst="rect">
            <a:avLst/>
          </a:prstGeom>
          <a:solidFill>
            <a:srgbClr val="B08D57"/>
          </a:solidFill>
          <a:ln w="12700">
            <a:solidFill>
              <a:srgbClr val="B08D57"/>
            </a:solidFill>
            <a:prstDash val="solid"/>
          </a:ln>
        </p:spPr>
      </p:sp>
      <p:sp>
        <p:nvSpPr>
          <p:cNvPr id="47" name="Shape 45"/>
          <p:cNvSpPr/>
          <p:nvPr/>
        </p:nvSpPr>
        <p:spPr>
          <a:xfrm>
            <a:off x="8227390" y="1627632"/>
            <a:ext cx="149200" cy="1716906"/>
          </a:xfrm>
          <a:prstGeom prst="rect">
            <a:avLst/>
          </a:prstGeom>
          <a:solidFill>
            <a:srgbClr val="B08D57"/>
          </a:solidFill>
          <a:ln w="12700">
            <a:solidFill>
              <a:srgbClr val="B08D57"/>
            </a:solidFill>
            <a:prstDash val="solid"/>
          </a:ln>
        </p:spPr>
      </p:sp>
      <p:sp>
        <p:nvSpPr>
          <p:cNvPr id="48" name="Shape 46"/>
          <p:cNvSpPr/>
          <p:nvPr/>
        </p:nvSpPr>
        <p:spPr>
          <a:xfrm>
            <a:off x="8453450" y="1627632"/>
            <a:ext cx="149200" cy="1716906"/>
          </a:xfrm>
          <a:prstGeom prst="rect">
            <a:avLst/>
          </a:prstGeom>
          <a:solidFill>
            <a:srgbClr val="B08D57"/>
          </a:solidFill>
          <a:ln w="12700">
            <a:solidFill>
              <a:srgbClr val="B08D57"/>
            </a:solidFill>
            <a:prstDash val="solid"/>
          </a:ln>
        </p:spPr>
      </p:sp>
      <p:sp>
        <p:nvSpPr>
          <p:cNvPr id="49" name="Text 47"/>
          <p:cNvSpPr/>
          <p:nvPr/>
        </p:nvSpPr>
        <p:spPr>
          <a:xfrm>
            <a:off x="8227390" y="3986784"/>
            <a:ext cx="678180" cy="164592"/>
          </a:xfrm>
          <a:prstGeom prst="rect">
            <a:avLst/>
          </a:prstGeom>
          <a:noFill/>
          <a:ln/>
        </p:spPr>
        <p:txBody>
          <a:bodyPr wrap="square" rtlCol="0" anchor="ctr"/>
          <a:lstStyle/>
          <a:p>
            <a:pPr algn="ctr" indent="0" marL="0">
              <a:buNone/>
            </a:pPr>
            <a:r>
              <a:rPr lang="en-US" sz="700" dirty="0">
                <a:solidFill>
                  <a:srgbClr val="6B6965"/>
                </a:solidFill>
                <a:latin typeface="Jost" pitchFamily="34" charset="0"/>
                <a:ea typeface="Jost" pitchFamily="34" charset="-122"/>
                <a:cs typeface="Jost" pitchFamily="34" charset="-120"/>
              </a:rPr>
              <a:t>M36</a:t>
            </a:r>
            <a:endParaRPr lang="en-US" sz="700" dirty="0"/>
          </a:p>
        </p:txBody>
      </p:sp>
      <p:sp>
        <p:nvSpPr>
          <p:cNvPr id="50" name="Text 48"/>
          <p:cNvSpPr/>
          <p:nvPr/>
        </p:nvSpPr>
        <p:spPr>
          <a:xfrm>
            <a:off x="594360" y="1682496"/>
            <a:ext cx="1463040" cy="164592"/>
          </a:xfrm>
          <a:prstGeom prst="rect">
            <a:avLst/>
          </a:prstGeom>
          <a:noFill/>
          <a:ln/>
        </p:spPr>
        <p:txBody>
          <a:bodyPr wrap="square" rtlCol="0" anchor="ctr"/>
          <a:lstStyle/>
          <a:p>
            <a:pPr indent="0" marL="0">
              <a:buNone/>
            </a:pPr>
            <a:r>
              <a:rPr lang="en-US" sz="700" dirty="0">
                <a:solidFill>
                  <a:srgbClr val="C9BCA9"/>
                </a:solidFill>
                <a:latin typeface="Jost" pitchFamily="34" charset="0"/>
                <a:ea typeface="Jost" pitchFamily="34" charset="-122"/>
                <a:cs typeface="Jost" pitchFamily="34" charset="-120"/>
              </a:rPr>
              <a:t>$224,801 / mo</a:t>
            </a:r>
            <a:endParaRPr lang="en-US" sz="700" dirty="0"/>
          </a:p>
        </p:txBody>
      </p:sp>
      <p:sp>
        <p:nvSpPr>
          <p:cNvPr id="51" name="Text 49"/>
          <p:cNvSpPr/>
          <p:nvPr/>
        </p:nvSpPr>
        <p:spPr>
          <a:xfrm>
            <a:off x="594360" y="3739896"/>
            <a:ext cx="1463040" cy="164592"/>
          </a:xfrm>
          <a:prstGeom prst="rect">
            <a:avLst/>
          </a:prstGeom>
          <a:noFill/>
          <a:ln/>
        </p:spPr>
        <p:txBody>
          <a:bodyPr wrap="square" rtlCol="0" anchor="ctr"/>
          <a:lstStyle/>
          <a:p>
            <a:pPr indent="0" marL="0">
              <a:buNone/>
            </a:pPr>
            <a:r>
              <a:rPr lang="en-US" sz="700" dirty="0">
                <a:solidFill>
                  <a:srgbClr val="C9BCA9"/>
                </a:solidFill>
                <a:latin typeface="Jost" pitchFamily="34" charset="0"/>
                <a:ea typeface="Jost" pitchFamily="34" charset="-122"/>
                <a:cs typeface="Jost" pitchFamily="34" charset="-120"/>
              </a:rPr>
              <a:t>$-80,500 / mo</a:t>
            </a:r>
            <a:endParaRPr lang="en-US" sz="700" dirty="0"/>
          </a:p>
        </p:txBody>
      </p:sp>
      <p:sp>
        <p:nvSpPr>
          <p:cNvPr id="52" name="Text 50"/>
          <p:cNvSpPr/>
          <p:nvPr/>
        </p:nvSpPr>
        <p:spPr>
          <a:xfrm>
            <a:off x="502920" y="4224528"/>
            <a:ext cx="8138160" cy="329184"/>
          </a:xfrm>
          <a:prstGeom prst="rect">
            <a:avLst/>
          </a:prstGeom>
          <a:noFill/>
          <a:ln/>
        </p:spPr>
        <p:txBody>
          <a:bodyPr wrap="square" rtlCol="0" anchor="t"/>
          <a:lstStyle/>
          <a:p>
            <a:pPr indent="0" marL="0">
              <a:buNone/>
            </a:pPr>
            <a:r>
              <a:rPr lang="en-US" sz="900" dirty="0">
                <a:solidFill>
                  <a:srgbClr val="C9BCA9"/>
                </a:solidFill>
                <a:latin typeface="Jost" pitchFamily="34" charset="0"/>
                <a:ea typeface="Jost" pitchFamily="34" charset="-122"/>
                <a:cs typeface="Jost" pitchFamily="34" charset="-120"/>
              </a:rPr>
              <a:t>Cash trough $42,467 at month 9, against a $1,105,800 working capital reserve funded inside use of funds.</a:t>
            </a:r>
            <a:endParaRPr lang="en-US" sz="900" dirty="0"/>
          </a:p>
        </p:txBody>
      </p:sp>
      <p:sp>
        <p:nvSpPr>
          <p:cNvPr id="53" name="Text 51"/>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54" name="Text 52"/>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22</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STABILIZED P&amp;L</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MONTHLY, AT STABILIZATION</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298448"/>
          <a:ext cx="8138160" cy="914400"/>
        </p:xfrm>
        <a:graphic>
          <a:graphicData uri="http://schemas.openxmlformats.org/drawingml/2006/table">
            <a:tbl>
              <a:tblPr/>
              <a:tblGrid>
                <a:gridCol w="4480560"/>
                <a:gridCol w="1828800"/>
                <a:gridCol w="1828800"/>
              </a:tblGrid>
              <a:tr h="173736">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LINE</a:t>
                      </a:r>
                      <a:endParaRPr lang="en-US" sz="750" dirty="0">
                        <a:latin typeface="Jost" charset="0"/>
                        <a:ea typeface="Jost" charset="0"/>
                        <a:cs typeface="Jost" charset="0"/>
                      </a:endParaRPr>
                    </a:p>
                  </a:txBody>
                  <a:tcPr marL="16459" marR="16459" marT="16459" marB="16459"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MONTHLY</a:t>
                      </a:r>
                      <a:endParaRPr lang="en-US" sz="750" dirty="0">
                        <a:latin typeface="Jost" charset="0"/>
                        <a:ea typeface="Jost" charset="0"/>
                        <a:cs typeface="Jost" charset="0"/>
                      </a:endParaRPr>
                    </a:p>
                  </a:txBody>
                  <a:tcPr marL="16459" marR="16459" marT="16459" marB="16459"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 OF REVENUE</a:t>
                      </a:r>
                      <a:endParaRPr lang="en-US" sz="750" dirty="0">
                        <a:latin typeface="Jost" charset="0"/>
                        <a:ea typeface="Jost" charset="0"/>
                        <a:cs typeface="Jost" charset="0"/>
                      </a:endParaRPr>
                    </a:p>
                  </a:txBody>
                  <a:tcPr marL="16459" marR="16459" marT="16459" marB="16459"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73736">
                <a:tc>
                  <a:txBody>
                    <a:bodyPr/>
                    <a:lstStyle/>
                    <a:p>
                      <a:pPr algn="l" indent="0" marL="0">
                        <a:buNone/>
                      </a:pPr>
                      <a:r>
                        <a:rPr lang="en-US" sz="800" dirty="0">
                          <a:solidFill>
                            <a:srgbClr val="EDE7DE"/>
                          </a:solidFill>
                          <a:latin typeface="Jost" pitchFamily="34" charset="0"/>
                          <a:ea typeface="Jost" pitchFamily="34" charset="-122"/>
                          <a:cs typeface="Jost" pitchFamily="34" charset="-120"/>
                        </a:rPr>
                        <a:t>Total revenue</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$598,036</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100%</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6B6965"/>
                          </a:solidFill>
                          <a:latin typeface="Jost" pitchFamily="34" charset="0"/>
                          <a:ea typeface="Jost" pitchFamily="34" charset="-122"/>
                          <a:cs typeface="Jost" pitchFamily="34" charset="-120"/>
                        </a:rPr>
                        <a:t>Cost of services delivered</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-$146,803</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25%</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6B6965"/>
                          </a:solidFill>
                          <a:latin typeface="Jost" pitchFamily="34" charset="0"/>
                          <a:ea typeface="Jost" pitchFamily="34" charset="-122"/>
                          <a:cs typeface="Jost" pitchFamily="34" charset="-120"/>
                        </a:rPr>
                        <a:t>Circuit consumables</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-$18,760</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3%</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B08D57"/>
                          </a:solidFill>
                          <a:latin typeface="Jost" pitchFamily="34" charset="0"/>
                          <a:ea typeface="Jost" pitchFamily="34" charset="-122"/>
                          <a:cs typeface="Jost" pitchFamily="34" charset="-120"/>
                        </a:rPr>
                        <a:t>Net after COGS</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B08D57"/>
                          </a:solidFill>
                          <a:latin typeface="Jost" pitchFamily="34" charset="0"/>
                          <a:ea typeface="Jost" pitchFamily="34" charset="-122"/>
                          <a:cs typeface="Jost" pitchFamily="34" charset="-120"/>
                        </a:rPr>
                        <a:t>$432,473</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B08D57"/>
                          </a:solidFill>
                          <a:latin typeface="Jost" pitchFamily="34" charset="0"/>
                          <a:ea typeface="Jost" pitchFamily="34" charset="-122"/>
                          <a:cs typeface="Jost" pitchFamily="34" charset="-120"/>
                        </a:rPr>
                        <a:t>72%</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6B6965"/>
                          </a:solidFill>
                          <a:latin typeface="Jost" pitchFamily="34" charset="0"/>
                          <a:ea typeface="Jost" pitchFamily="34" charset="-122"/>
                          <a:cs typeface="Jost" pitchFamily="34" charset="-120"/>
                        </a:rPr>
                        <a:t>Rent (4,925 SF NNN)</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-$27,088</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5%</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6B6965"/>
                          </a:solidFill>
                          <a:latin typeface="Jost" pitchFamily="34" charset="0"/>
                          <a:ea typeface="Jost" pitchFamily="34" charset="-122"/>
                          <a:cs typeface="Jost" pitchFamily="34" charset="-120"/>
                        </a:rPr>
                        <a:t>Clinical and club staff</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-$85,920</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14%</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6B6965"/>
                          </a:solidFill>
                          <a:latin typeface="Jost" pitchFamily="34" charset="0"/>
                          <a:ea typeface="Jost" pitchFamily="34" charset="-122"/>
                          <a:cs typeface="Jost" pitchFamily="34" charset="-120"/>
                        </a:rPr>
                        <a:t>Admin and management</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-$18,500</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3%</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6B6965"/>
                          </a:solidFill>
                          <a:latin typeface="Jost" pitchFamily="34" charset="0"/>
                          <a:ea typeface="Jost" pitchFamily="34" charset="-122"/>
                          <a:cs typeface="Jost" pitchFamily="34" charset="-120"/>
                        </a:rPr>
                        <a:t>Marketing and member acquisition</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-$30,000</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5%</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6B6965"/>
                          </a:solidFill>
                          <a:latin typeface="Jost" pitchFamily="34" charset="0"/>
                          <a:ea typeface="Jost" pitchFamily="34" charset="-122"/>
                          <a:cs typeface="Jost" pitchFamily="34" charset="-120"/>
                        </a:rPr>
                        <a:t>Malpractice and liability</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-$12,000</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2%</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6B6965"/>
                          </a:solidFill>
                          <a:latin typeface="Jost" pitchFamily="34" charset="0"/>
                          <a:ea typeface="Jost" pitchFamily="34" charset="-122"/>
                          <a:cs typeface="Jost" pitchFamily="34" charset="-120"/>
                        </a:rPr>
                        <a:t>Equipment leases</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-$16,555</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3%</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6B6965"/>
                          </a:solidFill>
                          <a:latin typeface="Jost" pitchFamily="34" charset="0"/>
                          <a:ea typeface="Jost" pitchFamily="34" charset="-122"/>
                          <a:cs typeface="Jost" pitchFamily="34" charset="-120"/>
                        </a:rPr>
                        <a:t>Utilities, software, member platform</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-$16,000</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3%</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6B6965"/>
                          </a:solidFill>
                          <a:latin typeface="Jost" pitchFamily="34" charset="0"/>
                          <a:ea typeface="Jost" pitchFamily="34" charset="-122"/>
                          <a:cs typeface="Jost" pitchFamily="34" charset="-120"/>
                        </a:rPr>
                        <a:t>Licensing and compliance</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-$1,610</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0%</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6B6965"/>
                          </a:solidFill>
                          <a:latin typeface="Jost" pitchFamily="34" charset="0"/>
                          <a:ea typeface="Jost" pitchFamily="34" charset="-122"/>
                          <a:cs typeface="Jost" pitchFamily="34" charset="-120"/>
                        </a:rPr>
                        <a:t>Total fixed overhead</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-$207,673</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6B6965"/>
                          </a:solidFill>
                          <a:latin typeface="Jost" pitchFamily="34" charset="0"/>
                          <a:ea typeface="Jost" pitchFamily="34" charset="-122"/>
                          <a:cs typeface="Jost" pitchFamily="34" charset="-120"/>
                        </a:rPr>
                        <a:t>35%</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73736">
                <a:tc>
                  <a:txBody>
                    <a:bodyPr/>
                    <a:lstStyle/>
                    <a:p>
                      <a:pPr algn="l" indent="0" marL="0">
                        <a:buNone/>
                      </a:pPr>
                      <a:r>
                        <a:rPr lang="en-US" sz="800" dirty="0">
                          <a:solidFill>
                            <a:srgbClr val="B08D57"/>
                          </a:solidFill>
                          <a:latin typeface="Jost" pitchFamily="34" charset="0"/>
                          <a:ea typeface="Jost" pitchFamily="34" charset="-122"/>
                          <a:cs typeface="Jost" pitchFamily="34" charset="-120"/>
                        </a:rPr>
                        <a:t>Operating income</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B08D57"/>
                          </a:solidFill>
                          <a:latin typeface="Jost" pitchFamily="34" charset="0"/>
                          <a:ea typeface="Jost" pitchFamily="34" charset="-122"/>
                          <a:cs typeface="Jost" pitchFamily="34" charset="-120"/>
                        </a:rPr>
                        <a:t>$224,801</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B08D57"/>
                          </a:solidFill>
                          <a:latin typeface="Jost" pitchFamily="34" charset="0"/>
                          <a:ea typeface="Jost" pitchFamily="34" charset="-122"/>
                          <a:cs typeface="Jost" pitchFamily="34" charset="-120"/>
                        </a:rPr>
                        <a:t>38%</a:t>
                      </a:r>
                      <a:endParaRPr lang="en-US" sz="800" dirty="0">
                        <a:latin typeface="Jost" charset="0"/>
                        <a:ea typeface="Jost" charset="0"/>
                        <a:cs typeface="Jost" charset="0"/>
                      </a:endParaRPr>
                    </a:p>
                  </a:txBody>
                  <a:tcPr marL="16459" marR="16459" marT="16459" marB="16459"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23</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SENSITIVITY</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HOW WRONG CAN WE AFFORD TO BE?</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Volume flexed against the base case with fixed overhead held constant, which is the conservative treatment.</a:t>
            </a:r>
            <a:endParaRPr lang="en-US" sz="1050" dirty="0"/>
          </a:p>
        </p:txBody>
      </p:sp>
      <p:sp>
        <p:nvSpPr>
          <p:cNvPr id="6" name="Shape 4"/>
          <p:cNvSpPr/>
          <p:nvPr/>
        </p:nvSpPr>
        <p:spPr>
          <a:xfrm>
            <a:off x="502920" y="1737360"/>
            <a:ext cx="2602992" cy="2788920"/>
          </a:xfrm>
          <a:prstGeom prst="rect">
            <a:avLst/>
          </a:prstGeom>
          <a:solidFill>
            <a:srgbClr val="1C1C1E"/>
          </a:solidFill>
          <a:ln w="9525">
            <a:solidFill>
              <a:srgbClr val="271F13"/>
            </a:solidFill>
            <a:prstDash val="solid"/>
          </a:ln>
        </p:spPr>
      </p:sp>
      <p:sp>
        <p:nvSpPr>
          <p:cNvPr id="7" name="Text 5"/>
          <p:cNvSpPr/>
          <p:nvPr/>
        </p:nvSpPr>
        <p:spPr>
          <a:xfrm>
            <a:off x="649224" y="1865376"/>
            <a:ext cx="231038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LOW</a:t>
            </a:r>
            <a:endParaRPr lang="en-US" sz="750" dirty="0"/>
          </a:p>
        </p:txBody>
      </p:sp>
      <p:sp>
        <p:nvSpPr>
          <p:cNvPr id="8" name="Text 6"/>
          <p:cNvSpPr/>
          <p:nvPr/>
        </p:nvSpPr>
        <p:spPr>
          <a:xfrm>
            <a:off x="649224" y="2084832"/>
            <a:ext cx="2310384" cy="384048"/>
          </a:xfrm>
          <a:prstGeom prst="rect">
            <a:avLst/>
          </a:prstGeom>
          <a:noFill/>
          <a:ln/>
        </p:spPr>
        <p:txBody>
          <a:bodyPr wrap="square" rtlCol="0" anchor="t"/>
          <a:lstStyle/>
          <a:p>
            <a:pPr indent="0" marL="0">
              <a:buNone/>
            </a:pPr>
            <a:r>
              <a:rPr lang="en-US" sz="2200" dirty="0">
                <a:solidFill>
                  <a:srgbClr val="B08D57"/>
                </a:solidFill>
                <a:latin typeface="Cormorant Garamond" pitchFamily="34" charset="0"/>
                <a:ea typeface="Cormorant Garamond" pitchFamily="34" charset="-122"/>
                <a:cs typeface="Cormorant Garamond" pitchFamily="34" charset="-120"/>
              </a:rPr>
              <a:t>$1.24M / yr</a:t>
            </a:r>
            <a:endParaRPr lang="en-US" sz="2200" dirty="0"/>
          </a:p>
        </p:txBody>
      </p:sp>
      <p:sp>
        <p:nvSpPr>
          <p:cNvPr id="9" name="Text 7"/>
          <p:cNvSpPr/>
          <p:nvPr/>
        </p:nvSpPr>
        <p:spPr>
          <a:xfrm>
            <a:off x="649224" y="2505456"/>
            <a:ext cx="2310384" cy="365760"/>
          </a:xfrm>
          <a:prstGeom prst="rect">
            <a:avLst/>
          </a:prstGeom>
          <a:noFill/>
          <a:ln/>
        </p:spPr>
        <p:txBody>
          <a:bodyPr wrap="square" rtlCol="0" anchor="t"/>
          <a:lstStyle/>
          <a:p>
            <a:pPr indent="0" marL="0">
              <a:lnSpc>
                <a:spcPct val="115000"/>
              </a:lnSpc>
              <a:buNone/>
            </a:pPr>
            <a:r>
              <a:rPr lang="en-US" sz="850" dirty="0">
                <a:solidFill>
                  <a:srgbClr val="C9BCA9"/>
                </a:solidFill>
                <a:latin typeface="Jost" pitchFamily="34" charset="0"/>
                <a:ea typeface="Jost" pitchFamily="34" charset="-122"/>
                <a:cs typeface="Jost" pitchFamily="34" charset="-120"/>
              </a:rPr>
              <a:t>Slow member ramp, 72% of base volume</a:t>
            </a:r>
            <a:endParaRPr lang="en-US" sz="850" dirty="0"/>
          </a:p>
        </p:txBody>
      </p:sp>
      <p:sp>
        <p:nvSpPr>
          <p:cNvPr id="10" name="Shape 8"/>
          <p:cNvSpPr/>
          <p:nvPr/>
        </p:nvSpPr>
        <p:spPr>
          <a:xfrm>
            <a:off x="649224" y="3273552"/>
            <a:ext cx="2310384" cy="5486"/>
          </a:xfrm>
          <a:prstGeom prst="rect">
            <a:avLst/>
          </a:prstGeom>
          <a:solidFill>
            <a:srgbClr val="271F13"/>
          </a:solidFill>
          <a:ln w="12700">
            <a:solidFill>
              <a:srgbClr val="271F13"/>
            </a:solidFill>
            <a:prstDash val="solid"/>
          </a:ln>
        </p:spPr>
      </p:sp>
      <p:sp>
        <p:nvSpPr>
          <p:cNvPr id="11" name="Text 9"/>
          <p:cNvSpPr/>
          <p:nvPr/>
        </p:nvSpPr>
        <p:spPr>
          <a:xfrm>
            <a:off x="649224" y="2999232"/>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Revenue / mo</a:t>
            </a:r>
            <a:endParaRPr lang="en-US" sz="850" dirty="0"/>
          </a:p>
        </p:txBody>
      </p:sp>
      <p:sp>
        <p:nvSpPr>
          <p:cNvPr id="12" name="Text 10"/>
          <p:cNvSpPr/>
          <p:nvPr/>
        </p:nvSpPr>
        <p:spPr>
          <a:xfrm>
            <a:off x="1688897" y="2999232"/>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$430,586</a:t>
            </a:r>
            <a:endParaRPr lang="en-US" sz="850" dirty="0"/>
          </a:p>
        </p:txBody>
      </p:sp>
      <p:sp>
        <p:nvSpPr>
          <p:cNvPr id="13" name="Shape 11"/>
          <p:cNvSpPr/>
          <p:nvPr/>
        </p:nvSpPr>
        <p:spPr>
          <a:xfrm>
            <a:off x="649224" y="3584448"/>
            <a:ext cx="2310384" cy="5486"/>
          </a:xfrm>
          <a:prstGeom prst="rect">
            <a:avLst/>
          </a:prstGeom>
          <a:solidFill>
            <a:srgbClr val="271F13"/>
          </a:solidFill>
          <a:ln w="12700">
            <a:solidFill>
              <a:srgbClr val="271F13"/>
            </a:solidFill>
            <a:prstDash val="solid"/>
          </a:ln>
        </p:spPr>
      </p:sp>
      <p:sp>
        <p:nvSpPr>
          <p:cNvPr id="14" name="Text 12"/>
          <p:cNvSpPr/>
          <p:nvPr/>
        </p:nvSpPr>
        <p:spPr>
          <a:xfrm>
            <a:off x="649224" y="3310128"/>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Net after COGS</a:t>
            </a:r>
            <a:endParaRPr lang="en-US" sz="850" dirty="0"/>
          </a:p>
        </p:txBody>
      </p:sp>
      <p:sp>
        <p:nvSpPr>
          <p:cNvPr id="15" name="Text 13"/>
          <p:cNvSpPr/>
          <p:nvPr/>
        </p:nvSpPr>
        <p:spPr>
          <a:xfrm>
            <a:off x="1688897" y="3310128"/>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$311,381</a:t>
            </a:r>
            <a:endParaRPr lang="en-US" sz="850" dirty="0"/>
          </a:p>
        </p:txBody>
      </p:sp>
      <p:sp>
        <p:nvSpPr>
          <p:cNvPr id="16" name="Shape 14"/>
          <p:cNvSpPr/>
          <p:nvPr/>
        </p:nvSpPr>
        <p:spPr>
          <a:xfrm>
            <a:off x="649224" y="3895344"/>
            <a:ext cx="2310384" cy="5486"/>
          </a:xfrm>
          <a:prstGeom prst="rect">
            <a:avLst/>
          </a:prstGeom>
          <a:solidFill>
            <a:srgbClr val="271F13"/>
          </a:solidFill>
          <a:ln w="12700">
            <a:solidFill>
              <a:srgbClr val="271F13"/>
            </a:solidFill>
            <a:prstDash val="solid"/>
          </a:ln>
        </p:spPr>
      </p:sp>
      <p:sp>
        <p:nvSpPr>
          <p:cNvPr id="17" name="Text 15"/>
          <p:cNvSpPr/>
          <p:nvPr/>
        </p:nvSpPr>
        <p:spPr>
          <a:xfrm>
            <a:off x="649224" y="3621024"/>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Operating / mo</a:t>
            </a:r>
            <a:endParaRPr lang="en-US" sz="850" dirty="0"/>
          </a:p>
        </p:txBody>
      </p:sp>
      <p:sp>
        <p:nvSpPr>
          <p:cNvPr id="18" name="Text 16"/>
          <p:cNvSpPr/>
          <p:nvPr/>
        </p:nvSpPr>
        <p:spPr>
          <a:xfrm>
            <a:off x="1688897" y="3621024"/>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$103,708</a:t>
            </a:r>
            <a:endParaRPr lang="en-US" sz="850" dirty="0"/>
          </a:p>
        </p:txBody>
      </p:sp>
      <p:sp>
        <p:nvSpPr>
          <p:cNvPr id="19" name="Shape 17"/>
          <p:cNvSpPr/>
          <p:nvPr/>
        </p:nvSpPr>
        <p:spPr>
          <a:xfrm>
            <a:off x="649224" y="4206240"/>
            <a:ext cx="2310384" cy="5486"/>
          </a:xfrm>
          <a:prstGeom prst="rect">
            <a:avLst/>
          </a:prstGeom>
          <a:solidFill>
            <a:srgbClr val="271F13"/>
          </a:solidFill>
          <a:ln w="12700">
            <a:solidFill>
              <a:srgbClr val="271F13"/>
            </a:solidFill>
            <a:prstDash val="solid"/>
          </a:ln>
        </p:spPr>
      </p:sp>
      <p:sp>
        <p:nvSpPr>
          <p:cNvPr id="20" name="Text 18"/>
          <p:cNvSpPr/>
          <p:nvPr/>
        </p:nvSpPr>
        <p:spPr>
          <a:xfrm>
            <a:off x="649224" y="3931920"/>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Yield on equity</a:t>
            </a:r>
            <a:endParaRPr lang="en-US" sz="850" dirty="0"/>
          </a:p>
        </p:txBody>
      </p:sp>
      <p:sp>
        <p:nvSpPr>
          <p:cNvPr id="21" name="Text 19"/>
          <p:cNvSpPr/>
          <p:nvPr/>
        </p:nvSpPr>
        <p:spPr>
          <a:xfrm>
            <a:off x="1688897" y="3931920"/>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26.2%</a:t>
            </a:r>
            <a:endParaRPr lang="en-US" sz="850" dirty="0"/>
          </a:p>
        </p:txBody>
      </p:sp>
      <p:sp>
        <p:nvSpPr>
          <p:cNvPr id="22" name="Shape 20"/>
          <p:cNvSpPr/>
          <p:nvPr/>
        </p:nvSpPr>
        <p:spPr>
          <a:xfrm>
            <a:off x="3270504" y="1737360"/>
            <a:ext cx="2602992" cy="2788920"/>
          </a:xfrm>
          <a:prstGeom prst="rect">
            <a:avLst/>
          </a:prstGeom>
          <a:solidFill>
            <a:srgbClr val="1C1C1E"/>
          </a:solidFill>
          <a:ln w="9525">
            <a:solidFill>
              <a:srgbClr val="B08D57"/>
            </a:solidFill>
            <a:prstDash val="solid"/>
          </a:ln>
        </p:spPr>
      </p:sp>
      <p:sp>
        <p:nvSpPr>
          <p:cNvPr id="23" name="Text 21"/>
          <p:cNvSpPr/>
          <p:nvPr/>
        </p:nvSpPr>
        <p:spPr>
          <a:xfrm>
            <a:off x="3416808" y="1865376"/>
            <a:ext cx="231038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BASE CASE</a:t>
            </a:r>
            <a:endParaRPr lang="en-US" sz="750" dirty="0"/>
          </a:p>
        </p:txBody>
      </p:sp>
      <p:sp>
        <p:nvSpPr>
          <p:cNvPr id="24" name="Text 22"/>
          <p:cNvSpPr/>
          <p:nvPr/>
        </p:nvSpPr>
        <p:spPr>
          <a:xfrm>
            <a:off x="3416808" y="2084832"/>
            <a:ext cx="2310384" cy="384048"/>
          </a:xfrm>
          <a:prstGeom prst="rect">
            <a:avLst/>
          </a:prstGeom>
          <a:noFill/>
          <a:ln/>
        </p:spPr>
        <p:txBody>
          <a:bodyPr wrap="square" rtlCol="0" anchor="t"/>
          <a:lstStyle/>
          <a:p>
            <a:pPr indent="0" marL="0">
              <a:buNone/>
            </a:pPr>
            <a:r>
              <a:rPr lang="en-US" sz="2200" dirty="0">
                <a:solidFill>
                  <a:srgbClr val="B08D57"/>
                </a:solidFill>
                <a:latin typeface="Cormorant Garamond" pitchFamily="34" charset="0"/>
                <a:ea typeface="Cormorant Garamond" pitchFamily="34" charset="-122"/>
                <a:cs typeface="Cormorant Garamond" pitchFamily="34" charset="-120"/>
              </a:rPr>
              <a:t>$2.70M / yr</a:t>
            </a:r>
            <a:endParaRPr lang="en-US" sz="2200" dirty="0"/>
          </a:p>
        </p:txBody>
      </p:sp>
      <p:sp>
        <p:nvSpPr>
          <p:cNvPr id="25" name="Text 23"/>
          <p:cNvSpPr/>
          <p:nvPr/>
        </p:nvSpPr>
        <p:spPr>
          <a:xfrm>
            <a:off x="3416808" y="2505456"/>
            <a:ext cx="2310384" cy="365760"/>
          </a:xfrm>
          <a:prstGeom prst="rect">
            <a:avLst/>
          </a:prstGeom>
          <a:noFill/>
          <a:ln/>
        </p:spPr>
        <p:txBody>
          <a:bodyPr wrap="square" rtlCol="0" anchor="t"/>
          <a:lstStyle/>
          <a:p>
            <a:pPr indent="0" marL="0">
              <a:lnSpc>
                <a:spcPct val="115000"/>
              </a:lnSpc>
              <a:buNone/>
            </a:pPr>
            <a:r>
              <a:rPr lang="en-US" sz="850" dirty="0">
                <a:solidFill>
                  <a:srgbClr val="C9BCA9"/>
                </a:solidFill>
                <a:latin typeface="Jost" pitchFamily="34" charset="0"/>
                <a:ea typeface="Jost" pitchFamily="34" charset="-122"/>
                <a:cs typeface="Jost" pitchFamily="34" charset="-120"/>
              </a:rPr>
              <a:t>Stated assumptions at stabilization</a:t>
            </a:r>
            <a:endParaRPr lang="en-US" sz="850" dirty="0"/>
          </a:p>
        </p:txBody>
      </p:sp>
      <p:sp>
        <p:nvSpPr>
          <p:cNvPr id="26" name="Shape 24"/>
          <p:cNvSpPr/>
          <p:nvPr/>
        </p:nvSpPr>
        <p:spPr>
          <a:xfrm>
            <a:off x="3416808" y="3273552"/>
            <a:ext cx="2310384" cy="5486"/>
          </a:xfrm>
          <a:prstGeom prst="rect">
            <a:avLst/>
          </a:prstGeom>
          <a:solidFill>
            <a:srgbClr val="271F13"/>
          </a:solidFill>
          <a:ln w="12700">
            <a:solidFill>
              <a:srgbClr val="271F13"/>
            </a:solidFill>
            <a:prstDash val="solid"/>
          </a:ln>
        </p:spPr>
      </p:sp>
      <p:sp>
        <p:nvSpPr>
          <p:cNvPr id="27" name="Text 25"/>
          <p:cNvSpPr/>
          <p:nvPr/>
        </p:nvSpPr>
        <p:spPr>
          <a:xfrm>
            <a:off x="3416808" y="2999232"/>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Revenue / mo</a:t>
            </a:r>
            <a:endParaRPr lang="en-US" sz="850" dirty="0"/>
          </a:p>
        </p:txBody>
      </p:sp>
      <p:sp>
        <p:nvSpPr>
          <p:cNvPr id="28" name="Text 26"/>
          <p:cNvSpPr/>
          <p:nvPr/>
        </p:nvSpPr>
        <p:spPr>
          <a:xfrm>
            <a:off x="4456481" y="2999232"/>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$598,036</a:t>
            </a:r>
            <a:endParaRPr lang="en-US" sz="850" dirty="0"/>
          </a:p>
        </p:txBody>
      </p:sp>
      <p:sp>
        <p:nvSpPr>
          <p:cNvPr id="29" name="Shape 27"/>
          <p:cNvSpPr/>
          <p:nvPr/>
        </p:nvSpPr>
        <p:spPr>
          <a:xfrm>
            <a:off x="3416808" y="3584448"/>
            <a:ext cx="2310384" cy="5486"/>
          </a:xfrm>
          <a:prstGeom prst="rect">
            <a:avLst/>
          </a:prstGeom>
          <a:solidFill>
            <a:srgbClr val="271F13"/>
          </a:solidFill>
          <a:ln w="12700">
            <a:solidFill>
              <a:srgbClr val="271F13"/>
            </a:solidFill>
            <a:prstDash val="solid"/>
          </a:ln>
        </p:spPr>
      </p:sp>
      <p:sp>
        <p:nvSpPr>
          <p:cNvPr id="30" name="Text 28"/>
          <p:cNvSpPr/>
          <p:nvPr/>
        </p:nvSpPr>
        <p:spPr>
          <a:xfrm>
            <a:off x="3416808" y="3310128"/>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Net after COGS</a:t>
            </a:r>
            <a:endParaRPr lang="en-US" sz="850" dirty="0"/>
          </a:p>
        </p:txBody>
      </p:sp>
      <p:sp>
        <p:nvSpPr>
          <p:cNvPr id="31" name="Text 29"/>
          <p:cNvSpPr/>
          <p:nvPr/>
        </p:nvSpPr>
        <p:spPr>
          <a:xfrm>
            <a:off x="4456481" y="3310128"/>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$432,473</a:t>
            </a:r>
            <a:endParaRPr lang="en-US" sz="850" dirty="0"/>
          </a:p>
        </p:txBody>
      </p:sp>
      <p:sp>
        <p:nvSpPr>
          <p:cNvPr id="32" name="Shape 30"/>
          <p:cNvSpPr/>
          <p:nvPr/>
        </p:nvSpPr>
        <p:spPr>
          <a:xfrm>
            <a:off x="3416808" y="3895344"/>
            <a:ext cx="2310384" cy="5486"/>
          </a:xfrm>
          <a:prstGeom prst="rect">
            <a:avLst/>
          </a:prstGeom>
          <a:solidFill>
            <a:srgbClr val="271F13"/>
          </a:solidFill>
          <a:ln w="12700">
            <a:solidFill>
              <a:srgbClr val="271F13"/>
            </a:solidFill>
            <a:prstDash val="solid"/>
          </a:ln>
        </p:spPr>
      </p:sp>
      <p:sp>
        <p:nvSpPr>
          <p:cNvPr id="33" name="Text 31"/>
          <p:cNvSpPr/>
          <p:nvPr/>
        </p:nvSpPr>
        <p:spPr>
          <a:xfrm>
            <a:off x="3416808" y="3621024"/>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Operating / mo</a:t>
            </a:r>
            <a:endParaRPr lang="en-US" sz="850" dirty="0"/>
          </a:p>
        </p:txBody>
      </p:sp>
      <p:sp>
        <p:nvSpPr>
          <p:cNvPr id="34" name="Text 32"/>
          <p:cNvSpPr/>
          <p:nvPr/>
        </p:nvSpPr>
        <p:spPr>
          <a:xfrm>
            <a:off x="4456481" y="3621024"/>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$224,801</a:t>
            </a:r>
            <a:endParaRPr lang="en-US" sz="850" dirty="0"/>
          </a:p>
        </p:txBody>
      </p:sp>
      <p:sp>
        <p:nvSpPr>
          <p:cNvPr id="35" name="Shape 33"/>
          <p:cNvSpPr/>
          <p:nvPr/>
        </p:nvSpPr>
        <p:spPr>
          <a:xfrm>
            <a:off x="3416808" y="4206240"/>
            <a:ext cx="2310384" cy="5486"/>
          </a:xfrm>
          <a:prstGeom prst="rect">
            <a:avLst/>
          </a:prstGeom>
          <a:solidFill>
            <a:srgbClr val="271F13"/>
          </a:solidFill>
          <a:ln w="12700">
            <a:solidFill>
              <a:srgbClr val="271F13"/>
            </a:solidFill>
            <a:prstDash val="solid"/>
          </a:ln>
        </p:spPr>
      </p:sp>
      <p:sp>
        <p:nvSpPr>
          <p:cNvPr id="36" name="Text 34"/>
          <p:cNvSpPr/>
          <p:nvPr/>
        </p:nvSpPr>
        <p:spPr>
          <a:xfrm>
            <a:off x="3416808" y="3931920"/>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Yield on equity</a:t>
            </a:r>
            <a:endParaRPr lang="en-US" sz="850" dirty="0"/>
          </a:p>
        </p:txBody>
      </p:sp>
      <p:sp>
        <p:nvSpPr>
          <p:cNvPr id="37" name="Text 35"/>
          <p:cNvSpPr/>
          <p:nvPr/>
        </p:nvSpPr>
        <p:spPr>
          <a:xfrm>
            <a:off x="4456481" y="3931920"/>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56.8%</a:t>
            </a:r>
            <a:endParaRPr lang="en-US" sz="850" dirty="0"/>
          </a:p>
        </p:txBody>
      </p:sp>
      <p:sp>
        <p:nvSpPr>
          <p:cNvPr id="38" name="Shape 36"/>
          <p:cNvSpPr/>
          <p:nvPr/>
        </p:nvSpPr>
        <p:spPr>
          <a:xfrm>
            <a:off x="6038088" y="1737360"/>
            <a:ext cx="2602992" cy="2788920"/>
          </a:xfrm>
          <a:prstGeom prst="rect">
            <a:avLst/>
          </a:prstGeom>
          <a:solidFill>
            <a:srgbClr val="1C1C1E"/>
          </a:solidFill>
          <a:ln w="9525">
            <a:solidFill>
              <a:srgbClr val="271F13"/>
            </a:solidFill>
            <a:prstDash val="solid"/>
          </a:ln>
        </p:spPr>
      </p:sp>
      <p:sp>
        <p:nvSpPr>
          <p:cNvPr id="39" name="Text 37"/>
          <p:cNvSpPr/>
          <p:nvPr/>
        </p:nvSpPr>
        <p:spPr>
          <a:xfrm>
            <a:off x="6184392" y="1865376"/>
            <a:ext cx="231038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UPSIDE</a:t>
            </a:r>
            <a:endParaRPr lang="en-US" sz="750" dirty="0"/>
          </a:p>
        </p:txBody>
      </p:sp>
      <p:sp>
        <p:nvSpPr>
          <p:cNvPr id="40" name="Text 38"/>
          <p:cNvSpPr/>
          <p:nvPr/>
        </p:nvSpPr>
        <p:spPr>
          <a:xfrm>
            <a:off x="6184392" y="2084832"/>
            <a:ext cx="2310384" cy="384048"/>
          </a:xfrm>
          <a:prstGeom prst="rect">
            <a:avLst/>
          </a:prstGeom>
          <a:noFill/>
          <a:ln/>
        </p:spPr>
        <p:txBody>
          <a:bodyPr wrap="square" rtlCol="0" anchor="t"/>
          <a:lstStyle/>
          <a:p>
            <a:pPr indent="0" marL="0">
              <a:buNone/>
            </a:pPr>
            <a:r>
              <a:rPr lang="en-US" sz="2200" dirty="0">
                <a:solidFill>
                  <a:srgbClr val="B08D57"/>
                </a:solidFill>
                <a:latin typeface="Cormorant Garamond" pitchFamily="34" charset="0"/>
                <a:ea typeface="Cormorant Garamond" pitchFamily="34" charset="-122"/>
                <a:cs typeface="Cormorant Garamond" pitchFamily="34" charset="-120"/>
              </a:rPr>
              <a:t>$4.15M / yr</a:t>
            </a:r>
            <a:endParaRPr lang="en-US" sz="2200" dirty="0"/>
          </a:p>
        </p:txBody>
      </p:sp>
      <p:sp>
        <p:nvSpPr>
          <p:cNvPr id="41" name="Text 39"/>
          <p:cNvSpPr/>
          <p:nvPr/>
        </p:nvSpPr>
        <p:spPr>
          <a:xfrm>
            <a:off x="6184392" y="2505456"/>
            <a:ext cx="2310384" cy="365760"/>
          </a:xfrm>
          <a:prstGeom prst="rect">
            <a:avLst/>
          </a:prstGeom>
          <a:noFill/>
          <a:ln/>
        </p:spPr>
        <p:txBody>
          <a:bodyPr wrap="square" rtlCol="0" anchor="t"/>
          <a:lstStyle/>
          <a:p>
            <a:pPr indent="0" marL="0">
              <a:lnSpc>
                <a:spcPct val="115000"/>
              </a:lnSpc>
              <a:buNone/>
            </a:pPr>
            <a:r>
              <a:rPr lang="en-US" sz="850" dirty="0">
                <a:solidFill>
                  <a:srgbClr val="C9BCA9"/>
                </a:solidFill>
                <a:latin typeface="Jost" pitchFamily="34" charset="0"/>
                <a:ea typeface="Jost" pitchFamily="34" charset="-122"/>
                <a:cs typeface="Jost" pitchFamily="34" charset="-120"/>
              </a:rPr>
              <a:t>Waitlist demand, 128% of base volume</a:t>
            </a:r>
            <a:endParaRPr lang="en-US" sz="850" dirty="0"/>
          </a:p>
        </p:txBody>
      </p:sp>
      <p:sp>
        <p:nvSpPr>
          <p:cNvPr id="42" name="Shape 40"/>
          <p:cNvSpPr/>
          <p:nvPr/>
        </p:nvSpPr>
        <p:spPr>
          <a:xfrm>
            <a:off x="6184392" y="3273552"/>
            <a:ext cx="2310384" cy="5486"/>
          </a:xfrm>
          <a:prstGeom prst="rect">
            <a:avLst/>
          </a:prstGeom>
          <a:solidFill>
            <a:srgbClr val="271F13"/>
          </a:solidFill>
          <a:ln w="12700">
            <a:solidFill>
              <a:srgbClr val="271F13"/>
            </a:solidFill>
            <a:prstDash val="solid"/>
          </a:ln>
        </p:spPr>
      </p:sp>
      <p:sp>
        <p:nvSpPr>
          <p:cNvPr id="43" name="Text 41"/>
          <p:cNvSpPr/>
          <p:nvPr/>
        </p:nvSpPr>
        <p:spPr>
          <a:xfrm>
            <a:off x="6184392" y="2999232"/>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Revenue / mo</a:t>
            </a:r>
            <a:endParaRPr lang="en-US" sz="850" dirty="0"/>
          </a:p>
        </p:txBody>
      </p:sp>
      <p:sp>
        <p:nvSpPr>
          <p:cNvPr id="44" name="Text 42"/>
          <p:cNvSpPr/>
          <p:nvPr/>
        </p:nvSpPr>
        <p:spPr>
          <a:xfrm>
            <a:off x="7224065" y="2999232"/>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$765,486</a:t>
            </a:r>
            <a:endParaRPr lang="en-US" sz="850" dirty="0"/>
          </a:p>
        </p:txBody>
      </p:sp>
      <p:sp>
        <p:nvSpPr>
          <p:cNvPr id="45" name="Shape 43"/>
          <p:cNvSpPr/>
          <p:nvPr/>
        </p:nvSpPr>
        <p:spPr>
          <a:xfrm>
            <a:off x="6184392" y="3584448"/>
            <a:ext cx="2310384" cy="5486"/>
          </a:xfrm>
          <a:prstGeom prst="rect">
            <a:avLst/>
          </a:prstGeom>
          <a:solidFill>
            <a:srgbClr val="271F13"/>
          </a:solidFill>
          <a:ln w="12700">
            <a:solidFill>
              <a:srgbClr val="271F13"/>
            </a:solidFill>
            <a:prstDash val="solid"/>
          </a:ln>
        </p:spPr>
      </p:sp>
      <p:sp>
        <p:nvSpPr>
          <p:cNvPr id="46" name="Text 44"/>
          <p:cNvSpPr/>
          <p:nvPr/>
        </p:nvSpPr>
        <p:spPr>
          <a:xfrm>
            <a:off x="6184392" y="3310128"/>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Net after COGS</a:t>
            </a:r>
            <a:endParaRPr lang="en-US" sz="850" dirty="0"/>
          </a:p>
        </p:txBody>
      </p:sp>
      <p:sp>
        <p:nvSpPr>
          <p:cNvPr id="47" name="Text 45"/>
          <p:cNvSpPr/>
          <p:nvPr/>
        </p:nvSpPr>
        <p:spPr>
          <a:xfrm>
            <a:off x="7224065" y="3310128"/>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$553,566</a:t>
            </a:r>
            <a:endParaRPr lang="en-US" sz="850" dirty="0"/>
          </a:p>
        </p:txBody>
      </p:sp>
      <p:sp>
        <p:nvSpPr>
          <p:cNvPr id="48" name="Shape 46"/>
          <p:cNvSpPr/>
          <p:nvPr/>
        </p:nvSpPr>
        <p:spPr>
          <a:xfrm>
            <a:off x="6184392" y="3895344"/>
            <a:ext cx="2310384" cy="5486"/>
          </a:xfrm>
          <a:prstGeom prst="rect">
            <a:avLst/>
          </a:prstGeom>
          <a:solidFill>
            <a:srgbClr val="271F13"/>
          </a:solidFill>
          <a:ln w="12700">
            <a:solidFill>
              <a:srgbClr val="271F13"/>
            </a:solidFill>
            <a:prstDash val="solid"/>
          </a:ln>
        </p:spPr>
      </p:sp>
      <p:sp>
        <p:nvSpPr>
          <p:cNvPr id="49" name="Text 47"/>
          <p:cNvSpPr/>
          <p:nvPr/>
        </p:nvSpPr>
        <p:spPr>
          <a:xfrm>
            <a:off x="6184392" y="3621024"/>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Operating / mo</a:t>
            </a:r>
            <a:endParaRPr lang="en-US" sz="850" dirty="0"/>
          </a:p>
        </p:txBody>
      </p:sp>
      <p:sp>
        <p:nvSpPr>
          <p:cNvPr id="50" name="Text 48"/>
          <p:cNvSpPr/>
          <p:nvPr/>
        </p:nvSpPr>
        <p:spPr>
          <a:xfrm>
            <a:off x="7224065" y="3621024"/>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$345,893</a:t>
            </a:r>
            <a:endParaRPr lang="en-US" sz="850" dirty="0"/>
          </a:p>
        </p:txBody>
      </p:sp>
      <p:sp>
        <p:nvSpPr>
          <p:cNvPr id="51" name="Shape 49"/>
          <p:cNvSpPr/>
          <p:nvPr/>
        </p:nvSpPr>
        <p:spPr>
          <a:xfrm>
            <a:off x="6184392" y="4206240"/>
            <a:ext cx="2310384" cy="5486"/>
          </a:xfrm>
          <a:prstGeom prst="rect">
            <a:avLst/>
          </a:prstGeom>
          <a:solidFill>
            <a:srgbClr val="271F13"/>
          </a:solidFill>
          <a:ln w="12700">
            <a:solidFill>
              <a:srgbClr val="271F13"/>
            </a:solidFill>
            <a:prstDash val="solid"/>
          </a:ln>
        </p:spPr>
      </p:sp>
      <p:sp>
        <p:nvSpPr>
          <p:cNvPr id="52" name="Text 50"/>
          <p:cNvSpPr/>
          <p:nvPr/>
        </p:nvSpPr>
        <p:spPr>
          <a:xfrm>
            <a:off x="6184392" y="3931920"/>
            <a:ext cx="1270711" cy="256032"/>
          </a:xfrm>
          <a:prstGeom prst="rect">
            <a:avLst/>
          </a:prstGeom>
          <a:noFill/>
          <a:ln/>
        </p:spPr>
        <p:txBody>
          <a:bodyPr wrap="square" rtlCol="0" anchor="ctr"/>
          <a:lstStyle/>
          <a:p>
            <a:pPr indent="0" marL="0">
              <a:buNone/>
            </a:pPr>
            <a:r>
              <a:rPr lang="en-US" sz="850" dirty="0">
                <a:solidFill>
                  <a:srgbClr val="C9BCA9"/>
                </a:solidFill>
                <a:latin typeface="Jost" pitchFamily="34" charset="0"/>
                <a:ea typeface="Jost" pitchFamily="34" charset="-122"/>
                <a:cs typeface="Jost" pitchFamily="34" charset="-120"/>
              </a:rPr>
              <a:t>Yield on equity</a:t>
            </a:r>
            <a:endParaRPr lang="en-US" sz="850" dirty="0"/>
          </a:p>
        </p:txBody>
      </p:sp>
      <p:sp>
        <p:nvSpPr>
          <p:cNvPr id="53" name="Text 51"/>
          <p:cNvSpPr/>
          <p:nvPr/>
        </p:nvSpPr>
        <p:spPr>
          <a:xfrm>
            <a:off x="7224065" y="3931920"/>
            <a:ext cx="1270711" cy="256032"/>
          </a:xfrm>
          <a:prstGeom prst="rect">
            <a:avLst/>
          </a:prstGeom>
          <a:noFill/>
          <a:ln/>
        </p:spPr>
        <p:txBody>
          <a:bodyPr wrap="square" rtlCol="0" anchor="ctr"/>
          <a:lstStyle/>
          <a:p>
            <a:pPr algn="r" indent="0" marL="0">
              <a:buNone/>
            </a:pPr>
            <a:r>
              <a:rPr lang="en-US" sz="850" dirty="0">
                <a:solidFill>
                  <a:srgbClr val="EDE7DE"/>
                </a:solidFill>
                <a:latin typeface="Jost" pitchFamily="34" charset="0"/>
                <a:ea typeface="Jost" pitchFamily="34" charset="-122"/>
                <a:cs typeface="Jost" pitchFamily="34" charset="-120"/>
              </a:rPr>
              <a:t>87.4%</a:t>
            </a:r>
            <a:endParaRPr lang="en-US" sz="850" dirty="0"/>
          </a:p>
        </p:txBody>
      </p:sp>
      <p:sp>
        <p:nvSpPr>
          <p:cNvPr id="54" name="Text 52"/>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55" name="Text 53"/>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24</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THE ASK</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$4.75M FOR 30%, RATCHETED</a:t>
            </a:r>
            <a:endParaRPr lang="en-US" sz="2600" dirty="0"/>
          </a:p>
        </p:txBody>
      </p:sp>
      <p:sp>
        <p:nvSpPr>
          <p:cNvPr id="5" name="Shape 3"/>
          <p:cNvSpPr/>
          <p:nvPr/>
        </p:nvSpPr>
        <p:spPr>
          <a:xfrm>
            <a:off x="502920" y="1234440"/>
            <a:ext cx="1924812" cy="841248"/>
          </a:xfrm>
          <a:prstGeom prst="rect">
            <a:avLst/>
          </a:prstGeom>
          <a:solidFill>
            <a:srgbClr val="1C1C1E"/>
          </a:solidFill>
          <a:ln w="9525">
            <a:solidFill>
              <a:srgbClr val="271F13"/>
            </a:solidFill>
            <a:prstDash val="solid"/>
          </a:ln>
        </p:spPr>
      </p:sp>
      <p:sp>
        <p:nvSpPr>
          <p:cNvPr id="6" name="Text 4"/>
          <p:cNvSpPr/>
          <p:nvPr/>
        </p:nvSpPr>
        <p:spPr>
          <a:xfrm>
            <a:off x="649224" y="1362456"/>
            <a:ext cx="1632204" cy="310896"/>
          </a:xfrm>
          <a:prstGeom prst="rect">
            <a:avLst/>
          </a:prstGeom>
          <a:noFill/>
          <a:ln/>
        </p:spPr>
        <p:txBody>
          <a:bodyPr wrap="square" rtlCol="0" anchor="t"/>
          <a:lstStyle/>
          <a:p>
            <a:pPr indent="0" marL="0">
              <a:buNone/>
            </a:pPr>
            <a:r>
              <a:rPr lang="en-US" sz="1800" dirty="0">
                <a:solidFill>
                  <a:srgbClr val="B08D57"/>
                </a:solidFill>
                <a:latin typeface="Cormorant Garamond" pitchFamily="34" charset="0"/>
                <a:ea typeface="Cormorant Garamond" pitchFamily="34" charset="-122"/>
                <a:cs typeface="Cormorant Garamond" pitchFamily="34" charset="-120"/>
              </a:rPr>
              <a:t>$4,750,000</a:t>
            </a:r>
            <a:endParaRPr lang="en-US" sz="1800" dirty="0"/>
          </a:p>
        </p:txBody>
      </p:sp>
      <p:sp>
        <p:nvSpPr>
          <p:cNvPr id="7" name="Text 5"/>
          <p:cNvSpPr/>
          <p:nvPr/>
        </p:nvSpPr>
        <p:spPr>
          <a:xfrm>
            <a:off x="649224" y="1691640"/>
            <a:ext cx="1632204" cy="274320"/>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Total raise, all equity</a:t>
            </a:r>
            <a:endParaRPr lang="en-US" sz="800" dirty="0"/>
          </a:p>
        </p:txBody>
      </p:sp>
      <p:sp>
        <p:nvSpPr>
          <p:cNvPr id="8" name="Shape 6"/>
          <p:cNvSpPr/>
          <p:nvPr/>
        </p:nvSpPr>
        <p:spPr>
          <a:xfrm>
            <a:off x="2574036" y="1234440"/>
            <a:ext cx="1924812" cy="841248"/>
          </a:xfrm>
          <a:prstGeom prst="rect">
            <a:avLst/>
          </a:prstGeom>
          <a:solidFill>
            <a:srgbClr val="1C1C1E"/>
          </a:solidFill>
          <a:ln w="9525">
            <a:solidFill>
              <a:srgbClr val="271F13"/>
            </a:solidFill>
            <a:prstDash val="solid"/>
          </a:ln>
        </p:spPr>
      </p:sp>
      <p:sp>
        <p:nvSpPr>
          <p:cNvPr id="9" name="Text 7"/>
          <p:cNvSpPr/>
          <p:nvPr/>
        </p:nvSpPr>
        <p:spPr>
          <a:xfrm>
            <a:off x="2720340" y="1362456"/>
            <a:ext cx="1632204" cy="310896"/>
          </a:xfrm>
          <a:prstGeom prst="rect">
            <a:avLst/>
          </a:prstGeom>
          <a:noFill/>
          <a:ln/>
        </p:spPr>
        <p:txBody>
          <a:bodyPr wrap="square" rtlCol="0" anchor="t"/>
          <a:lstStyle/>
          <a:p>
            <a:pPr indent="0" marL="0">
              <a:buNone/>
            </a:pPr>
            <a:r>
              <a:rPr lang="en-US" sz="1800" dirty="0">
                <a:solidFill>
                  <a:srgbClr val="B08D57"/>
                </a:solidFill>
                <a:latin typeface="Cormorant Garamond" pitchFamily="34" charset="0"/>
                <a:ea typeface="Cormorant Garamond" pitchFamily="34" charset="-122"/>
                <a:cs typeface="Cormorant Garamond" pitchFamily="34" charset="-120"/>
              </a:rPr>
              <a:t>30%</a:t>
            </a:r>
            <a:endParaRPr lang="en-US" sz="1800" dirty="0"/>
          </a:p>
        </p:txBody>
      </p:sp>
      <p:sp>
        <p:nvSpPr>
          <p:cNvPr id="10" name="Text 8"/>
          <p:cNvSpPr/>
          <p:nvPr/>
        </p:nvSpPr>
        <p:spPr>
          <a:xfrm>
            <a:off x="2720340" y="1691640"/>
            <a:ext cx="1632204" cy="274320"/>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Starting stake</a:t>
            </a:r>
            <a:endParaRPr lang="en-US" sz="800" dirty="0"/>
          </a:p>
        </p:txBody>
      </p:sp>
      <p:sp>
        <p:nvSpPr>
          <p:cNvPr id="11" name="Shape 9"/>
          <p:cNvSpPr/>
          <p:nvPr/>
        </p:nvSpPr>
        <p:spPr>
          <a:xfrm>
            <a:off x="4645152" y="1234440"/>
            <a:ext cx="1924812" cy="841248"/>
          </a:xfrm>
          <a:prstGeom prst="rect">
            <a:avLst/>
          </a:prstGeom>
          <a:solidFill>
            <a:srgbClr val="1C1C1E"/>
          </a:solidFill>
          <a:ln w="9525">
            <a:solidFill>
              <a:srgbClr val="271F13"/>
            </a:solidFill>
            <a:prstDash val="solid"/>
          </a:ln>
        </p:spPr>
      </p:sp>
      <p:sp>
        <p:nvSpPr>
          <p:cNvPr id="12" name="Text 10"/>
          <p:cNvSpPr/>
          <p:nvPr/>
        </p:nvSpPr>
        <p:spPr>
          <a:xfrm>
            <a:off x="4791456" y="1362456"/>
            <a:ext cx="1632204" cy="310896"/>
          </a:xfrm>
          <a:prstGeom prst="rect">
            <a:avLst/>
          </a:prstGeom>
          <a:noFill/>
          <a:ln/>
        </p:spPr>
        <p:txBody>
          <a:bodyPr wrap="square" rtlCol="0" anchor="t"/>
          <a:lstStyle/>
          <a:p>
            <a:pPr indent="0" marL="0">
              <a:buNone/>
            </a:pPr>
            <a:r>
              <a:rPr lang="en-US" sz="1800" dirty="0">
                <a:solidFill>
                  <a:srgbClr val="B08D57"/>
                </a:solidFill>
                <a:latin typeface="Cormorant Garamond" pitchFamily="34" charset="0"/>
                <a:ea typeface="Cormorant Garamond" pitchFamily="34" charset="-122"/>
                <a:cs typeface="Cormorant Garamond" pitchFamily="34" charset="-120"/>
              </a:rPr>
              <a:t>$11,083,333</a:t>
            </a:r>
            <a:endParaRPr lang="en-US" sz="1800" dirty="0"/>
          </a:p>
        </p:txBody>
      </p:sp>
      <p:sp>
        <p:nvSpPr>
          <p:cNvPr id="13" name="Text 11"/>
          <p:cNvSpPr/>
          <p:nvPr/>
        </p:nvSpPr>
        <p:spPr>
          <a:xfrm>
            <a:off x="4791456" y="1691640"/>
            <a:ext cx="1632204" cy="274320"/>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Pre-money valuation</a:t>
            </a:r>
            <a:endParaRPr lang="en-US" sz="800" dirty="0"/>
          </a:p>
        </p:txBody>
      </p:sp>
      <p:sp>
        <p:nvSpPr>
          <p:cNvPr id="14" name="Shape 12"/>
          <p:cNvSpPr/>
          <p:nvPr/>
        </p:nvSpPr>
        <p:spPr>
          <a:xfrm>
            <a:off x="6716268" y="1234440"/>
            <a:ext cx="1924812" cy="841248"/>
          </a:xfrm>
          <a:prstGeom prst="rect">
            <a:avLst/>
          </a:prstGeom>
          <a:solidFill>
            <a:srgbClr val="1C1C1E"/>
          </a:solidFill>
          <a:ln w="9525">
            <a:solidFill>
              <a:srgbClr val="271F13"/>
            </a:solidFill>
            <a:prstDash val="solid"/>
          </a:ln>
        </p:spPr>
      </p:sp>
      <p:sp>
        <p:nvSpPr>
          <p:cNvPr id="15" name="Text 13"/>
          <p:cNvSpPr/>
          <p:nvPr/>
        </p:nvSpPr>
        <p:spPr>
          <a:xfrm>
            <a:off x="6862572" y="1362456"/>
            <a:ext cx="1632204" cy="310896"/>
          </a:xfrm>
          <a:prstGeom prst="rect">
            <a:avLst/>
          </a:prstGeom>
          <a:noFill/>
          <a:ln/>
        </p:spPr>
        <p:txBody>
          <a:bodyPr wrap="square" rtlCol="0" anchor="t"/>
          <a:lstStyle/>
          <a:p>
            <a:pPr indent="0" marL="0">
              <a:buNone/>
            </a:pPr>
            <a:r>
              <a:rPr lang="en-US" sz="1800" dirty="0">
                <a:solidFill>
                  <a:srgbClr val="B08D57"/>
                </a:solidFill>
                <a:latin typeface="Cormorant Garamond" pitchFamily="34" charset="0"/>
                <a:ea typeface="Cormorant Garamond" pitchFamily="34" charset="-122"/>
                <a:cs typeface="Cormorant Garamond" pitchFamily="34" charset="-120"/>
              </a:rPr>
              <a:t>$15,833,333</a:t>
            </a:r>
            <a:endParaRPr lang="en-US" sz="1800" dirty="0"/>
          </a:p>
        </p:txBody>
      </p:sp>
      <p:sp>
        <p:nvSpPr>
          <p:cNvPr id="16" name="Text 14"/>
          <p:cNvSpPr/>
          <p:nvPr/>
        </p:nvSpPr>
        <p:spPr>
          <a:xfrm>
            <a:off x="6862572" y="1691640"/>
            <a:ext cx="1632204" cy="274320"/>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Post-money valuation</a:t>
            </a:r>
            <a:endParaRPr lang="en-US" sz="800" dirty="0"/>
          </a:p>
        </p:txBody>
      </p:sp>
      <p:sp>
        <p:nvSpPr>
          <p:cNvPr id="17" name="Text 15"/>
          <p:cNvSpPr/>
          <p:nvPr/>
        </p:nvSpPr>
        <p:spPr>
          <a:xfrm>
            <a:off x="502920" y="2148840"/>
            <a:ext cx="8138160" cy="438912"/>
          </a:xfrm>
          <a:prstGeom prst="rect">
            <a:avLst/>
          </a:prstGeom>
          <a:noFill/>
          <a:ln/>
        </p:spPr>
        <p:txBody>
          <a:bodyPr wrap="square" rtlCol="0" anchor="t"/>
          <a:lstStyle/>
          <a:p>
            <a:pPr indent="0" marL="0">
              <a:lnSpc>
                <a:spcPct val="115000"/>
              </a:lnSpc>
              <a:buNone/>
            </a:pPr>
            <a:r>
              <a:rPr lang="en-US" sz="800" dirty="0">
                <a:solidFill>
                  <a:srgbClr val="C9BCA9"/>
                </a:solidFill>
                <a:latin typeface="Jost" pitchFamily="34" charset="0"/>
                <a:ea typeface="Jost" pitchFamily="34" charset="-122"/>
                <a:cs typeface="Jost" pitchFamily="34" charset="-120"/>
              </a:rPr>
              <a:t>All of it is equity, so no lender sits ahead of the investor. The stake starts at 30% and ratchets toward 40% if trailing operating income at stabilization comes in under $2.2M, set out overleaf. At base case the round prices at 5.87x operating income, inside the published range for a single location under a strong operator. Indicative terms, subject to definitive documents.</a:t>
            </a:r>
            <a:endParaRPr lang="en-US" sz="800" dirty="0"/>
          </a:p>
        </p:txBody>
      </p:sp>
      <p:sp>
        <p:nvSpPr>
          <p:cNvPr id="18" name="Text 16"/>
          <p:cNvSpPr/>
          <p:nvPr/>
        </p:nvSpPr>
        <p:spPr>
          <a:xfrm>
            <a:off x="502920" y="2651760"/>
            <a:ext cx="8138160"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USE OF FUNDS</a:t>
            </a:r>
            <a:endParaRPr lang="en-US" sz="7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2862072"/>
          <a:ext cx="8138160" cy="914400"/>
        </p:xfrm>
        <a:graphic>
          <a:graphicData uri="http://schemas.openxmlformats.org/drawingml/2006/table">
            <a:tbl>
              <a:tblPr/>
              <a:tblGrid>
                <a:gridCol w="4937760"/>
                <a:gridCol w="1600200"/>
                <a:gridCol w="1600200"/>
              </a:tblGrid>
              <a:tr h="150876">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USE OF FUNDS</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AMOUNT</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 OF PROJECT</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50876">
                <a:tc>
                  <a:txBody>
                    <a:bodyPr/>
                    <a:lstStyle/>
                    <a:p>
                      <a:pPr algn="l" indent="0" marL="0">
                        <a:buNone/>
                      </a:pPr>
                      <a:r>
                        <a:rPr lang="en-US" sz="750" dirty="0">
                          <a:solidFill>
                            <a:srgbClr val="EDE7DE"/>
                          </a:solidFill>
                          <a:latin typeface="Jost" pitchFamily="34" charset="0"/>
                          <a:ea typeface="Jost" pitchFamily="34" charset="-122"/>
                          <a:cs typeface="Jost" pitchFamily="34" charset="-120"/>
                        </a:rPr>
                        <a:t>Buildout and tenant improvements (4,925 SF @ $250/SF)</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$1,231,250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26%</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0876">
                <a:tc>
                  <a:txBody>
                    <a:bodyPr/>
                    <a:lstStyle/>
                    <a:p>
                      <a:pPr algn="l" indent="0" marL="0">
                        <a:buNone/>
                      </a:pPr>
                      <a:r>
                        <a:rPr lang="en-US" sz="750" dirty="0">
                          <a:solidFill>
                            <a:srgbClr val="EDE7DE"/>
                          </a:solidFill>
                          <a:latin typeface="Jost" pitchFamily="34" charset="0"/>
                          <a:ea typeface="Jost" pitchFamily="34" charset="-122"/>
                          <a:cs typeface="Jost" pitchFamily="34" charset="-120"/>
                        </a:rPr>
                        <a:t>Wet areas: 2 saunas, 2 plunges, steam, drainage, ventilation</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$465,000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0876">
                <a:tc>
                  <a:txBody>
                    <a:bodyPr/>
                    <a:lstStyle/>
                    <a:p>
                      <a:pPr algn="l" indent="0" marL="0">
                        <a:buNone/>
                      </a:pPr>
                      <a:r>
                        <a:rPr lang="en-US" sz="750" dirty="0">
                          <a:solidFill>
                            <a:srgbClr val="EDE7DE"/>
                          </a:solidFill>
                          <a:latin typeface="Jost" pitchFamily="34" charset="0"/>
                          <a:ea typeface="Jost" pitchFamily="34" charset="-122"/>
                          <a:cs typeface="Jost" pitchFamily="34" charset="-120"/>
                        </a:rPr>
                        <a:t>Medical and aesthetic equipment (purchased)</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$780,000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16%</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0876">
                <a:tc>
                  <a:txBody>
                    <a:bodyPr/>
                    <a:lstStyle/>
                    <a:p>
                      <a:pPr algn="l" indent="0" marL="0">
                        <a:buNone/>
                      </a:pPr>
                      <a:r>
                        <a:rPr lang="en-US" sz="750" dirty="0">
                          <a:solidFill>
                            <a:srgbClr val="EDE7DE"/>
                          </a:solidFill>
                          <a:latin typeface="Jost" pitchFamily="34" charset="0"/>
                          <a:ea typeface="Jost" pitchFamily="34" charset="-122"/>
                          <a:cs typeface="Jost" pitchFamily="34" charset="-120"/>
                        </a:rPr>
                        <a:t>Recovery technology: HBOT purchased, Ammortal deposit</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$165,950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0876">
                <a:tc>
                  <a:txBody>
                    <a:bodyPr/>
                    <a:lstStyle/>
                    <a:p>
                      <a:pPr algn="l" indent="0" marL="0">
                        <a:buNone/>
                      </a:pPr>
                      <a:r>
                        <a:rPr lang="en-US" sz="750" dirty="0">
                          <a:solidFill>
                            <a:srgbClr val="EDE7DE"/>
                          </a:solidFill>
                          <a:latin typeface="Jost" pitchFamily="34" charset="0"/>
                          <a:ea typeface="Jost" pitchFamily="34" charset="-122"/>
                          <a:cs typeface="Jost" pitchFamily="34" charset="-120"/>
                        </a:rPr>
                        <a:t>GE iDXA bone densitometer, purchased</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0876">
                <a:tc>
                  <a:txBody>
                    <a:bodyPr/>
                    <a:lstStyle/>
                    <a:p>
                      <a:pPr algn="l" indent="0" marL="0">
                        <a:buNone/>
                      </a:pPr>
                      <a:r>
                        <a:rPr lang="en-US" sz="750" dirty="0">
                          <a:solidFill>
                            <a:srgbClr val="EDE7DE"/>
                          </a:solidFill>
                          <a:latin typeface="Jost" pitchFamily="34" charset="0"/>
                          <a:ea typeface="Jost" pitchFamily="34" charset="-122"/>
                          <a:cs typeface="Jost" pitchFamily="34" charset="-120"/>
                        </a:rPr>
                        <a:t>FF&amp;E, lounge, millwork, retail</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$430,000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0876">
                <a:tc>
                  <a:txBody>
                    <a:bodyPr/>
                    <a:lstStyle/>
                    <a:p>
                      <a:pPr algn="l" indent="0" marL="0">
                        <a:buNone/>
                      </a:pPr>
                      <a:r>
                        <a:rPr lang="en-US" sz="750" dirty="0">
                          <a:solidFill>
                            <a:srgbClr val="EDE7DE"/>
                          </a:solidFill>
                          <a:latin typeface="Jost" pitchFamily="34" charset="0"/>
                          <a:ea typeface="Jost" pitchFamily="34" charset="-122"/>
                          <a:cs typeface="Jost" pitchFamily="34" charset="-120"/>
                        </a:rPr>
                        <a:t>Pre-opening: licensing, legal, insurance, hiring</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$310,000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0876">
                <a:tc>
                  <a:txBody>
                    <a:bodyPr/>
                    <a:lstStyle/>
                    <a:p>
                      <a:pPr algn="l" indent="0" marL="0">
                        <a:buNone/>
                      </a:pPr>
                      <a:r>
                        <a:rPr lang="en-US" sz="750" dirty="0">
                          <a:solidFill>
                            <a:srgbClr val="EDE7DE"/>
                          </a:solidFill>
                          <a:latin typeface="Jost" pitchFamily="34" charset="0"/>
                          <a:ea typeface="Jost" pitchFamily="34" charset="-122"/>
                          <a:cs typeface="Jost" pitchFamily="34" charset="-120"/>
                        </a:rPr>
                        <a:t>Brand, launch, founding member campaign</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$237,000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0876">
                <a:tc>
                  <a:txBody>
                    <a:bodyPr/>
                    <a:lstStyle/>
                    <a:p>
                      <a:pPr algn="l" indent="0" marL="0">
                        <a:buNone/>
                      </a:pPr>
                      <a:r>
                        <a:rPr lang="en-US" sz="750" dirty="0">
                          <a:solidFill>
                            <a:srgbClr val="EDE7DE"/>
                          </a:solidFill>
                          <a:latin typeface="Jost" pitchFamily="34" charset="0"/>
                          <a:ea typeface="Jost" pitchFamily="34" charset="-122"/>
                          <a:cs typeface="Jost" pitchFamily="34" charset="-120"/>
                        </a:rPr>
                        <a:t>Working capital reserve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$1,105,800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23%</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0876">
                <a:tc>
                  <a:txBody>
                    <a:bodyPr/>
                    <a:lstStyle/>
                    <a:p>
                      <a:pPr algn="l" indent="0" marL="0">
                        <a:buNone/>
                      </a:pPr>
                      <a:r>
                        <a:rPr lang="en-US" sz="750" dirty="0">
                          <a:solidFill>
                            <a:srgbClr val="B08D57"/>
                          </a:solidFill>
                          <a:latin typeface="Jost" pitchFamily="34" charset="0"/>
                          <a:ea typeface="Jost" pitchFamily="34" charset="-122"/>
                          <a:cs typeface="Jost" pitchFamily="34" charset="-120"/>
                        </a:rPr>
                        <a:t>Total project cost</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$4,750,000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100%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20" name="Text 1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21" name="Text 1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25</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STRUCTURE</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ALIGNED DOWNSIDE PROTECTION</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Ownership is priced against delivery. If the business underperforms, the investor owns more of it.</a:t>
            </a:r>
            <a:endParaRPr lang="en-US" sz="1050" dirty="0"/>
          </a:p>
        </p:txBody>
      </p:sp>
      <p:sp>
        <p:nvSpPr>
          <p:cNvPr id="6" name="Text 4"/>
          <p:cNvSpPr/>
          <p:nvPr/>
        </p:nvSpPr>
        <p:spPr>
          <a:xfrm>
            <a:off x="502920" y="1691640"/>
            <a:ext cx="8138160" cy="1097280"/>
          </a:xfrm>
          <a:prstGeom prst="rect">
            <a:avLst/>
          </a:prstGeom>
          <a:noFill/>
          <a:ln/>
        </p:spPr>
        <p:txBody>
          <a:bodyPr wrap="square" rtlCol="0" anchor="t"/>
          <a:lstStyle/>
          <a:p>
            <a:pPr marL="342900" indent="-342900">
              <a:lnSpc>
                <a:spcPct val="130000"/>
              </a:lnSpc>
              <a:buSzPct val="100000"/>
              <a:buChar char="•"/>
            </a:pPr>
            <a:r>
              <a:rPr lang="en-US" sz="950" dirty="0">
                <a:solidFill>
                  <a:srgbClr val="C9BCA9"/>
                </a:solidFill>
                <a:latin typeface="Jost" pitchFamily="34" charset="0"/>
                <a:ea typeface="Jost" pitchFamily="34" charset="-122"/>
                <a:cs typeface="Jost" pitchFamily="34" charset="-120"/>
              </a:rPr>
              <a:t>Investors start at 30%, priced against base-case stabilized operating income of $2.70M a year.</a:t>
            </a:r>
            <a:endParaRPr lang="en-US" sz="950" dirty="0"/>
          </a:p>
          <a:p>
            <a:pPr marL="342900" indent="-342900">
              <a:lnSpc>
                <a:spcPct val="130000"/>
              </a:lnSpc>
              <a:buSzPct val="100000"/>
              <a:buChar char="•"/>
            </a:pPr>
            <a:r>
              <a:rPr lang="en-US" sz="950" dirty="0">
                <a:solidFill>
                  <a:srgbClr val="C9BCA9"/>
                </a:solidFill>
                <a:latin typeface="Jost" pitchFamily="34" charset="0"/>
                <a:ea typeface="Jost" pitchFamily="34" charset="-122"/>
                <a:cs typeface="Jost" pitchFamily="34" charset="-120"/>
              </a:rPr>
              <a:t>If trailing twelve-month operating income at stabilization lands below $2,200,000, ownership steps up on a straight line toward a hard cap of 40%, reached at the low case of $1,244,500.</a:t>
            </a:r>
            <a:endParaRPr lang="en-US" sz="950" dirty="0"/>
          </a:p>
          <a:p>
            <a:pPr marL="342900" indent="-342900">
              <a:lnSpc>
                <a:spcPct val="130000"/>
              </a:lnSpc>
              <a:buSzPct val="100000"/>
              <a:buChar char="•"/>
            </a:pPr>
            <a:r>
              <a:rPr lang="en-US" sz="950" dirty="0">
                <a:solidFill>
                  <a:srgbClr val="C9BCA9"/>
                </a:solidFill>
                <a:latin typeface="Jost" pitchFamily="34" charset="0"/>
                <a:ea typeface="Jost" pitchFamily="34" charset="-122"/>
                <a:cs typeface="Jost" pitchFamily="34" charset="-120"/>
              </a:rPr>
              <a:t>At or above base case the investor stays at 30% and the founder keeps the upside. The ratchet only moves one way.</a:t>
            </a:r>
            <a:endParaRPr lang="en-US" sz="9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2880360"/>
          <a:ext cx="8138160" cy="914400"/>
        </p:xfrm>
        <a:graphic>
          <a:graphicData uri="http://schemas.openxmlformats.org/drawingml/2006/table">
            <a:tbl>
              <a:tblPr/>
              <a:tblGrid>
                <a:gridCol w="1371600"/>
                <a:gridCol w="1828800"/>
                <a:gridCol w="1645920"/>
                <a:gridCol w="1645920"/>
                <a:gridCol w="1645920"/>
              </a:tblGrid>
              <a:tr h="256032">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SCENARIO</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OPERATING INCOME /YR</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INVESTOR OWNERSHIP</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INVESTOR CASH /YR</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FOUNDER RETAINED /YR</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256032">
                <a:tc>
                  <a:txBody>
                    <a:bodyPr/>
                    <a:lstStyle/>
                    <a:p>
                      <a:pPr algn="l" indent="0" marL="0">
                        <a:buNone/>
                      </a:pPr>
                      <a:r>
                        <a:rPr lang="en-US" sz="900" dirty="0">
                          <a:solidFill>
                            <a:srgbClr val="EDE7DE"/>
                          </a:solidFill>
                          <a:latin typeface="Jost" pitchFamily="34" charset="0"/>
                          <a:ea typeface="Jost" pitchFamily="34" charset="-122"/>
                          <a:cs typeface="Jost" pitchFamily="34" charset="-120"/>
                        </a:rPr>
                        <a:t>Low case</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$1,244,500</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B08D57"/>
                          </a:solidFill>
                          <a:latin typeface="Jost" pitchFamily="34" charset="0"/>
                          <a:ea typeface="Jost" pitchFamily="34" charset="-122"/>
                          <a:cs typeface="Jost" pitchFamily="34" charset="-120"/>
                        </a:rPr>
                        <a:t>40%</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$497,800</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$746,700</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56032">
                <a:tc>
                  <a:txBody>
                    <a:bodyPr/>
                    <a:lstStyle/>
                    <a:p>
                      <a:pPr algn="l" indent="0" marL="0">
                        <a:buNone/>
                      </a:pPr>
                      <a:r>
                        <a:rPr lang="en-US" sz="900" dirty="0">
                          <a:solidFill>
                            <a:srgbClr val="EDE7DE"/>
                          </a:solidFill>
                          <a:latin typeface="Jost" pitchFamily="34" charset="0"/>
                          <a:ea typeface="Jost" pitchFamily="34" charset="-122"/>
                          <a:cs typeface="Jost" pitchFamily="34" charset="-120"/>
                        </a:rPr>
                        <a:t>Base case</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$2,697,611</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30%</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$809,283</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$1,888,328</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56032">
                <a:tc>
                  <a:txBody>
                    <a:bodyPr/>
                    <a:lstStyle/>
                    <a:p>
                      <a:pPr algn="l" indent="0" marL="0">
                        <a:buNone/>
                      </a:pPr>
                      <a:r>
                        <a:rPr lang="en-US" sz="900" dirty="0">
                          <a:solidFill>
                            <a:srgbClr val="EDE7DE"/>
                          </a:solidFill>
                          <a:latin typeface="Jost" pitchFamily="34" charset="0"/>
                          <a:ea typeface="Jost" pitchFamily="34" charset="-122"/>
                          <a:cs typeface="Jost" pitchFamily="34" charset="-120"/>
                        </a:rPr>
                        <a:t>Upside case</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$4,150,722</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30%</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$1,245,217</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$2,905,505</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8" name="Text 5"/>
          <p:cNvSpPr/>
          <p:nvPr/>
        </p:nvSpPr>
        <p:spPr>
          <a:xfrm>
            <a:off x="502920" y="4023360"/>
            <a:ext cx="8138160" cy="566928"/>
          </a:xfrm>
          <a:prstGeom prst="rect">
            <a:avLst/>
          </a:prstGeom>
          <a:noFill/>
          <a:ln/>
        </p:spPr>
        <p:txBody>
          <a:bodyPr wrap="square" rtlCol="0" anchor="t"/>
          <a:lstStyle/>
          <a:p>
            <a:pPr indent="0" marL="0">
              <a:lnSpc>
                <a:spcPct val="120000"/>
              </a:lnSpc>
              <a:buNone/>
            </a:pPr>
            <a:r>
              <a:rPr lang="en-US" sz="800" dirty="0">
                <a:solidFill>
                  <a:srgbClr val="6B6965"/>
                </a:solidFill>
                <a:latin typeface="Jost" pitchFamily="34" charset="0"/>
                <a:ea typeface="Jost" pitchFamily="34" charset="-122"/>
                <a:cs typeface="Jost" pitchFamily="34" charset="-120"/>
              </a:rPr>
              <a:t>In valuation terms the ratchet is exactly a halving of the pre-money, $11,083,333 to $7,125,000. It cushions the downside without making the investor whole: at the low case 40% of $1.24M is $497,800, still below the $809,283 that 30% of base case pays.</a:t>
            </a:r>
            <a:endParaRPr lang="en-US" sz="800" dirty="0"/>
          </a:p>
        </p:txBody>
      </p:sp>
      <p:sp>
        <p:nvSpPr>
          <p:cNvPr id="9"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0"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26</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CAPITAL AND RETURNS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FUNDED ENTIRELY WITH EQUITY</a:t>
            </a:r>
            <a:endParaRPr lang="en-US" sz="2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4023360" cy="914400"/>
        </p:xfrm>
        <a:graphic>
          <a:graphicData uri="http://schemas.openxmlformats.org/drawingml/2006/table">
            <a:tbl>
              <a:tblPr/>
              <a:tblGrid>
                <a:gridCol w="2514600"/>
                <a:gridCol w="1508760"/>
              </a:tblGrid>
              <a:tr h="210312">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CAPITAL STRUCTURE</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VALUE</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210312">
                <a:tc>
                  <a:txBody>
                    <a:bodyPr/>
                    <a:lstStyle/>
                    <a:p>
                      <a:pPr algn="l" indent="0" marL="0">
                        <a:buNone/>
                      </a:pPr>
                      <a:r>
                        <a:rPr lang="en-US" sz="850" dirty="0">
                          <a:solidFill>
                            <a:srgbClr val="EDE7DE"/>
                          </a:solidFill>
                          <a:latin typeface="Jost" pitchFamily="34" charset="0"/>
                          <a:ea typeface="Jost" pitchFamily="34" charset="-122"/>
                          <a:cs typeface="Jost" pitchFamily="34" charset="-120"/>
                        </a:rPr>
                        <a:t>Total project cost</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$4,750,000</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0312">
                <a:tc>
                  <a:txBody>
                    <a:bodyPr/>
                    <a:lstStyle/>
                    <a:p>
                      <a:pPr algn="l" indent="0" marL="0">
                        <a:buNone/>
                      </a:pPr>
                      <a:r>
                        <a:rPr lang="en-US" sz="850" dirty="0">
                          <a:solidFill>
                            <a:srgbClr val="EDE7DE"/>
                          </a:solidFill>
                          <a:latin typeface="Jost" pitchFamily="34" charset="0"/>
                          <a:ea typeface="Jost" pitchFamily="34" charset="-122"/>
                          <a:cs typeface="Jost" pitchFamily="34" charset="-120"/>
                        </a:rPr>
                        <a:t>Senior debt</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None</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0312">
                <a:tc>
                  <a:txBody>
                    <a:bodyPr/>
                    <a:lstStyle/>
                    <a:p>
                      <a:pPr algn="l" indent="0" marL="0">
                        <a:buNone/>
                      </a:pPr>
                      <a:r>
                        <a:rPr lang="en-US" sz="850" dirty="0">
                          <a:solidFill>
                            <a:srgbClr val="EDE7DE"/>
                          </a:solidFill>
                          <a:latin typeface="Jost" pitchFamily="34" charset="0"/>
                          <a:ea typeface="Jost" pitchFamily="34" charset="-122"/>
                          <a:cs typeface="Jost" pitchFamily="34" charset="-120"/>
                        </a:rPr>
                        <a:t>Starting stake</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30%</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0312">
                <a:tc>
                  <a:txBody>
                    <a:bodyPr/>
                    <a:lstStyle/>
                    <a:p>
                      <a:pPr algn="l" indent="0" marL="0">
                        <a:buNone/>
                      </a:pPr>
                      <a:r>
                        <a:rPr lang="en-US" sz="850" dirty="0">
                          <a:solidFill>
                            <a:srgbClr val="EDE7DE"/>
                          </a:solidFill>
                          <a:latin typeface="Jost" pitchFamily="34" charset="0"/>
                          <a:ea typeface="Jost" pitchFamily="34" charset="-122"/>
                          <a:cs typeface="Jost" pitchFamily="34" charset="-120"/>
                        </a:rPr>
                        <a:t>Pre-money valuation</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$11,083,333</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0312">
                <a:tc>
                  <a:txBody>
                    <a:bodyPr/>
                    <a:lstStyle/>
                    <a:p>
                      <a:pPr algn="l" indent="0" marL="0">
                        <a:buNone/>
                      </a:pPr>
                      <a:r>
                        <a:rPr lang="en-US" sz="850" dirty="0">
                          <a:solidFill>
                            <a:srgbClr val="EDE7DE"/>
                          </a:solidFill>
                          <a:latin typeface="Jost" pitchFamily="34" charset="0"/>
                          <a:ea typeface="Jost" pitchFamily="34" charset="-122"/>
                          <a:cs typeface="Jost" pitchFamily="34" charset="-120"/>
                        </a:rPr>
                        <a:t>Post-money valuation</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$15,833,333</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0312">
                <a:tc>
                  <a:txBody>
                    <a:bodyPr/>
                    <a:lstStyle/>
                    <a:p>
                      <a:pPr algn="l" indent="0" marL="0">
                        <a:buNone/>
                      </a:pPr>
                      <a:r>
                        <a:rPr lang="en-US" sz="850" dirty="0">
                          <a:solidFill>
                            <a:srgbClr val="EDE7DE"/>
                          </a:solidFill>
                          <a:latin typeface="Jost" pitchFamily="34" charset="0"/>
                          <a:ea typeface="Jost" pitchFamily="34" charset="-122"/>
                          <a:cs typeface="Jost" pitchFamily="34" charset="-120"/>
                        </a:rPr>
                        <a:t>Entry multiple, base case</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5.87x operating income</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0312">
                <a:tc>
                  <a:txBody>
                    <a:bodyPr/>
                    <a:lstStyle/>
                    <a:p>
                      <a:pPr algn="l" indent="0" marL="0">
                        <a:buNone/>
                      </a:pPr>
                      <a:r>
                        <a:rPr lang="en-US" sz="850" dirty="0">
                          <a:solidFill>
                            <a:srgbClr val="EDE7DE"/>
                          </a:solidFill>
                          <a:latin typeface="Jost" pitchFamily="34" charset="0"/>
                          <a:ea typeface="Jost" pitchFamily="34" charset="-122"/>
                          <a:cs typeface="Jost" pitchFamily="34" charset="-120"/>
                        </a:rPr>
                        <a:t>Working capital reserve</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$1,105,800</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0312">
                <a:tc>
                  <a:txBody>
                    <a:bodyPr/>
                    <a:lstStyle/>
                    <a:p>
                      <a:pPr algn="l" indent="0" marL="0">
                        <a:buNone/>
                      </a:pPr>
                      <a:r>
                        <a:rPr lang="en-US" sz="850" dirty="0">
                          <a:solidFill>
                            <a:srgbClr val="EDE7DE"/>
                          </a:solidFill>
                          <a:latin typeface="Jost" pitchFamily="34" charset="0"/>
                          <a:ea typeface="Jost" pitchFamily="34" charset="-122"/>
                          <a:cs typeface="Jost" pitchFamily="34" charset="-120"/>
                        </a:rPr>
                        <a:t>Modeled cash trough</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$42,467 at month 9</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10312">
                <a:tc>
                  <a:txBody>
                    <a:bodyPr/>
                    <a:lstStyle/>
                    <a:p>
                      <a:pPr algn="l" indent="0" marL="0">
                        <a:buNone/>
                      </a:pPr>
                      <a:r>
                        <a:rPr lang="en-US" sz="850" dirty="0">
                          <a:solidFill>
                            <a:srgbClr val="EDE7DE"/>
                          </a:solidFill>
                          <a:latin typeface="Jost" pitchFamily="34" charset="0"/>
                          <a:ea typeface="Jost" pitchFamily="34" charset="-122"/>
                          <a:cs typeface="Jost" pitchFamily="34" charset="-120"/>
                        </a:rPr>
                        <a:t>Equity payback</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50" dirty="0">
                          <a:solidFill>
                            <a:srgbClr val="C9BCA9"/>
                          </a:solidFill>
                          <a:latin typeface="Jost" pitchFamily="34" charset="0"/>
                          <a:ea typeface="Jost" pitchFamily="34" charset="-122"/>
                          <a:cs typeface="Jost" pitchFamily="34" charset="-120"/>
                        </a:rPr>
                        <a:t>month 37, extrapolated</a:t>
                      </a:r>
                      <a:endParaRPr lang="en-US" sz="8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4800600" y="1280160"/>
          <a:ext cx="3840480" cy="914400"/>
        </p:xfrm>
        <a:graphic>
          <a:graphicData uri="http://schemas.openxmlformats.org/drawingml/2006/table">
            <a:tbl>
              <a:tblPr/>
              <a:tblGrid>
                <a:gridCol w="777240"/>
                <a:gridCol w="1234440"/>
                <a:gridCol w="731520"/>
                <a:gridCol w="1097280"/>
              </a:tblGrid>
              <a:tr h="246888">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CASE</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INVESTOR CASH /YR</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YIELD</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AFTER RESERVE</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246888">
                <a:tc>
                  <a:txBody>
                    <a:bodyPr/>
                    <a:lstStyle/>
                    <a:p>
                      <a:pPr algn="l" indent="0" marL="0">
                        <a:buNone/>
                      </a:pPr>
                      <a:r>
                        <a:rPr lang="en-US" sz="900" dirty="0">
                          <a:solidFill>
                            <a:srgbClr val="EDE7DE"/>
                          </a:solidFill>
                          <a:latin typeface="Jost" pitchFamily="34" charset="0"/>
                          <a:ea typeface="Jost" pitchFamily="34" charset="-122"/>
                          <a:cs typeface="Jost" pitchFamily="34" charset="-120"/>
                        </a:rPr>
                        <a:t>Low</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$497,800</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10.5%</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7.9%</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46888">
                <a:tc>
                  <a:txBody>
                    <a:bodyPr/>
                    <a:lstStyle/>
                    <a:p>
                      <a:pPr algn="l" indent="0" marL="0">
                        <a:buNone/>
                      </a:pPr>
                      <a:r>
                        <a:rPr lang="en-US" sz="900" dirty="0">
                          <a:solidFill>
                            <a:srgbClr val="EDE7DE"/>
                          </a:solidFill>
                          <a:latin typeface="Jost" pitchFamily="34" charset="0"/>
                          <a:ea typeface="Jost" pitchFamily="34" charset="-122"/>
                          <a:cs typeface="Jost" pitchFamily="34" charset="-120"/>
                        </a:rPr>
                        <a:t>Base</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$809,283</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17.0%</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12.8%</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46888">
                <a:tc>
                  <a:txBody>
                    <a:bodyPr/>
                    <a:lstStyle/>
                    <a:p>
                      <a:pPr algn="l" indent="0" marL="0">
                        <a:buNone/>
                      </a:pPr>
                      <a:r>
                        <a:rPr lang="en-US" sz="900" dirty="0">
                          <a:solidFill>
                            <a:srgbClr val="EDE7DE"/>
                          </a:solidFill>
                          <a:latin typeface="Jost" pitchFamily="34" charset="0"/>
                          <a:ea typeface="Jost" pitchFamily="34" charset="-122"/>
                          <a:cs typeface="Jost" pitchFamily="34" charset="-120"/>
                        </a:rPr>
                        <a:t>Upside</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900" dirty="0">
                          <a:solidFill>
                            <a:srgbClr val="C9BCA9"/>
                          </a:solidFill>
                          <a:latin typeface="Jost" pitchFamily="34" charset="0"/>
                          <a:ea typeface="Jost" pitchFamily="34" charset="-122"/>
                          <a:cs typeface="Jost" pitchFamily="34" charset="-120"/>
                        </a:rPr>
                        <a:t>$1,245,217</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26.2%</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00" dirty="0">
                          <a:solidFill>
                            <a:srgbClr val="C9BCA9"/>
                          </a:solidFill>
                          <a:latin typeface="Jost" pitchFamily="34" charset="0"/>
                          <a:ea typeface="Jost" pitchFamily="34" charset="-122"/>
                          <a:cs typeface="Jost" pitchFamily="34" charset="-120"/>
                        </a:rPr>
                        <a:t>19.7%</a:t>
                      </a:r>
                      <a:endParaRPr lang="en-US" sz="9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7" name="Text 3"/>
          <p:cNvSpPr/>
          <p:nvPr/>
        </p:nvSpPr>
        <p:spPr>
          <a:xfrm>
            <a:off x="4800600" y="2487168"/>
            <a:ext cx="3977640" cy="384048"/>
          </a:xfrm>
          <a:prstGeom prst="rect">
            <a:avLst/>
          </a:prstGeom>
          <a:noFill/>
          <a:ln/>
        </p:spPr>
        <p:txBody>
          <a:bodyPr wrap="square" rtlCol="0" anchor="t"/>
          <a:lstStyle/>
          <a:p>
            <a:pPr indent="0" marL="0">
              <a:lnSpc>
                <a:spcPct val="115000"/>
              </a:lnSpc>
              <a:buNone/>
            </a:pPr>
            <a:r>
              <a:rPr lang="en-US" sz="900" dirty="0">
                <a:solidFill>
                  <a:srgbClr val="EDE7DE"/>
                </a:solidFill>
                <a:latin typeface="Jost" pitchFamily="34" charset="0"/>
                <a:ea typeface="Jost" pitchFamily="34" charset="-122"/>
                <a:cs typeface="Jost" pitchFamily="34" charset="-120"/>
              </a:rPr>
              <a:t>Founder and operator retains 70% at base case, $1,888,328 a year, and 60% if the ratchet reaches its cap.</a:t>
            </a:r>
            <a:endParaRPr lang="en-US" sz="900" dirty="0"/>
          </a:p>
        </p:txBody>
      </p:sp>
      <p:sp>
        <p:nvSpPr>
          <p:cNvPr id="8" name="Text 4"/>
          <p:cNvSpPr/>
          <p:nvPr/>
        </p:nvSpPr>
        <p:spPr>
          <a:xfrm>
            <a:off x="4800600" y="2889504"/>
            <a:ext cx="3977640" cy="685800"/>
          </a:xfrm>
          <a:prstGeom prst="rect">
            <a:avLst/>
          </a:prstGeom>
          <a:noFill/>
          <a:ln/>
        </p:spPr>
        <p:txBody>
          <a:bodyPr wrap="square" rtlCol="0" anchor="t"/>
          <a:lstStyle/>
          <a:p>
            <a:pPr indent="0" marL="0">
              <a:lnSpc>
                <a:spcPct val="115000"/>
              </a:lnSpc>
              <a:buNone/>
            </a:pPr>
            <a:r>
              <a:rPr lang="en-US" sz="750" dirty="0">
                <a:solidFill>
                  <a:srgbClr val="C9BCA9"/>
                </a:solidFill>
                <a:latin typeface="Jost" pitchFamily="34" charset="0"/>
                <a:ea typeface="Jost" pitchFamily="34" charset="-122"/>
                <a:cs typeface="Jost" pitchFamily="34" charset="-120"/>
              </a:rPr>
              <a:t>Yield is the investor share of operating income against the $4.75M invested, assuming it is distributed in full. After reserve holds back 25% of operating income as retained cash for the second location, which is what the pro-rata page depends on. Both are before tax and before maintenance capital.</a:t>
            </a:r>
            <a:endParaRPr lang="en-US" sz="750" dirty="0"/>
          </a:p>
        </p:txBody>
      </p:sp>
      <p:sp>
        <p:nvSpPr>
          <p:cNvPr id="9" name="Text 5"/>
          <p:cNvSpPr/>
          <p:nvPr/>
        </p:nvSpPr>
        <p:spPr>
          <a:xfrm>
            <a:off x="502920" y="3840480"/>
            <a:ext cx="8138160" cy="731520"/>
          </a:xfrm>
          <a:prstGeom prst="rect">
            <a:avLst/>
          </a:prstGeom>
          <a:noFill/>
          <a:ln/>
        </p:spPr>
        <p:txBody>
          <a:bodyPr wrap="square" rtlCol="0" anchor="t"/>
          <a:lstStyle/>
          <a:p>
            <a:pPr indent="0" marL="0">
              <a:lnSpc>
                <a:spcPct val="120000"/>
              </a:lnSpc>
              <a:buNone/>
            </a:pPr>
            <a:r>
              <a:rPr lang="en-US" sz="750" dirty="0">
                <a:solidFill>
                  <a:srgbClr val="6B6965"/>
                </a:solidFill>
                <a:latin typeface="Jost" pitchFamily="34" charset="0"/>
                <a:ea typeface="Jost" pitchFamily="34" charset="-122"/>
                <a:cs typeface="Jost" pitchFamily="34" charset="-120"/>
              </a:rPr>
              <a:t>Cumulative cash across the modeled 36 months is $4,589,439, including the $540,000 of founding-member prepayments collected during construction. No internal rate of return is projected. The paths to value and the published multiples are two pages on.</a:t>
            </a:r>
            <a:endParaRPr lang="en-US" sz="75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27</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FOLLOW-ON RIGHTS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INVESTING BEYOND LOCATION ONE</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This round funds Marina del Rey. Pro-rata rights cover what comes after.</a:t>
            </a:r>
            <a:endParaRPr lang="en-US" sz="1050" dirty="0"/>
          </a:p>
        </p:txBody>
      </p:sp>
      <p:sp>
        <p:nvSpPr>
          <p:cNvPr id="6" name="Text 4"/>
          <p:cNvSpPr/>
          <p:nvPr/>
        </p:nvSpPr>
        <p:spPr>
          <a:xfrm>
            <a:off x="502920" y="1737360"/>
            <a:ext cx="8138160" cy="2286000"/>
          </a:xfrm>
          <a:prstGeom prst="rect">
            <a:avLst/>
          </a:prstGeom>
          <a:noFill/>
          <a:ln/>
        </p:spPr>
        <p:txBody>
          <a:bodyPr wrap="square" rtlCol="0" anchor="t"/>
          <a:lstStyle/>
          <a:p>
            <a:pPr marL="342900" indent="-342900">
              <a:lnSpc>
                <a:spcPct val="130000"/>
              </a:lnSpc>
              <a:buSzPct val="100000"/>
              <a:buChar char="•"/>
            </a:pPr>
            <a:r>
              <a:rPr lang="en-US" sz="1050" dirty="0">
                <a:solidFill>
                  <a:srgbClr val="C9BCA9"/>
                </a:solidFill>
                <a:latin typeface="Jost" pitchFamily="34" charset="0"/>
                <a:ea typeface="Jost" pitchFamily="34" charset="-122"/>
                <a:cs typeface="Jost" pitchFamily="34" charset="-120"/>
              </a:rPr>
              <a:t>Location 1 is the proof of concept. It has to open, fill and stabilize before anything else is contemplated, and every figure in this brief describes that one building.</a:t>
            </a:r>
            <a:endParaRPr lang="en-US" sz="1050" dirty="0"/>
          </a:p>
          <a:p>
            <a:pPr marL="342900" indent="-342900">
              <a:lnSpc>
                <a:spcPct val="130000"/>
              </a:lnSpc>
              <a:buSzPct val="100000"/>
              <a:buChar char="•"/>
            </a:pPr>
            <a:r>
              <a:rPr lang="en-US" sz="1050" dirty="0">
                <a:solidFill>
                  <a:srgbClr val="C9BCA9"/>
                </a:solidFill>
                <a:latin typeface="Jost" pitchFamily="34" charset="0"/>
                <a:ea typeface="Jost" pitchFamily="34" charset="-122"/>
                <a:cs typeface="Jost" pitchFamily="34" charset="-120"/>
              </a:rPr>
              <a:t>Round 1 investors receive pro-rata rights, not obligations, to invest in future locations at the same or improved terms, in proportion to their original stake. A 30% holder can maintain 30% of the platform without being required to.</a:t>
            </a:r>
            <a:endParaRPr lang="en-US" sz="1050" dirty="0"/>
          </a:p>
          <a:p>
            <a:pPr marL="342900" indent="-342900">
              <a:lnSpc>
                <a:spcPct val="130000"/>
              </a:lnSpc>
              <a:buSzPct val="100000"/>
              <a:buChar char="•"/>
            </a:pPr>
            <a:r>
              <a:rPr lang="en-US" sz="1050" dirty="0">
                <a:solidFill>
                  <a:srgbClr val="C9BCA9"/>
                </a:solidFill>
                <a:latin typeface="Jost" pitchFamily="34" charset="0"/>
                <a:ea typeface="Jost" pitchFamily="34" charset="-122"/>
                <a:cs typeface="Jost" pitchFamily="34" charset="-120"/>
              </a:rPr>
              <a:t>Future locations target comparable high-income coastal and Westside markets, and only once Location 1 reaches stabilization.</a:t>
            </a:r>
            <a:endParaRPr lang="en-US" sz="1050" dirty="0"/>
          </a:p>
          <a:p>
            <a:pPr marL="342900" indent="-342900">
              <a:lnSpc>
                <a:spcPct val="130000"/>
              </a:lnSpc>
              <a:buSzPct val="100000"/>
              <a:buChar char="•"/>
            </a:pPr>
            <a:r>
              <a:rPr lang="en-US" sz="1050" dirty="0">
                <a:solidFill>
                  <a:srgbClr val="C9BCA9"/>
                </a:solidFill>
                <a:latin typeface="Jost" pitchFamily="34" charset="0"/>
                <a:ea typeface="Jost" pitchFamily="34" charset="-122"/>
                <a:cs typeface="Jost" pitchFamily="34" charset="-120"/>
              </a:rPr>
              <a:t>The 25% expansion reserve on the capital page is what funds that optionality out of operating cash rather than out of a second raise. An investor who would rather take the cash can read the full-distribution column instead; the two are shown side by side because this is the actual trade.</a:t>
            </a:r>
            <a:endParaRPr lang="en-US" sz="1050" dirty="0"/>
          </a:p>
        </p:txBody>
      </p:sp>
      <p:sp>
        <p:nvSpPr>
          <p:cNvPr id="7" name="Text 5"/>
          <p:cNvSpPr/>
          <p:nvPr/>
        </p:nvSpPr>
        <p:spPr>
          <a:xfrm>
            <a:off x="502920" y="4160520"/>
            <a:ext cx="8138160" cy="411480"/>
          </a:xfrm>
          <a:prstGeom prst="rect">
            <a:avLst/>
          </a:prstGeom>
          <a:noFill/>
          <a:ln/>
        </p:spPr>
        <p:txBody>
          <a:bodyPr wrap="square" rtlCol="0" anchor="t"/>
          <a:lstStyle/>
          <a:p>
            <a:pPr indent="0" marL="0">
              <a:lnSpc>
                <a:spcPct val="120000"/>
              </a:lnSpc>
              <a:buNone/>
            </a:pPr>
            <a:r>
              <a:rPr lang="en-US" sz="800" dirty="0">
                <a:solidFill>
                  <a:srgbClr val="6B6965"/>
                </a:solidFill>
                <a:latin typeface="Jost" pitchFamily="34" charset="0"/>
                <a:ea typeface="Jost" pitchFamily="34" charset="-122"/>
                <a:cs typeface="Jost" pitchFamily="34" charset="-120"/>
              </a:rPr>
              <a:t>No location beyond Marina del Rey exists today. Pro-rata rights are a mechanism, not a pipeline.</a:t>
            </a:r>
            <a:endParaRPr lang="en-US" sz="800" dirty="0"/>
          </a:p>
        </p:txBody>
      </p:sp>
      <p:sp>
        <p:nvSpPr>
          <p:cNvPr id="8"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9"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28</a:t>
            </a:r>
            <a:endParaRPr lang="en-US" sz="7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EXIT</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HOW INVESTORS REALIZE VALUE</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Three paths, in the order they are most likely to matter.</a:t>
            </a:r>
            <a:endParaRPr lang="en-US" sz="10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4114800" cy="914400"/>
        </p:xfrm>
        <a:graphic>
          <a:graphicData uri="http://schemas.openxmlformats.org/drawingml/2006/table">
            <a:tbl>
              <a:tblPr/>
              <a:tblGrid>
                <a:gridCol w="1234440"/>
                <a:gridCol w="2880360"/>
              </a:tblGrid>
              <a:tr h="530352">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PATH</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HOW IT WORKS</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530352">
                <a:tc>
                  <a:txBody>
                    <a:bodyPr/>
                    <a:lstStyle/>
                    <a:p>
                      <a:pPr algn="l" indent="0" marL="0">
                        <a:buNone/>
                      </a:pPr>
                      <a:r>
                        <a:rPr lang="en-US" sz="800" dirty="0">
                          <a:solidFill>
                            <a:srgbClr val="EDE7DE"/>
                          </a:solidFill>
                          <a:latin typeface="Jost" pitchFamily="34" charset="0"/>
                          <a:ea typeface="Jost" pitchFamily="34" charset="-122"/>
                          <a:cs typeface="Jost" pitchFamily="34" charset="-120"/>
                        </a:rPr>
                        <a:t>Buyback</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The company holds a right, not an obligation, to repurchase investor equity in a defined window in years 3 to 5, priced off a formula tied to trailing twelve-month operating income at a multiple agreed in the definitive documents.</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530352">
                <a:tc>
                  <a:txBody>
                    <a:bodyPr/>
                    <a:lstStyle/>
                    <a:p>
                      <a:pPr algn="l" indent="0" marL="0">
                        <a:buNone/>
                      </a:pPr>
                      <a:r>
                        <a:rPr lang="en-US" sz="800" dirty="0">
                          <a:solidFill>
                            <a:srgbClr val="EDE7DE"/>
                          </a:solidFill>
                          <a:latin typeface="Jost" pitchFamily="34" charset="0"/>
                          <a:ea typeface="Jost" pitchFamily="34" charset="-122"/>
                          <a:cs typeface="Jost" pitchFamily="34" charset="-120"/>
                        </a:rPr>
                        <a:t>Right of first refusal</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If a third-party offer for the business is received, existing investors get the first right to match it before any outside sale proceeds.</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530352">
                <a:tc>
                  <a:txBody>
                    <a:bodyPr/>
                    <a:lstStyle/>
                    <a:p>
                      <a:pPr algn="l" indent="0" marL="0">
                        <a:buNone/>
                      </a:pPr>
                      <a:r>
                        <a:rPr lang="en-US" sz="800" dirty="0">
                          <a:solidFill>
                            <a:srgbClr val="EDE7DE"/>
                          </a:solidFill>
                          <a:latin typeface="Jost" pitchFamily="34" charset="0"/>
                          <a:ea typeface="Jost" pitchFamily="34" charset="-122"/>
                          <a:cs typeface="Jost" pitchFamily="34" charset="-120"/>
                        </a:rPr>
                        <a:t>Strategic sale</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The primary long-term path. Multi-location platforms trade at higher multiples than single-location assets, so the value of building a second and third location is realized at exit rather than only in operating cash.</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graphicFrame>
        <p:nvGraphicFramePr>
          <p:cNvPr id="59" name="Table 1"/>
          <p:cNvGraphicFramePr>
            <a:graphicFrameLocks noGrp="1"/>
          </p:cNvGraphicFramePr>
          <p:nvPr>
            <p:extLst>
              <p:ext uri="{D42A27DB-BD31-4B8C-83A1-F6EECF244321}">
                <p14:modId xmlns:p14="http://schemas.microsoft.com/office/powerpoint/2010/main" val="1579011935"/>
              </p:ext>
            </p:extLst>
          </p:nvPr>
        </p:nvGraphicFramePr>
        <p:xfrm>
          <a:off x="4800600" y="1737360"/>
          <a:ext cx="3840480" cy="914400"/>
        </p:xfrm>
        <a:graphic>
          <a:graphicData uri="http://schemas.openxmlformats.org/drawingml/2006/table">
            <a:tbl>
              <a:tblPr/>
              <a:tblGrid>
                <a:gridCol w="2697480"/>
                <a:gridCol w="1143000"/>
              </a:tblGrid>
              <a:tr h="274320">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PUBLISHED EBITDA MULTIPLES</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RANGE</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274320">
                <a:tc>
                  <a:txBody>
                    <a:bodyPr/>
                    <a:lstStyle/>
                    <a:p>
                      <a:pPr algn="l" indent="0" marL="0">
                        <a:buNone/>
                      </a:pPr>
                      <a:r>
                        <a:rPr lang="en-US" sz="800" dirty="0">
                          <a:solidFill>
                            <a:srgbClr val="EDE7DE"/>
                          </a:solidFill>
                          <a:latin typeface="Jost" pitchFamily="34" charset="0"/>
                          <a:ea typeface="Jost" pitchFamily="34" charset="-122"/>
                          <a:cs typeface="Jost" pitchFamily="34" charset="-120"/>
                        </a:rPr>
                        <a:t>Single location, owner is primary provider</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3.5x to 5.0x</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800" dirty="0">
                          <a:solidFill>
                            <a:srgbClr val="EDE7DE"/>
                          </a:solidFill>
                          <a:latin typeface="Jost" pitchFamily="34" charset="0"/>
                          <a:ea typeface="Jost" pitchFamily="34" charset="-122"/>
                          <a:cs typeface="Jost" pitchFamily="34" charset="-120"/>
                        </a:rPr>
                        <a:t>Single location, strong operator with SOPs</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5.0x to 6.5x</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800" dirty="0">
                          <a:solidFill>
                            <a:srgbClr val="EDE7DE"/>
                          </a:solidFill>
                          <a:latin typeface="Jost" pitchFamily="34" charset="0"/>
                          <a:ea typeface="Jost" pitchFamily="34" charset="-122"/>
                          <a:cs typeface="Jost" pitchFamily="34" charset="-120"/>
                        </a:rPr>
                        <a:t>Multi-location, two or more with management</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6.0x to 7.5x</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800" dirty="0">
                          <a:solidFill>
                            <a:srgbClr val="EDE7DE"/>
                          </a:solidFill>
                          <a:latin typeface="Jost" pitchFamily="34" charset="0"/>
                          <a:ea typeface="Jost" pitchFamily="34" charset="-122"/>
                          <a:cs typeface="Jost" pitchFamily="34" charset="-120"/>
                        </a:rPr>
                        <a:t>Multi-location, provider bench and recurring revenue</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B08D57"/>
                          </a:solidFill>
                          <a:latin typeface="Jost" pitchFamily="34" charset="0"/>
                          <a:ea typeface="Jost" pitchFamily="34" charset="-122"/>
                          <a:cs typeface="Jost" pitchFamily="34" charset="-120"/>
                        </a:rPr>
                        <a:t>7.0x to 9.0x</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800" dirty="0">
                          <a:solidFill>
                            <a:srgbClr val="EDE7DE"/>
                          </a:solidFill>
                          <a:latin typeface="Jost" pitchFamily="34" charset="0"/>
                          <a:ea typeface="Jost" pitchFamily="34" charset="-122"/>
                          <a:cs typeface="Jost" pitchFamily="34" charset="-120"/>
                        </a:rPr>
                        <a:t>Membership revenue premium</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+0.5x to 1.0x</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8" name="Text 4"/>
          <p:cNvSpPr/>
          <p:nvPr/>
        </p:nvSpPr>
        <p:spPr>
          <a:xfrm>
            <a:off x="4800600" y="3493008"/>
            <a:ext cx="3977640" cy="384048"/>
          </a:xfrm>
          <a:prstGeom prst="rect">
            <a:avLst/>
          </a:prstGeom>
          <a:noFill/>
          <a:ln/>
        </p:spPr>
        <p:txBody>
          <a:bodyPr wrap="square" rtlCol="0" anchor="t"/>
          <a:lstStyle/>
          <a:p>
            <a:pPr indent="0" marL="0">
              <a:lnSpc>
                <a:spcPct val="115000"/>
              </a:lnSpc>
              <a:buNone/>
            </a:pPr>
            <a:r>
              <a:rPr lang="en-US" sz="850" dirty="0">
                <a:solidFill>
                  <a:srgbClr val="EDE7DE"/>
                </a:solidFill>
                <a:latin typeface="Jost" pitchFamily="34" charset="0"/>
                <a:ea typeface="Jost" pitchFamily="34" charset="-122"/>
                <a:cs typeface="Jost" pitchFamily="34" charset="-120"/>
              </a:rPr>
              <a:t>LK runs 41.9% of revenue from memberships and access, above the 30% to 40% band that source names as a premium driver.</a:t>
            </a:r>
            <a:endParaRPr lang="en-US" sz="850" dirty="0"/>
          </a:p>
        </p:txBody>
      </p:sp>
      <p:sp>
        <p:nvSpPr>
          <p:cNvPr id="9" name="Text 5"/>
          <p:cNvSpPr/>
          <p:nvPr/>
        </p:nvSpPr>
        <p:spPr>
          <a:xfrm>
            <a:off x="502920" y="4023360"/>
            <a:ext cx="8138160" cy="548640"/>
          </a:xfrm>
          <a:prstGeom prst="rect">
            <a:avLst/>
          </a:prstGeom>
          <a:noFill/>
          <a:ln/>
        </p:spPr>
        <p:txBody>
          <a:bodyPr wrap="square" rtlCol="0" anchor="t"/>
          <a:lstStyle/>
          <a:p>
            <a:pPr indent="0" marL="0">
              <a:lnSpc>
                <a:spcPct val="120000"/>
              </a:lnSpc>
              <a:buNone/>
            </a:pPr>
            <a:r>
              <a:rPr lang="en-US" sz="700" dirty="0">
                <a:solidFill>
                  <a:srgbClr val="6B6965"/>
                </a:solidFill>
                <a:latin typeface="Jost" pitchFamily="34" charset="0"/>
                <a:ea typeface="Jost" pitchFamily="34" charset="-122"/>
                <a:cs typeface="Jost" pitchFamily="34" charset="-120"/>
              </a:rPr>
              <a:t>Multiples: Breakwater M&amp;A, 20 February 2026. https://www.breakwaterma.com/blog/medical-spa-valuation-multiples-2026  ·  Industry M&amp;A comparables, not company projections. The entry price on this round is 5.87x base-case operating income, inside the single-location band above and below every multi-location band.</a:t>
            </a:r>
            <a:endParaRPr lang="en-US" sz="700" dirty="0"/>
          </a:p>
        </p:txBody>
      </p:sp>
      <p:sp>
        <p:nvSpPr>
          <p:cNvPr id="10"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1"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29</a:t>
            </a:r>
            <a:endParaRPr lang="en-US" sz="7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DISCLOSURES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FLAGGED BEFORE YOU ASK</a:t>
            </a:r>
            <a:endParaRPr lang="en-US" sz="2600" dirty="0"/>
          </a:p>
        </p:txBody>
      </p:sp>
      <p:sp>
        <p:nvSpPr>
          <p:cNvPr id="5" name="Text 3"/>
          <p:cNvSpPr/>
          <p:nvPr/>
        </p:nvSpPr>
        <p:spPr>
          <a:xfrm>
            <a:off x="502920" y="1325880"/>
            <a:ext cx="8138160" cy="3246120"/>
          </a:xfrm>
          <a:prstGeom prst="rect">
            <a:avLst/>
          </a:prstGeom>
          <a:noFill/>
          <a:ln/>
        </p:spPr>
        <p:txBody>
          <a:bodyPr wrap="square" rtlCol="0" anchor="t"/>
          <a:lstStyle/>
          <a:p>
            <a:pPr marL="342900" indent="-342900">
              <a:lnSpc>
                <a:spcPct val="130000"/>
              </a:lnSpc>
              <a:buSzPct val="100000"/>
              <a:buChar char="•"/>
            </a:pPr>
            <a:r>
              <a:rPr lang="en-US" sz="900" dirty="0">
                <a:solidFill>
                  <a:srgbClr val="C9BCA9"/>
                </a:solidFill>
                <a:latin typeface="Jost" pitchFamily="34" charset="0"/>
                <a:ea typeface="Jost" pitchFamily="34" charset="-122"/>
                <a:cs typeface="Jost" pitchFamily="34" charset="-120"/>
              </a:rPr>
              <a:t>Year 1 operating income is negative. Six of those months are construction and the rest are the opening ramp. There is no debt service to carry through it, and the $1,105,800 working capital reserve inside use of funds is sized against a modeled cash trough of $42,467 at month 9.</a:t>
            </a:r>
            <a:endParaRPr lang="en-US" sz="900" dirty="0"/>
          </a:p>
          <a:p>
            <a:pPr marL="342900" indent="-342900">
              <a:lnSpc>
                <a:spcPct val="130000"/>
              </a:lnSpc>
              <a:buSzPct val="100000"/>
              <a:buChar char="•"/>
            </a:pPr>
            <a:r>
              <a:rPr lang="en-US" sz="900" dirty="0">
                <a:solidFill>
                  <a:srgbClr val="C9BCA9"/>
                </a:solidFill>
                <a:latin typeface="Jost" pitchFamily="34" charset="0"/>
                <a:ea typeface="Jost" pitchFamily="34" charset="-122"/>
                <a:cs typeface="Jost" pitchFamily="34" charset="-120"/>
              </a:rPr>
              <a:t>The reserve is deliberately larger than the trough it covers, 26.0 times over. With no lender there is no mandated reserve and no covenant to cure, so the cushion is a choice: it funds a slower ramp than the one modeled without a second raise. It is idle cash and we are naming it rather than leaving it to be found.</a:t>
            </a:r>
            <a:endParaRPr lang="en-US" sz="900" dirty="0"/>
          </a:p>
          <a:p>
            <a:pPr marL="342900" indent="-342900">
              <a:lnSpc>
                <a:spcPct val="130000"/>
              </a:lnSpc>
              <a:buSzPct val="100000"/>
              <a:buChar char="•"/>
            </a:pPr>
            <a:r>
              <a:rPr lang="en-US" sz="900" dirty="0">
                <a:solidFill>
                  <a:srgbClr val="C9BCA9"/>
                </a:solidFill>
                <a:latin typeface="Jost" pitchFamily="34" charset="0"/>
                <a:ea typeface="Jost" pitchFamily="34" charset="-122"/>
                <a:cs typeface="Jost" pitchFamily="34" charset="-120"/>
              </a:rPr>
              <a:t>The ratchet cushions the downside without making the investor whole. At the low case 40% of $1.24M pays $497,800, which is still less than the $809,283 that 30% of base case pays. Every ownership percentage, valuation and buyback term in this brief is indicative and subject to definitive documents.</a:t>
            </a:r>
            <a:endParaRPr lang="en-US" sz="900" dirty="0"/>
          </a:p>
          <a:p>
            <a:pPr marL="342900" indent="-342900">
              <a:lnSpc>
                <a:spcPct val="130000"/>
              </a:lnSpc>
              <a:buSzPct val="100000"/>
              <a:buChar char="•"/>
            </a:pPr>
            <a:r>
              <a:rPr lang="en-US" sz="900" dirty="0">
                <a:solidFill>
                  <a:srgbClr val="C9BCA9"/>
                </a:solidFill>
                <a:latin typeface="Jost" pitchFamily="34" charset="0"/>
                <a:ea typeface="Jost" pitchFamily="34" charset="-122"/>
                <a:cs typeface="Jost" pitchFamily="34" charset="-120"/>
              </a:rPr>
              <a:t>The multi-location expansion and platform exit thesis represent optionality this structure creates, not a guaranteed roadmap. No location beyond Marina del Rey currently exists, and all forward-looking multiples are sourced from industry M&amp;A comparables, not company-specific projections.</a:t>
            </a:r>
            <a:endParaRPr lang="en-US" sz="900" dirty="0"/>
          </a:p>
          <a:p>
            <a:pPr marL="342900" indent="-342900">
              <a:lnSpc>
                <a:spcPct val="130000"/>
              </a:lnSpc>
              <a:buSzPct val="100000"/>
              <a:buChar char="•"/>
            </a:pPr>
            <a:r>
              <a:rPr lang="en-US" sz="900" dirty="0">
                <a:solidFill>
                  <a:srgbClr val="C9BCA9"/>
                </a:solidFill>
                <a:latin typeface="Jost" pitchFamily="34" charset="0"/>
                <a:ea typeface="Jost" pitchFamily="34" charset="-122"/>
                <a:cs typeface="Jost" pitchFamily="34" charset="-120"/>
              </a:rPr>
              <a:t>Volume is flexed to 72% of base in the low case and the business still produces $1.24M of annual operating income, with fixed overhead held constant. That is the conservative treatment: in a genuine downside you would cut staff before you cut the lease.</a:t>
            </a:r>
            <a:endParaRPr lang="en-US" sz="900" dirty="0"/>
          </a:p>
          <a:p>
            <a:pPr marL="342900" indent="-342900">
              <a:lnSpc>
                <a:spcPct val="130000"/>
              </a:lnSpc>
              <a:buSzPct val="100000"/>
              <a:buChar char="•"/>
            </a:pPr>
            <a:r>
              <a:rPr lang="en-US" sz="900" dirty="0">
                <a:solidFill>
                  <a:srgbClr val="C9BCA9"/>
                </a:solidFill>
                <a:latin typeface="Jost" pitchFamily="34" charset="0"/>
                <a:ea typeface="Jost" pitchFamily="34" charset="-122"/>
                <a:cs typeface="Jost" pitchFamily="34" charset="-120"/>
              </a:rPr>
              <a:t>All forward-looking figures are projections on the stated assumptions and are not guarantees, and actual results will differ. Market and demographic figures carry their sources, and anything we could not source was cut rather than estimated. Statements about other operators describe our understanding at the date of this brief, are drawn from public information and may change without notice. Nothing here has been audited or reviewed by an independent accountant.</a:t>
            </a:r>
            <a:endParaRPr lang="en-US" sz="900" dirty="0"/>
          </a:p>
        </p:txBody>
      </p:sp>
      <p:sp>
        <p:nvSpPr>
          <p:cNvPr id="6"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7"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30</a:t>
            </a:r>
            <a:endParaRPr lang="en-US" sz="7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TIMELINE</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FROM SIGNATURE TO STABILIZATION</a:t>
            </a:r>
            <a:endParaRPr lang="en-US" sz="2600" dirty="0"/>
          </a:p>
        </p:txBody>
      </p:sp>
      <p:sp>
        <p:nvSpPr>
          <p:cNvPr id="5" name="Shape 3"/>
          <p:cNvSpPr/>
          <p:nvPr/>
        </p:nvSpPr>
        <p:spPr>
          <a:xfrm>
            <a:off x="502920" y="1627632"/>
            <a:ext cx="1525219" cy="12802"/>
          </a:xfrm>
          <a:prstGeom prst="rect">
            <a:avLst/>
          </a:prstGeom>
          <a:solidFill>
            <a:srgbClr val="271F13"/>
          </a:solidFill>
          <a:ln w="12700">
            <a:solidFill>
              <a:srgbClr val="271F13"/>
            </a:solidFill>
            <a:prstDash val="solid"/>
          </a:ln>
        </p:spPr>
      </p:sp>
      <p:sp>
        <p:nvSpPr>
          <p:cNvPr id="6" name="Shape 4"/>
          <p:cNvSpPr/>
          <p:nvPr/>
        </p:nvSpPr>
        <p:spPr>
          <a:xfrm>
            <a:off x="502920" y="1586484"/>
            <a:ext cx="91440" cy="91440"/>
          </a:xfrm>
          <a:prstGeom prst="ellipse">
            <a:avLst/>
          </a:prstGeom>
          <a:solidFill>
            <a:srgbClr val="B08D57"/>
          </a:solidFill>
          <a:ln w="12700">
            <a:solidFill>
              <a:srgbClr val="B08D57"/>
            </a:solidFill>
            <a:prstDash val="solid"/>
          </a:ln>
        </p:spPr>
      </p:sp>
      <p:sp>
        <p:nvSpPr>
          <p:cNvPr id="7" name="Text 5"/>
          <p:cNvSpPr/>
          <p:nvPr/>
        </p:nvSpPr>
        <p:spPr>
          <a:xfrm>
            <a:off x="502920" y="1783080"/>
            <a:ext cx="1525219" cy="182880"/>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MONTH 0 TO 3</a:t>
            </a:r>
            <a:endParaRPr lang="en-US" sz="750" dirty="0"/>
          </a:p>
        </p:txBody>
      </p:sp>
      <p:sp>
        <p:nvSpPr>
          <p:cNvPr id="8" name="Text 6"/>
          <p:cNvSpPr/>
          <p:nvPr/>
        </p:nvSpPr>
        <p:spPr>
          <a:xfrm>
            <a:off x="502920" y="1975104"/>
            <a:ext cx="1525219" cy="493776"/>
          </a:xfrm>
          <a:prstGeom prst="rect">
            <a:avLst/>
          </a:prstGeom>
          <a:noFill/>
          <a:ln/>
        </p:spPr>
        <p:txBody>
          <a:bodyPr wrap="square" rtlCol="0" anchor="t"/>
          <a:lstStyle/>
          <a:p>
            <a:pPr indent="0" marL="0">
              <a:buNone/>
            </a:pPr>
            <a:r>
              <a:rPr lang="en-US" sz="1400" dirty="0">
                <a:solidFill>
                  <a:srgbClr val="EDE7DE"/>
                </a:solidFill>
                <a:latin typeface="Cormorant Garamond" pitchFamily="34" charset="0"/>
                <a:ea typeface="Cormorant Garamond" pitchFamily="34" charset="-122"/>
                <a:cs typeface="Cormorant Garamond" pitchFamily="34" charset="-120"/>
              </a:rPr>
              <a:t>Close and design</a:t>
            </a:r>
            <a:endParaRPr lang="en-US" sz="1400" dirty="0"/>
          </a:p>
        </p:txBody>
      </p:sp>
      <p:sp>
        <p:nvSpPr>
          <p:cNvPr id="9" name="Text 7"/>
          <p:cNvSpPr/>
          <p:nvPr/>
        </p:nvSpPr>
        <p:spPr>
          <a:xfrm>
            <a:off x="502920" y="2523744"/>
            <a:ext cx="1525219" cy="1371600"/>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Funds close, lease executed, architect and contractor engaged, permits filed. Founding member campaign opens.</a:t>
            </a:r>
            <a:endParaRPr lang="en-US" sz="850" dirty="0"/>
          </a:p>
        </p:txBody>
      </p:sp>
      <p:sp>
        <p:nvSpPr>
          <p:cNvPr id="10" name="Shape 8"/>
          <p:cNvSpPr/>
          <p:nvPr/>
        </p:nvSpPr>
        <p:spPr>
          <a:xfrm>
            <a:off x="2156155" y="1627632"/>
            <a:ext cx="1525219" cy="12802"/>
          </a:xfrm>
          <a:prstGeom prst="rect">
            <a:avLst/>
          </a:prstGeom>
          <a:solidFill>
            <a:srgbClr val="271F13"/>
          </a:solidFill>
          <a:ln w="12700">
            <a:solidFill>
              <a:srgbClr val="271F13"/>
            </a:solidFill>
            <a:prstDash val="solid"/>
          </a:ln>
        </p:spPr>
      </p:sp>
      <p:sp>
        <p:nvSpPr>
          <p:cNvPr id="11" name="Shape 9"/>
          <p:cNvSpPr/>
          <p:nvPr/>
        </p:nvSpPr>
        <p:spPr>
          <a:xfrm>
            <a:off x="2156155" y="1586484"/>
            <a:ext cx="91440" cy="91440"/>
          </a:xfrm>
          <a:prstGeom prst="ellipse">
            <a:avLst/>
          </a:prstGeom>
          <a:solidFill>
            <a:srgbClr val="B08D57"/>
          </a:solidFill>
          <a:ln w="12700">
            <a:solidFill>
              <a:srgbClr val="B08D57"/>
            </a:solidFill>
            <a:prstDash val="solid"/>
          </a:ln>
        </p:spPr>
      </p:sp>
      <p:sp>
        <p:nvSpPr>
          <p:cNvPr id="12" name="Text 10"/>
          <p:cNvSpPr/>
          <p:nvPr/>
        </p:nvSpPr>
        <p:spPr>
          <a:xfrm>
            <a:off x="2156155" y="1783080"/>
            <a:ext cx="1525219" cy="182880"/>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MONTH 3 TO 6</a:t>
            </a:r>
            <a:endParaRPr lang="en-US" sz="750" dirty="0"/>
          </a:p>
        </p:txBody>
      </p:sp>
      <p:sp>
        <p:nvSpPr>
          <p:cNvPr id="13" name="Text 11"/>
          <p:cNvSpPr/>
          <p:nvPr/>
        </p:nvSpPr>
        <p:spPr>
          <a:xfrm>
            <a:off x="2156155" y="1975104"/>
            <a:ext cx="1525219" cy="493776"/>
          </a:xfrm>
          <a:prstGeom prst="rect">
            <a:avLst/>
          </a:prstGeom>
          <a:noFill/>
          <a:ln/>
        </p:spPr>
        <p:txBody>
          <a:bodyPr wrap="square" rtlCol="0" anchor="t"/>
          <a:lstStyle/>
          <a:p>
            <a:pPr indent="0" marL="0">
              <a:buNone/>
            </a:pPr>
            <a:r>
              <a:rPr lang="en-US" sz="1400" dirty="0">
                <a:solidFill>
                  <a:srgbClr val="EDE7DE"/>
                </a:solidFill>
                <a:latin typeface="Cormorant Garamond" pitchFamily="34" charset="0"/>
                <a:ea typeface="Cormorant Garamond" pitchFamily="34" charset="-122"/>
                <a:cs typeface="Cormorant Garamond" pitchFamily="34" charset="-120"/>
              </a:rPr>
              <a:t>Build</a:t>
            </a:r>
            <a:endParaRPr lang="en-US" sz="1400" dirty="0"/>
          </a:p>
        </p:txBody>
      </p:sp>
      <p:sp>
        <p:nvSpPr>
          <p:cNvPr id="14" name="Text 12"/>
          <p:cNvSpPr/>
          <p:nvPr/>
        </p:nvSpPr>
        <p:spPr>
          <a:xfrm>
            <a:off x="2156155" y="2523744"/>
            <a:ext cx="1525219" cy="1371600"/>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Buildout, wet-area rough-in, equipment ordered. Medical director and injector recruited and credentialed.</a:t>
            </a:r>
            <a:endParaRPr lang="en-US" sz="850" dirty="0"/>
          </a:p>
        </p:txBody>
      </p:sp>
      <p:sp>
        <p:nvSpPr>
          <p:cNvPr id="15" name="Shape 13"/>
          <p:cNvSpPr/>
          <p:nvPr/>
        </p:nvSpPr>
        <p:spPr>
          <a:xfrm>
            <a:off x="3809390" y="1627632"/>
            <a:ext cx="1525219" cy="12802"/>
          </a:xfrm>
          <a:prstGeom prst="rect">
            <a:avLst/>
          </a:prstGeom>
          <a:solidFill>
            <a:srgbClr val="271F13"/>
          </a:solidFill>
          <a:ln w="12700">
            <a:solidFill>
              <a:srgbClr val="271F13"/>
            </a:solidFill>
            <a:prstDash val="solid"/>
          </a:ln>
        </p:spPr>
      </p:sp>
      <p:sp>
        <p:nvSpPr>
          <p:cNvPr id="16" name="Shape 14"/>
          <p:cNvSpPr/>
          <p:nvPr/>
        </p:nvSpPr>
        <p:spPr>
          <a:xfrm>
            <a:off x="3809390" y="1586484"/>
            <a:ext cx="91440" cy="91440"/>
          </a:xfrm>
          <a:prstGeom prst="ellipse">
            <a:avLst/>
          </a:prstGeom>
          <a:solidFill>
            <a:srgbClr val="B08D57"/>
          </a:solidFill>
          <a:ln w="12700">
            <a:solidFill>
              <a:srgbClr val="B08D57"/>
            </a:solidFill>
            <a:prstDash val="solid"/>
          </a:ln>
        </p:spPr>
      </p:sp>
      <p:sp>
        <p:nvSpPr>
          <p:cNvPr id="17" name="Text 15"/>
          <p:cNvSpPr/>
          <p:nvPr/>
        </p:nvSpPr>
        <p:spPr>
          <a:xfrm>
            <a:off x="3809390" y="1783080"/>
            <a:ext cx="1525219" cy="182880"/>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MONTH 7</a:t>
            </a:r>
            <a:endParaRPr lang="en-US" sz="750" dirty="0"/>
          </a:p>
        </p:txBody>
      </p:sp>
      <p:sp>
        <p:nvSpPr>
          <p:cNvPr id="18" name="Text 16"/>
          <p:cNvSpPr/>
          <p:nvPr/>
        </p:nvSpPr>
        <p:spPr>
          <a:xfrm>
            <a:off x="3809390" y="1975104"/>
            <a:ext cx="1525219" cy="493776"/>
          </a:xfrm>
          <a:prstGeom prst="rect">
            <a:avLst/>
          </a:prstGeom>
          <a:noFill/>
          <a:ln/>
        </p:spPr>
        <p:txBody>
          <a:bodyPr wrap="square" rtlCol="0" anchor="t"/>
          <a:lstStyle/>
          <a:p>
            <a:pPr indent="0" marL="0">
              <a:buNone/>
            </a:pPr>
            <a:r>
              <a:rPr lang="en-US" sz="1400" dirty="0">
                <a:solidFill>
                  <a:srgbClr val="EDE7DE"/>
                </a:solidFill>
                <a:latin typeface="Cormorant Garamond" pitchFamily="34" charset="0"/>
                <a:ea typeface="Cormorant Garamond" pitchFamily="34" charset="-122"/>
                <a:cs typeface="Cormorant Garamond" pitchFamily="34" charset="-120"/>
              </a:rPr>
              <a:t>Open</a:t>
            </a:r>
            <a:endParaRPr lang="en-US" sz="1400" dirty="0"/>
          </a:p>
        </p:txBody>
      </p:sp>
      <p:sp>
        <p:nvSpPr>
          <p:cNvPr id="19" name="Text 17"/>
          <p:cNvSpPr/>
          <p:nvPr/>
        </p:nvSpPr>
        <p:spPr>
          <a:xfrm>
            <a:off x="3809390" y="2523744"/>
            <a:ext cx="1525219" cy="1371600"/>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Doors open to founding members first, public booking the same week. Clinic and club launch together.</a:t>
            </a:r>
            <a:endParaRPr lang="en-US" sz="850" dirty="0"/>
          </a:p>
        </p:txBody>
      </p:sp>
      <p:sp>
        <p:nvSpPr>
          <p:cNvPr id="20" name="Shape 18"/>
          <p:cNvSpPr/>
          <p:nvPr/>
        </p:nvSpPr>
        <p:spPr>
          <a:xfrm>
            <a:off x="5462626" y="1627632"/>
            <a:ext cx="1525219" cy="12802"/>
          </a:xfrm>
          <a:prstGeom prst="rect">
            <a:avLst/>
          </a:prstGeom>
          <a:solidFill>
            <a:srgbClr val="271F13"/>
          </a:solidFill>
          <a:ln w="12700">
            <a:solidFill>
              <a:srgbClr val="271F13"/>
            </a:solidFill>
            <a:prstDash val="solid"/>
          </a:ln>
        </p:spPr>
      </p:sp>
      <p:sp>
        <p:nvSpPr>
          <p:cNvPr id="21" name="Shape 19"/>
          <p:cNvSpPr/>
          <p:nvPr/>
        </p:nvSpPr>
        <p:spPr>
          <a:xfrm>
            <a:off x="5462626" y="1586484"/>
            <a:ext cx="91440" cy="91440"/>
          </a:xfrm>
          <a:prstGeom prst="ellipse">
            <a:avLst/>
          </a:prstGeom>
          <a:solidFill>
            <a:srgbClr val="B08D57"/>
          </a:solidFill>
          <a:ln w="12700">
            <a:solidFill>
              <a:srgbClr val="B08D57"/>
            </a:solidFill>
            <a:prstDash val="solid"/>
          </a:ln>
        </p:spPr>
      </p:sp>
      <p:sp>
        <p:nvSpPr>
          <p:cNvPr id="22" name="Text 20"/>
          <p:cNvSpPr/>
          <p:nvPr/>
        </p:nvSpPr>
        <p:spPr>
          <a:xfrm>
            <a:off x="5462626" y="1783080"/>
            <a:ext cx="1525219" cy="182880"/>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MONTH 8 TO 14</a:t>
            </a:r>
            <a:endParaRPr lang="en-US" sz="750" dirty="0"/>
          </a:p>
        </p:txBody>
      </p:sp>
      <p:sp>
        <p:nvSpPr>
          <p:cNvPr id="23" name="Text 21"/>
          <p:cNvSpPr/>
          <p:nvPr/>
        </p:nvSpPr>
        <p:spPr>
          <a:xfrm>
            <a:off x="5462626" y="1975104"/>
            <a:ext cx="1525219" cy="493776"/>
          </a:xfrm>
          <a:prstGeom prst="rect">
            <a:avLst/>
          </a:prstGeom>
          <a:noFill/>
          <a:ln/>
        </p:spPr>
        <p:txBody>
          <a:bodyPr wrap="square" rtlCol="0" anchor="t"/>
          <a:lstStyle/>
          <a:p>
            <a:pPr indent="0" marL="0">
              <a:buNone/>
            </a:pPr>
            <a:r>
              <a:rPr lang="en-US" sz="1400" dirty="0">
                <a:solidFill>
                  <a:srgbClr val="EDE7DE"/>
                </a:solidFill>
                <a:latin typeface="Cormorant Garamond" pitchFamily="34" charset="0"/>
                <a:ea typeface="Cormorant Garamond" pitchFamily="34" charset="-122"/>
                <a:cs typeface="Cormorant Garamond" pitchFamily="34" charset="-120"/>
              </a:rPr>
              <a:t>Fill</a:t>
            </a:r>
            <a:endParaRPr lang="en-US" sz="1400" dirty="0"/>
          </a:p>
        </p:txBody>
      </p:sp>
      <p:sp>
        <p:nvSpPr>
          <p:cNvPr id="24" name="Text 22"/>
          <p:cNvSpPr/>
          <p:nvPr/>
        </p:nvSpPr>
        <p:spPr>
          <a:xfrm>
            <a:off x="5462626" y="2523744"/>
            <a:ext cx="1525219" cy="1371600"/>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Membership ramp, events programming, referral engine from the open clinic. Operating breakeven lands here.</a:t>
            </a:r>
            <a:endParaRPr lang="en-US" sz="850" dirty="0"/>
          </a:p>
        </p:txBody>
      </p:sp>
      <p:sp>
        <p:nvSpPr>
          <p:cNvPr id="25" name="Shape 23"/>
          <p:cNvSpPr/>
          <p:nvPr/>
        </p:nvSpPr>
        <p:spPr>
          <a:xfrm>
            <a:off x="7115861" y="1627632"/>
            <a:ext cx="1525219" cy="12802"/>
          </a:xfrm>
          <a:prstGeom prst="rect">
            <a:avLst/>
          </a:prstGeom>
          <a:solidFill>
            <a:srgbClr val="271F13"/>
          </a:solidFill>
          <a:ln w="12700">
            <a:solidFill>
              <a:srgbClr val="271F13"/>
            </a:solidFill>
            <a:prstDash val="solid"/>
          </a:ln>
        </p:spPr>
      </p:sp>
      <p:sp>
        <p:nvSpPr>
          <p:cNvPr id="26" name="Shape 24"/>
          <p:cNvSpPr/>
          <p:nvPr/>
        </p:nvSpPr>
        <p:spPr>
          <a:xfrm>
            <a:off x="7115861" y="1586484"/>
            <a:ext cx="91440" cy="91440"/>
          </a:xfrm>
          <a:prstGeom prst="ellipse">
            <a:avLst/>
          </a:prstGeom>
          <a:solidFill>
            <a:srgbClr val="B08D57"/>
          </a:solidFill>
          <a:ln w="12700">
            <a:solidFill>
              <a:srgbClr val="B08D57"/>
            </a:solidFill>
            <a:prstDash val="solid"/>
          </a:ln>
        </p:spPr>
      </p:sp>
      <p:sp>
        <p:nvSpPr>
          <p:cNvPr id="27" name="Text 25"/>
          <p:cNvSpPr/>
          <p:nvPr/>
        </p:nvSpPr>
        <p:spPr>
          <a:xfrm>
            <a:off x="7115861" y="1783080"/>
            <a:ext cx="1525219" cy="182880"/>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MONTH 15 TO 36</a:t>
            </a:r>
            <a:endParaRPr lang="en-US" sz="750" dirty="0"/>
          </a:p>
        </p:txBody>
      </p:sp>
      <p:sp>
        <p:nvSpPr>
          <p:cNvPr id="28" name="Text 26"/>
          <p:cNvSpPr/>
          <p:nvPr/>
        </p:nvSpPr>
        <p:spPr>
          <a:xfrm>
            <a:off x="7115861" y="1975104"/>
            <a:ext cx="1525219" cy="493776"/>
          </a:xfrm>
          <a:prstGeom prst="rect">
            <a:avLst/>
          </a:prstGeom>
          <a:noFill/>
          <a:ln/>
        </p:spPr>
        <p:txBody>
          <a:bodyPr wrap="square" rtlCol="0" anchor="t"/>
          <a:lstStyle/>
          <a:p>
            <a:pPr indent="0" marL="0">
              <a:buNone/>
            </a:pPr>
            <a:r>
              <a:rPr lang="en-US" sz="1400" dirty="0">
                <a:solidFill>
                  <a:srgbClr val="EDE7DE"/>
                </a:solidFill>
                <a:latin typeface="Cormorant Garamond" pitchFamily="34" charset="0"/>
                <a:ea typeface="Cormorant Garamond" pitchFamily="34" charset="-122"/>
                <a:cs typeface="Cormorant Garamond" pitchFamily="34" charset="-120"/>
              </a:rPr>
              <a:t>Stabilize</a:t>
            </a:r>
            <a:endParaRPr lang="en-US" sz="1400" dirty="0"/>
          </a:p>
        </p:txBody>
      </p:sp>
      <p:sp>
        <p:nvSpPr>
          <p:cNvPr id="29" name="Text 27"/>
          <p:cNvSpPr/>
          <p:nvPr/>
        </p:nvSpPr>
        <p:spPr>
          <a:xfrm>
            <a:off x="7115861" y="2523744"/>
            <a:ext cx="1525219" cy="1371600"/>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Caps approached on Resident and Longevity. Waitlist opens.</a:t>
            </a:r>
            <a:endParaRPr lang="en-US" sz="850" dirty="0"/>
          </a:p>
        </p:txBody>
      </p:sp>
      <p:sp>
        <p:nvSpPr>
          <p:cNvPr id="30" name="Text 28"/>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31" name="Text 29"/>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31</a:t>
            </a:r>
            <a:endParaRPr lang="en-US" sz="7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MEET THE TEAM</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MEET THE FOUNDERS</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LK Wellness is led by two co-founders.</a:t>
            </a:r>
            <a:endParaRPr lang="en-US" sz="1050" dirty="0"/>
          </a:p>
        </p:txBody>
      </p:sp>
      <p:sp>
        <p:nvSpPr>
          <p:cNvPr id="6" name="Shape 4"/>
          <p:cNvSpPr/>
          <p:nvPr/>
        </p:nvSpPr>
        <p:spPr>
          <a:xfrm>
            <a:off x="502920" y="1691640"/>
            <a:ext cx="3995928" cy="2487168"/>
          </a:xfrm>
          <a:prstGeom prst="rect">
            <a:avLst/>
          </a:prstGeom>
          <a:solidFill>
            <a:srgbClr val="1C1C1E"/>
          </a:solidFill>
          <a:ln w="9525">
            <a:solidFill>
              <a:srgbClr val="271F13"/>
            </a:solidFill>
            <a:prstDash val="solid"/>
          </a:ln>
        </p:spPr>
      </p:sp>
      <p:sp>
        <p:nvSpPr>
          <p:cNvPr id="7" name="Text 5"/>
          <p:cNvSpPr/>
          <p:nvPr/>
        </p:nvSpPr>
        <p:spPr>
          <a:xfrm>
            <a:off x="649224" y="1819656"/>
            <a:ext cx="3703320"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HEALTHCARE ADMINISTRATION AND DEVELOPMENT</a:t>
            </a:r>
            <a:endParaRPr lang="en-US" sz="750" dirty="0"/>
          </a:p>
        </p:txBody>
      </p:sp>
      <p:sp>
        <p:nvSpPr>
          <p:cNvPr id="8" name="Text 6"/>
          <p:cNvSpPr/>
          <p:nvPr/>
        </p:nvSpPr>
        <p:spPr>
          <a:xfrm>
            <a:off x="649224" y="2039112"/>
            <a:ext cx="3703320" cy="292608"/>
          </a:xfrm>
          <a:prstGeom prst="rect">
            <a:avLst/>
          </a:prstGeom>
          <a:noFill/>
          <a:ln/>
        </p:spPr>
        <p:txBody>
          <a:bodyPr wrap="square" rtlCol="0" anchor="t"/>
          <a:lstStyle/>
          <a:p>
            <a:pPr indent="0" marL="0">
              <a:lnSpc>
                <a:spcPct val="110000"/>
              </a:lnSpc>
              <a:buNone/>
            </a:pPr>
            <a:r>
              <a:rPr lang="en-US" sz="1300" dirty="0">
                <a:solidFill>
                  <a:srgbClr val="EDE7DE"/>
                </a:solidFill>
                <a:latin typeface="Jost" pitchFamily="34" charset="0"/>
                <a:ea typeface="Jost" pitchFamily="34" charset="-122"/>
                <a:cs typeface="Jost" pitchFamily="34" charset="-120"/>
              </a:rPr>
              <a:t>Co-founder</a:t>
            </a:r>
            <a:endParaRPr lang="en-US" sz="1300" dirty="0"/>
          </a:p>
        </p:txBody>
      </p:sp>
      <p:sp>
        <p:nvSpPr>
          <p:cNvPr id="9" name="Text 7"/>
          <p:cNvSpPr/>
          <p:nvPr/>
        </p:nvSpPr>
        <p:spPr>
          <a:xfrm>
            <a:off x="649224" y="2368296"/>
            <a:ext cx="3703320" cy="1700784"/>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One has spent over 14 years in executive leadership of a Joint Commission-accredited, multispecialty outpatient surgery center and medical clinic in Los Angeles. Roles included overseeing operations, finance, and practice management and development, as well as administration for a team of board-certified surgeons across orthopedics, spine, pain management, plastic surgery, and general surgery. That healthcare administration and development background brings licensed-facility discipline to the longevity club model.</a:t>
            </a:r>
            <a:endParaRPr lang="en-US" sz="850" dirty="0"/>
          </a:p>
        </p:txBody>
      </p:sp>
      <p:sp>
        <p:nvSpPr>
          <p:cNvPr id="10" name="Shape 8"/>
          <p:cNvSpPr/>
          <p:nvPr/>
        </p:nvSpPr>
        <p:spPr>
          <a:xfrm>
            <a:off x="4645152" y="1691640"/>
            <a:ext cx="3995928" cy="2487168"/>
          </a:xfrm>
          <a:prstGeom prst="rect">
            <a:avLst/>
          </a:prstGeom>
          <a:solidFill>
            <a:srgbClr val="1C1C1E"/>
          </a:solidFill>
          <a:ln w="9525">
            <a:solidFill>
              <a:srgbClr val="271F13"/>
            </a:solidFill>
            <a:prstDash val="solid"/>
          </a:ln>
        </p:spPr>
      </p:sp>
      <p:sp>
        <p:nvSpPr>
          <p:cNvPr id="11" name="Text 9"/>
          <p:cNvSpPr/>
          <p:nvPr/>
        </p:nvSpPr>
        <p:spPr>
          <a:xfrm>
            <a:off x="4791456" y="1819656"/>
            <a:ext cx="3703320"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BRAND, CAPITAL AND MEMBERSHIP GROWTH</a:t>
            </a:r>
            <a:endParaRPr lang="en-US" sz="750" dirty="0"/>
          </a:p>
        </p:txBody>
      </p:sp>
      <p:sp>
        <p:nvSpPr>
          <p:cNvPr id="12" name="Text 10"/>
          <p:cNvSpPr/>
          <p:nvPr/>
        </p:nvSpPr>
        <p:spPr>
          <a:xfrm>
            <a:off x="4791456" y="2039112"/>
            <a:ext cx="3703320" cy="292608"/>
          </a:xfrm>
          <a:prstGeom prst="rect">
            <a:avLst/>
          </a:prstGeom>
          <a:noFill/>
          <a:ln/>
        </p:spPr>
        <p:txBody>
          <a:bodyPr wrap="square" rtlCol="0" anchor="t"/>
          <a:lstStyle/>
          <a:p>
            <a:pPr indent="0" marL="0">
              <a:lnSpc>
                <a:spcPct val="110000"/>
              </a:lnSpc>
              <a:buNone/>
            </a:pPr>
            <a:r>
              <a:rPr lang="en-US" sz="1300" dirty="0">
                <a:solidFill>
                  <a:srgbClr val="EDE7DE"/>
                </a:solidFill>
                <a:latin typeface="Jost" pitchFamily="34" charset="0"/>
                <a:ea typeface="Jost" pitchFamily="34" charset="-122"/>
                <a:cs typeface="Jost" pitchFamily="34" charset="-120"/>
              </a:rPr>
              <a:t>Co-founder</a:t>
            </a:r>
            <a:endParaRPr lang="en-US" sz="1300" dirty="0"/>
          </a:p>
        </p:txBody>
      </p:sp>
      <p:sp>
        <p:nvSpPr>
          <p:cNvPr id="13" name="Text 11"/>
          <p:cNvSpPr/>
          <p:nvPr/>
        </p:nvSpPr>
        <p:spPr>
          <a:xfrm>
            <a:off x="4791456" y="2368296"/>
            <a:ext cx="3703320" cy="1700784"/>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The other founder is a former professional athlete turned film producer, with deep experience in capital raising and marketing, along with strong connections within LA’s entertainment and fitness community. This background will be essential in driving the club’s brand and membership growth.</a:t>
            </a:r>
            <a:endParaRPr lang="en-US" sz="850" dirty="0"/>
          </a:p>
        </p:txBody>
      </p:sp>
      <p:sp>
        <p:nvSpPr>
          <p:cNvPr id="14" name="Text 12"/>
          <p:cNvSpPr/>
          <p:nvPr/>
        </p:nvSpPr>
        <p:spPr>
          <a:xfrm>
            <a:off x="502920" y="4242816"/>
            <a:ext cx="8138160" cy="365760"/>
          </a:xfrm>
          <a:prstGeom prst="rect">
            <a:avLst/>
          </a:prstGeom>
          <a:noFill/>
          <a:ln/>
        </p:spPr>
        <p:txBody>
          <a:bodyPr wrap="square" rtlCol="0" anchor="t"/>
          <a:lstStyle/>
          <a:p>
            <a:pPr indent="0" marL="0">
              <a:buNone/>
            </a:pPr>
            <a:r>
              <a:rPr lang="en-US" sz="950" dirty="0">
                <a:solidFill>
                  <a:srgbClr val="EDE7DE"/>
                </a:solidFill>
                <a:latin typeface="Jost" pitchFamily="34" charset="0"/>
                <a:ea typeface="Jost" pitchFamily="34" charset="-122"/>
                <a:cs typeface="Jost" pitchFamily="34" charset="-120"/>
              </a:rPr>
              <a:t>Ownership operates an existing surgical practice in Culver City, so this is not a first venture.</a:t>
            </a:r>
            <a:endParaRPr lang="en-US" sz="95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32</a:t>
            </a:r>
            <a:endParaRPr lang="en-US" sz="7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MEET THE TEAM</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THE OPERATING TEAM IS IN PLACE</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Clinical, aesthetic, longevity and hospitality leadership are all seated. No key role is open at opening.</a:t>
            </a:r>
            <a:endParaRPr lang="en-US" sz="10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1691640"/>
          <a:ext cx="4937760" cy="914400"/>
        </p:xfrm>
        <a:graphic>
          <a:graphicData uri="http://schemas.openxmlformats.org/drawingml/2006/table">
            <a:tbl>
              <a:tblPr/>
              <a:tblGrid>
                <a:gridCol w="1645920"/>
                <a:gridCol w="2560320"/>
                <a:gridCol w="731520"/>
              </a:tblGrid>
              <a:tr h="329184">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SEAT</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RESPONSIBILITY</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STATUS</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329184">
                <a:tc>
                  <a:txBody>
                    <a:bodyPr/>
                    <a:lstStyle/>
                    <a:p>
                      <a:pPr algn="l" indent="0" marL="0">
                        <a:buNone/>
                      </a:pPr>
                      <a:r>
                        <a:rPr lang="en-US" sz="800" dirty="0">
                          <a:solidFill>
                            <a:srgbClr val="EDE7DE"/>
                          </a:solidFill>
                          <a:latin typeface="Jost" pitchFamily="34" charset="0"/>
                          <a:ea typeface="Jost" pitchFamily="34" charset="-122"/>
                          <a:cs typeface="Jost" pitchFamily="34" charset="-120"/>
                        </a:rPr>
                        <a:t>Founder &amp; Operator</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Operations, brand, capital, compliance</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6B6965"/>
                          </a:solidFill>
                          <a:latin typeface="Jost" pitchFamily="34" charset="0"/>
                          <a:ea typeface="Jost" pitchFamily="34" charset="-122"/>
                          <a:cs typeface="Jost" pitchFamily="34" charset="-120"/>
                        </a:rPr>
                        <a:t>In place</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329184">
                <a:tc>
                  <a:txBody>
                    <a:bodyPr/>
                    <a:lstStyle/>
                    <a:p>
                      <a:pPr algn="l" indent="0" marL="0">
                        <a:buNone/>
                      </a:pPr>
                      <a:r>
                        <a:rPr lang="en-US" sz="800" dirty="0">
                          <a:solidFill>
                            <a:srgbClr val="EDE7DE"/>
                          </a:solidFill>
                          <a:latin typeface="Jost" pitchFamily="34" charset="0"/>
                          <a:ea typeface="Jost" pitchFamily="34" charset="-122"/>
                          <a:cs typeface="Jost" pitchFamily="34" charset="-120"/>
                        </a:rPr>
                        <a:t>Medical Director (MD/DO)</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Clinical oversight, protocols, standing orders</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6B6965"/>
                          </a:solidFill>
                          <a:latin typeface="Jost" pitchFamily="34" charset="0"/>
                          <a:ea typeface="Jost" pitchFamily="34" charset="-122"/>
                          <a:cs typeface="Jost" pitchFamily="34" charset="-120"/>
                        </a:rPr>
                        <a:t>In place</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329184">
                <a:tc>
                  <a:txBody>
                    <a:bodyPr/>
                    <a:lstStyle/>
                    <a:p>
                      <a:pPr algn="l" indent="0" marL="0">
                        <a:buNone/>
                      </a:pPr>
                      <a:r>
                        <a:rPr lang="en-US" sz="800" dirty="0">
                          <a:solidFill>
                            <a:srgbClr val="EDE7DE"/>
                          </a:solidFill>
                          <a:latin typeface="Jost" pitchFamily="34" charset="0"/>
                          <a:ea typeface="Jost" pitchFamily="34" charset="-122"/>
                          <a:cs typeface="Jost" pitchFamily="34" charset="-120"/>
                        </a:rPr>
                        <a:t>Aesthetics Injector (NP or PA)</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Neuromodulators, filler, energy devices</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6B6965"/>
                          </a:solidFill>
                          <a:latin typeface="Jost" pitchFamily="34" charset="0"/>
                          <a:ea typeface="Jost" pitchFamily="34" charset="-122"/>
                          <a:cs typeface="Jost" pitchFamily="34" charset="-120"/>
                        </a:rPr>
                        <a:t>In place</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329184">
                <a:tc>
                  <a:txBody>
                    <a:bodyPr/>
                    <a:lstStyle/>
                    <a:p>
                      <a:pPr algn="l" indent="0" marL="0">
                        <a:buNone/>
                      </a:pPr>
                      <a:r>
                        <a:rPr lang="en-US" sz="800" dirty="0">
                          <a:solidFill>
                            <a:srgbClr val="EDE7DE"/>
                          </a:solidFill>
                          <a:latin typeface="Jost" pitchFamily="34" charset="0"/>
                          <a:ea typeface="Jost" pitchFamily="34" charset="-122"/>
                          <a:cs typeface="Jost" pitchFamily="34" charset="-120"/>
                        </a:rPr>
                        <a:t>Longevity Clinical Lead</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Therapeutic medications, GLP-1 and biomarker programs</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6B6965"/>
                          </a:solidFill>
                          <a:latin typeface="Jost" pitchFamily="34" charset="0"/>
                          <a:ea typeface="Jost" pitchFamily="34" charset="-122"/>
                          <a:cs typeface="Jost" pitchFamily="34" charset="-120"/>
                        </a:rPr>
                        <a:t>In place</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329184">
                <a:tc>
                  <a:txBody>
                    <a:bodyPr/>
                    <a:lstStyle/>
                    <a:p>
                      <a:pPr algn="l" indent="0" marL="0">
                        <a:buNone/>
                      </a:pPr>
                      <a:r>
                        <a:rPr lang="en-US" sz="800" dirty="0">
                          <a:solidFill>
                            <a:srgbClr val="EDE7DE"/>
                          </a:solidFill>
                          <a:latin typeface="Jost" pitchFamily="34" charset="0"/>
                          <a:ea typeface="Jost" pitchFamily="34" charset="-122"/>
                          <a:cs typeface="Jost" pitchFamily="34" charset="-120"/>
                        </a:rPr>
                        <a:t>Club General Manager</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Membership, events, hospitality, retention</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6B6965"/>
                          </a:solidFill>
                          <a:latin typeface="Jost" pitchFamily="34" charset="0"/>
                          <a:ea typeface="Jost" pitchFamily="34" charset="-122"/>
                          <a:cs typeface="Jost" pitchFamily="34" charset="-120"/>
                        </a:rPr>
                        <a:t>In place</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329184">
                <a:tc>
                  <a:txBody>
                    <a:bodyPr/>
                    <a:lstStyle/>
                    <a:p>
                      <a:pPr algn="l" indent="0" marL="0">
                        <a:buNone/>
                      </a:pPr>
                      <a:r>
                        <a:rPr lang="en-US" sz="800" dirty="0">
                          <a:solidFill>
                            <a:srgbClr val="EDE7DE"/>
                          </a:solidFill>
                          <a:latin typeface="Jost" pitchFamily="34" charset="0"/>
                          <a:ea typeface="Jost" pitchFamily="34" charset="-122"/>
                          <a:cs typeface="Jost" pitchFamily="34" charset="-120"/>
                        </a:rPr>
                        <a:t>Registered Nurses (2)</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IV therapy, regenerative, recovery floor</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6B6965"/>
                          </a:solidFill>
                          <a:latin typeface="Jost" pitchFamily="34" charset="0"/>
                          <a:ea typeface="Jost" pitchFamily="34" charset="-122"/>
                          <a:cs typeface="Jost" pitchFamily="34" charset="-120"/>
                        </a:rPr>
                        <a:t>In place</a:t>
                      </a:r>
                      <a:endParaRPr lang="en-US" sz="80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7" name="Shape 4"/>
          <p:cNvSpPr/>
          <p:nvPr/>
        </p:nvSpPr>
        <p:spPr>
          <a:xfrm>
            <a:off x="5641848" y="1691640"/>
            <a:ext cx="2999232" cy="2331720"/>
          </a:xfrm>
          <a:prstGeom prst="rect">
            <a:avLst/>
          </a:prstGeom>
          <a:solidFill>
            <a:srgbClr val="1C1C1E"/>
          </a:solidFill>
          <a:ln w="9525">
            <a:solidFill>
              <a:srgbClr val="271F13"/>
            </a:solidFill>
            <a:prstDash val="solid"/>
          </a:ln>
        </p:spPr>
      </p:sp>
      <p:sp>
        <p:nvSpPr>
          <p:cNvPr id="8" name="Text 5"/>
          <p:cNvSpPr/>
          <p:nvPr/>
        </p:nvSpPr>
        <p:spPr>
          <a:xfrm>
            <a:off x="5788152" y="1819656"/>
            <a:ext cx="270662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MEDICAL LEADERSHIP</a:t>
            </a:r>
            <a:endParaRPr lang="en-US" sz="750" dirty="0"/>
          </a:p>
        </p:txBody>
      </p:sp>
      <p:sp>
        <p:nvSpPr>
          <p:cNvPr id="9" name="Text 6"/>
          <p:cNvSpPr/>
          <p:nvPr/>
        </p:nvSpPr>
        <p:spPr>
          <a:xfrm>
            <a:off x="5788152" y="2039112"/>
            <a:ext cx="2706624" cy="1874520"/>
          </a:xfrm>
          <a:prstGeom prst="rect">
            <a:avLst/>
          </a:prstGeom>
          <a:noFill/>
          <a:ln/>
        </p:spPr>
        <p:txBody>
          <a:bodyPr wrap="square" rtlCol="0" anchor="t"/>
          <a:lstStyle/>
          <a:p>
            <a:pPr indent="0" marL="0">
              <a:lnSpc>
                <a:spcPct val="120000"/>
              </a:lnSpc>
              <a:buNone/>
            </a:pPr>
            <a:r>
              <a:rPr lang="en-US" sz="850" dirty="0">
                <a:solidFill>
                  <a:srgbClr val="C9BCA9"/>
                </a:solidFill>
                <a:latin typeface="Jost" pitchFamily="34" charset="0"/>
                <a:ea typeface="Jost" pitchFamily="34" charset="-122"/>
                <a:cs typeface="Jost" pitchFamily="34" charset="-120"/>
              </a:rPr>
              <a:t>All care is physician-directed, led hands-on by board-certified specialists in pain management, sports medicine, orthopedics, and plastic surgery, supported by NPs and RNs. This clinical structure sets LK apart from the medical spas and wellness centers already in overabundance across this healthcare sector.</a:t>
            </a:r>
            <a:endParaRPr lang="en-US" sz="850" dirty="0"/>
          </a:p>
        </p:txBody>
      </p:sp>
      <p:sp>
        <p:nvSpPr>
          <p:cNvPr id="10" name="Text 7"/>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1" name="Text 8"/>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33</a:t>
            </a:r>
            <a:endParaRPr lang="en-US" sz="7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RISKS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WHAT COULD GO WRONG</a:t>
            </a:r>
            <a:endParaRPr lang="en-US" sz="26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1261872"/>
          <a:ext cx="8138160" cy="914400"/>
        </p:xfrm>
        <a:graphic>
          <a:graphicData uri="http://schemas.openxmlformats.org/drawingml/2006/table">
            <a:tbl>
              <a:tblPr/>
              <a:tblGrid>
                <a:gridCol w="2743200"/>
                <a:gridCol w="5394960"/>
              </a:tblGrid>
              <a:tr h="384048">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RISK</a:t>
                      </a:r>
                      <a:endParaRPr lang="en-US" sz="750" dirty="0">
                        <a:latin typeface="Jost" charset="0"/>
                        <a:ea typeface="Jost" charset="0"/>
                        <a:cs typeface="Jost" charset="0"/>
                      </a:endParaRPr>
                    </a:p>
                  </a:txBody>
                  <a:tcPr marL="27432" marR="27432" marT="27432" marB="27432"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MITIGATION</a:t>
                      </a:r>
                      <a:endParaRPr lang="en-US" sz="750" dirty="0">
                        <a:latin typeface="Jost" charset="0"/>
                        <a:ea typeface="Jost" charset="0"/>
                        <a:cs typeface="Jost" charset="0"/>
                      </a:endParaRPr>
                    </a:p>
                  </a:txBody>
                  <a:tcPr marL="27432" marR="27432" marT="27432" marB="27432"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384048">
                <a:tc>
                  <a:txBody>
                    <a:bodyPr/>
                    <a:lstStyle/>
                    <a:p>
                      <a:pPr algn="l" indent="0" marL="0">
                        <a:buNone/>
                      </a:pPr>
                      <a:r>
                        <a:rPr lang="en-US" sz="800" dirty="0">
                          <a:solidFill>
                            <a:srgbClr val="EDE7DE"/>
                          </a:solidFill>
                          <a:latin typeface="Jost" pitchFamily="34" charset="0"/>
                          <a:ea typeface="Jost" pitchFamily="34" charset="-122"/>
                          <a:cs typeface="Jost" pitchFamily="34" charset="-120"/>
                        </a:rPr>
                        <a:t>Membership fills slower than modeled.</a:t>
                      </a:r>
                      <a:endParaRPr lang="en-US" sz="80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The clinic is open to non-members from day one, so revenue does not depend on the club filling. The low case flexes volume to 72% of base and still produces positive operating income.</a:t>
                      </a:r>
                      <a:endParaRPr lang="en-US" sz="80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384048">
                <a:tc>
                  <a:txBody>
                    <a:bodyPr/>
                    <a:lstStyle/>
                    <a:p>
                      <a:pPr algn="l" indent="0" marL="0">
                        <a:buNone/>
                      </a:pPr>
                      <a:r>
                        <a:rPr lang="en-US" sz="800" dirty="0">
                          <a:solidFill>
                            <a:srgbClr val="EDE7DE"/>
                          </a:solidFill>
                          <a:latin typeface="Jost" pitchFamily="34" charset="0"/>
                          <a:ea typeface="Jost" pitchFamily="34" charset="-122"/>
                          <a:cs typeface="Jost" pitchFamily="34" charset="-120"/>
                        </a:rPr>
                        <a:t>Members redeem more than their fees cover.</a:t>
                      </a:r>
                      <a:endParaRPr lang="en-US" sz="80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Credit banks are sized against measured redemption and the model asserts the ratio stays below 100%. The three-month minimum with 30-day change notice makes repricing operationally possible.</a:t>
                      </a:r>
                      <a:endParaRPr lang="en-US" sz="80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384048">
                <a:tc>
                  <a:txBody>
                    <a:bodyPr/>
                    <a:lstStyle/>
                    <a:p>
                      <a:pPr algn="l" indent="0" marL="0">
                        <a:buNone/>
                      </a:pPr>
                      <a:r>
                        <a:rPr lang="en-US" sz="800" dirty="0">
                          <a:solidFill>
                            <a:srgbClr val="EDE7DE"/>
                          </a:solidFill>
                          <a:latin typeface="Jost" pitchFamily="34" charset="0"/>
                          <a:ea typeface="Jost" pitchFamily="34" charset="-122"/>
                          <a:cs typeface="Jost" pitchFamily="34" charset="-120"/>
                        </a:rPr>
                        <a:t>A key clinician leaves during the ramp.</a:t>
                      </a:r>
                      <a:endParaRPr lang="en-US" sz="80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The club, recovery floor and infusion suite run on staff that are easier to hire than injectors and prescribers. A gap narrows the services offered without closing LK. As a licensed, equipped clinic, we can credential a replacement quickly, and clinical pay includes retention terms through the ramp.</a:t>
                      </a:r>
                      <a:endParaRPr lang="en-US" sz="80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384048">
                <a:tc>
                  <a:txBody>
                    <a:bodyPr/>
                    <a:lstStyle/>
                    <a:p>
                      <a:pPr algn="l" indent="0" marL="0">
                        <a:buNone/>
                      </a:pPr>
                      <a:r>
                        <a:rPr lang="en-US" sz="800" dirty="0">
                          <a:solidFill>
                            <a:srgbClr val="EDE7DE"/>
                          </a:solidFill>
                          <a:latin typeface="Jost" pitchFamily="34" charset="0"/>
                          <a:ea typeface="Jost" pitchFamily="34" charset="-122"/>
                          <a:cs typeface="Jost" pitchFamily="34" charset="-120"/>
                        </a:rPr>
                        <a:t>The ramp is slower than modeled and cash runs short.</a:t>
                      </a:r>
                      <a:endParaRPr lang="en-US" sz="80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With no loans assumed, there is no monthly payment to miss and no lender involved. Founding memberships will be sold during construction. The reserve is sized to cover a slower ramp, and the low case still reaches positive operating income at stabilization.</a:t>
                      </a:r>
                      <a:endParaRPr lang="en-US" sz="80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384048">
                <a:tc>
                  <a:txBody>
                    <a:bodyPr/>
                    <a:lstStyle/>
                    <a:p>
                      <a:pPr algn="l" indent="0" marL="0">
                        <a:buNone/>
                      </a:pPr>
                      <a:r>
                        <a:rPr lang="en-US" sz="800" dirty="0">
                          <a:solidFill>
                            <a:srgbClr val="EDE7DE"/>
                          </a:solidFill>
                          <a:latin typeface="Jost" pitchFamily="34" charset="0"/>
                          <a:ea typeface="Jost" pitchFamily="34" charset="-122"/>
                          <a:cs typeface="Jost" pitchFamily="34" charset="-120"/>
                        </a:rPr>
                        <a:t>Wet-area construction overruns.</a:t>
                      </a:r>
                      <a:endParaRPr lang="en-US" sz="80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The highest variance line in the buildout. The saunas, plunges and showers are the least predictable cost in the build. A reduced-scope plan is ready as a fallback, and the reserve gives room to absorb overruns without a second raise.</a:t>
                      </a:r>
                      <a:endParaRPr lang="en-US" sz="80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34</a:t>
            </a:r>
            <a:endParaRPr lang="en-US" sz="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023360" y="685800"/>
            <a:ext cx="1097280" cy="790042"/>
          </a:xfrm>
          <a:prstGeom prst="rect">
            <a:avLst/>
          </a:prstGeom>
        </p:spPr>
      </p:pic>
      <p:sp>
        <p:nvSpPr>
          <p:cNvPr id="3" name="Text 0"/>
          <p:cNvSpPr/>
          <p:nvPr/>
        </p:nvSpPr>
        <p:spPr>
          <a:xfrm>
            <a:off x="502920" y="1737360"/>
            <a:ext cx="8138160" cy="548640"/>
          </a:xfrm>
          <a:prstGeom prst="rect">
            <a:avLst/>
          </a:prstGeom>
          <a:noFill/>
          <a:ln/>
        </p:spPr>
        <p:txBody>
          <a:bodyPr wrap="square" rtlCol="0" anchor="t"/>
          <a:lstStyle/>
          <a:p>
            <a:pPr algn="ctr" indent="0" marL="0">
              <a:buNone/>
            </a:pPr>
            <a:r>
              <a:rPr lang="en-US" sz="3000" spc="800" kern="0" dirty="0">
                <a:solidFill>
                  <a:srgbClr val="EDE7DE"/>
                </a:solidFill>
                <a:latin typeface="Cormorant Garamond" pitchFamily="34" charset="0"/>
                <a:ea typeface="Cormorant Garamond" pitchFamily="34" charset="-122"/>
                <a:cs typeface="Cormorant Garamond" pitchFamily="34" charset="-120"/>
              </a:rPr>
              <a:t>THANK YOU</a:t>
            </a:r>
            <a:endParaRPr lang="en-US" sz="3000" dirty="0"/>
          </a:p>
        </p:txBody>
      </p:sp>
      <p:sp>
        <p:nvSpPr>
          <p:cNvPr id="4" name="Text 1"/>
          <p:cNvSpPr/>
          <p:nvPr/>
        </p:nvSpPr>
        <p:spPr>
          <a:xfrm>
            <a:off x="1417320" y="2377440"/>
            <a:ext cx="6309360" cy="548640"/>
          </a:xfrm>
          <a:prstGeom prst="rect">
            <a:avLst/>
          </a:prstGeom>
          <a:noFill/>
          <a:ln/>
        </p:spPr>
        <p:txBody>
          <a:bodyPr wrap="square" rtlCol="0" anchor="t"/>
          <a:lstStyle/>
          <a:p>
            <a:pPr algn="ctr" indent="0" marL="0">
              <a:lnSpc>
                <a:spcPct val="120000"/>
              </a:lnSpc>
              <a:buNone/>
            </a:pPr>
            <a:r>
              <a:rPr lang="en-US" sz="1200" dirty="0">
                <a:solidFill>
                  <a:srgbClr val="EDE7DE"/>
                </a:solidFill>
                <a:latin typeface="Jost" pitchFamily="34" charset="0"/>
                <a:ea typeface="Jost" pitchFamily="34" charset="-122"/>
                <a:cs typeface="Jost" pitchFamily="34" charset="-120"/>
              </a:rPr>
              <a:t>One building, two layers, and a license most of this category cannot legally obtain.</a:t>
            </a:r>
            <a:endParaRPr lang="en-US" sz="1200" dirty="0"/>
          </a:p>
        </p:txBody>
      </p:sp>
      <p:sp>
        <p:nvSpPr>
          <p:cNvPr id="5" name="Text 2"/>
          <p:cNvSpPr/>
          <p:nvPr/>
        </p:nvSpPr>
        <p:spPr>
          <a:xfrm>
            <a:off x="502920" y="2971800"/>
            <a:ext cx="8138160" cy="274320"/>
          </a:xfrm>
          <a:prstGeom prst="rect">
            <a:avLst/>
          </a:prstGeom>
          <a:noFill/>
          <a:ln/>
        </p:spPr>
        <p:txBody>
          <a:bodyPr wrap="square" rtlCol="0" anchor="ctr"/>
          <a:lstStyle/>
          <a:p>
            <a:pPr algn="ctr" indent="0" marL="0">
              <a:buNone/>
            </a:pPr>
            <a:r>
              <a:rPr lang="en-US" sz="950" dirty="0">
                <a:solidFill>
                  <a:srgbClr val="B08D57"/>
                </a:solidFill>
                <a:latin typeface="Jost" pitchFamily="34" charset="0"/>
                <a:ea typeface="Jost" pitchFamily="34" charset="-122"/>
                <a:cs typeface="Jost" pitchFamily="34" charset="-120"/>
              </a:rPr>
              <a:t>$4.75M all equity  ·  30% starting stake  ·  4,925 SF  ·  $224,801 a month at stabilization</a:t>
            </a:r>
            <a:endParaRPr lang="en-US" sz="950" dirty="0"/>
          </a:p>
        </p:txBody>
      </p:sp>
      <p:sp>
        <p:nvSpPr>
          <p:cNvPr id="6" name="Text 3"/>
          <p:cNvSpPr/>
          <p:nvPr/>
        </p:nvSpPr>
        <p:spPr>
          <a:xfrm>
            <a:off x="1417320" y="3291840"/>
            <a:ext cx="6309360" cy="274320"/>
          </a:xfrm>
          <a:prstGeom prst="rect">
            <a:avLst/>
          </a:prstGeom>
          <a:noFill/>
          <a:ln/>
        </p:spPr>
        <p:txBody>
          <a:bodyPr wrap="square" rtlCol="0" anchor="t"/>
          <a:lstStyle/>
          <a:p>
            <a:pPr algn="ctr" indent="0" marL="0">
              <a:buNone/>
            </a:pPr>
            <a:r>
              <a:rPr lang="en-US" sz="900" dirty="0">
                <a:solidFill>
                  <a:srgbClr val="C9BCA9"/>
                </a:solidFill>
                <a:latin typeface="Jost" pitchFamily="34" charset="0"/>
                <a:ea typeface="Jost" pitchFamily="34" charset="-122"/>
                <a:cs typeface="Jost" pitchFamily="34" charset="-120"/>
              </a:rPr>
              <a:t>Full model, capacity workbook and buildout detail available under NDA.</a:t>
            </a:r>
            <a:endParaRPr lang="en-US" sz="900" dirty="0"/>
          </a:p>
        </p:txBody>
      </p:sp>
      <p:sp>
        <p:nvSpPr>
          <p:cNvPr id="7" name="Text 4"/>
          <p:cNvSpPr/>
          <p:nvPr/>
        </p:nvSpPr>
        <p:spPr>
          <a:xfrm>
            <a:off x="502920" y="3639312"/>
            <a:ext cx="8138160" cy="274320"/>
          </a:xfrm>
          <a:prstGeom prst="rect">
            <a:avLst/>
          </a:prstGeom>
          <a:noFill/>
          <a:ln/>
        </p:spPr>
        <p:txBody>
          <a:bodyPr wrap="square" rtlCol="0" anchor="ctr"/>
          <a:lstStyle/>
          <a:p>
            <a:pPr algn="ctr" indent="0" marL="0">
              <a:buNone/>
            </a:pPr>
            <a:r>
              <a:rPr lang="en-US" sz="1050" dirty="0">
                <a:solidFill>
                  <a:srgbClr val="B08D57"/>
                </a:solidFill>
                <a:latin typeface="Jost" pitchFamily="34" charset="0"/>
                <a:ea typeface="Jost" pitchFamily="34" charset="-122"/>
                <a:cs typeface="Jost" pitchFamily="34" charset="-120"/>
              </a:rPr>
              <a:t>lkwellnessmdr@gmail.com</a:t>
            </a:r>
            <a:endParaRPr lang="en-US" sz="1050" dirty="0"/>
          </a:p>
        </p:txBody>
      </p:sp>
      <p:sp>
        <p:nvSpPr>
          <p:cNvPr id="8" name="Text 5"/>
          <p:cNvSpPr/>
          <p:nvPr/>
        </p:nvSpPr>
        <p:spPr>
          <a:xfrm>
            <a:off x="502920" y="4206240"/>
            <a:ext cx="8138160" cy="411480"/>
          </a:xfrm>
          <a:prstGeom prst="rect">
            <a:avLst/>
          </a:prstGeom>
          <a:noFill/>
          <a:ln/>
        </p:spPr>
        <p:txBody>
          <a:bodyPr wrap="square" rtlCol="0" anchor="t"/>
          <a:lstStyle/>
          <a:p>
            <a:pPr algn="ctr" indent="0" marL="0">
              <a:buNone/>
            </a:pPr>
            <a:r>
              <a:rPr lang="en-US" sz="700" dirty="0">
                <a:solidFill>
                  <a:srgbClr val="6B6965"/>
                </a:solidFill>
                <a:latin typeface="Jost" pitchFamily="34" charset="0"/>
                <a:ea typeface="Jost" pitchFamily="34" charset="-122"/>
                <a:cs typeface="Jost" pitchFamily="34" charset="-120"/>
              </a:rPr>
              <a:t>This document is not an offer to sell or a solicitation of an offer to buy any security. Forward-looking figures are projections and not guarantees of future performance.</a:t>
            </a:r>
            <a:endParaRPr lang="en-US" sz="700" dirty="0"/>
          </a:p>
        </p:txBody>
      </p:sp>
      <p:sp>
        <p:nvSpPr>
          <p:cNvPr id="9" name="Text 6"/>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0" name="Text 7"/>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35</a:t>
            </a:r>
            <a:endParaRPr lang="en-US" sz="7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APPENDIX</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HOW THESE NUMBERS WERE BUILT</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Everything in this brief resolves to a stabilized P&amp;L and a use-of-funds table. These pages itemize both, every overhead line into its components and every capital line into what it buys, and each build-up is checked at build time to sum to the total it explains. Fixed overhead totals $207,673 a month; rent is 4,925 SF at $5.50/SF/month NNN. The written methodology ships as ASSUMPTIONS.md and methodology.html.</a:t>
            </a:r>
            <a:endParaRPr lang="en-US" sz="1050" dirty="0"/>
          </a:p>
        </p:txBody>
      </p:sp>
      <p:sp>
        <p:nvSpPr>
          <p:cNvPr id="6" name="Text 4"/>
          <p:cNvSpPr/>
          <p:nvPr/>
        </p:nvSpPr>
        <p:spPr>
          <a:xfrm>
            <a:off x="502920" y="1783080"/>
            <a:ext cx="8138160"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CLINICAL AND CLUB STAFF, $85,920 A MONTH</a:t>
            </a:r>
            <a:endParaRPr lang="en-US" sz="7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2002536"/>
          <a:ext cx="8138160" cy="914400"/>
        </p:xfrm>
        <a:graphic>
          <a:graphicData uri="http://schemas.openxmlformats.org/drawingml/2006/table">
            <a:tbl>
              <a:tblPr/>
              <a:tblGrid>
                <a:gridCol w="5120640"/>
                <a:gridCol w="1097280"/>
                <a:gridCol w="1920240"/>
              </a:tblGrid>
              <a:tr h="182880">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ROLE</a:t>
                      </a:r>
                      <a:endParaRPr lang="en-US" sz="750" dirty="0">
                        <a:latin typeface="Jost" charset="0"/>
                        <a:ea typeface="Jost" charset="0"/>
                        <a:cs typeface="Jost" charset="0"/>
                      </a:endParaRPr>
                    </a:p>
                  </a:txBody>
                  <a:tcPr marL="18288" marR="18288" marT="18288" marB="18288"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FTE</a:t>
                      </a:r>
                      <a:endParaRPr lang="en-US" sz="750" dirty="0">
                        <a:latin typeface="Jost" charset="0"/>
                        <a:ea typeface="Jost" charset="0"/>
                        <a:cs typeface="Jost" charset="0"/>
                      </a:endParaRPr>
                    </a:p>
                  </a:txBody>
                  <a:tcPr marL="18288" marR="18288" marT="18288" marB="18288"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MONTHLY, LOADED</a:t>
                      </a:r>
                      <a:endParaRPr lang="en-US" sz="750" dirty="0">
                        <a:latin typeface="Jost" charset="0"/>
                        <a:ea typeface="Jost" charset="0"/>
                        <a:cs typeface="Jost" charset="0"/>
                      </a:endParaRPr>
                    </a:p>
                  </a:txBody>
                  <a:tcPr marL="18288" marR="18288" marT="18288" marB="18288"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82880">
                <a:tc>
                  <a:txBody>
                    <a:bodyPr/>
                    <a:lstStyle/>
                    <a:p>
                      <a:pPr algn="l" indent="0" marL="0">
                        <a:buNone/>
                      </a:pPr>
                      <a:r>
                        <a:rPr lang="en-US" sz="800" dirty="0">
                          <a:solidFill>
                            <a:srgbClr val="EDE7DE"/>
                          </a:solidFill>
                          <a:latin typeface="Jost" pitchFamily="34" charset="0"/>
                          <a:ea typeface="Jost" pitchFamily="34" charset="-122"/>
                          <a:cs typeface="Jost" pitchFamily="34" charset="-120"/>
                        </a:rPr>
                        <a:t>Officers (2 @ $150,000/yr)</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2.0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$25,000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800" dirty="0">
                          <a:solidFill>
                            <a:srgbClr val="EDE7DE"/>
                          </a:solidFill>
                          <a:latin typeface="Jost" pitchFamily="34" charset="0"/>
                          <a:ea typeface="Jost" pitchFamily="34" charset="-122"/>
                          <a:cs typeface="Jost" pitchFamily="34" charset="-120"/>
                        </a:rPr>
                        <a:t>Medical Director (MD/DO)</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0.4</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$3,000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800" dirty="0">
                          <a:solidFill>
                            <a:srgbClr val="EDE7DE"/>
                          </a:solidFill>
                          <a:latin typeface="Jost" pitchFamily="34" charset="0"/>
                          <a:ea typeface="Jost" pitchFamily="34" charset="-122"/>
                          <a:cs typeface="Jost" pitchFamily="34" charset="-120"/>
                        </a:rPr>
                        <a:t>Aesthetics Injector (NP or PA): $85/hr</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1.0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$13,600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800" dirty="0">
                          <a:solidFill>
                            <a:srgbClr val="EDE7DE"/>
                          </a:solidFill>
                          <a:latin typeface="Jost" pitchFamily="34" charset="0"/>
                          <a:ea typeface="Jost" pitchFamily="34" charset="-122"/>
                          <a:cs typeface="Jost" pitchFamily="34" charset="-120"/>
                        </a:rPr>
                        <a:t>Longevity Clinical Lead (NP or PA): $100/hr</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1.0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$16,000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800" dirty="0">
                          <a:solidFill>
                            <a:srgbClr val="EDE7DE"/>
                          </a:solidFill>
                          <a:latin typeface="Jost" pitchFamily="34" charset="0"/>
                          <a:ea typeface="Jost" pitchFamily="34" charset="-122"/>
                          <a:cs typeface="Jost" pitchFamily="34" charset="-120"/>
                        </a:rPr>
                        <a:t>Registered Nurse (IV, regenerative, recovery): $55/hr</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1.0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$8,800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800" dirty="0">
                          <a:solidFill>
                            <a:srgbClr val="EDE7DE"/>
                          </a:solidFill>
                          <a:latin typeface="Jost" pitchFamily="34" charset="0"/>
                          <a:ea typeface="Jost" pitchFamily="34" charset="-122"/>
                          <a:cs typeface="Jost" pitchFamily="34" charset="-120"/>
                        </a:rPr>
                        <a:t>LVN: $30/hr</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1.0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$4,800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800" dirty="0">
                          <a:solidFill>
                            <a:srgbClr val="EDE7DE"/>
                          </a:solidFill>
                          <a:latin typeface="Jost" pitchFamily="34" charset="0"/>
                          <a:ea typeface="Jost" pitchFamily="34" charset="-122"/>
                          <a:cs typeface="Jost" pitchFamily="34" charset="-120"/>
                        </a:rPr>
                        <a:t>Medical assistant / technician: $25/hr</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1.0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$4,000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800" dirty="0">
                          <a:solidFill>
                            <a:srgbClr val="EDE7DE"/>
                          </a:solidFill>
                          <a:latin typeface="Jost" pitchFamily="34" charset="0"/>
                          <a:ea typeface="Jost" pitchFamily="34" charset="-122"/>
                          <a:cs typeface="Jost" pitchFamily="34" charset="-120"/>
                        </a:rPr>
                        <a:t>Administrator: $45/hr</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1.0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$7,200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800" dirty="0">
                          <a:solidFill>
                            <a:srgbClr val="EDE7DE"/>
                          </a:solidFill>
                          <a:latin typeface="Jost" pitchFamily="34" charset="0"/>
                          <a:ea typeface="Jost" pitchFamily="34" charset="-122"/>
                          <a:cs typeface="Jost" pitchFamily="34" charset="-120"/>
                        </a:rPr>
                        <a:t>Front desk / concierge: $22/hr</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1.0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$3,520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800" dirty="0">
                          <a:solidFill>
                            <a:srgbClr val="B08D57"/>
                          </a:solidFill>
                          <a:latin typeface="Jost" pitchFamily="34" charset="0"/>
                          <a:ea typeface="Jost" pitchFamily="34" charset="-122"/>
                          <a:cs typeface="Jost" pitchFamily="34" charset="-120"/>
                        </a:rPr>
                        <a:t>Total</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B08D57"/>
                          </a:solidFill>
                          <a:latin typeface="Jost" pitchFamily="34" charset="0"/>
                          <a:ea typeface="Jost" pitchFamily="34" charset="-122"/>
                          <a:cs typeface="Jost" pitchFamily="34" charset="-120"/>
                        </a:rPr>
                        <a:t>$85,920</a:t>
                      </a:r>
                      <a:endParaRPr lang="en-US" sz="80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8" name="Text 5"/>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9" name="Text 6"/>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36</a:t>
            </a:r>
            <a:endParaRPr lang="en-US" sz="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APPENDIX  ·  FIXED OVERHEAD</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THE OTHER OVERHEAD LINES</a:t>
            </a:r>
            <a:endParaRPr lang="en-US" sz="2600" dirty="0"/>
          </a:p>
        </p:txBody>
      </p:sp>
      <p:sp>
        <p:nvSpPr>
          <p:cNvPr id="5" name="Text 3"/>
          <p:cNvSpPr/>
          <p:nvPr/>
        </p:nvSpPr>
        <p:spPr>
          <a:xfrm>
            <a:off x="502920" y="1325880"/>
            <a:ext cx="261518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EQUIPMENT LEASES</a:t>
            </a:r>
            <a:endParaRPr lang="en-US" sz="7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1545336"/>
          <a:ext cx="2615184" cy="914400"/>
        </p:xfrm>
        <a:graphic>
          <a:graphicData uri="http://schemas.openxmlformats.org/drawingml/2006/table">
            <a:tbl>
              <a:tblPr/>
              <a:tblGrid>
                <a:gridCol w="1609344"/>
                <a:gridCol w="1005840"/>
              </a:tblGrid>
              <a:tr h="155448">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COMPONENT</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MONTHLY</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Ammortal chamber (1 unit) financed</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Aescape robotic massage (1 unit) subscription</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Second red light bed financed</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$1,375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Other leased equipment</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Balance of clinical equipment financed (~$190,000 @ 2.2%/mo)</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$4,180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B08D57"/>
                          </a:solidFill>
                          <a:latin typeface="Jost" pitchFamily="34" charset="0"/>
                          <a:ea typeface="Jost" pitchFamily="34" charset="-122"/>
                          <a:cs typeface="Jost" pitchFamily="34" charset="-120"/>
                        </a:rPr>
                        <a:t>Total</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$16,555</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7" name="Text 4"/>
          <p:cNvSpPr/>
          <p:nvPr/>
        </p:nvSpPr>
        <p:spPr>
          <a:xfrm>
            <a:off x="3264408" y="1325880"/>
            <a:ext cx="261518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ADMIN AND MANAGEMENT</a:t>
            </a:r>
            <a:endParaRPr lang="en-US" sz="750" dirty="0"/>
          </a:p>
        </p:txBody>
      </p:sp>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3264408" y="1545336"/>
          <a:ext cx="2615184" cy="914400"/>
        </p:xfrm>
        <a:graphic>
          <a:graphicData uri="http://schemas.openxmlformats.org/drawingml/2006/table">
            <a:tbl>
              <a:tblPr/>
              <a:tblGrid>
                <a:gridCol w="1609344"/>
                <a:gridCol w="1005840"/>
              </a:tblGrid>
              <a:tr h="155448">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COMPONENT</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MONTHLY</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Bookkeeping and accounting</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Legal and compliance retainer</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IT and managed services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Business insurance (GL, property, cyber)</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Merchant processing and banking</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B08D57"/>
                          </a:solidFill>
                          <a:latin typeface="Jost" pitchFamily="34" charset="0"/>
                          <a:ea typeface="Jost" pitchFamily="34" charset="-122"/>
                          <a:cs typeface="Jost" pitchFamily="34" charset="-120"/>
                        </a:rPr>
                        <a:t>Total</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$18,500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9" name="Text 5"/>
          <p:cNvSpPr/>
          <p:nvPr/>
        </p:nvSpPr>
        <p:spPr>
          <a:xfrm>
            <a:off x="6025896" y="1325880"/>
            <a:ext cx="261518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MARKETING AND MEMBER ACQUISITION</a:t>
            </a:r>
            <a:endParaRPr lang="en-US" sz="750" dirty="0"/>
          </a:p>
        </p:txBody>
      </p:sp>
      <p:graphicFrame>
        <p:nvGraphicFramePr>
          <p:cNvPr id="112" name="Table 2"/>
          <p:cNvGraphicFramePr>
            <a:graphicFrameLocks noGrp="1"/>
          </p:cNvGraphicFramePr>
          <p:nvPr>
            <p:extLst>
              <p:ext uri="{D42A27DB-BD31-4B8C-83A1-F6EECF244321}">
                <p14:modId xmlns:p14="http://schemas.microsoft.com/office/powerpoint/2010/main" val="1579011935"/>
              </p:ext>
            </p:extLst>
          </p:nvPr>
        </p:nvGraphicFramePr>
        <p:xfrm>
          <a:off x="6025896" y="1545336"/>
          <a:ext cx="2615184" cy="914400"/>
        </p:xfrm>
        <a:graphic>
          <a:graphicData uri="http://schemas.openxmlformats.org/drawingml/2006/table">
            <a:tbl>
              <a:tblPr/>
              <a:tblGrid>
                <a:gridCol w="1609344"/>
                <a:gridCol w="1005840"/>
              </a:tblGrid>
              <a:tr h="155448">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COMPONENT</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MONTHLY</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Paid digital and social</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$12,000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Content, photography, video</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Events and community programming</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$5,000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Agency / fractional marketing lead</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Referral and partnership incentives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B08D57"/>
                          </a:solidFill>
                          <a:latin typeface="Jost" pitchFamily="34" charset="0"/>
                          <a:ea typeface="Jost" pitchFamily="34" charset="-122"/>
                          <a:cs typeface="Jost" pitchFamily="34" charset="-120"/>
                        </a:rPr>
                        <a:t>Total</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$30,000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11" name="Text 6"/>
          <p:cNvSpPr/>
          <p:nvPr/>
        </p:nvSpPr>
        <p:spPr>
          <a:xfrm>
            <a:off x="502920" y="2926080"/>
            <a:ext cx="261518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MALPRACTICE AND LIABILITY</a:t>
            </a:r>
            <a:endParaRPr lang="en-US" sz="750" dirty="0"/>
          </a:p>
        </p:txBody>
      </p:sp>
      <p:graphicFrame>
        <p:nvGraphicFramePr>
          <p:cNvPr id="149" name="Table 3"/>
          <p:cNvGraphicFramePr>
            <a:graphicFrameLocks noGrp="1"/>
          </p:cNvGraphicFramePr>
          <p:nvPr>
            <p:extLst>
              <p:ext uri="{D42A27DB-BD31-4B8C-83A1-F6EECF244321}">
                <p14:modId xmlns:p14="http://schemas.microsoft.com/office/powerpoint/2010/main" val="1579011935"/>
              </p:ext>
            </p:extLst>
          </p:nvPr>
        </p:nvGraphicFramePr>
        <p:xfrm>
          <a:off x="502920" y="3145536"/>
          <a:ext cx="2615184" cy="914400"/>
        </p:xfrm>
        <a:graphic>
          <a:graphicData uri="http://schemas.openxmlformats.org/drawingml/2006/table">
            <a:tbl>
              <a:tblPr/>
              <a:tblGrid>
                <a:gridCol w="1609344"/>
                <a:gridCol w="1005840"/>
              </a:tblGrid>
              <a:tr h="155448">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COMPONENT</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MONTHLY</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Medical Director policy</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Aesthetics injector policy</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Longevity clinical lead policy</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Nursing coverage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Entity policy and umbrella</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B08D57"/>
                          </a:solidFill>
                          <a:latin typeface="Jost" pitchFamily="34" charset="0"/>
                          <a:ea typeface="Jost" pitchFamily="34" charset="-122"/>
                          <a:cs typeface="Jost" pitchFamily="34" charset="-120"/>
                        </a:rPr>
                        <a:t>Total</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$12,000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13" name="Text 7"/>
          <p:cNvSpPr/>
          <p:nvPr/>
        </p:nvSpPr>
        <p:spPr>
          <a:xfrm>
            <a:off x="3264408" y="2926080"/>
            <a:ext cx="261518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UTILITIES, SOFTWARE, MEMBER PLATFORM</a:t>
            </a:r>
            <a:endParaRPr lang="en-US" sz="750" dirty="0"/>
          </a:p>
        </p:txBody>
      </p:sp>
      <p:graphicFrame>
        <p:nvGraphicFramePr>
          <p:cNvPr id="186" name="Table 4"/>
          <p:cNvGraphicFramePr>
            <a:graphicFrameLocks noGrp="1"/>
          </p:cNvGraphicFramePr>
          <p:nvPr>
            <p:extLst>
              <p:ext uri="{D42A27DB-BD31-4B8C-83A1-F6EECF244321}">
                <p14:modId xmlns:p14="http://schemas.microsoft.com/office/powerpoint/2010/main" val="1579011935"/>
              </p:ext>
            </p:extLst>
          </p:nvPr>
        </p:nvGraphicFramePr>
        <p:xfrm>
          <a:off x="3264408" y="3145536"/>
          <a:ext cx="2615184" cy="914400"/>
        </p:xfrm>
        <a:graphic>
          <a:graphicData uri="http://schemas.openxmlformats.org/drawingml/2006/table">
            <a:tbl>
              <a:tblPr/>
              <a:tblGrid>
                <a:gridCol w="1609344"/>
                <a:gridCol w="1005840"/>
              </a:tblGrid>
              <a:tr h="155448">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COMPONENT</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MONTHLY</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Utilities (electric, gas, water)</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Member platform and booking</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EMR / charting</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Phone, internet, security monitoring</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$1,500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Laundry and linen service</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Music, AV, miscellaneous systems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B08D57"/>
                          </a:solidFill>
                          <a:latin typeface="Jost" pitchFamily="34" charset="0"/>
                          <a:ea typeface="Jost" pitchFamily="34" charset="-122"/>
                          <a:cs typeface="Jost" pitchFamily="34" charset="-120"/>
                        </a:rPr>
                        <a:t>Total</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$16,000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15" name="Text 8"/>
          <p:cNvSpPr/>
          <p:nvPr/>
        </p:nvSpPr>
        <p:spPr>
          <a:xfrm>
            <a:off x="6025896" y="2926080"/>
            <a:ext cx="2615184"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LICENSING AND COMPLIANCE</a:t>
            </a:r>
            <a:endParaRPr lang="en-US" sz="750" dirty="0"/>
          </a:p>
        </p:txBody>
      </p:sp>
      <p:graphicFrame>
        <p:nvGraphicFramePr>
          <p:cNvPr id="223" name="Table 5"/>
          <p:cNvGraphicFramePr>
            <a:graphicFrameLocks noGrp="1"/>
          </p:cNvGraphicFramePr>
          <p:nvPr>
            <p:extLst>
              <p:ext uri="{D42A27DB-BD31-4B8C-83A1-F6EECF244321}">
                <p14:modId xmlns:p14="http://schemas.microsoft.com/office/powerpoint/2010/main" val="1579011935"/>
              </p:ext>
            </p:extLst>
          </p:nvPr>
        </p:nvGraphicFramePr>
        <p:xfrm>
          <a:off x="6025896" y="3145536"/>
          <a:ext cx="2615184" cy="914400"/>
        </p:xfrm>
        <a:graphic>
          <a:graphicData uri="http://schemas.openxmlformats.org/drawingml/2006/table">
            <a:tbl>
              <a:tblPr/>
              <a:tblGrid>
                <a:gridCol w="1609344"/>
                <a:gridCol w="1005840"/>
              </a:tblGrid>
              <a:tr h="155448">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COMPONENT</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MONTHLY</a:t>
                      </a:r>
                      <a:endParaRPr lang="en-US" sz="750" dirty="0">
                        <a:latin typeface="Jost" charset="0"/>
                        <a:ea typeface="Jost" charset="0"/>
                        <a:cs typeface="Jost" charset="0"/>
                      </a:endParaRPr>
                    </a:p>
                  </a:txBody>
                  <a:tcPr marL="13716" marR="13716" marT="13716" marB="1371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Business licenses and permits</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$1,600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EDE7DE"/>
                          </a:solidFill>
                          <a:latin typeface="Jost" pitchFamily="34" charset="0"/>
                          <a:ea typeface="Jost" pitchFamily="34" charset="-122"/>
                          <a:cs typeface="Jost" pitchFamily="34" charset="-120"/>
                        </a:rPr>
                        <a:t>CLIA waiver / lab (bi-annual, amortized)</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55448">
                <a:tc>
                  <a:txBody>
                    <a:bodyPr/>
                    <a:lstStyle/>
                    <a:p>
                      <a:pPr algn="l" indent="0" marL="0">
                        <a:buNone/>
                      </a:pPr>
                      <a:r>
                        <a:rPr lang="en-US" sz="750" dirty="0">
                          <a:solidFill>
                            <a:srgbClr val="B08D57"/>
                          </a:solidFill>
                          <a:latin typeface="Jost" pitchFamily="34" charset="0"/>
                          <a:ea typeface="Jost" pitchFamily="34" charset="-122"/>
                          <a:cs typeface="Jost" pitchFamily="34" charset="-120"/>
                        </a:rPr>
                        <a:t>Total</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$1,610</a:t>
                      </a:r>
                      <a:endParaRPr lang="en-US" sz="750" dirty="0">
                        <a:latin typeface="Jost" charset="0"/>
                        <a:ea typeface="Jost" charset="0"/>
                        <a:cs typeface="Jost" charset="0"/>
                      </a:endParaRPr>
                    </a:p>
                  </a:txBody>
                  <a:tcPr marL="13716" marR="13716" marT="13716" marB="1371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17" name="Text 9"/>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8" name="Text 10"/>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37</a:t>
            </a:r>
            <a:endParaRPr lang="en-US" sz="7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APPENDIX  ·  COST OF GOODS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WHAT THE MARGINS PAY FOR</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Cost of goods runs $165,563 a month against $598,036 of revenue, a blended 72.3% margin. Of that, $18,760 is circuit consumables at $8 a visit across 2,345 monthly visits, carried on its own line in the P&amp;L.</a:t>
            </a:r>
            <a:endParaRPr lang="en-US" sz="10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8138160" cy="914400"/>
        </p:xfrm>
        <a:graphic>
          <a:graphicData uri="http://schemas.openxmlformats.org/drawingml/2006/table">
            <a:tbl>
              <a:tblPr/>
              <a:tblGrid>
                <a:gridCol w="1737360"/>
                <a:gridCol w="914400"/>
                <a:gridCol w="5486400"/>
              </a:tblGrid>
              <a:tr h="237744">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CATEGORY</a:t>
                      </a:r>
                      <a:endParaRPr lang="en-US" sz="750" dirty="0">
                        <a:latin typeface="Jost" charset="0"/>
                        <a:ea typeface="Jost" charset="0"/>
                        <a:cs typeface="Jost" charset="0"/>
                      </a:endParaRPr>
                    </a:p>
                  </a:txBody>
                  <a:tcPr marL="54864" marR="54864" marT="54864" marB="54864"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MARGIN</a:t>
                      </a:r>
                      <a:endParaRPr lang="en-US" sz="750" dirty="0">
                        <a:latin typeface="Jost" charset="0"/>
                        <a:ea typeface="Jost" charset="0"/>
                        <a:cs typeface="Jost" charset="0"/>
                      </a:endParaRPr>
                    </a:p>
                  </a:txBody>
                  <a:tcPr marL="54864" marR="54864" marT="54864" marB="54864"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WHAT THE COST SIDE IS</a:t>
                      </a:r>
                      <a:endParaRPr lang="en-US" sz="750" dirty="0">
                        <a:latin typeface="Jost" charset="0"/>
                        <a:ea typeface="Jost" charset="0"/>
                        <a:cs typeface="Jost" charset="0"/>
                      </a:endParaRPr>
                    </a:p>
                  </a:txBody>
                  <a:tcPr marL="54864" marR="54864" marT="54864" marB="54864"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237744">
                <a:tc>
                  <a:txBody>
                    <a:bodyPr/>
                    <a:lstStyle/>
                    <a:p>
                      <a:pPr algn="l" indent="0" marL="0">
                        <a:buNone/>
                      </a:pPr>
                      <a:r>
                        <a:rPr lang="en-US" sz="800" dirty="0">
                          <a:solidFill>
                            <a:srgbClr val="EDE7DE"/>
                          </a:solidFill>
                          <a:latin typeface="Jost" pitchFamily="34" charset="0"/>
                          <a:ea typeface="Jost" pitchFamily="34" charset="-122"/>
                          <a:cs typeface="Jost" pitchFamily="34" charset="-120"/>
                        </a:rPr>
                        <a:t>Recovery</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80–82%</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Consumables, filters and water treatment, linens, device servicing contracts. Almost no per-session variable cost, which is why these margins are the highest in the building.</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37744">
                <a:tc>
                  <a:txBody>
                    <a:bodyPr/>
                    <a:lstStyle/>
                    <a:p>
                      <a:pPr algn="l" indent="0" marL="0">
                        <a:buNone/>
                      </a:pPr>
                      <a:r>
                        <a:rPr lang="en-US" sz="800" dirty="0">
                          <a:solidFill>
                            <a:srgbClr val="EDE7DE"/>
                          </a:solidFill>
                          <a:latin typeface="Jost" pitchFamily="34" charset="0"/>
                          <a:ea typeface="Jost" pitchFamily="34" charset="-122"/>
                          <a:cs typeface="Jost" pitchFamily="34" charset="-120"/>
                        </a:rPr>
                        <a:t>PRP</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60–72%</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Draw kits, separation tubes and centrifuge consumables, needles and sharps, topical anesthetic. Cost per case is close to fixed, so the margin spread across the six lines is a pricing decision rather than a cost one.</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37744">
                <a:tc>
                  <a:txBody>
                    <a:bodyPr/>
                    <a:lstStyle/>
                    <a:p>
                      <a:pPr algn="l" indent="0" marL="0">
                        <a:buNone/>
                      </a:pPr>
                      <a:r>
                        <a:rPr lang="en-US" sz="800" dirty="0">
                          <a:solidFill>
                            <a:srgbClr val="EDE7DE"/>
                          </a:solidFill>
                          <a:latin typeface="Jost" pitchFamily="34" charset="0"/>
                          <a:ea typeface="Jost" pitchFamily="34" charset="-122"/>
                          <a:cs typeface="Jost" pitchFamily="34" charset="-120"/>
                        </a:rPr>
                        <a:t>Regenerative</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56–78%</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IV bags and tubing, vitamins, glutathione and NAD+ compound, pharmacy cost on prescribed therapeutics. The widest band in the book: NAD+ carries the compound cost and the hydration drips carry almost none.</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37744">
                <a:tc>
                  <a:txBody>
                    <a:bodyPr/>
                    <a:lstStyle/>
                    <a:p>
                      <a:pPr algn="l" indent="0" marL="0">
                        <a:buNone/>
                      </a:pPr>
                      <a:r>
                        <a:rPr lang="en-US" sz="800" dirty="0">
                          <a:solidFill>
                            <a:srgbClr val="EDE7DE"/>
                          </a:solidFill>
                          <a:latin typeface="Jost" pitchFamily="34" charset="0"/>
                          <a:ea typeface="Jost" pitchFamily="34" charset="-122"/>
                          <a:cs typeface="Jost" pitchFamily="34" charset="-120"/>
                        </a:rPr>
                        <a:t>Aesthetics</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65–75%</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Neuromodulator and filler units at acquisition cost, RF microneedling tips, laser consumables, topicals. Filler is the thinnest because product cost dominates a single syringe.</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37744">
                <a:tc>
                  <a:txBody>
                    <a:bodyPr/>
                    <a:lstStyle/>
                    <a:p>
                      <a:pPr algn="l" indent="0" marL="0">
                        <a:buNone/>
                      </a:pPr>
                      <a:r>
                        <a:rPr lang="en-US" sz="800" dirty="0">
                          <a:solidFill>
                            <a:srgbClr val="EDE7DE"/>
                          </a:solidFill>
                          <a:latin typeface="Jost" pitchFamily="34" charset="0"/>
                          <a:ea typeface="Jost" pitchFamily="34" charset="-122"/>
                          <a:cs typeface="Jost" pitchFamily="34" charset="-120"/>
                        </a:rPr>
                        <a:t>Diagnostics</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800" dirty="0">
                          <a:solidFill>
                            <a:srgbClr val="C9BCA9"/>
                          </a:solidFill>
                          <a:latin typeface="Jost" pitchFamily="34" charset="0"/>
                          <a:ea typeface="Jost" pitchFamily="34" charset="-122"/>
                          <a:cs typeface="Jost" pitchFamily="34" charset="-120"/>
                        </a:rPr>
                        <a:t>65–77%</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800" dirty="0">
                          <a:solidFill>
                            <a:srgbClr val="C9BCA9"/>
                          </a:solidFill>
                          <a:latin typeface="Jost" pitchFamily="34" charset="0"/>
                          <a:ea typeface="Jost" pitchFamily="34" charset="-122"/>
                          <a:cs typeface="Jost" pitchFamily="34" charset="-120"/>
                        </a:rPr>
                        <a:t>Reference lab send-out fees, DEXA consumables, DNA and DUTCH collection kits, interpretation time. DEXA sits at the top because the scanner is owned and the marginal cost of a scan is small.</a:t>
                      </a:r>
                      <a:endParaRPr lang="en-US" sz="800" dirty="0">
                        <a:latin typeface="Jost" charset="0"/>
                        <a:ea typeface="Jost" charset="0"/>
                        <a:cs typeface="Jost" charset="0"/>
                      </a:endParaRPr>
                    </a:p>
                  </a:txBody>
                  <a:tcPr marL="54864" marR="54864" marT="54864" marB="54864"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7" name="Text 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8" name="Text 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38</a:t>
            </a:r>
            <a:endParaRPr lang="en-US" sz="7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APPENDIX  ·  SENSITIVITY</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IF RENT IS WRONG, WHAT HAPPENS</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Rent is the largest single assumption in the model and the easiest to check. Everything else is held constant.</a:t>
            </a:r>
            <a:endParaRPr lang="en-US" sz="10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1828800"/>
          <a:ext cx="8138160" cy="914400"/>
        </p:xfrm>
        <a:graphic>
          <a:graphicData uri="http://schemas.openxmlformats.org/drawingml/2006/table">
            <a:tbl>
              <a:tblPr/>
              <a:tblGrid>
                <a:gridCol w="2103120"/>
                <a:gridCol w="1463040"/>
                <a:gridCol w="1645920"/>
                <a:gridCol w="1554480"/>
                <a:gridCol w="1371600"/>
              </a:tblGrid>
              <a:tr h="292608">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RENT $/SF/MONTH NNN</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MONTHLY RENT</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OPERATING /MO</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ANNUAL</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YIELD ON EQUITY</a:t>
                      </a:r>
                      <a:endParaRPr lang="en-US" sz="750" dirty="0">
                        <a:latin typeface="Jost" charset="0"/>
                        <a:ea typeface="Jost" charset="0"/>
                        <a:cs typeface="Jost" charset="0"/>
                      </a:endParaRPr>
                    </a:p>
                  </a:txBody>
                  <a:tcPr marL="36576" marR="36576" marT="36576" marB="36576"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292608">
                <a:tc>
                  <a:txBody>
                    <a:bodyPr/>
                    <a:lstStyle/>
                    <a:p>
                      <a:pPr algn="l" indent="0" marL="0">
                        <a:buNone/>
                      </a:pPr>
                      <a:r>
                        <a:rPr lang="en-US" sz="950" dirty="0">
                          <a:solidFill>
                            <a:srgbClr val="EDE7DE"/>
                          </a:solidFill>
                          <a:latin typeface="Jost" pitchFamily="34" charset="0"/>
                          <a:ea typeface="Jost" pitchFamily="34" charset="-122"/>
                          <a:cs typeface="Jost" pitchFamily="34" charset="-120"/>
                        </a:rPr>
                        <a:t>$5.50  (modeled)</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$27,088</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$224,801</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$2,697,611</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56.8%</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92608">
                <a:tc>
                  <a:txBody>
                    <a:bodyPr/>
                    <a:lstStyle/>
                    <a:p>
                      <a:pPr algn="l" indent="0" marL="0">
                        <a:buNone/>
                      </a:pPr>
                      <a:r>
                        <a:rPr lang="en-US" sz="950" dirty="0">
                          <a:solidFill>
                            <a:srgbClr val="EDE7DE"/>
                          </a:solidFill>
                          <a:latin typeface="Jost" pitchFamily="34" charset="0"/>
                          <a:ea typeface="Jost" pitchFamily="34" charset="-122"/>
                          <a:cs typeface="Jost" pitchFamily="34" charset="-120"/>
                        </a:rPr>
                        <a:t>$6.00</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$29,550</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$222,338</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$2,668,061</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56.2%</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92608">
                <a:tc>
                  <a:txBody>
                    <a:bodyPr/>
                    <a:lstStyle/>
                    <a:p>
                      <a:pPr algn="l" indent="0" marL="0">
                        <a:buNone/>
                      </a:pPr>
                      <a:r>
                        <a:rPr lang="en-US" sz="950" dirty="0">
                          <a:solidFill>
                            <a:srgbClr val="EDE7DE"/>
                          </a:solidFill>
                          <a:latin typeface="Jost" pitchFamily="34" charset="0"/>
                          <a:ea typeface="Jost" pitchFamily="34" charset="-122"/>
                          <a:cs typeface="Jost" pitchFamily="34" charset="-120"/>
                        </a:rPr>
                        <a:t>$6.50</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$32,013</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$219,876</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$2,638,511</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55.5%</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92608">
                <a:tc>
                  <a:txBody>
                    <a:bodyPr/>
                    <a:lstStyle/>
                    <a:p>
                      <a:pPr algn="l" indent="0" marL="0">
                        <a:buNone/>
                      </a:pPr>
                      <a:r>
                        <a:rPr lang="en-US" sz="950" dirty="0">
                          <a:solidFill>
                            <a:srgbClr val="EDE7DE"/>
                          </a:solidFill>
                          <a:latin typeface="Jost" pitchFamily="34" charset="0"/>
                          <a:ea typeface="Jost" pitchFamily="34" charset="-122"/>
                          <a:cs typeface="Jost" pitchFamily="34" charset="-120"/>
                        </a:rPr>
                        <a:t>$7.00</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$34,475</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$217,413</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$2,608,961</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950" dirty="0">
                          <a:solidFill>
                            <a:srgbClr val="C9BCA9"/>
                          </a:solidFill>
                          <a:latin typeface="Jost" pitchFamily="34" charset="0"/>
                          <a:ea typeface="Jost" pitchFamily="34" charset="-122"/>
                          <a:cs typeface="Jost" pitchFamily="34" charset="-120"/>
                        </a:rPr>
                        <a:t>54.9%</a:t>
                      </a:r>
                      <a:endParaRPr lang="en-US" sz="950" dirty="0">
                        <a:latin typeface="Jost" charset="0"/>
                        <a:ea typeface="Jost" charset="0"/>
                        <a:cs typeface="Jost" charset="0"/>
                      </a:endParaRPr>
                    </a:p>
                  </a:txBody>
                  <a:tcPr marL="36576" marR="36576" marT="36576" marB="36576"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7" name="Text 4"/>
          <p:cNvSpPr/>
          <p:nvPr/>
        </p:nvSpPr>
        <p:spPr>
          <a:xfrm>
            <a:off x="502920" y="3611880"/>
            <a:ext cx="8138160" cy="640080"/>
          </a:xfrm>
          <a:prstGeom prst="rect">
            <a:avLst/>
          </a:prstGeom>
          <a:noFill/>
          <a:ln/>
        </p:spPr>
        <p:txBody>
          <a:bodyPr wrap="square" rtlCol="0" anchor="t"/>
          <a:lstStyle/>
          <a:p>
            <a:pPr indent="0" marL="0">
              <a:lnSpc>
                <a:spcPct val="120000"/>
              </a:lnSpc>
              <a:buNone/>
            </a:pPr>
            <a:r>
              <a:rPr lang="en-US" sz="900" dirty="0">
                <a:solidFill>
                  <a:srgbClr val="6B6965"/>
                </a:solidFill>
                <a:latin typeface="Jost" pitchFamily="34" charset="0"/>
                <a:ea typeface="Jost" pitchFamily="34" charset="-122"/>
                <a:cs typeface="Jost" pitchFamily="34" charset="-120"/>
              </a:rPr>
              <a:t>Yield is stabilized operating income against the equity raised, before tax and before any distribution. The modeled rate is the more aggressive of the figures shown; a broker letter or signed lease would replace this assumption with a fact.</a:t>
            </a:r>
            <a:endParaRPr lang="en-US" sz="900" dirty="0"/>
          </a:p>
        </p:txBody>
      </p:sp>
      <p:sp>
        <p:nvSpPr>
          <p:cNvPr id="8" name="Text 5"/>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9" name="Text 6"/>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39</a:t>
            </a:r>
            <a:endParaRPr lang="en-US" sz="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APPENDIX  ·  USE OF FUNDS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THE ITEMIZED CAPITAL LINES</a:t>
            </a:r>
            <a:endParaRPr lang="en-US" sz="2600" dirty="0"/>
          </a:p>
        </p:txBody>
      </p:sp>
      <p:sp>
        <p:nvSpPr>
          <p:cNvPr id="5" name="Text 3"/>
          <p:cNvSpPr/>
          <p:nvPr/>
        </p:nvSpPr>
        <p:spPr>
          <a:xfrm>
            <a:off x="502920" y="1371600"/>
            <a:ext cx="3968496"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WET AREAS</a:t>
            </a:r>
            <a:endParaRPr lang="en-US" sz="7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591056"/>
          <a:ext cx="3968496" cy="914400"/>
        </p:xfrm>
        <a:graphic>
          <a:graphicData uri="http://schemas.openxmlformats.org/drawingml/2006/table">
            <a:tbl>
              <a:tblPr/>
              <a:tblGrid>
                <a:gridCol w="2962656"/>
                <a:gridCol w="1005840"/>
              </a:tblGrid>
              <a:tr h="182880">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COMPONENT</a:t>
                      </a:r>
                      <a:endParaRPr lang="en-US" sz="750" dirty="0">
                        <a:latin typeface="Jost" charset="0"/>
                        <a:ea typeface="Jost" charset="0"/>
                        <a:cs typeface="Jost" charset="0"/>
                      </a:endParaRPr>
                    </a:p>
                  </a:txBody>
                  <a:tcPr marL="18288" marR="18288" marT="18288" marB="18288"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AMOUNT</a:t>
                      </a:r>
                      <a:endParaRPr lang="en-US" sz="750" dirty="0">
                        <a:latin typeface="Jost" charset="0"/>
                        <a:ea typeface="Jost" charset="0"/>
                        <a:cs typeface="Jost" charset="0"/>
                      </a:endParaRPr>
                    </a:p>
                  </a:txBody>
                  <a:tcPr marL="18288" marR="18288" marT="18288" marB="18288"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7DE"/>
                          </a:solidFill>
                          <a:latin typeface="Jost" pitchFamily="34" charset="0"/>
                          <a:ea typeface="Jost" pitchFamily="34" charset="-122"/>
                          <a:cs typeface="Jost" pitchFamily="34" charset="-120"/>
                        </a:rPr>
                        <a:t>Saunas (2), cedar, heaters, controls</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$95,000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750" dirty="0">
                          <a:solidFill>
                            <a:srgbClr val="EDE7DE"/>
                          </a:solidFill>
                          <a:latin typeface="Jost" pitchFamily="34" charset="0"/>
                          <a:ea typeface="Jost" pitchFamily="34" charset="-122"/>
                          <a:cs typeface="Jost" pitchFamily="34" charset="-120"/>
                        </a:rPr>
                        <a:t>Cold plunges (2), chillers, filtration</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$70,000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750" dirty="0">
                          <a:solidFill>
                            <a:srgbClr val="EDE7DE"/>
                          </a:solidFill>
                          <a:latin typeface="Jost" pitchFamily="34" charset="0"/>
                          <a:ea typeface="Jost" pitchFamily="34" charset="-122"/>
                          <a:cs typeface="Jost" pitchFamily="34" charset="-120"/>
                        </a:rPr>
                        <a:t>Steam room and generator</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$45,000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750" dirty="0">
                          <a:solidFill>
                            <a:srgbClr val="EDE7DE"/>
                          </a:solidFill>
                          <a:latin typeface="Jost" pitchFamily="34" charset="0"/>
                          <a:ea typeface="Jost" pitchFamily="34" charset="-122"/>
                          <a:cs typeface="Jost" pitchFamily="34" charset="-120"/>
                        </a:rPr>
                        <a:t>Waterproofing, drainage, floor slopes</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$110,000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750" dirty="0">
                          <a:solidFill>
                            <a:srgbClr val="EDE7DE"/>
                          </a:solidFill>
                          <a:latin typeface="Jost" pitchFamily="34" charset="0"/>
                          <a:ea typeface="Jost" pitchFamily="34" charset="-122"/>
                          <a:cs typeface="Jost" pitchFamily="34" charset="-120"/>
                        </a:rPr>
                        <a:t>Dedicated ventilation and dehumidification</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$85,000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750" dirty="0">
                          <a:solidFill>
                            <a:srgbClr val="EDE7DE"/>
                          </a:solidFill>
                          <a:latin typeface="Jost" pitchFamily="34" charset="0"/>
                          <a:ea typeface="Jost" pitchFamily="34" charset="-122"/>
                          <a:cs typeface="Jost" pitchFamily="34" charset="-120"/>
                        </a:rPr>
                        <a:t>Tile, benching, finishes</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$60,000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750" dirty="0">
                          <a:solidFill>
                            <a:srgbClr val="B08D57"/>
                          </a:solidFill>
                          <a:latin typeface="Jost" pitchFamily="34" charset="0"/>
                          <a:ea typeface="Jost" pitchFamily="34" charset="-122"/>
                          <a:cs typeface="Jost" pitchFamily="34" charset="-120"/>
                        </a:rPr>
                        <a:t>Total</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$465,000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7" name="Text 4"/>
          <p:cNvSpPr/>
          <p:nvPr/>
        </p:nvSpPr>
        <p:spPr>
          <a:xfrm>
            <a:off x="4672584" y="1371600"/>
            <a:ext cx="3968496" cy="182880"/>
          </a:xfrm>
          <a:prstGeom prst="rect">
            <a:avLst/>
          </a:prstGeom>
          <a:noFill/>
          <a:ln/>
        </p:spPr>
        <p:txBody>
          <a:bodyPr wrap="square" rtlCol="0" anchor="ctr"/>
          <a:lstStyle/>
          <a:p>
            <a:pPr indent="0" marL="0">
              <a:buNone/>
            </a:pPr>
            <a:r>
              <a:rPr lang="en-US" sz="750" spc="200" kern="0" dirty="0">
                <a:solidFill>
                  <a:srgbClr val="B08D57"/>
                </a:solidFill>
                <a:latin typeface="Jost" pitchFamily="34" charset="0"/>
                <a:ea typeface="Jost" pitchFamily="34" charset="-122"/>
                <a:cs typeface="Jost" pitchFamily="34" charset="-120"/>
              </a:rPr>
              <a:t>RECOVERY TECHNOLOGY</a:t>
            </a:r>
            <a:endParaRPr lang="en-US" sz="750" dirty="0"/>
          </a:p>
        </p:txBody>
      </p:sp>
      <p:graphicFrame>
        <p:nvGraphicFramePr>
          <p:cNvPr id="81" name="Table 1"/>
          <p:cNvGraphicFramePr>
            <a:graphicFrameLocks noGrp="1"/>
          </p:cNvGraphicFramePr>
          <p:nvPr>
            <p:extLst>
              <p:ext uri="{D42A27DB-BD31-4B8C-83A1-F6EECF244321}">
                <p14:modId xmlns:p14="http://schemas.microsoft.com/office/powerpoint/2010/main" val="1579011935"/>
              </p:ext>
            </p:extLst>
          </p:nvPr>
        </p:nvGraphicFramePr>
        <p:xfrm>
          <a:off x="4672584" y="1591056"/>
          <a:ext cx="3968496" cy="914400"/>
        </p:xfrm>
        <a:graphic>
          <a:graphicData uri="http://schemas.openxmlformats.org/drawingml/2006/table">
            <a:tbl>
              <a:tblPr/>
              <a:tblGrid>
                <a:gridCol w="2962656"/>
                <a:gridCol w="1005840"/>
              </a:tblGrid>
              <a:tr h="182880">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COMPONENT</a:t>
                      </a:r>
                      <a:endParaRPr lang="en-US" sz="750" dirty="0">
                        <a:latin typeface="Jost" charset="0"/>
                        <a:ea typeface="Jost" charset="0"/>
                        <a:cs typeface="Jost" charset="0"/>
                      </a:endParaRPr>
                    </a:p>
                  </a:txBody>
                  <a:tcPr marL="18288" marR="18288" marT="18288" marB="18288"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AMOUNT</a:t>
                      </a:r>
                      <a:endParaRPr lang="en-US" sz="750" dirty="0">
                        <a:latin typeface="Jost" charset="0"/>
                        <a:ea typeface="Jost" charset="0"/>
                        <a:cs typeface="Jost" charset="0"/>
                      </a:endParaRPr>
                    </a:p>
                  </a:txBody>
                  <a:tcPr marL="18288" marR="18288" marT="18288" marB="18288"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182880">
                <a:tc>
                  <a:txBody>
                    <a:bodyPr/>
                    <a:lstStyle/>
                    <a:p>
                      <a:pPr algn="l" indent="0" marL="0">
                        <a:buNone/>
                      </a:pPr>
                      <a:r>
                        <a:rPr lang="en-US" sz="750" dirty="0">
                          <a:solidFill>
                            <a:srgbClr val="EDE7DE"/>
                          </a:solidFill>
                          <a:latin typeface="Jost" pitchFamily="34" charset="0"/>
                          <a:ea typeface="Jost" pitchFamily="34" charset="-122"/>
                          <a:cs typeface="Jost" pitchFamily="34" charset="-120"/>
                        </a:rPr>
                        <a:t>Hyperbaric oxygen chamber, purchased</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$150,000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750" dirty="0">
                          <a:solidFill>
                            <a:srgbClr val="EDE7DE"/>
                          </a:solidFill>
                          <a:latin typeface="Jost" pitchFamily="34" charset="0"/>
                          <a:ea typeface="Jost" pitchFamily="34" charset="-122"/>
                          <a:cs typeface="Jost" pitchFamily="34" charset="-120"/>
                        </a:rPr>
                        <a:t>Ammortal chamber ($159,500 list), 10% finance deposit</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$15,950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750" dirty="0">
                          <a:solidFill>
                            <a:srgbClr val="EDE7DE"/>
                          </a:solidFill>
                          <a:latin typeface="Jost" pitchFamily="34" charset="0"/>
                          <a:ea typeface="Jost" pitchFamily="34" charset="-122"/>
                          <a:cs typeface="Jost" pitchFamily="34" charset="-120"/>
                        </a:rPr>
                        <a:t>Aescape robotic massage (1 unit), subscription only</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182880">
                <a:tc>
                  <a:txBody>
                    <a:bodyPr/>
                    <a:lstStyle/>
                    <a:p>
                      <a:pPr algn="l" indent="0" marL="0">
                        <a:buNone/>
                      </a:pPr>
                      <a:r>
                        <a:rPr lang="en-US" sz="750" dirty="0">
                          <a:solidFill>
                            <a:srgbClr val="B08D57"/>
                          </a:solidFill>
                          <a:latin typeface="Jost" pitchFamily="34" charset="0"/>
                          <a:ea typeface="Jost" pitchFamily="34" charset="-122"/>
                          <a:cs typeface="Jost" pitchFamily="34" charset="-120"/>
                        </a:rPr>
                        <a:t>Total</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$165,950</a:t>
                      </a:r>
                      <a:endParaRPr lang="en-US" sz="750" dirty="0">
                        <a:latin typeface="Jost" charset="0"/>
                        <a:ea typeface="Jost" charset="0"/>
                        <a:cs typeface="Jost" charset="0"/>
                      </a:endParaRPr>
                    </a:p>
                  </a:txBody>
                  <a:tcPr marL="18288" marR="18288" marT="18288" marB="18288"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9" name="Text 5"/>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0" name="Text 6"/>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40</a:t>
            </a:r>
            <a:endParaRPr lang="en-US" sz="7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APPENDIX  ·  USE OF FUNDS</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WHAT EACH CAPITAL LINE COVERS</a:t>
            </a:r>
            <a:endParaRPr lang="en-US" sz="2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138160" cy="914400"/>
        </p:xfrm>
        <a:graphic>
          <a:graphicData uri="http://schemas.openxmlformats.org/drawingml/2006/table">
            <a:tbl>
              <a:tblPr/>
              <a:tblGrid>
                <a:gridCol w="2697480"/>
                <a:gridCol w="1280160"/>
                <a:gridCol w="4160520"/>
              </a:tblGrid>
              <a:tr h="274320">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LINE</a:t>
                      </a:r>
                      <a:endParaRPr lang="en-US" sz="750" dirty="0">
                        <a:latin typeface="Jost" charset="0"/>
                        <a:ea typeface="Jost" charset="0"/>
                        <a:cs typeface="Jost" charset="0"/>
                      </a:endParaRPr>
                    </a:p>
                  </a:txBody>
                  <a:tcPr marL="27432" marR="27432" marT="27432" marB="27432"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r" indent="0" marL="0">
                        <a:buNone/>
                      </a:pPr>
                      <a:r>
                        <a:rPr lang="en-US" sz="750" spc="140" kern="0" dirty="0">
                          <a:solidFill>
                            <a:srgbClr val="B08D57"/>
                          </a:solidFill>
                          <a:latin typeface="Jost" pitchFamily="34" charset="0"/>
                          <a:ea typeface="Jost" pitchFamily="34" charset="-122"/>
                          <a:cs typeface="Jost" pitchFamily="34" charset="-120"/>
                        </a:rPr>
                        <a:t>AMOUNT</a:t>
                      </a:r>
                      <a:endParaRPr lang="en-US" sz="750" dirty="0">
                        <a:latin typeface="Jost" charset="0"/>
                        <a:ea typeface="Jost" charset="0"/>
                        <a:cs typeface="Jost" charset="0"/>
                      </a:endParaRPr>
                    </a:p>
                  </a:txBody>
                  <a:tcPr marL="27432" marR="27432" marT="27432" marB="27432"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c>
                  <a:txBody>
                    <a:bodyPr/>
                    <a:lstStyle/>
                    <a:p>
                      <a:pPr algn="l" indent="0" marL="0">
                        <a:buNone/>
                      </a:pPr>
                      <a:r>
                        <a:rPr lang="en-US" sz="750" spc="140" kern="0" dirty="0">
                          <a:solidFill>
                            <a:srgbClr val="B08D57"/>
                          </a:solidFill>
                          <a:latin typeface="Jost" pitchFamily="34" charset="0"/>
                          <a:ea typeface="Jost" pitchFamily="34" charset="-122"/>
                          <a:cs typeface="Jost" pitchFamily="34" charset="-120"/>
                        </a:rPr>
                        <a:t>BASIS</a:t>
                      </a:r>
                      <a:endParaRPr lang="en-US" sz="750" dirty="0">
                        <a:latin typeface="Jost" charset="0"/>
                        <a:ea typeface="Jost" charset="0"/>
                        <a:cs typeface="Jost" charset="0"/>
                      </a:endParaRPr>
                    </a:p>
                  </a:txBody>
                  <a:tcPr marL="27432" marR="27432" marT="27432" marB="27432" anchor="ctr">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000000"/>
                    </a:solidFill>
                  </a:tcPr>
                </a:tc>
              </a:tr>
              <a:tr h="274320">
                <a:tc>
                  <a:txBody>
                    <a:bodyPr/>
                    <a:lstStyle/>
                    <a:p>
                      <a:pPr algn="l" indent="0" marL="0">
                        <a:buNone/>
                      </a:pPr>
                      <a:r>
                        <a:rPr lang="en-US" sz="750" dirty="0">
                          <a:solidFill>
                            <a:srgbClr val="EDE7DE"/>
                          </a:solidFill>
                          <a:latin typeface="Jost" pitchFamily="34" charset="0"/>
                          <a:ea typeface="Jost" pitchFamily="34" charset="-122"/>
                          <a:cs typeface="Jost" pitchFamily="34" charset="-120"/>
                        </a:rPr>
                        <a:t>Buildout and tenant improvements (4,925 SF @ $250/SF)</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$1,231,250</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Square footage × $250/SF for clinic and club space.</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750" dirty="0">
                          <a:solidFill>
                            <a:srgbClr val="EDE7DE"/>
                          </a:solidFill>
                          <a:latin typeface="Jost" pitchFamily="34" charset="0"/>
                          <a:ea typeface="Jost" pitchFamily="34" charset="-122"/>
                          <a:cs typeface="Jost" pitchFamily="34" charset="-120"/>
                        </a:rPr>
                        <a:t>Wet areas: 2 saunas, 2 plunges, steam, drainage…</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$465,000</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Itemised below. Wet construction is the highest-variance line in the whole buildout: waterproofing failures and ventilation rework are the classic overrun.</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750" dirty="0">
                          <a:solidFill>
                            <a:srgbClr val="EDE7DE"/>
                          </a:solidFill>
                          <a:latin typeface="Jost" pitchFamily="34" charset="0"/>
                          <a:ea typeface="Jost" pitchFamily="34" charset="-122"/>
                          <a:cs typeface="Jost" pitchFamily="34" charset="-120"/>
                        </a:rPr>
                        <a:t>Medical and aesthetic equipment (purchased)</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$780,000</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Purchased portion of the medical and aesthetic package. Excludes bone densitometry, which is itemized on its own line below.</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750" dirty="0">
                          <a:solidFill>
                            <a:srgbClr val="EDE7DE"/>
                          </a:solidFill>
                          <a:latin typeface="Jost" pitchFamily="34" charset="0"/>
                          <a:ea typeface="Jost" pitchFamily="34" charset="-122"/>
                          <a:cs typeface="Jost" pitchFamily="34" charset="-120"/>
                        </a:rPr>
                        <a:t>Recovery technology: HBOT purchased, Ammortal deposit</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$165,950</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Only the hyperbaric chamber is bought outright. The Ammortal chamber is financed, so the capital cost is the deposit alone.</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750" dirty="0">
                          <a:solidFill>
                            <a:srgbClr val="EDE7DE"/>
                          </a:solidFill>
                          <a:latin typeface="Jost" pitchFamily="34" charset="0"/>
                          <a:ea typeface="Jost" pitchFamily="34" charset="-122"/>
                          <a:cs typeface="Jost" pitchFamily="34" charset="-120"/>
                        </a:rPr>
                        <a:t>GE iDXA bone densitometer, purchased</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$25,000</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A GE Lunar iDXA bone densitometer, bought outright rather than leased, plus the 125 SF room it occupies.</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750" dirty="0">
                          <a:solidFill>
                            <a:srgbClr val="EDE7DE"/>
                          </a:solidFill>
                          <a:latin typeface="Jost" pitchFamily="34" charset="0"/>
                          <a:ea typeface="Jost" pitchFamily="34" charset="-122"/>
                          <a:cs typeface="Jost" pitchFamily="34" charset="-120"/>
                        </a:rPr>
                        <a:t>FF&amp;E, lounge, millwork, retail</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$430,000</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Furniture, lounge fit-out, millwork and retail fixtures.</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750" dirty="0">
                          <a:solidFill>
                            <a:srgbClr val="EDE7DE"/>
                          </a:solidFill>
                          <a:latin typeface="Jost" pitchFamily="34" charset="0"/>
                          <a:ea typeface="Jost" pitchFamily="34" charset="-122"/>
                          <a:cs typeface="Jost" pitchFamily="34" charset="-120"/>
                        </a:rPr>
                        <a:t>Pre-opening: licensing, legal, insurance, hiring</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$310,000</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Licensing, legal, insurance binders, recruiting and pre-opening payroll.</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750" dirty="0">
                          <a:solidFill>
                            <a:srgbClr val="EDE7DE"/>
                          </a:solidFill>
                          <a:latin typeface="Jost" pitchFamily="34" charset="0"/>
                          <a:ea typeface="Jost" pitchFamily="34" charset="-122"/>
                          <a:cs typeface="Jost" pitchFamily="34" charset="-120"/>
                        </a:rPr>
                        <a:t>Brand, launch, founding member campaign</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$237,000</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Identity, site, photography, launch campaign and the founding member drive.</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750" dirty="0">
                          <a:solidFill>
                            <a:srgbClr val="EDE7DE"/>
                          </a:solidFill>
                          <a:latin typeface="Jost" pitchFamily="34" charset="0"/>
                          <a:ea typeface="Jost" pitchFamily="34" charset="-122"/>
                          <a:cs typeface="Jost" pitchFamily="34" charset="-120"/>
                        </a:rPr>
                        <a:t>Working capital reserve</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C9BCA9"/>
                          </a:solidFill>
                          <a:latin typeface="Jost" pitchFamily="34" charset="0"/>
                          <a:ea typeface="Jost" pitchFamily="34" charset="-122"/>
                          <a:cs typeface="Jost" pitchFamily="34" charset="-120"/>
                        </a:rPr>
                        <a:t>$1,105,800</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r>
                        <a:rPr lang="en-US" sz="750" dirty="0">
                          <a:solidFill>
                            <a:srgbClr val="C9BCA9"/>
                          </a:solidFill>
                          <a:latin typeface="Jost" pitchFamily="34" charset="0"/>
                          <a:ea typeface="Jost" pitchFamily="34" charset="-122"/>
                          <a:cs typeface="Jost" pitchFamily="34" charset="-120"/>
                        </a:rPr>
                        <a:t>Sized against the modeled cash trough, not set to a round number.</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r h="274320">
                <a:tc>
                  <a:txBody>
                    <a:bodyPr/>
                    <a:lstStyle/>
                    <a:p>
                      <a:pPr algn="l" indent="0" marL="0">
                        <a:buNone/>
                      </a:pPr>
                      <a:r>
                        <a:rPr lang="en-US" sz="750" dirty="0">
                          <a:solidFill>
                            <a:srgbClr val="B08D57"/>
                          </a:solidFill>
                          <a:latin typeface="Jost" pitchFamily="34" charset="0"/>
                          <a:ea typeface="Jost" pitchFamily="34" charset="-122"/>
                          <a:cs typeface="Jost" pitchFamily="34" charset="-120"/>
                        </a:rPr>
                        <a:t>Total project cost</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r" indent="0" marL="0">
                        <a:buNone/>
                      </a:pPr>
                      <a:r>
                        <a:rPr lang="en-US" sz="750" dirty="0">
                          <a:solidFill>
                            <a:srgbClr val="B08D57"/>
                          </a:solidFill>
                          <a:latin typeface="Jost" pitchFamily="34" charset="0"/>
                          <a:ea typeface="Jost" pitchFamily="34" charset="-122"/>
                          <a:cs typeface="Jost" pitchFamily="34" charset="-120"/>
                        </a:rPr>
                        <a:t>$4,750,000</a:t>
                      </a: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c>
                  <a:txBody>
                    <a:bodyPr/>
                    <a:lstStyle/>
                    <a:p>
                      <a:pPr algn="l" indent="0" marL="0">
                        <a:buNone/>
                      </a:pPr>
                      <a:endParaRPr lang="en-US" sz="750" dirty="0">
                        <a:latin typeface="Jost" charset="0"/>
                        <a:ea typeface="Jost" charset="0"/>
                        <a:cs typeface="Jost" charset="0"/>
                      </a:endParaRPr>
                    </a:p>
                  </a:txBody>
                  <a:tcPr marL="27432" marR="27432" marT="27432" marB="27432" anchor="t">
                    <a:lnL w="6350" cap="flat" cmpd="sng" algn="ctr">
                      <a:solidFill>
                        <a:srgbClr val="271F13"/>
                      </a:solidFill>
                      <a:prstDash val="solid"/>
                      <a:round/>
                      <a:headEnd type="none" w="med" len="med"/>
                      <a:tailEnd type="none" w="med" len="med"/>
                    </a:lnL>
                    <a:lnR w="6350" cap="flat" cmpd="sng" algn="ctr">
                      <a:solidFill>
                        <a:srgbClr val="271F13"/>
                      </a:solidFill>
                      <a:prstDash val="solid"/>
                      <a:round/>
                      <a:headEnd type="none" w="med" len="med"/>
                      <a:tailEnd type="none" w="med" len="med"/>
                    </a:lnR>
                    <a:lnT w="6350" cap="flat" cmpd="sng" algn="ctr">
                      <a:solidFill>
                        <a:srgbClr val="271F13"/>
                      </a:solidFill>
                      <a:prstDash val="solid"/>
                      <a:round/>
                      <a:headEnd type="none" w="med" len="med"/>
                      <a:tailEnd type="none" w="med" len="med"/>
                    </a:lnT>
                    <a:lnB w="6350" cap="flat" cmpd="sng" algn="ctr">
                      <a:solidFill>
                        <a:srgbClr val="271F13"/>
                      </a:solidFill>
                      <a:prstDash val="solid"/>
                      <a:round/>
                      <a:headEnd type="none" w="med" len="med"/>
                      <a:tailEnd type="none" w="med" len="med"/>
                    </a:lnB>
                    <a:solidFill>
                      <a:srgbClr val="1C1C1E"/>
                    </a:solidFill>
                  </a:tcPr>
                </a:tc>
              </a:tr>
            </a:tbl>
          </a:graphicData>
        </a:graphic>
      </p:graphicFrame>
      <p:sp>
        <p:nvSpPr>
          <p:cNvPr id="6" name="Text 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7" name="Text 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41</a:t>
            </a:r>
            <a:endParaRPr lang="en-US" sz="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APPENDIX  ·  PROVENANCE</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WHAT RESTS ON JUDGMENT (1 OF 3)</a:t>
            </a:r>
            <a:endParaRPr lang="en-US" sz="2600" dirty="0"/>
          </a:p>
        </p:txBody>
      </p:sp>
      <p:sp>
        <p:nvSpPr>
          <p:cNvPr id="5" name="Text 3"/>
          <p:cNvSpPr/>
          <p:nvPr/>
        </p:nvSpPr>
        <p:spPr>
          <a:xfrm>
            <a:off x="502920" y="1115568"/>
            <a:ext cx="7487107" cy="457200"/>
          </a:xfrm>
          <a:prstGeom prst="rect">
            <a:avLst/>
          </a:prstGeom>
          <a:noFill/>
          <a:ln/>
        </p:spPr>
        <p:txBody>
          <a:bodyPr wrap="square" rtlCol="0" anchor="t"/>
          <a:lstStyle/>
          <a:p>
            <a:pPr indent="0" marL="0">
              <a:lnSpc>
                <a:spcPct val="120000"/>
              </a:lnSpc>
              <a:buNone/>
            </a:pPr>
            <a:r>
              <a:rPr lang="en-US" sz="1050" dirty="0">
                <a:solidFill>
                  <a:srgbClr val="C9BCA9"/>
                </a:solidFill>
                <a:latin typeface="Jost" pitchFamily="34" charset="0"/>
                <a:ea typeface="Jost" pitchFamily="34" charset="-122"/>
                <a:cs typeface="Jost" pitchFamily="34" charset="-120"/>
              </a:rPr>
              <a:t>Each figure below is an estimate, an inherited assumption or a single vendor quote.</a:t>
            </a:r>
            <a:endParaRPr lang="en-US" sz="1050" dirty="0"/>
          </a:p>
        </p:txBody>
      </p:sp>
      <p:sp>
        <p:nvSpPr>
          <p:cNvPr id="6" name="Text 4"/>
          <p:cNvSpPr/>
          <p:nvPr/>
        </p:nvSpPr>
        <p:spPr>
          <a:xfrm>
            <a:off x="502920" y="1572768"/>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RENT (4,925 SF NNN)</a:t>
            </a:r>
            <a:endParaRPr lang="en-US" sz="750" dirty="0"/>
          </a:p>
        </p:txBody>
      </p:sp>
      <p:sp>
        <p:nvSpPr>
          <p:cNvPr id="7" name="Text 5"/>
          <p:cNvSpPr/>
          <p:nvPr/>
        </p:nvSpPr>
        <p:spPr>
          <a:xfrm>
            <a:off x="502920" y="1737360"/>
            <a:ext cx="8138160" cy="241402"/>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This is the most exposed number in the model. There is no broker letter, no comparable set and no listing behind it anywhere in the lineage. The prior Playa Vista model implied $6.77/SF, so $5.50 is the more aggressive figure. Sensitivity is shown at the end of this document.</a:t>
            </a:r>
            <a:endParaRPr lang="en-US" sz="800" dirty="0"/>
          </a:p>
        </p:txBody>
      </p:sp>
      <p:sp>
        <p:nvSpPr>
          <p:cNvPr id="8" name="Text 6"/>
          <p:cNvSpPr/>
          <p:nvPr/>
        </p:nvSpPr>
        <p:spPr>
          <a:xfrm>
            <a:off x="502920" y="2115922"/>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EQUIPMENT LEASES</a:t>
            </a:r>
            <a:endParaRPr lang="en-US" sz="750" dirty="0"/>
          </a:p>
        </p:txBody>
      </p:sp>
      <p:sp>
        <p:nvSpPr>
          <p:cNvPr id="9" name="Text 7"/>
          <p:cNvSpPr/>
          <p:nvPr/>
        </p:nvSpPr>
        <p:spPr>
          <a:xfrm>
            <a:off x="502920" y="2280514"/>
            <a:ext cx="8138160" cy="482803"/>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One Ammortal chamber, not two: $159,500 list including delivery, install and onboarding, a 10% deposit, and roughly $3,000 a month on vendor financing. Aescape cannot be purchased at all, and the single unit runs $5,000 a month on enterprise terms plus $10 for every completed massage, which is a variable cost already sitting inside that service line’s margin rather than here. The second red light bed is vendor-financed at $1,375 a month: red light runs 650 sessions a month on the current menu, which one bed cannot physically deliver.</a:t>
            </a:r>
            <a:endParaRPr lang="en-US" sz="800" dirty="0"/>
          </a:p>
        </p:txBody>
      </p:sp>
      <p:sp>
        <p:nvSpPr>
          <p:cNvPr id="10" name="Text 8"/>
          <p:cNvSpPr/>
          <p:nvPr/>
        </p:nvSpPr>
        <p:spPr>
          <a:xfrm>
            <a:off x="502920" y="2900477"/>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ADMIN AND MANAGEMENT</a:t>
            </a:r>
            <a:endParaRPr lang="en-US" sz="750" dirty="0"/>
          </a:p>
        </p:txBody>
      </p:sp>
      <p:sp>
        <p:nvSpPr>
          <p:cNvPr id="11" name="Text 9"/>
          <p:cNvSpPr/>
          <p:nvPr/>
        </p:nvSpPr>
        <p:spPr>
          <a:xfrm>
            <a:off x="502920" y="3065069"/>
            <a:ext cx="8138160" cy="120701"/>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Merchant processing is the largest component and scales with card revenue at roughly 2.6%. Everything else is a fixed vendor cost.</a:t>
            </a:r>
            <a:endParaRPr lang="en-US" sz="800" dirty="0"/>
          </a:p>
        </p:txBody>
      </p:sp>
      <p:sp>
        <p:nvSpPr>
          <p:cNvPr id="12" name="Text 10"/>
          <p:cNvSpPr/>
          <p:nvPr/>
        </p:nvSpPr>
        <p:spPr>
          <a:xfrm>
            <a:off x="502920" y="3322930"/>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MARKETING AND MEMBER ACQUISITION</a:t>
            </a:r>
            <a:endParaRPr lang="en-US" sz="750" dirty="0"/>
          </a:p>
        </p:txBody>
      </p:sp>
      <p:sp>
        <p:nvSpPr>
          <p:cNvPr id="13" name="Text 11"/>
          <p:cNvSpPr/>
          <p:nvPr/>
        </p:nvSpPr>
        <p:spPr>
          <a:xfrm>
            <a:off x="502920" y="3487522"/>
            <a:ext cx="8138160" cy="241402"/>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Weighted toward paid digital during the ramp and toward events and referral once the membership base exists. No blended CAC target is claimed, because none has been measured.</a:t>
            </a:r>
            <a:endParaRPr lang="en-US" sz="800" dirty="0"/>
          </a:p>
        </p:txBody>
      </p:sp>
      <p:sp>
        <p:nvSpPr>
          <p:cNvPr id="14" name="Text 12"/>
          <p:cNvSpPr/>
          <p:nvPr/>
        </p:nvSpPr>
        <p:spPr>
          <a:xfrm>
            <a:off x="502920" y="3866083"/>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MALPRACTICE AND LIABILITY</a:t>
            </a:r>
            <a:endParaRPr lang="en-US" sz="750" dirty="0"/>
          </a:p>
        </p:txBody>
      </p:sp>
      <p:sp>
        <p:nvSpPr>
          <p:cNvPr id="15" name="Text 13"/>
          <p:cNvSpPr/>
          <p:nvPr/>
        </p:nvSpPr>
        <p:spPr>
          <a:xfrm>
            <a:off x="502920" y="4030675"/>
            <a:ext cx="8138160" cy="120701"/>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Priced per credentialed provider plus an entity policy and umbrella.</a:t>
            </a:r>
            <a:endParaRPr lang="en-US" sz="800" dirty="0"/>
          </a:p>
        </p:txBody>
      </p:sp>
      <p:sp>
        <p:nvSpPr>
          <p:cNvPr id="16" name="Text 14"/>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7" name="Text 15"/>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42</a:t>
            </a:r>
            <a:endParaRPr lang="en-US" sz="7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APPENDIX  ·  PROVENANCE</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WHAT RESTS ON JUDGMENT (2 OF 3)</a:t>
            </a:r>
            <a:endParaRPr lang="en-US" sz="2600" dirty="0"/>
          </a:p>
        </p:txBody>
      </p:sp>
      <p:sp>
        <p:nvSpPr>
          <p:cNvPr id="5" name="Text 3"/>
          <p:cNvSpPr/>
          <p:nvPr/>
        </p:nvSpPr>
        <p:spPr>
          <a:xfrm>
            <a:off x="502920" y="1298448"/>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UTILITIES, SOFTWARE, MEMBER PLATFORM</a:t>
            </a:r>
            <a:endParaRPr lang="en-US" sz="750" dirty="0"/>
          </a:p>
        </p:txBody>
      </p:sp>
      <p:sp>
        <p:nvSpPr>
          <p:cNvPr id="6" name="Text 4"/>
          <p:cNvSpPr/>
          <p:nvPr/>
        </p:nvSpPr>
        <p:spPr>
          <a:xfrm>
            <a:off x="502920" y="1463040"/>
            <a:ext cx="8138160" cy="241402"/>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Wet areas dominate the utility line: saunas, plunges and their dehumidification run continuously and are more energy intensive than a dry medspa of the same footprint.</a:t>
            </a:r>
            <a:endParaRPr lang="en-US" sz="800" dirty="0"/>
          </a:p>
        </p:txBody>
      </p:sp>
      <p:sp>
        <p:nvSpPr>
          <p:cNvPr id="7" name="Text 5"/>
          <p:cNvSpPr/>
          <p:nvPr/>
        </p:nvSpPr>
        <p:spPr>
          <a:xfrm>
            <a:off x="502920" y="1841602"/>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LICENSING AND COMPLIANCE</a:t>
            </a:r>
            <a:endParaRPr lang="en-US" sz="750" dirty="0"/>
          </a:p>
        </p:txBody>
      </p:sp>
      <p:sp>
        <p:nvSpPr>
          <p:cNvPr id="8" name="Text 6"/>
          <p:cNvSpPr/>
          <p:nvPr/>
        </p:nvSpPr>
        <p:spPr>
          <a:xfrm>
            <a:off x="502920" y="2006194"/>
            <a:ext cx="8138160" cy="120701"/>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Routine regulatory carrying cost.</a:t>
            </a:r>
            <a:endParaRPr lang="en-US" sz="800" dirty="0"/>
          </a:p>
        </p:txBody>
      </p:sp>
      <p:sp>
        <p:nvSpPr>
          <p:cNvPr id="9" name="Text 7"/>
          <p:cNvSpPr/>
          <p:nvPr/>
        </p:nvSpPr>
        <p:spPr>
          <a:xfrm>
            <a:off x="502920" y="2264054"/>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BUILDOUT AND TENANT IMPROVEMENTS (4,925 SF @ $250/SF)</a:t>
            </a:r>
            <a:endParaRPr lang="en-US" sz="750" dirty="0"/>
          </a:p>
        </p:txBody>
      </p:sp>
      <p:sp>
        <p:nvSpPr>
          <p:cNvPr id="10" name="Text 8"/>
          <p:cNvSpPr/>
          <p:nvPr/>
        </p:nvSpPr>
        <p:spPr>
          <a:xfrm>
            <a:off x="502920" y="2428646"/>
            <a:ext cx="8138160" cy="241402"/>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The prior Playa Vista model used $200–$300/SF for comparable clinic buildout, so $250 sits mid-range. It is not a contractor bid; a general contractor bid remains the most valuable document to obtain before closing.</a:t>
            </a:r>
            <a:endParaRPr lang="en-US" sz="800" dirty="0"/>
          </a:p>
        </p:txBody>
      </p:sp>
      <p:sp>
        <p:nvSpPr>
          <p:cNvPr id="11" name="Text 9"/>
          <p:cNvSpPr/>
          <p:nvPr/>
        </p:nvSpPr>
        <p:spPr>
          <a:xfrm>
            <a:off x="502920" y="2807208"/>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MEDICAL AND AESTHETIC EQUIPMENT (PURCHASED)</a:t>
            </a:r>
            <a:endParaRPr lang="en-US" sz="750" dirty="0"/>
          </a:p>
        </p:txBody>
      </p:sp>
      <p:sp>
        <p:nvSpPr>
          <p:cNvPr id="12" name="Text 10"/>
          <p:cNvSpPr/>
          <p:nvPr/>
        </p:nvSpPr>
        <p:spPr>
          <a:xfrm>
            <a:off x="502920" y="2971800"/>
            <a:ext cx="8138160" cy="362102"/>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Category ranges come from the prior Playa Vista line-item budget: IV and exam $80K–$150K, PRP processing $40K–$125K, aesthetic laser $150K–$400K, RF microneedling $80K–$180K, body contouring $100K–$275K, diagnostics $80K–$180K. That budget is an internal planning document, not vendor quotes. The diagnostics range above covers biometrics, phlebotomy and the lab interface only: the GE iDXA is named and priced separately so the two cannot be counted twice.</a:t>
            </a:r>
            <a:endParaRPr lang="en-US" sz="800" dirty="0"/>
          </a:p>
        </p:txBody>
      </p:sp>
      <p:sp>
        <p:nvSpPr>
          <p:cNvPr id="13" name="Text 11"/>
          <p:cNvSpPr/>
          <p:nvPr/>
        </p:nvSpPr>
        <p:spPr>
          <a:xfrm>
            <a:off x="502920" y="3471062"/>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RECOVERY TECHNOLOGY: HBOT PURCHASED, AMMORTAL DEPOSIT</a:t>
            </a:r>
            <a:endParaRPr lang="en-US" sz="750" dirty="0"/>
          </a:p>
        </p:txBody>
      </p:sp>
      <p:sp>
        <p:nvSpPr>
          <p:cNvPr id="14" name="Text 12"/>
          <p:cNvSpPr/>
          <p:nvPr/>
        </p:nvSpPr>
        <p:spPr>
          <a:xfrm>
            <a:off x="502920" y="3635654"/>
            <a:ext cx="8138160" cy="241402"/>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The single Ammortal chamber lists at $159,500 including delivery, install and onboarding, with $15,950 down and roughly $3,000 a month thereafter. Both the Ammortal payment and the Aescape subscription appear in the monthly equipment lease line rather than here, along with the red light beds.</a:t>
            </a:r>
            <a:endParaRPr lang="en-US" sz="800" dirty="0"/>
          </a:p>
        </p:txBody>
      </p:sp>
      <p:sp>
        <p:nvSpPr>
          <p:cNvPr id="15" name="Text 13"/>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6" name="Text 14"/>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43</a:t>
            </a:r>
            <a:endParaRPr lang="en-US" sz="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00000"/>
        </a:solidFill>
      </p:bgPr>
    </p:bg>
    <p:spTree>
      <p:nvGrpSpPr>
        <p:cNvPr id="1" name=""/>
        <p:cNvGrpSpPr/>
        <p:nvPr/>
      </p:nvGrpSpPr>
      <p:grpSpPr>
        <a:xfrm>
          <a:off x="0" y="0"/>
          <a:ext cx="0" cy="0"/>
          <a:chOff x="0" y="0"/>
          <a:chExt cx="0" cy="0"/>
        </a:xfrm>
      </p:grpSpPr>
      <p:sp>
        <p:nvSpPr>
          <p:cNvPr id="2" name="Text 0"/>
          <p:cNvSpPr/>
          <p:nvPr/>
        </p:nvSpPr>
        <p:spPr>
          <a:xfrm>
            <a:off x="502920" y="310896"/>
            <a:ext cx="8138160" cy="201168"/>
          </a:xfrm>
          <a:prstGeom prst="rect">
            <a:avLst/>
          </a:prstGeom>
          <a:noFill/>
          <a:ln/>
        </p:spPr>
        <p:txBody>
          <a:bodyPr wrap="square" rtlCol="0" anchor="ctr"/>
          <a:lstStyle/>
          <a:p>
            <a:pPr indent="0" marL="0">
              <a:buNone/>
            </a:pPr>
            <a:r>
              <a:rPr lang="en-US" sz="900" spc="300" kern="0" dirty="0">
                <a:solidFill>
                  <a:srgbClr val="B08D57"/>
                </a:solidFill>
                <a:latin typeface="Jost" pitchFamily="34" charset="0"/>
                <a:ea typeface="Jost" pitchFamily="34" charset="-122"/>
                <a:cs typeface="Jost" pitchFamily="34" charset="-120"/>
              </a:rPr>
              <a:t>APPENDIX  ·  PROVENANCE</a:t>
            </a:r>
            <a:endParaRPr lang="en-US" sz="900" dirty="0"/>
          </a:p>
        </p:txBody>
      </p:sp>
      <p:sp>
        <p:nvSpPr>
          <p:cNvPr id="3" name="Shape 1"/>
          <p:cNvSpPr/>
          <p:nvPr/>
        </p:nvSpPr>
        <p:spPr>
          <a:xfrm>
            <a:off x="502920" y="557784"/>
            <a:ext cx="566928" cy="12802"/>
          </a:xfrm>
          <a:prstGeom prst="rect">
            <a:avLst/>
          </a:prstGeom>
          <a:solidFill>
            <a:srgbClr val="B08D57"/>
          </a:solidFill>
          <a:ln w="12700">
            <a:solidFill>
              <a:srgbClr val="B08D57"/>
            </a:solidFill>
            <a:prstDash val="solid"/>
          </a:ln>
        </p:spPr>
      </p:sp>
      <p:sp>
        <p:nvSpPr>
          <p:cNvPr id="4" name="Text 2"/>
          <p:cNvSpPr/>
          <p:nvPr/>
        </p:nvSpPr>
        <p:spPr>
          <a:xfrm>
            <a:off x="502920" y="621792"/>
            <a:ext cx="8138160" cy="548640"/>
          </a:xfrm>
          <a:prstGeom prst="rect">
            <a:avLst/>
          </a:prstGeom>
          <a:noFill/>
          <a:ln/>
        </p:spPr>
        <p:txBody>
          <a:bodyPr wrap="square" rtlCol="0" anchor="t"/>
          <a:lstStyle/>
          <a:p>
            <a:pPr indent="0" marL="0">
              <a:buNone/>
            </a:pPr>
            <a:r>
              <a:rPr lang="en-US" sz="2600" spc="400" kern="0" dirty="0">
                <a:solidFill>
                  <a:srgbClr val="EDE7DE"/>
                </a:solidFill>
                <a:latin typeface="Cormorant Garamond" pitchFamily="34" charset="0"/>
                <a:ea typeface="Cormorant Garamond" pitchFamily="34" charset="-122"/>
                <a:cs typeface="Cormorant Garamond" pitchFamily="34" charset="-120"/>
              </a:rPr>
              <a:t>WHAT RESTS ON JUDGMENT (3 OF 3)</a:t>
            </a:r>
            <a:endParaRPr lang="en-US" sz="2600" dirty="0"/>
          </a:p>
        </p:txBody>
      </p:sp>
      <p:sp>
        <p:nvSpPr>
          <p:cNvPr id="5" name="Text 3"/>
          <p:cNvSpPr/>
          <p:nvPr/>
        </p:nvSpPr>
        <p:spPr>
          <a:xfrm>
            <a:off x="502920" y="1298448"/>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GE IDXA BONE DENSITOMETER, PURCHASED</a:t>
            </a:r>
            <a:endParaRPr lang="en-US" sz="750" dirty="0"/>
          </a:p>
        </p:txBody>
      </p:sp>
      <p:sp>
        <p:nvSpPr>
          <p:cNvPr id="6" name="Text 4"/>
          <p:cNvSpPr/>
          <p:nvPr/>
        </p:nvSpPr>
        <p:spPr>
          <a:xfrm>
            <a:off x="502920" y="1463040"/>
            <a:ext cx="8138160" cy="482803"/>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Price supplied by the operator. It is well below new-unit list, so it assumes a refurbished or off-lease scanner: confirm the condition, the remaining tube life and whether a service contract is included before closing. The room it needs added 125 SF to the footprint, which carries $31,250 of buildout at $250/SF; both that and the scanner itself are funded from the working capital reserve, so the project cost is unchanged. Owning the scanner rather than referring out is what puts the DEXA service line at a 77% margin and lets it be priced as a $95 screening entry point.</a:t>
            </a:r>
            <a:endParaRPr lang="en-US" sz="800" dirty="0"/>
          </a:p>
        </p:txBody>
      </p:sp>
      <p:sp>
        <p:nvSpPr>
          <p:cNvPr id="7" name="Text 5"/>
          <p:cNvSpPr/>
          <p:nvPr/>
        </p:nvSpPr>
        <p:spPr>
          <a:xfrm>
            <a:off x="502920" y="2083003"/>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FF&amp;E, LOUNGE, MILLWORK, RETAIL</a:t>
            </a:r>
            <a:endParaRPr lang="en-US" sz="750" dirty="0"/>
          </a:p>
        </p:txBody>
      </p:sp>
      <p:sp>
        <p:nvSpPr>
          <p:cNvPr id="8" name="Text 6"/>
          <p:cNvSpPr/>
          <p:nvPr/>
        </p:nvSpPr>
        <p:spPr>
          <a:xfrm>
            <a:off x="502920" y="2247595"/>
            <a:ext cx="8138160" cy="120701"/>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Hospitality-grade rather than clinical-grade, because the lounge is the product. Per square foot this is the line most exposed to taste and specification drift.</a:t>
            </a:r>
            <a:endParaRPr lang="en-US" sz="800" dirty="0"/>
          </a:p>
        </p:txBody>
      </p:sp>
      <p:sp>
        <p:nvSpPr>
          <p:cNvPr id="9" name="Text 7"/>
          <p:cNvSpPr/>
          <p:nvPr/>
        </p:nvSpPr>
        <p:spPr>
          <a:xfrm>
            <a:off x="502920" y="2505456"/>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BRAND, LAUNCH, FOUNDING MEMBER CAMPAIGN</a:t>
            </a:r>
            <a:endParaRPr lang="en-US" sz="750" dirty="0"/>
          </a:p>
        </p:txBody>
      </p:sp>
      <p:sp>
        <p:nvSpPr>
          <p:cNvPr id="10" name="Text 8"/>
          <p:cNvSpPr/>
          <p:nvPr/>
        </p:nvSpPr>
        <p:spPr>
          <a:xfrm>
            <a:off x="502920" y="2670048"/>
            <a:ext cx="8138160" cy="241402"/>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Sized against the founding member target: the campaign has to convert enough pre-opening memberships to matter, and those proceeds are modeled as offsetting construction-period burn.</a:t>
            </a:r>
            <a:endParaRPr lang="en-US" sz="800" dirty="0"/>
          </a:p>
        </p:txBody>
      </p:sp>
      <p:sp>
        <p:nvSpPr>
          <p:cNvPr id="11" name="Text 9"/>
          <p:cNvSpPr/>
          <p:nvPr/>
        </p:nvSpPr>
        <p:spPr>
          <a:xfrm>
            <a:off x="502920" y="3048610"/>
            <a:ext cx="8138160" cy="164592"/>
          </a:xfrm>
          <a:prstGeom prst="rect">
            <a:avLst/>
          </a:prstGeom>
          <a:noFill/>
          <a:ln/>
        </p:spPr>
        <p:txBody>
          <a:bodyPr wrap="square" rtlCol="0" anchor="ctr"/>
          <a:lstStyle/>
          <a:p>
            <a:pPr indent="0" marL="0">
              <a:buNone/>
            </a:pPr>
            <a:r>
              <a:rPr lang="en-US" sz="750" spc="160" kern="0" dirty="0">
                <a:solidFill>
                  <a:srgbClr val="B08D57"/>
                </a:solidFill>
                <a:latin typeface="Jost" pitchFamily="34" charset="0"/>
                <a:ea typeface="Jost" pitchFamily="34" charset="-122"/>
                <a:cs typeface="Jost" pitchFamily="34" charset="-120"/>
              </a:rPr>
              <a:t>WORKING CAPITAL RESERVE</a:t>
            </a:r>
            <a:endParaRPr lang="en-US" sz="750" dirty="0"/>
          </a:p>
        </p:txBody>
      </p:sp>
      <p:sp>
        <p:nvSpPr>
          <p:cNvPr id="12" name="Text 10"/>
          <p:cNvSpPr/>
          <p:nvPr/>
        </p:nvSpPr>
        <p:spPr>
          <a:xfrm>
            <a:off x="502920" y="3213202"/>
            <a:ext cx="8138160" cy="241402"/>
          </a:xfrm>
          <a:prstGeom prst="rect">
            <a:avLst/>
          </a:prstGeom>
          <a:noFill/>
          <a:ln/>
        </p:spPr>
        <p:txBody>
          <a:bodyPr wrap="square" rtlCol="0" anchor="t"/>
          <a:lstStyle/>
          <a:p>
            <a:pPr indent="0" marL="0">
              <a:lnSpc>
                <a:spcPct val="120000"/>
              </a:lnSpc>
              <a:buNone/>
            </a:pPr>
            <a:r>
              <a:rPr lang="en-US" sz="800" dirty="0">
                <a:solidFill>
                  <a:srgbClr val="C9BCA9"/>
                </a:solidFill>
                <a:latin typeface="Jost" pitchFamily="34" charset="0"/>
                <a:ea typeface="Jost" pitchFamily="34" charset="-122"/>
                <a:cs typeface="Jost" pitchFamily="34" charset="-120"/>
              </a:rPr>
              <a:t>This is the one capital line that is computed rather than estimated. The model runs a 36-month cash curve and this reserve must exceed the deepest cumulative shortfall; a build assert fails if it does not. That is why the figure is not round.</a:t>
            </a:r>
            <a:endParaRPr lang="en-US" sz="800" dirty="0"/>
          </a:p>
        </p:txBody>
      </p:sp>
      <p:sp>
        <p:nvSpPr>
          <p:cNvPr id="13" name="Text 11"/>
          <p:cNvSpPr/>
          <p:nvPr/>
        </p:nvSpPr>
        <p:spPr>
          <a:xfrm>
            <a:off x="502920" y="4754880"/>
            <a:ext cx="7680960" cy="201168"/>
          </a:xfrm>
          <a:prstGeom prst="rect">
            <a:avLst/>
          </a:prstGeom>
          <a:noFill/>
          <a:ln/>
        </p:spPr>
        <p:txBody>
          <a:bodyPr wrap="square" rtlCol="0" anchor="ctr"/>
          <a:lstStyle/>
          <a:p>
            <a:pPr indent="0" marL="0">
              <a:buNone/>
            </a:pPr>
            <a:r>
              <a:rPr lang="en-US" sz="700" spc="150" kern="0" dirty="0">
                <a:solidFill>
                  <a:srgbClr val="6B6965"/>
                </a:solidFill>
                <a:latin typeface="Jost" pitchFamily="34" charset="0"/>
                <a:ea typeface="Jost" pitchFamily="34" charset="-122"/>
                <a:cs typeface="Jost" pitchFamily="34" charset="-120"/>
              </a:rPr>
              <a:t>LK WELLNESS  ·  PRIVATE INVESTMENT BRIEF  ·  CONFIDENTIAL  ·  INDICATIVE TERMS, SUBJECT TO DEFINITIVE DOCUMENTS</a:t>
            </a:r>
            <a:endParaRPr lang="en-US" sz="700" dirty="0"/>
          </a:p>
        </p:txBody>
      </p:sp>
      <p:sp>
        <p:nvSpPr>
          <p:cNvPr id="14" name="Text 12"/>
          <p:cNvSpPr/>
          <p:nvPr/>
        </p:nvSpPr>
        <p:spPr>
          <a:xfrm>
            <a:off x="8183880" y="4754880"/>
            <a:ext cx="457200" cy="201168"/>
          </a:xfrm>
          <a:prstGeom prst="rect">
            <a:avLst/>
          </a:prstGeom>
          <a:noFill/>
          <a:ln/>
        </p:spPr>
        <p:txBody>
          <a:bodyPr wrap="square" rtlCol="0" anchor="ctr"/>
          <a:lstStyle/>
          <a:p>
            <a:pPr algn="r" indent="0" marL="0">
              <a:buNone/>
            </a:pPr>
            <a:r>
              <a:rPr lang="en-US" sz="700" dirty="0">
                <a:solidFill>
                  <a:srgbClr val="6B6965"/>
                </a:solidFill>
                <a:latin typeface="Jost" pitchFamily="34" charset="0"/>
                <a:ea typeface="Jost" pitchFamily="34" charset="-122"/>
                <a:cs typeface="Jost" pitchFamily="34" charset="-120"/>
              </a:rPr>
              <a:t>44</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LK Wellness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L and K Wellness: Private Investment Brief</dc:subject>
  <dc:creator>LK Wellness</dc:creator>
  <cp:lastModifiedBy>LK Wellness</cp:lastModifiedBy>
  <cp:revision>1</cp:revision>
  <dcterms:created xsi:type="dcterms:W3CDTF">2026-10-13T01:04:07Z</dcterms:created>
  <dcterms:modified xsi:type="dcterms:W3CDTF">2026-10-13T01:04:07Z</dcterms:modified>
</cp:coreProperties>
</file>